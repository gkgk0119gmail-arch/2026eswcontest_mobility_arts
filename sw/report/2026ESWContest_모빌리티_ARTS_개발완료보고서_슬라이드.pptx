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4" r:id="rId15"/>
    <p:sldId id="265" r:id="rId16"/>
    <p:sldId id="266" r:id="rId17"/>
    <p:sldId id="267" r:id="rId18"/>
    <p:sldId id="268" r:id="rId19"/>
    <p:sldId id="270" r:id="rId21"/>
    <p:sldId id="272" r:id="rId23"/>
    <p:sldId id="273" r:id="rId24"/>
    <p:sldId id="274" r:id="rId25"/>
    <p:sldId id="275" r:id="rId26"/>
    <p:sldId id="276" r:id="rId27"/>
    <p:sldId id="279" r:id="rId30"/>
    <p:sldId id="280" r:id="rId3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1" Type="http://schemas.openxmlformats.org/officeDocument/2006/relationships/slide" Target="slides/slide15.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IcePredict 는 블랙아이스를 AI 로 미리 예측하고, 예측이 틀려도 RTOS 가 차량 거동으로 반드시 잡는 이중 안전망입니다. 오른쪽 사진은 Moza 휠로 사람이 CARLA 를 직접 운전하는 HIL 시연 장면입니다.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문제·해법·증명 세 줄과 숫자 네 개로 전체를 요약합니다. 실사진 블랙아이스 경보율 96.6 %, 마른 노면 오경보 0.3 %, 2차 방어 최악 응답 22.6 µs, 방어를 모두 끈 기준선은 9건 전부 제어 상실. 영상은 같은 조건에서 방어 없음(왼쪽)과 STM32N6 RTOS 2차 방어(오른쪽)의 차이입니다. 슬라이드가 열리면 자동 재생됩니다.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공개 데이터에 블랙아이스 라벨이 없고, 투명한 얼음은 비전만으로 구분이 안 됩니다. 우리 보드도 실사진 얼음 6,340장 중 215장(3.4 %)을 놓쳤습니다. 그래서 1차는 블랙아이스를 직접 맞히려 하지 않고 위험도를 올리고, 그 전략이 실패할 때를 위해 2차를 둡니다.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보드(STM32N6570-DK)에 두 임계도가 공존합니다. 1차는 NPU 추론 25 ms, 2차는 ThreadX 최악 응답 22.6 µs. IMU 융합 스레드(우선순위 3)가 NPU 프레임 스레드(4)를 선점하므로 추론이 돌고 있어도 IMU 판정은 밀리지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STM32N6570-DK 와 AI 카메라 MB1854B 가 메인 보드, Raspberry Pi 5 16 GB + AI HAT+ 2 는 기상 맥락·브리지·교차 검증용 호스트(대회 필수 보드)입니다. RealSense D435i 와 RTX 5090 은 센서·렌더, NVMe SSD 와 보조배터리로 콘센트 없이 같은 구성을 돌립니다. Moza 휠·페달은 사람이 직접 CARLA 를 운전하는 경로입니다.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개발계획서 대비 세 가지를 바꿨습니다. 2차 실행 환경을 Pi 5 리눅스에서 STM32N6 + ThreadX 로 — 리눅스 최악 깨어남 지연이 5,790 µs 로 측정됐기 때문입니다. 1차 NPU 를 Hailo 단독에서 Neural-ART 주로 — Dataflow Compiler 를 확보하지 못했습니다. 검증을 실차 실측에서 HIL + 실사진 69,358장으로. 이중 안전망 구조와 1·2차 전략은 계획서 그대로입니다.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데이터셋을 먼저 고르지 않고 헤드별 정답을 먼저 정의했습니다. 1차 주 학습은 RSCD, 반사도 헤드 근거는 RoadSaW 의 실측 수막 두께, 2차 칼만 공분산은 PVS 실측 IMU. RSCD 27클래스를 정상·젖음·결빙 위험·포트홀 4클래스로 묶었습니다.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MobileNetV3-Small 백본, 4클래스 로짓 + 반사도 헤드, ONNX opset 13, int8 PTQ. 표준 PTQ 로는 stem 층 활성 분포가 넓어 정확도가 떨어졌고 stem 등화와 클리핑으로 회복했습니다. Neural-ART @ 1 GHz 에서 추론 25 ms, 카메라 ROI 는 전방 7.9~42.2 m 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시뮬레이션 화면이 아니라 RSCD 실사진 69,358장을 STM32N6 에 넣어 보드에서 받은 판정입니다. 블랙아이스 경보율 96.6 %, 마른 노면 오경보 0.3 %, 젖은 노면 0.8 %. 운영 문턱 0.603 은 전량 스윕에서 절벽 구간을 찾아 정했고, 장당 판정을 남겨 두어 문턱을 바꿔 재계산할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맑은 낮 40 km/h, 마찰 0.02. 6.10 s 에 위험도 0.443 으로 1차 경보, 7.14 s 에 빙판 23.6 m 앞에서 정지. 빙판에 닿지 않았습니다. 같은 주행선에서 날씨 11종을 모두 돌려 인식·정지 14회, 경고 늦음 7회, 미인식 10회, 오경보 1회였습니다.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위험도는 분류 확률·반사도·차선 가시성의 가중합이고 기상·위치 맥락이 가중치를 바꿉니다. 쓸 수 없는 신호에 0 을 넣으면 상한이 잘리므로 분모에서 빼서 재정규화합니다. 문턱은 0.441 에서 0.603 으로 재교정해 젖은 노면 오경보를 40 % 에서 0.8 % 로 내렸고, 폭우는 강수 게이트로 분리했습니다.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IMU 50 Hz → 2상태 칼만 필터 → 자전거 모델 잔차 → 타원 밖이 3샘플(60 ms) 연속이면 미끄러짐 확정. 직사각형 규칙은 모서리에서 저속 지연이 있어 타원으로 바꿨고, 조향 지연 τ 0.06 s 를 넣어 급조향 오탐을 없앴습니다. C 코어는 파이썬 참조 구현과 같은 판정을 내리는지 매 커밋 검증합니다.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리눅스는 중앙값 69 µs 로 빠르지만 최악 5,790 µs — 20 ms 제어 주기의 29 % 를 지터 한 번이 먹습니다. ThreadX 는 49,405 표본에서 최악 22.6 µs. 안전 기능의 기준은 평균이 아니라 꼬리이고, 우선순위를 뒤집으면 스케줄 자체가 불가능해집니다.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날씨·주행선·빙판·주변 차량 8대, 차이는 2차 방어 하나. 왼쪽 방어 없음은 15.0 s 에 25.4 km/h 로 제어를 잃은 채 미끄러지는 중이고, 오른쪽 RTOS 2차 방어는 13.2 s 에 차선 안에서 정지했습니다. 맑은 낮·밤·젖은 노면·눈 4종에서 같은 비교를 만들었습니다.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2차 방어를 더 다듬는 실험을 먼저 했습니다. 곡선 빙판에서는 마찰별 제어표 후보 78개가 고정 게인과 같았고, 직선 빙판에서는 2차 방어를 꺼도 결과가 같았습니다. 빙판에서는 누가 밟든 감속이 마찰 한계에서 막히고, 펄스 제동은 실차 ABS 가 이미 합니다. 바꿀 수 있는 것은 언제부터 밟느냐입니다. 지금의 긴급제동·간격 유지는 마찰을 모르면 마른 노면 기준으로 제동 시점을 잡습니다.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카메라가 애매하거나 영하의 결빙 취약 구간에 들어서면 브레이크를 0.4 초 살짝 밟는 노면 확인 탭으로 마찰을 잽니다. 빙판은 살짝 밟아도 감속이 막히고, 그 값이 곧 마찰입니다. CARLA 에서 잰 감속 표로 정지 거리를 다시 계산하고, 20 ms 마다 순항·가속 금지·예비 제동·전력 제동을 고릅니다. 60 km/h 에서 마른 노면은 38 m, 블랙아이스는 105 m 앞에서 밟아야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C 코드에 마찰 값만 다르게 넣었습니다. 마른 노면 기준은 9회 중 2회만 섰고, 마찰 인식은 8회 섰으며 그중 7회는 목표대로 앞차 4 m 앞이었습니다. 충돌한 1회는 295 m 가 필요한, 물리적으로 설 수 없는 조건이었습니다. 탭 판단 시험에서 빙판이 없을 때 잘못 제동한 적은 없었습니다. 실험 중 CARLA 결함을 찾아 정지 차량을 마찰 트리거 밖에 두고 모두 다시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STM32 의 몫은 고장 격리입니다. 곡선 빙판에서 파이를 죽이면 2차 방어가 파이에 있을 때 53.1 km/h, 안전 전용 RTOS 에 있을 때 39.4 km/h 로 충돌했습니다 — 각각 방어 없음, 고장 없음과 같습니다. 보드가 없어 같은 C 코드를 파이 격리 코어에서 돌렸고, 전 코어 부하에서도 6,000 번 모두 20 ms 를 지켰습니다(최악 0.06 ms). 일반 프로그램은 211 번 놓쳤고 최악 206 ms 였습니다. 영상은 메인 프로그램을 실제로 강제 종료한 뒤에도 격리 코어의 2차 방어가 차를 세우는 장면입니다.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한계 네 가지. 경보 거리는 해상도 문제(모델 최소 80 px vs ROI 91 px). 2차는 예방이 아니라 60 km/h 에서는 개입해도 39.2 km/h 로 충돌했습니다. 밤에 41 m 밖 빙판을 두고 오경보가 났고, RSCD 질감을 입힌 CARLA 노면에는 반응하지 않는 도메인 갭이 있습니다. Hailo 교차 검증과 D435i 실측 IMU 는 남은 과제입니다.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블랙아이스 라벨이 없다는 한계에서 출발해 STM32N6 한 보드 위에 이중 안전망을 올렸고, 모든 숫자는 실측에서 자동 생성됩니다. 향후 ROI 해상도 확대, 실사진 질감 재학습, Hailo-10H 교차 검증, D435i 실측 IMU. 저장소 주소는 화면과 같습니다.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2.jp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8.jp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 Id="rId4" Type="http://schemas.openxmlformats.org/officeDocument/2006/relationships/image" Target="../media/image13.jpg"/><Relationship Id="rId5"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23.jpg"/><Relationship Id="rId5" Type="http://schemas.openxmlformats.org/officeDocument/2006/relationships/image" Target="../media/image24.jpg"/><Relationship Id="rId6" Type="http://schemas.openxmlformats.org/officeDocument/2006/relationships/image" Target="../media/image25.jpg"/><Relationship Id="rId7" Type="http://schemas.openxmlformats.org/officeDocument/2006/relationships/image" Target="../media/image26.jpg"/><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image" Target="../media/image28.jpg"/><Relationship Id="rId4" Type="http://schemas.openxmlformats.org/officeDocument/2006/relationships/image" Target="../media/image29.jpg"/><Relationship Id="rId5" Type="http://schemas.openxmlformats.org/officeDocument/2006/relationships/image" Target="../media/image30.jp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image" Target="../media/image37.jpg"/><Relationship Id="rId4"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41.jpg"/><Relationship Id="rId5" Type="http://schemas.openxmlformats.org/officeDocument/2006/relationships/image" Target="../media/image42.jpg"/><Relationship Id="rId6" Type="http://schemas.openxmlformats.org/officeDocument/2006/relationships/image" Target="../media/image43.jpg"/><Relationship Id="rId7" Type="http://schemas.openxmlformats.org/officeDocument/2006/relationships/image" Target="../media/image44.jpg"/><Relationship Id="rId8" Type="http://schemas.openxmlformats.org/officeDocument/2006/relationships/image" Target="../media/image45.jpg"/><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6.mp4"/><Relationship Id="rId3" Type="http://schemas.openxmlformats.org/officeDocument/2006/relationships/video" Target="../media/media6.mp4"/><Relationship Id="rId4" Type="http://schemas.openxmlformats.org/officeDocument/2006/relationships/image" Target="../media/image50.jpg"/><Relationship Id="rId5" Type="http://schemas.openxmlformats.org/officeDocument/2006/relationships/image" Target="../media/image51.png"/><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microsoft.com/office/2007/relationships/media" Target="../media/media7.mp4"/><Relationship Id="rId4" Type="http://schemas.openxmlformats.org/officeDocument/2006/relationships/video" Target="../media/media7.mp4"/><Relationship Id="rId5" Type="http://schemas.openxmlformats.org/officeDocument/2006/relationships/image" Target="../media/image53.jpg"/><Relationship Id="rId6"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microsoft.com/office/2007/relationships/media" Target="../media/media9.mp4"/><Relationship Id="rId4" Type="http://schemas.openxmlformats.org/officeDocument/2006/relationships/video" Target="../media/media9.mp4"/><Relationship Id="rId5" Type="http://schemas.openxmlformats.org/officeDocument/2006/relationships/image" Target="../media/image60.jpg"/><Relationship Id="rId6" Type="http://schemas.openxmlformats.org/officeDocument/2006/relationships/image" Target="../media/image61.jpg"/><Relationship Id="rId7" Type="http://schemas.openxmlformats.org/officeDocument/2006/relationships/image" Target="../media/image62.jpg"/><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jpg"/><Relationship Id="rId3" Type="http://schemas.openxmlformats.org/officeDocument/2006/relationships/image" Target="../media/image64.jpg"/><Relationship Id="rId4" Type="http://schemas.openxmlformats.org/officeDocument/2006/relationships/image" Target="../media/image65.jpg"/><Relationship Id="rId5"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858000" cy="6858000"/>
          </a:xfrm>
          <a:prstGeom prst="rect">
            <a:avLst/>
          </a:prstGeom>
          <a:solidFill>
            <a:srgbClr val="002C5F"/>
          </a:solidFill>
          <a:ln>
            <a:noFill/>
          </a:ln>
          <a:effectLst/>
        </p:spPr>
        <p:txBody>
          <a:bodyPr rtlCol="0" anchor="ctr"/>
          <a:lstStyle/>
          <a:p/>
        </p:txBody>
      </p:sp>
      <p:pic>
        <p:nvPicPr>
          <p:cNvPr id="3" name="Picture 2" descr="image.jpg"/>
          <p:cNvPicPr>
            <a:picLocks noChangeAspect="1"/>
          </p:cNvPicPr>
          <p:nvPr/>
        </p:nvPicPr>
        <p:blipFill>
          <a:blip r:embed="rId2"/>
          <a:stretch>
            <a:fillRect/>
          </a:stretch>
        </p:blipFill>
        <p:spPr>
          <a:xfrm>
            <a:off x="6858000" y="0"/>
            <a:ext cx="5334000" cy="6858000"/>
          </a:xfrm>
          <a:prstGeom prst="rect">
            <a:avLst/>
          </a:prstGeom>
        </p:spPr>
      </p:pic>
      <p:sp>
        <p:nvSpPr>
          <p:cNvPr id="4" name="Rectangle 3"/>
          <p:cNvSpPr/>
          <p:nvPr/>
        </p:nvSpPr>
        <p:spPr>
          <a:xfrm>
            <a:off x="6858000" y="6324600"/>
            <a:ext cx="5334000" cy="533400"/>
          </a:xfrm>
          <a:prstGeom prst="rect">
            <a:avLst/>
          </a:prstGeom>
          <a:solidFill>
            <a:srgbClr val="002C5F">
              <a:alpha val="82000"/>
            </a:srgbClr>
          </a:solidFill>
          <a:ln>
            <a:noFill/>
          </a:ln>
          <a:effectLst/>
        </p:spPr>
        <p:txBody>
          <a:bodyPr rtlCol="0" anchor="ctr"/>
          <a:lstStyle/>
          <a:p/>
        </p:txBody>
      </p:sp>
      <p:sp>
        <p:nvSpPr>
          <p:cNvPr id="5" name="TextBox 4"/>
          <p:cNvSpPr txBox="1"/>
          <p:nvPr/>
        </p:nvSpPr>
        <p:spPr>
          <a:xfrm>
            <a:off x="7029450" y="6400800"/>
            <a:ext cx="5029200" cy="381000"/>
          </a:xfrm>
          <a:prstGeom prst="rect">
            <a:avLst/>
          </a:prstGeom>
          <a:noFill/>
        </p:spPr>
        <p:txBody>
          <a:bodyPr wrap="square" anchor="t" lIns="0" rIns="0" tIns="0" bIns="0">
            <a:spAutoFit/>
          </a:bodyPr>
          <a:lstStyle/>
          <a:p>
            <a:pPr algn="l">
              <a:lnSpc>
                <a:spcPct val="135000"/>
              </a:lnSpc>
            </a:pPr>
            <a:r>
              <a:rPr sz="900" b="0">
                <a:solidFill>
                  <a:srgbClr val="FFFFFF"/>
                </a:solidFill>
                <a:latin typeface="Pretendard"/>
                <a:ea typeface="Pretendard"/>
                <a:cs typeface="Pretendard"/>
              </a:rPr>
              <a:t>Moza 휠·페달로 사람이 CARLA 를 직접 운전하는 HIL 시연. 운전자가 바뀌어도 보드는 같은 판정을 한다.</a:t>
            </a:r>
          </a:p>
        </p:txBody>
      </p:sp>
      <p:sp>
        <p:nvSpPr>
          <p:cNvPr id="6" name="TextBox 5"/>
          <p:cNvSpPr txBox="1"/>
          <p:nvPr/>
        </p:nvSpPr>
        <p:spPr>
          <a:xfrm>
            <a:off x="685800" y="723900"/>
            <a:ext cx="4762500" cy="162878"/>
          </a:xfrm>
          <a:prstGeom prst="rect">
            <a:avLst/>
          </a:prstGeom>
          <a:noFill/>
        </p:spPr>
        <p:txBody>
          <a:bodyPr wrap="square" anchor="t" lIns="0" rIns="0" tIns="0" bIns="0">
            <a:spAutoFit/>
          </a:bodyPr>
          <a:lstStyle/>
          <a:p>
            <a:pPr algn="l">
              <a:lnSpc>
                <a:spcPct val="100000"/>
              </a:lnSpc>
            </a:pPr>
            <a:r>
              <a:rPr sz="950" b="1" spc="80">
                <a:solidFill>
                  <a:srgbClr val="AACAE6"/>
                </a:solidFill>
                <a:latin typeface="Pretendard"/>
                <a:ea typeface="Pretendard"/>
                <a:cs typeface="Pretendard"/>
              </a:rPr>
              <a:t>개발완료보고서 · 2026</a:t>
            </a:r>
          </a:p>
        </p:txBody>
      </p:sp>
      <p:sp>
        <p:nvSpPr>
          <p:cNvPr id="7" name="TextBox 6"/>
          <p:cNvSpPr txBox="1"/>
          <p:nvPr/>
        </p:nvSpPr>
        <p:spPr>
          <a:xfrm>
            <a:off x="685800" y="1219200"/>
            <a:ext cx="5905500" cy="857250"/>
          </a:xfrm>
          <a:prstGeom prst="rect">
            <a:avLst/>
          </a:prstGeom>
          <a:noFill/>
        </p:spPr>
        <p:txBody>
          <a:bodyPr wrap="square" anchor="t" lIns="0" rIns="0" tIns="0" bIns="0">
            <a:spAutoFit/>
          </a:bodyPr>
          <a:lstStyle/>
          <a:p>
            <a:pPr algn="l">
              <a:lnSpc>
                <a:spcPct val="100000"/>
              </a:lnSpc>
            </a:pPr>
            <a:r>
              <a:rPr sz="6000" b="0">
                <a:solidFill>
                  <a:srgbClr val="FFFFFF"/>
                </a:solidFill>
                <a:latin typeface="Pretendard ExtraBold"/>
                <a:ea typeface="Pretendard ExtraBold"/>
                <a:cs typeface="Pretendard ExtraBold"/>
              </a:rPr>
              <a:t>IcePredict</a:t>
            </a:r>
          </a:p>
        </p:txBody>
      </p:sp>
      <p:sp>
        <p:nvSpPr>
          <p:cNvPr id="8" name="TextBox 7"/>
          <p:cNvSpPr txBox="1"/>
          <p:nvPr/>
        </p:nvSpPr>
        <p:spPr>
          <a:xfrm>
            <a:off x="685800" y="2114550"/>
            <a:ext cx="5905500" cy="857250"/>
          </a:xfrm>
          <a:prstGeom prst="rect">
            <a:avLst/>
          </a:prstGeom>
          <a:noFill/>
        </p:spPr>
        <p:txBody>
          <a:bodyPr wrap="square" anchor="t" lIns="0" rIns="0" tIns="0" bIns="0">
            <a:spAutoFit/>
          </a:bodyPr>
          <a:lstStyle/>
          <a:p>
            <a:pPr algn="l">
              <a:lnSpc>
                <a:spcPct val="125000"/>
              </a:lnSpc>
            </a:pPr>
            <a:r>
              <a:rPr sz="2300" b="1">
                <a:solidFill>
                  <a:srgbClr val="FFFFFF"/>
                </a:solidFill>
                <a:latin typeface="Pretendard"/>
                <a:ea typeface="Pretendard"/>
                <a:cs typeface="Pretendard"/>
              </a:rPr>
              <a:t>AI 예측과 RTOS 반응의</a:t>
            </a:r>
            <a:br/>
            <a:r>
              <a:rPr sz="2300" b="1">
                <a:solidFill>
                  <a:srgbClr val="FFFFFF"/>
                </a:solidFill>
                <a:latin typeface="Pretendard"/>
                <a:ea typeface="Pretendard"/>
                <a:cs typeface="Pretendard"/>
              </a:rPr>
              <a:t>이중 안전망 블랙아이스 대응 시스템</a:t>
            </a:r>
          </a:p>
        </p:txBody>
      </p:sp>
      <p:sp>
        <p:nvSpPr>
          <p:cNvPr id="9" name="TextBox 8"/>
          <p:cNvSpPr txBox="1"/>
          <p:nvPr/>
        </p:nvSpPr>
        <p:spPr>
          <a:xfrm>
            <a:off x="685800" y="3067050"/>
            <a:ext cx="5715000" cy="228600"/>
          </a:xfrm>
          <a:prstGeom prst="rect">
            <a:avLst/>
          </a:prstGeom>
          <a:noFill/>
        </p:spPr>
        <p:txBody>
          <a:bodyPr wrap="square" anchor="t" lIns="0" rIns="0" tIns="0" bIns="0">
            <a:spAutoFit/>
          </a:bodyPr>
          <a:lstStyle/>
          <a:p>
            <a:pPr algn="l">
              <a:lnSpc>
                <a:spcPct val="130000"/>
              </a:lnSpc>
            </a:pPr>
            <a:r>
              <a:rPr sz="1250" b="0">
                <a:solidFill>
                  <a:srgbClr val="AACAE6"/>
                </a:solidFill>
                <a:latin typeface="Pretendard"/>
                <a:ea typeface="Pretendard"/>
                <a:cs typeface="Pretendard"/>
              </a:rPr>
              <a:t>AI가 노면을 미리 보고, 못 보더라도 RTOS가 차량 거동으로 확실히 잡는다.</a:t>
            </a:r>
          </a:p>
        </p:txBody>
      </p:sp>
      <p:cxnSp>
        <p:nvCxnSpPr>
          <p:cNvPr id="10" name="Connector 9"/>
          <p:cNvCxnSpPr/>
          <p:nvPr/>
        </p:nvCxnSpPr>
        <p:spPr>
          <a:xfrm>
            <a:off x="685800" y="5219700"/>
            <a:ext cx="5334000" cy="0"/>
          </a:xfrm>
          <a:prstGeom prst="line">
            <a:avLst/>
          </a:prstGeom>
          <a:ln w="6350">
            <a:solidFill>
              <a:srgbClr val="AACAE6"/>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5391150"/>
            <a:ext cx="5715000" cy="419100"/>
          </a:xfrm>
          <a:prstGeom prst="rect">
            <a:avLst/>
          </a:prstGeom>
          <a:noFill/>
        </p:spPr>
        <p:txBody>
          <a:bodyPr wrap="square" anchor="t" lIns="0" rIns="0" tIns="0" bIns="0">
            <a:spAutoFit/>
          </a:bodyPr>
          <a:lstStyle/>
          <a:p>
            <a:pPr algn="l">
              <a:lnSpc>
                <a:spcPct val="145000"/>
              </a:lnSpc>
            </a:pPr>
            <a:r>
              <a:rPr sz="1150" b="0">
                <a:solidFill>
                  <a:srgbClr val="FFFFFF"/>
                </a:solidFill>
                <a:latin typeface="Pretendard"/>
                <a:ea typeface="Pretendard"/>
                <a:cs typeface="Pretendard"/>
              </a:rPr>
              <a:t>제24회 임베디드SW경진대회 · 자동차/모빌리티 부문 (현대자동차)</a:t>
            </a:r>
          </a:p>
          <a:p>
            <a:pPr algn="l">
              <a:lnSpc>
                <a:spcPct val="145000"/>
              </a:lnSpc>
            </a:pPr>
            <a:r>
              <a:rPr sz="1150" b="1">
                <a:solidFill>
                  <a:srgbClr val="FFFFFF"/>
                </a:solidFill>
                <a:latin typeface="Pretendard"/>
                <a:ea typeface="Pretendard"/>
                <a:cs typeface="Pretendard"/>
              </a:rPr>
              <a:t>팀 ARTS</a:t>
            </a:r>
            <a:r>
              <a:rPr sz="1150" b="0">
                <a:solidFill>
                  <a:srgbClr val="FFFFFF"/>
                </a:solidFill>
                <a:latin typeface="Pretendard"/>
                <a:ea typeface="Pretendard"/>
                <a:cs typeface="Pretendard"/>
              </a:rPr>
              <a:t> · 이지성 · 남윤상 · 김진찬</a:t>
            </a:r>
          </a:p>
        </p:txBody>
      </p:sp>
      <p:sp>
        <p:nvSpPr>
          <p:cNvPr id="12" name="TextBox 11"/>
          <p:cNvSpPr txBox="1"/>
          <p:nvPr/>
        </p:nvSpPr>
        <p:spPr>
          <a:xfrm>
            <a:off x="685800" y="6000750"/>
            <a:ext cx="5905500" cy="381000"/>
          </a:xfrm>
          <a:prstGeom prst="rect">
            <a:avLst/>
          </a:prstGeom>
          <a:noFill/>
        </p:spPr>
        <p:txBody>
          <a:bodyPr wrap="square" anchor="t" lIns="0" rIns="0" tIns="0" bIns="0">
            <a:spAutoFit/>
          </a:bodyPr>
          <a:lstStyle/>
          <a:p>
            <a:pPr algn="l">
              <a:lnSpc>
                <a:spcPct val="145000"/>
              </a:lnSpc>
            </a:pPr>
            <a:r>
              <a:rPr sz="900" b="0">
                <a:solidFill>
                  <a:srgbClr val="AACAE6"/>
                </a:solidFill>
                <a:latin typeface="Pretendard"/>
                <a:ea typeface="Pretendard"/>
                <a:cs typeface="Pretendard"/>
              </a:rPr>
              <a:t>STM32N6570-DK · Neural-ART NPU · ThreadX · Raspberry Pi 5 + AI HAT+ 2 · CARLA HIL</a:t>
            </a:r>
          </a:p>
          <a:p>
            <a:pPr algn="l">
              <a:lnSpc>
                <a:spcPct val="145000"/>
              </a:lnSpc>
            </a:pPr>
            <a:r>
              <a:rPr sz="900" b="0">
                <a:solidFill>
                  <a:srgbClr val="AACAE6"/>
                </a:solidFill>
                <a:latin typeface="Pretendard"/>
                <a:ea typeface="Pretendard"/>
                <a:cs typeface="Pretendard"/>
              </a:rPr>
              <a:t>github.com/gkgk0119gmail-arch/2026ESWContest_mobility_ARTS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3400" y="323850"/>
            <a:ext cx="5715000" cy="162878"/>
          </a:xfrm>
          <a:prstGeom prst="rect">
            <a:avLst/>
          </a:prstGeom>
          <a:noFill/>
        </p:spPr>
        <p:txBody>
          <a:bodyPr wrap="square" anchor="t" lIns="0" rIns="0" tIns="0" bIns="0">
            <a:spAutoFit/>
          </a:bodyPr>
          <a:lstStyle/>
          <a:p>
            <a:pPr algn="l">
              <a:lnSpc>
                <a:spcPct val="100000"/>
              </a:lnSpc>
            </a:pPr>
            <a:r>
              <a:rPr sz="950" b="1" spc="80">
                <a:solidFill>
                  <a:srgbClr val="002C5F"/>
                </a:solidFill>
                <a:latin typeface="Pretendard"/>
                <a:ea typeface="Pretendard"/>
                <a:cs typeface="Pretendard"/>
              </a:rPr>
              <a:t>요약</a:t>
            </a:r>
          </a:p>
        </p:txBody>
      </p:sp>
      <p:sp>
        <p:nvSpPr>
          <p:cNvPr id="3" name="TextBox 2"/>
          <p:cNvSpPr txBox="1"/>
          <p:nvPr/>
        </p:nvSpPr>
        <p:spPr>
          <a:xfrm>
            <a:off x="9753600" y="314325"/>
            <a:ext cx="1905000" cy="152400"/>
          </a:xfrm>
          <a:prstGeom prst="rect">
            <a:avLst/>
          </a:prstGeom>
          <a:noFill/>
        </p:spPr>
        <p:txBody>
          <a:bodyPr wrap="square" anchor="t" lIns="0" rIns="0" tIns="0" bIns="0">
            <a:spAutoFit/>
          </a:bodyPr>
          <a:lstStyle/>
          <a:p>
            <a:pPr algn="r">
              <a:lnSpc>
                <a:spcPct val="140000"/>
              </a:lnSpc>
            </a:pPr>
            <a:r>
              <a:rPr sz="900" b="0">
                <a:solidFill>
                  <a:srgbClr val="A6A6A6"/>
                </a:solidFill>
                <a:latin typeface="Pretendard"/>
                <a:ea typeface="Pretendard"/>
                <a:cs typeface="Pretendard"/>
              </a:rPr>
              <a:t>02 / 20</a:t>
            </a:r>
          </a:p>
        </p:txBody>
      </p:sp>
      <p:sp>
        <p:nvSpPr>
          <p:cNvPr id="4" name="TextBox 3"/>
          <p:cNvSpPr txBox="1"/>
          <p:nvPr/>
        </p:nvSpPr>
        <p:spPr>
          <a:xfrm>
            <a:off x="533400" y="495300"/>
            <a:ext cx="11125200" cy="381000"/>
          </a:xfrm>
          <a:prstGeom prst="rect">
            <a:avLst/>
          </a:prstGeom>
          <a:noFill/>
        </p:spPr>
        <p:txBody>
          <a:bodyPr wrap="square" anchor="t" lIns="0" rIns="0" tIns="0" bIns="0">
            <a:spAutoFit/>
          </a:bodyPr>
          <a:lstStyle/>
          <a:p>
            <a:pPr algn="l">
              <a:lnSpc>
                <a:spcPct val="100000"/>
              </a:lnSpc>
            </a:pPr>
            <a:r>
              <a:rPr sz="2400" b="0">
                <a:solidFill>
                  <a:srgbClr val="1C1B1B"/>
                </a:solidFill>
                <a:latin typeface="Pretendard ExtraBold"/>
                <a:ea typeface="Pretendard ExtraBold"/>
                <a:cs typeface="Pretendard ExtraBold"/>
              </a:rPr>
              <a:t>한 장 요약</a:t>
            </a:r>
          </a:p>
        </p:txBody>
      </p:sp>
      <p:sp>
        <p:nvSpPr>
          <p:cNvPr id="5" name="TextBox 4"/>
          <p:cNvSpPr txBox="1"/>
          <p:nvPr/>
        </p:nvSpPr>
        <p:spPr>
          <a:xfrm>
            <a:off x="533400" y="895350"/>
            <a:ext cx="11125200" cy="209550"/>
          </a:xfrm>
          <a:prstGeom prst="rect">
            <a:avLst/>
          </a:prstGeom>
          <a:noFill/>
        </p:spPr>
        <p:txBody>
          <a:bodyPr wrap="square" anchor="t" lIns="0" rIns="0" tIns="0" bIns="0">
            <a:spAutoFit/>
          </a:bodyPr>
          <a:lstStyle/>
          <a:p>
            <a:pPr algn="l">
              <a:lnSpc>
                <a:spcPct val="120000"/>
              </a:lnSpc>
            </a:pPr>
            <a:r>
              <a:rPr sz="1150" b="0">
                <a:solidFill>
                  <a:srgbClr val="4D4D4D"/>
                </a:solidFill>
                <a:latin typeface="Pretendard"/>
                <a:ea typeface="Pretendard"/>
                <a:cs typeface="Pretendard"/>
              </a:rPr>
              <a:t>AI가 노면을 미리 보고, 못 보더라도 RTOS가 차량 거동으로 확실히 잡는다.</a:t>
            </a:r>
          </a:p>
        </p:txBody>
      </p:sp>
      <p:sp>
        <p:nvSpPr>
          <p:cNvPr id="6" name="TextBox 5"/>
          <p:cNvSpPr txBox="1"/>
          <p:nvPr/>
        </p:nvSpPr>
        <p:spPr>
          <a:xfrm>
            <a:off x="533400" y="6648450"/>
            <a:ext cx="7620000" cy="133350"/>
          </a:xfrm>
          <a:prstGeom prst="rect">
            <a:avLst/>
          </a:prstGeom>
          <a:noFill/>
        </p:spPr>
        <p:txBody>
          <a:bodyPr wrap="square" anchor="t" lIns="0" rIns="0" tIns="0" bIns="0">
            <a:spAutoFit/>
          </a:bodyPr>
          <a:lstStyle/>
          <a:p>
            <a:pPr algn="l">
              <a:lnSpc>
                <a:spcPct val="140000"/>
              </a:lnSpc>
            </a:pPr>
            <a:r>
              <a:rPr sz="800" b="0">
                <a:solidFill>
                  <a:srgbClr val="A6A6A6"/>
                </a:solidFill>
                <a:latin typeface="Pretendard"/>
                <a:ea typeface="Pretendard"/>
                <a:cs typeface="Pretendard"/>
              </a:rPr>
              <a:t>팀 ARTS · 제24회 임베디드SW경진대회 자동차/모빌리티(현대자동차) · github.com/gkgk0119gmail-arch/2026ESWContest_mobility_ARTS</a:t>
            </a:r>
          </a:p>
        </p:txBody>
      </p:sp>
      <p:sp>
        <p:nvSpPr>
          <p:cNvPr id="7" name="TextBox 6"/>
          <p:cNvSpPr txBox="1"/>
          <p:nvPr/>
        </p:nvSpPr>
        <p:spPr>
          <a:xfrm>
            <a:off x="10134600" y="6638925"/>
            <a:ext cx="1524000" cy="133350"/>
          </a:xfrm>
          <a:prstGeom prst="rect">
            <a:avLst/>
          </a:prstGeom>
          <a:noFill/>
        </p:spPr>
        <p:txBody>
          <a:bodyPr wrap="square" anchor="t" lIns="0" rIns="0" tIns="0" bIns="0">
            <a:spAutoFit/>
          </a:bodyPr>
          <a:lstStyle/>
          <a:p>
            <a:pPr algn="r">
              <a:lnSpc>
                <a:spcPct val="140000"/>
              </a:lnSpc>
            </a:pPr>
            <a:r>
              <a:rPr sz="900" b="1">
                <a:solidFill>
                  <a:srgbClr val="002C5F"/>
                </a:solidFill>
                <a:latin typeface="Pretendard"/>
                <a:ea typeface="Pretendard"/>
                <a:cs typeface="Pretendard"/>
              </a:rPr>
              <a:t>IcePredict</a:t>
            </a:r>
          </a:p>
        </p:txBody>
      </p:sp>
      <p:sp>
        <p:nvSpPr>
          <p:cNvPr id="8" name="TextBox 7"/>
          <p:cNvSpPr txBox="1"/>
          <p:nvPr/>
        </p:nvSpPr>
        <p:spPr>
          <a:xfrm>
            <a:off x="533400" y="1219200"/>
            <a:ext cx="3505200" cy="208121"/>
          </a:xfrm>
          <a:prstGeom prst="rect">
            <a:avLst/>
          </a:prstGeom>
          <a:noFill/>
        </p:spPr>
        <p:txBody>
          <a:bodyPr wrap="square" anchor="t" lIns="0" rIns="0" tIns="0" bIns="0">
            <a:spAutoFit/>
          </a:bodyPr>
          <a:lstStyle/>
          <a:p>
            <a:pPr algn="l">
              <a:lnSpc>
                <a:spcPct val="100000"/>
              </a:lnSpc>
            </a:pPr>
            <a:r>
              <a:rPr sz="1150" b="1">
                <a:solidFill>
                  <a:srgbClr val="002C5F"/>
                </a:solidFill>
                <a:latin typeface="Pretendard"/>
                <a:ea typeface="Pretendard"/>
                <a:cs typeface="Pretendard"/>
              </a:rPr>
              <a:t>문제</a:t>
            </a:r>
          </a:p>
        </p:txBody>
      </p:sp>
      <p:sp>
        <p:nvSpPr>
          <p:cNvPr id="9" name="TextBox 8"/>
          <p:cNvSpPr txBox="1"/>
          <p:nvPr/>
        </p:nvSpPr>
        <p:spPr>
          <a:xfrm>
            <a:off x="533400" y="1465421"/>
            <a:ext cx="3505200" cy="706279"/>
          </a:xfrm>
          <a:prstGeom prst="rect">
            <a:avLst/>
          </a:prstGeom>
          <a:noFill/>
        </p:spPr>
        <p:txBody>
          <a:bodyPr wrap="square" anchor="t" lIns="0" rIns="0" tIns="0" bIns="0">
            <a:spAutoFit/>
          </a:bodyPr>
          <a:lstStyle/>
          <a:p>
            <a:pPr algn="l">
              <a:lnSpc>
                <a:spcPct val="145000"/>
              </a:lnSpc>
              <a:spcAft>
                <a:spcPts val="400"/>
              </a:spcAft>
            </a:pPr>
            <a:r>
              <a:rPr sz="1050" b="0">
                <a:solidFill>
                  <a:srgbClr val="4D4D4D"/>
                </a:solidFill>
                <a:latin typeface="Pretendard"/>
                <a:ea typeface="Pretendard"/>
                <a:cs typeface="Pretendard"/>
              </a:rPr>
              <a:t>블랙아이스는 공개 데이터에 라벨이 없다. 투명한 얼음은 아스팔트와 시각적으로 구분되지 않는다. 카메라 한 겹으로는 반드시 놓치는 경우가 남는다.</a:t>
            </a:r>
          </a:p>
        </p:txBody>
      </p:sp>
      <p:sp>
        <p:nvSpPr>
          <p:cNvPr id="10" name="TextBox 9"/>
          <p:cNvSpPr txBox="1"/>
          <p:nvPr/>
        </p:nvSpPr>
        <p:spPr>
          <a:xfrm>
            <a:off x="4343400" y="1219200"/>
            <a:ext cx="3505200" cy="208121"/>
          </a:xfrm>
          <a:prstGeom prst="rect">
            <a:avLst/>
          </a:prstGeom>
          <a:noFill/>
        </p:spPr>
        <p:txBody>
          <a:bodyPr wrap="square" anchor="t" lIns="0" rIns="0" tIns="0" bIns="0">
            <a:spAutoFit/>
          </a:bodyPr>
          <a:lstStyle/>
          <a:p>
            <a:pPr algn="l">
              <a:lnSpc>
                <a:spcPct val="100000"/>
              </a:lnSpc>
            </a:pPr>
            <a:r>
              <a:rPr sz="1150" b="1">
                <a:solidFill>
                  <a:srgbClr val="002C5F"/>
                </a:solidFill>
                <a:latin typeface="Pretendard"/>
                <a:ea typeface="Pretendard"/>
                <a:cs typeface="Pretendard"/>
              </a:rPr>
              <a:t>해법</a:t>
            </a:r>
          </a:p>
        </p:txBody>
      </p:sp>
      <p:sp>
        <p:nvSpPr>
          <p:cNvPr id="11" name="TextBox 10"/>
          <p:cNvSpPr txBox="1"/>
          <p:nvPr/>
        </p:nvSpPr>
        <p:spPr>
          <a:xfrm>
            <a:off x="4343400" y="1465421"/>
            <a:ext cx="3505200" cy="706279"/>
          </a:xfrm>
          <a:prstGeom prst="rect">
            <a:avLst/>
          </a:prstGeom>
          <a:noFill/>
        </p:spPr>
        <p:txBody>
          <a:bodyPr wrap="square" anchor="t" lIns="0" rIns="0" tIns="0" bIns="0">
            <a:spAutoFit/>
          </a:bodyPr>
          <a:lstStyle/>
          <a:p>
            <a:pPr algn="l">
              <a:lnSpc>
                <a:spcPct val="145000"/>
              </a:lnSpc>
              <a:spcAft>
                <a:spcPts val="400"/>
              </a:spcAft>
            </a:pPr>
            <a:r>
              <a:rPr sz="1050" b="0">
                <a:solidFill>
                  <a:srgbClr val="4D4D4D"/>
                </a:solidFill>
                <a:latin typeface="Pretendard"/>
                <a:ea typeface="Pretendard"/>
                <a:cs typeface="Pretendard"/>
              </a:rPr>
              <a:t>예측과 반응을 한 보드에 두 겹으로 올렸다. 1차는 NPU 비전이 빙판에 닿기 전에 세우고, 1차가 놓치면 2차가 IMU 거동으로 미끄러짐을 확정해 받는다.</a:t>
            </a:r>
          </a:p>
        </p:txBody>
      </p:sp>
      <p:sp>
        <p:nvSpPr>
          <p:cNvPr id="12" name="TextBox 11"/>
          <p:cNvSpPr txBox="1"/>
          <p:nvPr/>
        </p:nvSpPr>
        <p:spPr>
          <a:xfrm>
            <a:off x="8153400" y="1219200"/>
            <a:ext cx="3505200" cy="208121"/>
          </a:xfrm>
          <a:prstGeom prst="rect">
            <a:avLst/>
          </a:prstGeom>
          <a:noFill/>
        </p:spPr>
        <p:txBody>
          <a:bodyPr wrap="square" anchor="t" lIns="0" rIns="0" tIns="0" bIns="0">
            <a:spAutoFit/>
          </a:bodyPr>
          <a:lstStyle/>
          <a:p>
            <a:pPr algn="l">
              <a:lnSpc>
                <a:spcPct val="100000"/>
              </a:lnSpc>
            </a:pPr>
            <a:r>
              <a:rPr sz="1150" b="1">
                <a:solidFill>
                  <a:srgbClr val="002C5F"/>
                </a:solidFill>
                <a:latin typeface="Pretendard"/>
                <a:ea typeface="Pretendard"/>
                <a:cs typeface="Pretendard"/>
              </a:rPr>
              <a:t>증명</a:t>
            </a:r>
          </a:p>
        </p:txBody>
      </p:sp>
      <p:sp>
        <p:nvSpPr>
          <p:cNvPr id="13" name="TextBox 12"/>
          <p:cNvSpPr txBox="1"/>
          <p:nvPr/>
        </p:nvSpPr>
        <p:spPr>
          <a:xfrm>
            <a:off x="8153400" y="1465421"/>
            <a:ext cx="3505200" cy="706279"/>
          </a:xfrm>
          <a:prstGeom prst="rect">
            <a:avLst/>
          </a:prstGeom>
          <a:noFill/>
        </p:spPr>
        <p:txBody>
          <a:bodyPr wrap="square" anchor="t" lIns="0" rIns="0" tIns="0" bIns="0">
            <a:spAutoFit/>
          </a:bodyPr>
          <a:lstStyle/>
          <a:p>
            <a:pPr algn="l">
              <a:lnSpc>
                <a:spcPct val="145000"/>
              </a:lnSpc>
              <a:spcAft>
                <a:spcPts val="400"/>
              </a:spcAft>
            </a:pPr>
            <a:r>
              <a:rPr sz="1050" b="0">
                <a:solidFill>
                  <a:srgbClr val="4D4D4D"/>
                </a:solidFill>
                <a:latin typeface="Pretendard"/>
                <a:ea typeface="Pretendard"/>
                <a:cs typeface="Pretendard"/>
              </a:rPr>
              <a:t>실물 STM32N6 보드가 실제 펌웨어를 돌리고 CARLA 가 센서·물리를 제공하는 HIL 로 주행 108회, 실사진 69,358장을 보드에 직접 넣어 측정했다.</a:t>
            </a:r>
          </a:p>
        </p:txBody>
      </p:sp>
      <p:sp>
        <p:nvSpPr>
          <p:cNvPr id="14" name="Rectangle 13"/>
          <p:cNvSpPr/>
          <p:nvPr/>
        </p:nvSpPr>
        <p:spPr>
          <a:xfrm>
            <a:off x="533400" y="2286000"/>
            <a:ext cx="11125200" cy="990600"/>
          </a:xfrm>
          <a:prstGeom prst="rect">
            <a:avLst/>
          </a:prstGeom>
          <a:solidFill>
            <a:srgbClr val="002C5F"/>
          </a:solidFill>
          <a:ln>
            <a:noFill/>
          </a:ln>
          <a:effectLst/>
        </p:spPr>
        <p:txBody>
          <a:bodyPr rtlCol="0" anchor="ctr"/>
          <a:lstStyle/>
          <a:p/>
        </p:txBody>
      </p:sp>
      <p:sp>
        <p:nvSpPr>
          <p:cNvPr id="15" name="TextBox 14"/>
          <p:cNvSpPr txBox="1"/>
          <p:nvPr/>
        </p:nvSpPr>
        <p:spPr>
          <a:xfrm>
            <a:off x="762000" y="2419350"/>
            <a:ext cx="2495550" cy="438150"/>
          </a:xfrm>
          <a:prstGeom prst="rect">
            <a:avLst/>
          </a:prstGeom>
          <a:noFill/>
        </p:spPr>
        <p:txBody>
          <a:bodyPr wrap="square" anchor="t" lIns="0" rIns="0" tIns="0" bIns="0">
            <a:spAutoFit/>
          </a:bodyPr>
          <a:lstStyle/>
          <a:p>
            <a:pPr algn="l">
              <a:lnSpc>
                <a:spcPct val="100000"/>
              </a:lnSpc>
            </a:pPr>
            <a:r>
              <a:rPr sz="3200" b="0">
                <a:solidFill>
                  <a:srgbClr val="FFFFFF"/>
                </a:solidFill>
                <a:latin typeface="Pretendard ExtraBold"/>
                <a:ea typeface="Pretendard ExtraBold"/>
                <a:cs typeface="Pretendard ExtraBold"/>
              </a:rPr>
              <a:t>96.1%</a:t>
            </a:r>
          </a:p>
        </p:txBody>
      </p:sp>
      <p:sp>
        <p:nvSpPr>
          <p:cNvPr id="16" name="TextBox 15"/>
          <p:cNvSpPr txBox="1"/>
          <p:nvPr/>
        </p:nvSpPr>
        <p:spPr>
          <a:xfrm>
            <a:off x="762000" y="2876550"/>
            <a:ext cx="2495550" cy="342900"/>
          </a:xfrm>
          <a:prstGeom prst="rect">
            <a:avLst/>
          </a:prstGeom>
          <a:noFill/>
        </p:spPr>
        <p:txBody>
          <a:bodyPr wrap="square" anchor="t" lIns="0" rIns="0" tIns="0" bIns="0">
            <a:spAutoFit/>
          </a:bodyPr>
          <a:lstStyle/>
          <a:p>
            <a:pPr algn="l">
              <a:lnSpc>
                <a:spcPct val="130000"/>
              </a:lnSpc>
            </a:pPr>
            <a:r>
              <a:rPr sz="900" b="0">
                <a:solidFill>
                  <a:srgbClr val="AACAE6"/>
                </a:solidFill>
                <a:latin typeface="Pretendard"/>
                <a:ea typeface="Pretendard"/>
                <a:cs typeface="Pretendard"/>
              </a:rPr>
              <a:t>실사진 블랙아이스 6,340장 정답률</a:t>
            </a:r>
            <a:br/>
            <a:r>
              <a:rPr sz="900" b="0">
                <a:solidFill>
                  <a:srgbClr val="AACAE6"/>
                </a:solidFill>
                <a:latin typeface="Pretendard"/>
                <a:ea typeface="Pretendard"/>
                <a:cs typeface="Pretendard"/>
              </a:rPr>
              <a:t>경보율 96.6 %</a:t>
            </a:r>
          </a:p>
        </p:txBody>
      </p:sp>
      <p:sp>
        <p:nvSpPr>
          <p:cNvPr id="17" name="TextBox 16"/>
          <p:cNvSpPr txBox="1"/>
          <p:nvPr/>
        </p:nvSpPr>
        <p:spPr>
          <a:xfrm>
            <a:off x="3543300" y="2419350"/>
            <a:ext cx="2495550" cy="438150"/>
          </a:xfrm>
          <a:prstGeom prst="rect">
            <a:avLst/>
          </a:prstGeom>
          <a:noFill/>
        </p:spPr>
        <p:txBody>
          <a:bodyPr wrap="square" anchor="t" lIns="0" rIns="0" tIns="0" bIns="0">
            <a:spAutoFit/>
          </a:bodyPr>
          <a:lstStyle/>
          <a:p>
            <a:pPr algn="l">
              <a:lnSpc>
                <a:spcPct val="100000"/>
              </a:lnSpc>
            </a:pPr>
            <a:r>
              <a:rPr sz="3200" b="0">
                <a:solidFill>
                  <a:srgbClr val="FFFFFF"/>
                </a:solidFill>
                <a:latin typeface="Pretendard ExtraBold"/>
                <a:ea typeface="Pretendard ExtraBold"/>
                <a:cs typeface="Pretendard ExtraBold"/>
              </a:rPr>
              <a:t>0.3%</a:t>
            </a:r>
          </a:p>
        </p:txBody>
      </p:sp>
      <p:sp>
        <p:nvSpPr>
          <p:cNvPr id="18" name="TextBox 17"/>
          <p:cNvSpPr txBox="1"/>
          <p:nvPr/>
        </p:nvSpPr>
        <p:spPr>
          <a:xfrm>
            <a:off x="3543300" y="2876550"/>
            <a:ext cx="2495550" cy="342900"/>
          </a:xfrm>
          <a:prstGeom prst="rect">
            <a:avLst/>
          </a:prstGeom>
          <a:noFill/>
        </p:spPr>
        <p:txBody>
          <a:bodyPr wrap="square" anchor="t" lIns="0" rIns="0" tIns="0" bIns="0">
            <a:spAutoFit/>
          </a:bodyPr>
          <a:lstStyle/>
          <a:p>
            <a:pPr algn="l">
              <a:lnSpc>
                <a:spcPct val="130000"/>
              </a:lnSpc>
            </a:pPr>
            <a:r>
              <a:rPr sz="900" b="0">
                <a:solidFill>
                  <a:srgbClr val="AACAE6"/>
                </a:solidFill>
                <a:latin typeface="Pretendard"/>
                <a:ea typeface="Pretendard"/>
                <a:cs typeface="Pretendard"/>
              </a:rPr>
              <a:t>마른 노면 19,018장 오경보율</a:t>
            </a:r>
            <a:br/>
            <a:r>
              <a:rPr sz="900" b="0">
                <a:solidFill>
                  <a:srgbClr val="AACAE6"/>
                </a:solidFill>
                <a:latin typeface="Pretendard"/>
                <a:ea typeface="Pretendard"/>
                <a:cs typeface="Pretendard"/>
              </a:rPr>
              <a:t>젖은 노면 0.8 %</a:t>
            </a:r>
          </a:p>
        </p:txBody>
      </p:sp>
      <p:sp>
        <p:nvSpPr>
          <p:cNvPr id="19" name="TextBox 18"/>
          <p:cNvSpPr txBox="1"/>
          <p:nvPr/>
        </p:nvSpPr>
        <p:spPr>
          <a:xfrm>
            <a:off x="6324600" y="2419350"/>
            <a:ext cx="2495550" cy="438150"/>
          </a:xfrm>
          <a:prstGeom prst="rect">
            <a:avLst/>
          </a:prstGeom>
          <a:noFill/>
        </p:spPr>
        <p:txBody>
          <a:bodyPr wrap="square" anchor="t" lIns="0" rIns="0" tIns="0" bIns="0">
            <a:spAutoFit/>
          </a:bodyPr>
          <a:lstStyle/>
          <a:p>
            <a:pPr algn="l">
              <a:lnSpc>
                <a:spcPct val="100000"/>
              </a:lnSpc>
            </a:pPr>
            <a:r>
              <a:rPr sz="3200" b="0">
                <a:solidFill>
                  <a:srgbClr val="FFFFFF"/>
                </a:solidFill>
                <a:latin typeface="Pretendard ExtraBold"/>
                <a:ea typeface="Pretendard ExtraBold"/>
                <a:cs typeface="Pretendard ExtraBold"/>
              </a:rPr>
              <a:t>22.6 µs</a:t>
            </a:r>
          </a:p>
        </p:txBody>
      </p:sp>
      <p:sp>
        <p:nvSpPr>
          <p:cNvPr id="20" name="TextBox 19"/>
          <p:cNvSpPr txBox="1"/>
          <p:nvPr/>
        </p:nvSpPr>
        <p:spPr>
          <a:xfrm>
            <a:off x="6324600" y="2876550"/>
            <a:ext cx="2495550" cy="342900"/>
          </a:xfrm>
          <a:prstGeom prst="rect">
            <a:avLst/>
          </a:prstGeom>
          <a:noFill/>
        </p:spPr>
        <p:txBody>
          <a:bodyPr wrap="square" anchor="t" lIns="0" rIns="0" tIns="0" bIns="0">
            <a:spAutoFit/>
          </a:bodyPr>
          <a:lstStyle/>
          <a:p>
            <a:pPr algn="l">
              <a:lnSpc>
                <a:spcPct val="130000"/>
              </a:lnSpc>
            </a:pPr>
            <a:r>
              <a:rPr sz="900" b="0">
                <a:solidFill>
                  <a:srgbClr val="AACAE6"/>
                </a:solidFill>
                <a:latin typeface="Pretendard"/>
                <a:ea typeface="Pretendard"/>
                <a:cs typeface="Pretendard"/>
              </a:rPr>
              <a:t>2차 방어 최악 응답</a:t>
            </a:r>
            <a:br/>
            <a:r>
              <a:rPr sz="900" b="0">
                <a:solidFill>
                  <a:srgbClr val="AACAE6"/>
                </a:solidFill>
                <a:latin typeface="Pretendard"/>
                <a:ea typeface="Pretendard"/>
                <a:cs typeface="Pretendard"/>
              </a:rPr>
              <a:t>리눅스는 5,790 µs</a:t>
            </a:r>
          </a:p>
        </p:txBody>
      </p:sp>
      <p:sp>
        <p:nvSpPr>
          <p:cNvPr id="21" name="TextBox 20"/>
          <p:cNvSpPr txBox="1"/>
          <p:nvPr/>
        </p:nvSpPr>
        <p:spPr>
          <a:xfrm>
            <a:off x="9105900" y="2419350"/>
            <a:ext cx="2495550" cy="438150"/>
          </a:xfrm>
          <a:prstGeom prst="rect">
            <a:avLst/>
          </a:prstGeom>
          <a:noFill/>
        </p:spPr>
        <p:txBody>
          <a:bodyPr wrap="square" anchor="t" lIns="0" rIns="0" tIns="0" bIns="0">
            <a:spAutoFit/>
          </a:bodyPr>
          <a:lstStyle/>
          <a:p>
            <a:pPr algn="l">
              <a:lnSpc>
                <a:spcPct val="100000"/>
              </a:lnSpc>
            </a:pPr>
            <a:r>
              <a:rPr sz="3200" b="0">
                <a:solidFill>
                  <a:srgbClr val="FFFFFF"/>
                </a:solidFill>
                <a:latin typeface="Pretendard ExtraBold"/>
                <a:ea typeface="Pretendard ExtraBold"/>
                <a:cs typeface="Pretendard ExtraBold"/>
              </a:rPr>
              <a:t>9/9</a:t>
            </a:r>
          </a:p>
        </p:txBody>
      </p:sp>
      <p:sp>
        <p:nvSpPr>
          <p:cNvPr id="22" name="TextBox 21"/>
          <p:cNvSpPr txBox="1"/>
          <p:nvPr/>
        </p:nvSpPr>
        <p:spPr>
          <a:xfrm>
            <a:off x="9105900" y="2876550"/>
            <a:ext cx="2495550" cy="342900"/>
          </a:xfrm>
          <a:prstGeom prst="rect">
            <a:avLst/>
          </a:prstGeom>
          <a:noFill/>
        </p:spPr>
        <p:txBody>
          <a:bodyPr wrap="square" anchor="t" lIns="0" rIns="0" tIns="0" bIns="0">
            <a:spAutoFit/>
          </a:bodyPr>
          <a:lstStyle/>
          <a:p>
            <a:pPr algn="l">
              <a:lnSpc>
                <a:spcPct val="130000"/>
              </a:lnSpc>
            </a:pPr>
            <a:r>
              <a:rPr sz="900" b="0">
                <a:solidFill>
                  <a:srgbClr val="AACAE6"/>
                </a:solidFill>
                <a:latin typeface="Pretendard"/>
                <a:ea typeface="Pretendard"/>
                <a:cs typeface="Pretendard"/>
              </a:rPr>
              <a:t>방어를 모두 끈 기준선</a:t>
            </a:r>
            <a:br/>
            <a:r>
              <a:rPr sz="900" b="0">
                <a:solidFill>
                  <a:srgbClr val="AACAE6"/>
                </a:solidFill>
                <a:latin typeface="Pretendard"/>
                <a:ea typeface="Pretendard"/>
                <a:cs typeface="Pretendard"/>
              </a:rPr>
              <a:t>전부 제어 상실</a:t>
            </a:r>
          </a:p>
        </p:txBody>
      </p:sp>
      <p:pic>
        <p:nvPicPr>
          <p:cNvPr id="23" name="v_compare_bev.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33400" y="3409950"/>
            <a:ext cx="7239000" cy="2924175"/>
          </a:xfrm>
          <a:prstGeom prst="rect">
            <a:avLst/>
          </a:prstGeom>
        </p:spPr>
      </p:pic>
      <p:sp>
        <p:nvSpPr>
          <p:cNvPr id="24" name="TextBox 23"/>
          <p:cNvSpPr txBox="1"/>
          <p:nvPr/>
        </p:nvSpPr>
        <p:spPr>
          <a:xfrm>
            <a:off x="533400" y="6372225"/>
            <a:ext cx="7239000" cy="133350"/>
          </a:xfrm>
          <a:prstGeom prst="rect">
            <a:avLst/>
          </a:prstGeom>
          <a:noFill/>
        </p:spPr>
        <p:txBody>
          <a:bodyPr wrap="square" anchor="t" lIns="0" rIns="0" tIns="0" bIns="0">
            <a:spAutoFit/>
          </a:bodyPr>
          <a:lstStyle/>
          <a:p>
            <a:pPr algn="l">
              <a:lnSpc>
                <a:spcPct val="140000"/>
              </a:lnSpc>
            </a:pPr>
            <a:r>
              <a:rPr sz="800" b="0">
                <a:solidFill>
                  <a:srgbClr val="A6A6A6"/>
                </a:solidFill>
                <a:latin typeface="Pretendard"/>
                <a:ea typeface="Pretendard"/>
                <a:cs typeface="Pretendard"/>
              </a:rPr>
              <a:t>▶ 발표 모드에서 자동 재생 · 조감 비교 16 s</a:t>
            </a:r>
          </a:p>
        </p:txBody>
      </p:sp>
      <p:sp>
        <p:nvSpPr>
          <p:cNvPr id="25" name="TextBox 24"/>
          <p:cNvSpPr txBox="1"/>
          <p:nvPr/>
        </p:nvSpPr>
        <p:spPr>
          <a:xfrm>
            <a:off x="8001000" y="3409950"/>
            <a:ext cx="3657600" cy="381000"/>
          </a:xfrm>
          <a:prstGeom prst="rect">
            <a:avLst/>
          </a:prstGeom>
          <a:noFill/>
        </p:spPr>
        <p:txBody>
          <a:bodyPr wrap="square" anchor="t" lIns="0" rIns="0" tIns="0" bIns="0">
            <a:spAutoFit/>
          </a:bodyPr>
          <a:lstStyle/>
          <a:p>
            <a:pPr algn="l">
              <a:lnSpc>
                <a:spcPct val="120000"/>
              </a:lnSpc>
            </a:pPr>
            <a:r>
              <a:rPr sz="1300" b="1">
                <a:solidFill>
                  <a:srgbClr val="002C5F"/>
                </a:solidFill>
                <a:latin typeface="Pretendard"/>
                <a:ea typeface="Pretendard"/>
                <a:cs typeface="Pretendard"/>
              </a:rPr>
              <a:t>같은 빙판 · 같은 속도</a:t>
            </a:r>
            <a:br/>
            <a:r>
              <a:rPr sz="1300" b="1">
                <a:solidFill>
                  <a:srgbClr val="002C5F"/>
                </a:solidFill>
                <a:latin typeface="Pretendard"/>
                <a:ea typeface="Pretendard"/>
                <a:cs typeface="Pretendard"/>
              </a:rPr>
              <a:t>같은 주변 차량 8대</a:t>
            </a:r>
          </a:p>
        </p:txBody>
      </p:sp>
      <p:sp>
        <p:nvSpPr>
          <p:cNvPr id="26" name="TextBox 25"/>
          <p:cNvSpPr txBox="1"/>
          <p:nvPr/>
        </p:nvSpPr>
        <p:spPr>
          <a:xfrm>
            <a:off x="8001000" y="3905250"/>
            <a:ext cx="1714500" cy="282892"/>
          </a:xfrm>
          <a:prstGeom prst="rect">
            <a:avLst/>
          </a:prstGeom>
          <a:noFill/>
        </p:spPr>
        <p:txBody>
          <a:bodyPr wrap="square" anchor="t" lIns="0" rIns="0" tIns="0" bIns="0">
            <a:spAutoFit/>
          </a:bodyPr>
          <a:lstStyle/>
          <a:p>
            <a:pPr algn="l">
              <a:lnSpc>
                <a:spcPct val="100000"/>
              </a:lnSpc>
            </a:pPr>
            <a:r>
              <a:rPr sz="2200" b="0">
                <a:solidFill>
                  <a:srgbClr val="E63312"/>
                </a:solidFill>
                <a:latin typeface="Pretendard ExtraBold"/>
                <a:ea typeface="Pretendard ExtraBold"/>
                <a:cs typeface="Pretendard ExtraBold"/>
              </a:rPr>
              <a:t>25.4 km/h</a:t>
            </a:r>
          </a:p>
        </p:txBody>
      </p:sp>
      <p:sp>
        <p:nvSpPr>
          <p:cNvPr id="27" name="TextBox 26"/>
          <p:cNvSpPr txBox="1"/>
          <p:nvPr/>
        </p:nvSpPr>
        <p:spPr>
          <a:xfrm>
            <a:off x="8001000" y="4207192"/>
            <a:ext cx="1714500" cy="364808"/>
          </a:xfrm>
          <a:prstGeom prst="rect">
            <a:avLst/>
          </a:prstGeom>
          <a:noFill/>
        </p:spPr>
        <p:txBody>
          <a:bodyPr wrap="square" anchor="t" lIns="0" rIns="0" tIns="0" bIns="0">
            <a:spAutoFit/>
          </a:bodyPr>
          <a:lstStyle/>
          <a:p>
            <a:pPr algn="l">
              <a:lnSpc>
                <a:spcPct val="130000"/>
              </a:lnSpc>
            </a:pPr>
            <a:r>
              <a:rPr sz="850" b="0">
                <a:solidFill>
                  <a:srgbClr val="767676"/>
                </a:solidFill>
                <a:latin typeface="Pretendard"/>
                <a:ea typeface="Pretendard"/>
                <a:cs typeface="Pretendard"/>
              </a:rPr>
              <a:t>왼쪽 · 방어 없음</a:t>
            </a:r>
            <a:br/>
            <a:r>
              <a:rPr sz="850" b="0">
                <a:solidFill>
                  <a:srgbClr val="767676"/>
                </a:solidFill>
                <a:latin typeface="Pretendard"/>
                <a:ea typeface="Pretendard"/>
                <a:cs typeface="Pretendard"/>
              </a:rPr>
              <a:t>제어를 잃고 차로를 가로질러 미끄러진다</a:t>
            </a:r>
          </a:p>
        </p:txBody>
      </p:sp>
      <p:sp>
        <p:nvSpPr>
          <p:cNvPr id="28" name="TextBox 27"/>
          <p:cNvSpPr txBox="1"/>
          <p:nvPr/>
        </p:nvSpPr>
        <p:spPr>
          <a:xfrm>
            <a:off x="9867900" y="3905250"/>
            <a:ext cx="1714500" cy="282892"/>
          </a:xfrm>
          <a:prstGeom prst="rect">
            <a:avLst/>
          </a:prstGeom>
          <a:noFill/>
        </p:spPr>
        <p:txBody>
          <a:bodyPr wrap="square" anchor="t" lIns="0" rIns="0" tIns="0" bIns="0">
            <a:spAutoFit/>
          </a:bodyPr>
          <a:lstStyle/>
          <a:p>
            <a:pPr algn="l">
              <a:lnSpc>
                <a:spcPct val="100000"/>
              </a:lnSpc>
            </a:pPr>
            <a:r>
              <a:rPr sz="2200" b="0">
                <a:solidFill>
                  <a:srgbClr val="00AAD2"/>
                </a:solidFill>
                <a:latin typeface="Pretendard ExtraBold"/>
                <a:ea typeface="Pretendard ExtraBold"/>
                <a:cs typeface="Pretendard ExtraBold"/>
              </a:rPr>
              <a:t>0.0 km/h</a:t>
            </a:r>
          </a:p>
        </p:txBody>
      </p:sp>
      <p:sp>
        <p:nvSpPr>
          <p:cNvPr id="29" name="TextBox 28"/>
          <p:cNvSpPr txBox="1"/>
          <p:nvPr/>
        </p:nvSpPr>
        <p:spPr>
          <a:xfrm>
            <a:off x="9867900" y="4207192"/>
            <a:ext cx="1714500" cy="364808"/>
          </a:xfrm>
          <a:prstGeom prst="rect">
            <a:avLst/>
          </a:prstGeom>
          <a:noFill/>
        </p:spPr>
        <p:txBody>
          <a:bodyPr wrap="square" anchor="t" lIns="0" rIns="0" tIns="0" bIns="0">
            <a:spAutoFit/>
          </a:bodyPr>
          <a:lstStyle/>
          <a:p>
            <a:pPr algn="l">
              <a:lnSpc>
                <a:spcPct val="130000"/>
              </a:lnSpc>
            </a:pPr>
            <a:r>
              <a:rPr sz="850" b="0">
                <a:solidFill>
                  <a:srgbClr val="767676"/>
                </a:solidFill>
                <a:latin typeface="Pretendard"/>
                <a:ea typeface="Pretendard"/>
                <a:cs typeface="Pretendard"/>
              </a:rPr>
              <a:t>오른쪽 · STM32N6 RTOS 2차 방어</a:t>
            </a:r>
            <a:br/>
            <a:r>
              <a:rPr sz="850" b="0">
                <a:solidFill>
                  <a:srgbClr val="767676"/>
                </a:solidFill>
                <a:latin typeface="Pretendard"/>
                <a:ea typeface="Pretendard"/>
                <a:cs typeface="Pretendard"/>
              </a:rPr>
              <a:t>차선 안에서 정지했다</a:t>
            </a:r>
          </a:p>
        </p:txBody>
      </p:sp>
      <p:sp>
        <p:nvSpPr>
          <p:cNvPr id="30" name="TextBox 29"/>
          <p:cNvSpPr txBox="1"/>
          <p:nvPr/>
        </p:nvSpPr>
        <p:spPr>
          <a:xfrm>
            <a:off x="8001000" y="4705350"/>
            <a:ext cx="3657600" cy="1524000"/>
          </a:xfrm>
          <a:prstGeom prst="rect">
            <a:avLst/>
          </a:prstGeom>
          <a:noFill/>
        </p:spPr>
        <p:txBody>
          <a:bodyPr wrap="square" anchor="t" lIns="0" rIns="0" tIns="0" bIns="0">
            <a:spAutoFit/>
          </a:bodyPr>
          <a:lstStyle/>
          <a:p>
            <a:pPr algn="l">
              <a:lnSpc>
                <a:spcPct val="145000"/>
              </a:lnSpc>
            </a:pPr>
            <a:r>
              <a:rPr sz="1000" b="0">
                <a:solidFill>
                  <a:srgbClr val="4D4D4D"/>
                </a:solidFill>
                <a:latin typeface="Pretendard"/>
                <a:ea typeface="Pretendard"/>
                <a:cs typeface="Pretendard"/>
              </a:rPr>
              <a:t>실물 STM32N6 보드가 ThreadX 위에서 IMU 거동으로 미끄러짐을 확정하고 제동·조향을 내린다. 차이는 2차 방어 하나뿐이다.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endCondLst>
                    <p:cond evt="onStopAudio" delay="0">
                      <p:tn val="2"/>
                    </p:cond>
                  </p:endCondLst>
                </p:cTn>
                <p:tgtEl>
                  <p:spTgt spid="23"/>
                </p:tgtEl>
              </p:cMediaNode>
            </p:video>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3400" y="323850"/>
            <a:ext cx="5715000" cy="162878"/>
          </a:xfrm>
          <a:prstGeom prst="rect">
            <a:avLst/>
          </a:prstGeom>
          <a:noFill/>
        </p:spPr>
        <p:txBody>
          <a:bodyPr wrap="square" anchor="t" lIns="0" rIns="0" tIns="0" bIns="0">
            <a:spAutoFit/>
          </a:bodyPr>
          <a:lstStyle/>
          <a:p>
            <a:pPr algn="l">
              <a:lnSpc>
                <a:spcPct val="100000"/>
              </a:lnSpc>
            </a:pPr>
            <a:r>
              <a:rPr sz="950" b="1" spc="80">
                <a:solidFill>
                  <a:srgbClr val="002C5F"/>
                </a:solidFill>
                <a:latin typeface="Pretendard"/>
                <a:ea typeface="Pretendard"/>
                <a:cs typeface="Pretendard"/>
              </a:rPr>
              <a:t>문제</a:t>
            </a:r>
          </a:p>
        </p:txBody>
      </p:sp>
      <p:sp>
        <p:nvSpPr>
          <p:cNvPr id="3" name="TextBox 2"/>
          <p:cNvSpPr txBox="1"/>
          <p:nvPr/>
        </p:nvSpPr>
        <p:spPr>
          <a:xfrm>
            <a:off x="9753600" y="314325"/>
            <a:ext cx="1905000" cy="152400"/>
          </a:xfrm>
          <a:prstGeom prst="rect">
            <a:avLst/>
          </a:prstGeom>
          <a:noFill/>
        </p:spPr>
        <p:txBody>
          <a:bodyPr wrap="square" anchor="t" lIns="0" rIns="0" tIns="0" bIns="0">
            <a:spAutoFit/>
          </a:bodyPr>
          <a:lstStyle/>
          <a:p>
            <a:pPr algn="r">
              <a:lnSpc>
                <a:spcPct val="140000"/>
              </a:lnSpc>
            </a:pPr>
            <a:r>
              <a:rPr sz="900" b="0">
                <a:solidFill>
                  <a:srgbClr val="A6A6A6"/>
                </a:solidFill>
                <a:latin typeface="Pretendard"/>
                <a:ea typeface="Pretendard"/>
                <a:cs typeface="Pretendard"/>
              </a:rPr>
              <a:t>03 / 20</a:t>
            </a:r>
          </a:p>
        </p:txBody>
      </p:sp>
      <p:sp>
        <p:nvSpPr>
          <p:cNvPr id="4" name="TextBox 3"/>
          <p:cNvSpPr txBox="1"/>
          <p:nvPr/>
        </p:nvSpPr>
        <p:spPr>
          <a:xfrm>
            <a:off x="533400" y="495300"/>
            <a:ext cx="11125200" cy="381000"/>
          </a:xfrm>
          <a:prstGeom prst="rect">
            <a:avLst/>
          </a:prstGeom>
          <a:noFill/>
        </p:spPr>
        <p:txBody>
          <a:bodyPr wrap="square" anchor="t" lIns="0" rIns="0" tIns="0" bIns="0">
            <a:spAutoFit/>
          </a:bodyPr>
          <a:lstStyle/>
          <a:p>
            <a:pPr algn="l">
              <a:lnSpc>
                <a:spcPct val="100000"/>
              </a:lnSpc>
            </a:pPr>
            <a:r>
              <a:rPr sz="2400" b="0">
                <a:solidFill>
                  <a:srgbClr val="1C1B1B"/>
                </a:solidFill>
                <a:latin typeface="Pretendard ExtraBold"/>
                <a:ea typeface="Pretendard ExtraBold"/>
                <a:cs typeface="Pretendard ExtraBold"/>
              </a:rPr>
              <a:t>왜 블랙아이스는 비전만으로 풀리지 않는가</a:t>
            </a:r>
          </a:p>
        </p:txBody>
      </p:sp>
      <p:sp>
        <p:nvSpPr>
          <p:cNvPr id="5" name="TextBox 4"/>
          <p:cNvSpPr txBox="1"/>
          <p:nvPr/>
        </p:nvSpPr>
        <p:spPr>
          <a:xfrm>
            <a:off x="533400" y="6286500"/>
            <a:ext cx="11125200" cy="304800"/>
          </a:xfrm>
          <a:prstGeom prst="rect">
            <a:avLst/>
          </a:prstGeom>
          <a:noFill/>
        </p:spPr>
        <p:txBody>
          <a:bodyPr wrap="square" anchor="t" lIns="0" rIns="0" tIns="0" bIns="0">
            <a:spAutoFit/>
          </a:bodyPr>
          <a:lstStyle/>
          <a:p>
            <a:pPr algn="l">
              <a:lnSpc>
                <a:spcPct val="130000"/>
              </a:lnSpc>
            </a:pPr>
            <a:r>
              <a:rPr sz="850" b="0">
                <a:solidFill>
                  <a:srgbClr val="767676"/>
                </a:solidFill>
                <a:latin typeface="Pretendard"/>
                <a:ea typeface="Pretendard"/>
                <a:cs typeface="Pretendard"/>
              </a:rPr>
              <a:t>약점을 숨기지 않고, 이중 안전망 구조의 '존재 이유'를 데이터로 뒷받침한다 — 개발계획서에 적었던 방침을 그대로 지켰다.</a:t>
            </a:r>
          </a:p>
        </p:txBody>
      </p:sp>
      <p:sp>
        <p:nvSpPr>
          <p:cNvPr id="6" name="TextBox 5"/>
          <p:cNvSpPr txBox="1"/>
          <p:nvPr/>
        </p:nvSpPr>
        <p:spPr>
          <a:xfrm>
            <a:off x="533400" y="6648450"/>
            <a:ext cx="7620000" cy="133350"/>
          </a:xfrm>
          <a:prstGeom prst="rect">
            <a:avLst/>
          </a:prstGeom>
          <a:noFill/>
        </p:spPr>
        <p:txBody>
          <a:bodyPr wrap="square" anchor="t" lIns="0" rIns="0" tIns="0" bIns="0">
            <a:spAutoFit/>
          </a:bodyPr>
          <a:lstStyle/>
          <a:p>
            <a:pPr algn="l">
              <a:lnSpc>
                <a:spcPct val="140000"/>
              </a:lnSpc>
            </a:pPr>
            <a:r>
              <a:rPr sz="800" b="0">
                <a:solidFill>
                  <a:srgbClr val="A6A6A6"/>
                </a:solidFill>
                <a:latin typeface="Pretendard"/>
                <a:ea typeface="Pretendard"/>
                <a:cs typeface="Pretendard"/>
              </a:rPr>
              <a:t>팀 ARTS · 제24회 임베디드SW경진대회 자동차/모빌리티(현대자동차) · github.com/gkgk0119gmail-arch/2026ESWContest_mobility_ARTS</a:t>
            </a:r>
          </a:p>
        </p:txBody>
      </p:sp>
      <p:sp>
        <p:nvSpPr>
          <p:cNvPr id="7" name="TextBox 6"/>
          <p:cNvSpPr txBox="1"/>
          <p:nvPr/>
        </p:nvSpPr>
        <p:spPr>
          <a:xfrm>
            <a:off x="10134600" y="6638925"/>
            <a:ext cx="1524000" cy="133350"/>
          </a:xfrm>
          <a:prstGeom prst="rect">
            <a:avLst/>
          </a:prstGeom>
          <a:noFill/>
        </p:spPr>
        <p:txBody>
          <a:bodyPr wrap="square" anchor="t" lIns="0" rIns="0" tIns="0" bIns="0">
            <a:spAutoFit/>
          </a:bodyPr>
          <a:lstStyle/>
          <a:p>
            <a:pPr algn="r">
              <a:lnSpc>
                <a:spcPct val="140000"/>
              </a:lnSpc>
            </a:pPr>
            <a:r>
              <a:rPr sz="900" b="1">
                <a:solidFill>
                  <a:srgbClr val="002C5F"/>
                </a:solidFill>
                <a:latin typeface="Pretendard"/>
                <a:ea typeface="Pretendard"/>
                <a:cs typeface="Pretendard"/>
              </a:rPr>
              <a:t>IcePredict</a:t>
            </a:r>
          </a:p>
        </p:txBody>
      </p:sp>
      <p:pic>
        <p:nvPicPr>
          <p:cNvPr id="8" name="Picture 7" descr="real_failure_miss.jpg"/>
          <p:cNvPicPr>
            <a:picLocks noChangeAspect="1"/>
          </p:cNvPicPr>
          <p:nvPr/>
        </p:nvPicPr>
        <p:blipFill>
          <a:blip r:embed="rId2"/>
          <a:stretch>
            <a:fillRect/>
          </a:stretch>
        </p:blipFill>
        <p:spPr>
          <a:xfrm>
            <a:off x="533400" y="1028700"/>
            <a:ext cx="7239000" cy="3286125"/>
          </a:xfrm>
          <a:prstGeom prst="rect">
            <a:avLst/>
          </a:prstGeom>
        </p:spPr>
      </p:pic>
      <p:sp>
        <p:nvSpPr>
          <p:cNvPr id="9" name="TextBox 8"/>
          <p:cNvSpPr txBox="1"/>
          <p:nvPr/>
        </p:nvSpPr>
        <p:spPr>
          <a:xfrm>
            <a:off x="533400" y="4371975"/>
            <a:ext cx="7239000" cy="323850"/>
          </a:xfrm>
          <a:prstGeom prst="rect">
            <a:avLst/>
          </a:prstGeom>
          <a:noFill/>
        </p:spPr>
        <p:txBody>
          <a:bodyPr wrap="square" anchor="t" lIns="0" rIns="0" tIns="0" bIns="0">
            <a:spAutoFit/>
          </a:bodyPr>
          <a:lstStyle/>
          <a:p>
            <a:pPr algn="l">
              <a:lnSpc>
                <a:spcPct val="130000"/>
              </a:lnSpc>
            </a:pPr>
            <a:r>
              <a:rPr sz="900" b="0">
                <a:solidFill>
                  <a:srgbClr val="767676"/>
                </a:solidFill>
                <a:latin typeface="Pretendard"/>
                <a:ea typeface="Pretendard"/>
                <a:cs typeface="Pretendard"/>
              </a:rPr>
              <a:t>우리 보드가 실제로 놓친 실사진 — 전부 정답이 블랙아이스인데 '정상'으로 판정했다. 위험도 0.01~0.04 라 운영 문턱(0.603)은 물론 어떤 문턱으로도 잡히지 않는다</a:t>
            </a:r>
          </a:p>
        </p:txBody>
      </p:sp>
      <p:sp>
        <p:nvSpPr>
          <p:cNvPr id="10" name="TextBox 9"/>
          <p:cNvSpPr txBox="1"/>
          <p:nvPr/>
        </p:nvSpPr>
        <p:spPr>
          <a:xfrm>
            <a:off x="533400" y="4848225"/>
            <a:ext cx="2286000" cy="385762"/>
          </a:xfrm>
          <a:prstGeom prst="rect">
            <a:avLst/>
          </a:prstGeom>
          <a:noFill/>
        </p:spPr>
        <p:txBody>
          <a:bodyPr wrap="square" anchor="t" lIns="0" rIns="0" tIns="0" bIns="0">
            <a:spAutoFit/>
          </a:bodyPr>
          <a:lstStyle/>
          <a:p>
            <a:pPr algn="l">
              <a:lnSpc>
                <a:spcPct val="100000"/>
              </a:lnSpc>
            </a:pPr>
            <a:r>
              <a:rPr sz="3000" b="0">
                <a:solidFill>
                  <a:srgbClr val="E63312"/>
                </a:solidFill>
                <a:latin typeface="Pretendard ExtraBold"/>
                <a:ea typeface="Pretendard ExtraBold"/>
                <a:cs typeface="Pretendard ExtraBold"/>
              </a:rPr>
              <a:t>3.4 %</a:t>
            </a:r>
          </a:p>
        </p:txBody>
      </p:sp>
      <p:sp>
        <p:nvSpPr>
          <p:cNvPr id="11" name="TextBox 10"/>
          <p:cNvSpPr txBox="1"/>
          <p:nvPr/>
        </p:nvSpPr>
        <p:spPr>
          <a:xfrm>
            <a:off x="533400" y="5253038"/>
            <a:ext cx="2286000" cy="452438"/>
          </a:xfrm>
          <a:prstGeom prst="rect">
            <a:avLst/>
          </a:prstGeom>
          <a:noFill/>
        </p:spPr>
        <p:txBody>
          <a:bodyPr wrap="square" anchor="t" lIns="0" rIns="0" tIns="0" bIns="0">
            <a:spAutoFit/>
          </a:bodyPr>
          <a:lstStyle/>
          <a:p>
            <a:pPr algn="l">
              <a:lnSpc>
                <a:spcPct val="130000"/>
              </a:lnSpc>
            </a:pPr>
            <a:r>
              <a:rPr sz="950" b="0">
                <a:solidFill>
                  <a:srgbClr val="767676"/>
                </a:solidFill>
                <a:latin typeface="Pretendard"/>
                <a:ea typeface="Pretendard"/>
                <a:cs typeface="Pretendard"/>
              </a:rPr>
              <a:t>실사진 얼음 6,340장 중 215장이</a:t>
            </a:r>
            <a:br/>
            <a:r>
              <a:rPr sz="950" b="0">
                <a:solidFill>
                  <a:srgbClr val="767676"/>
                </a:solidFill>
                <a:latin typeface="Pretendard"/>
                <a:ea typeface="Pretendard"/>
                <a:cs typeface="Pretendard"/>
              </a:rPr>
              <a:t>어떤 문턱으로도 잡히지 않는다</a:t>
            </a:r>
          </a:p>
        </p:txBody>
      </p:sp>
      <p:sp>
        <p:nvSpPr>
          <p:cNvPr id="12" name="TextBox 11"/>
          <p:cNvSpPr txBox="1"/>
          <p:nvPr/>
        </p:nvSpPr>
        <p:spPr>
          <a:xfrm>
            <a:off x="3009900" y="4848225"/>
            <a:ext cx="2286000" cy="385762"/>
          </a:xfrm>
          <a:prstGeom prst="rect">
            <a:avLst/>
          </a:prstGeom>
          <a:noFill/>
        </p:spPr>
        <p:txBody>
          <a:bodyPr wrap="square" anchor="t" lIns="0" rIns="0" tIns="0" bIns="0">
            <a:spAutoFit/>
          </a:bodyPr>
          <a:lstStyle/>
          <a:p>
            <a:pPr algn="l">
              <a:lnSpc>
                <a:spcPct val="100000"/>
              </a:lnSpc>
            </a:pPr>
            <a:r>
              <a:rPr sz="3000" b="0">
                <a:solidFill>
                  <a:srgbClr val="002C5F"/>
                </a:solidFill>
                <a:latin typeface="Pretendard ExtraBold"/>
                <a:ea typeface="Pretendard ExtraBold"/>
                <a:cs typeface="Pretendard ExtraBold"/>
              </a:rPr>
              <a:t>0 장</a:t>
            </a:r>
          </a:p>
        </p:txBody>
      </p:sp>
      <p:sp>
        <p:nvSpPr>
          <p:cNvPr id="13" name="TextBox 12"/>
          <p:cNvSpPr txBox="1"/>
          <p:nvPr/>
        </p:nvSpPr>
        <p:spPr>
          <a:xfrm>
            <a:off x="3009900" y="5253038"/>
            <a:ext cx="2286000" cy="452438"/>
          </a:xfrm>
          <a:prstGeom prst="rect">
            <a:avLst/>
          </a:prstGeom>
          <a:noFill/>
        </p:spPr>
        <p:txBody>
          <a:bodyPr wrap="square" anchor="t" lIns="0" rIns="0" tIns="0" bIns="0">
            <a:spAutoFit/>
          </a:bodyPr>
          <a:lstStyle/>
          <a:p>
            <a:pPr algn="l">
              <a:lnSpc>
                <a:spcPct val="130000"/>
              </a:lnSpc>
            </a:pPr>
            <a:r>
              <a:rPr sz="950" b="0">
                <a:solidFill>
                  <a:srgbClr val="767676"/>
                </a:solidFill>
                <a:latin typeface="Pretendard"/>
                <a:ea typeface="Pretendard"/>
                <a:cs typeface="Pretendard"/>
              </a:rPr>
              <a:t>공개 데이터셋의 '블랙아이스' 라벨</a:t>
            </a:r>
            <a:br/>
            <a:r>
              <a:rPr sz="950" b="0">
                <a:solidFill>
                  <a:srgbClr val="767676"/>
                </a:solidFill>
                <a:latin typeface="Pretendard"/>
                <a:ea typeface="Pretendard"/>
                <a:cs typeface="Pretendard"/>
              </a:rPr>
              <a:t>RSCD ice 57,262장도 다져진 눈·서리에 가깝다</a:t>
            </a:r>
          </a:p>
        </p:txBody>
      </p:sp>
      <p:sp>
        <p:nvSpPr>
          <p:cNvPr id="14" name="TextBox 13"/>
          <p:cNvSpPr txBox="1"/>
          <p:nvPr/>
        </p:nvSpPr>
        <p:spPr>
          <a:xfrm>
            <a:off x="5486400" y="4848225"/>
            <a:ext cx="2286000" cy="385762"/>
          </a:xfrm>
          <a:prstGeom prst="rect">
            <a:avLst/>
          </a:prstGeom>
          <a:noFill/>
        </p:spPr>
        <p:txBody>
          <a:bodyPr wrap="square" anchor="t" lIns="0" rIns="0" tIns="0" bIns="0">
            <a:spAutoFit/>
          </a:bodyPr>
          <a:lstStyle/>
          <a:p>
            <a:pPr algn="l">
              <a:lnSpc>
                <a:spcPct val="100000"/>
              </a:lnSpc>
            </a:pPr>
            <a:r>
              <a:rPr sz="3000" b="0">
                <a:solidFill>
                  <a:srgbClr val="00AAD2"/>
                </a:solidFill>
                <a:latin typeface="Pretendard ExtraBold"/>
                <a:ea typeface="Pretendard ExtraBold"/>
                <a:cs typeface="Pretendard ExtraBold"/>
              </a:rPr>
              <a:t>2 겹</a:t>
            </a:r>
          </a:p>
        </p:txBody>
      </p:sp>
      <p:sp>
        <p:nvSpPr>
          <p:cNvPr id="15" name="TextBox 14"/>
          <p:cNvSpPr txBox="1"/>
          <p:nvPr/>
        </p:nvSpPr>
        <p:spPr>
          <a:xfrm>
            <a:off x="5486400" y="5253038"/>
            <a:ext cx="2286000" cy="452438"/>
          </a:xfrm>
          <a:prstGeom prst="rect">
            <a:avLst/>
          </a:prstGeom>
          <a:noFill/>
        </p:spPr>
        <p:txBody>
          <a:bodyPr wrap="square" anchor="t" lIns="0" rIns="0" tIns="0" bIns="0">
            <a:spAutoFit/>
          </a:bodyPr>
          <a:lstStyle/>
          <a:p>
            <a:pPr algn="l">
              <a:lnSpc>
                <a:spcPct val="130000"/>
              </a:lnSpc>
            </a:pPr>
            <a:r>
              <a:rPr sz="950" b="0">
                <a:solidFill>
                  <a:srgbClr val="767676"/>
                </a:solidFill>
                <a:latin typeface="Pretendard"/>
                <a:ea typeface="Pretendard"/>
                <a:cs typeface="Pretendard"/>
              </a:rPr>
              <a:t>그래서 예측(AI)과 반응(RTOS)을</a:t>
            </a:r>
            <a:br/>
            <a:r>
              <a:rPr sz="950" b="0">
                <a:solidFill>
                  <a:srgbClr val="767676"/>
                </a:solidFill>
                <a:latin typeface="Pretendard"/>
                <a:ea typeface="Pretendard"/>
                <a:cs typeface="Pretendard"/>
              </a:rPr>
              <a:t>한 보드에 두 겹으로 올렸다</a:t>
            </a:r>
          </a:p>
        </p:txBody>
      </p:sp>
      <p:sp>
        <p:nvSpPr>
          <p:cNvPr id="16" name="TextBox 15"/>
          <p:cNvSpPr txBox="1"/>
          <p:nvPr/>
        </p:nvSpPr>
        <p:spPr>
          <a:xfrm>
            <a:off x="8077200" y="1028700"/>
            <a:ext cx="3581400" cy="208121"/>
          </a:xfrm>
          <a:prstGeom prst="rect">
            <a:avLst/>
          </a:prstGeom>
          <a:noFill/>
        </p:spPr>
        <p:txBody>
          <a:bodyPr wrap="square" anchor="t" lIns="0" rIns="0" tIns="0" bIns="0">
            <a:spAutoFit/>
          </a:bodyPr>
          <a:lstStyle/>
          <a:p>
            <a:pPr algn="l">
              <a:lnSpc>
                <a:spcPct val="100000"/>
              </a:lnSpc>
            </a:pPr>
            <a:r>
              <a:rPr sz="1150" b="1">
                <a:solidFill>
                  <a:srgbClr val="002C5F"/>
                </a:solidFill>
                <a:latin typeface="Pretendard"/>
                <a:ea typeface="Pretendard"/>
                <a:cs typeface="Pretendard"/>
              </a:rPr>
              <a:t>라벨이 없다</a:t>
            </a:r>
          </a:p>
        </p:txBody>
      </p:sp>
      <p:sp>
        <p:nvSpPr>
          <p:cNvPr id="17" name="TextBox 16"/>
          <p:cNvSpPr txBox="1"/>
          <p:nvPr/>
        </p:nvSpPr>
        <p:spPr>
          <a:xfrm>
            <a:off x="8077200" y="1274921"/>
            <a:ext cx="3581400" cy="972979"/>
          </a:xfrm>
          <a:prstGeom prst="rect">
            <a:avLst/>
          </a:prstGeom>
          <a:noFill/>
        </p:spPr>
        <p:txBody>
          <a:bodyPr wrap="square" anchor="t" lIns="0" rIns="0" tIns="0" bIns="0">
            <a:spAutoFit/>
          </a:bodyPr>
          <a:lstStyle/>
          <a:p>
            <a:pPr algn="l">
              <a:lnSpc>
                <a:spcPct val="145000"/>
              </a:lnSpc>
              <a:spcAft>
                <a:spcPts val="400"/>
              </a:spcAft>
            </a:pPr>
            <a:r>
              <a:rPr sz="1000" b="0">
                <a:solidFill>
                  <a:srgbClr val="4D4D4D"/>
                </a:solidFill>
                <a:latin typeface="Pretendard"/>
                <a:ea typeface="Pretendard"/>
                <a:cs typeface="Pretendard"/>
              </a:rPr>
              <a:t>공개 데이터셋에 '블랙아이스' 라벨이 없다. RSCD 의 ice 57,262장도 다져진 눈·서리에 가까운 '얼음 노면'일 뿐, 투명한 블랙아이스를 따로 구분하지 않는다.</a:t>
            </a:r>
          </a:p>
        </p:txBody>
      </p:sp>
      <p:sp>
        <p:nvSpPr>
          <p:cNvPr id="18" name="TextBox 17"/>
          <p:cNvSpPr txBox="1"/>
          <p:nvPr/>
        </p:nvSpPr>
        <p:spPr>
          <a:xfrm>
            <a:off x="8077200" y="2381250"/>
            <a:ext cx="3581400" cy="208121"/>
          </a:xfrm>
          <a:prstGeom prst="rect">
            <a:avLst/>
          </a:prstGeom>
          <a:noFill/>
        </p:spPr>
        <p:txBody>
          <a:bodyPr wrap="square" anchor="t" lIns="0" rIns="0" tIns="0" bIns="0">
            <a:spAutoFit/>
          </a:bodyPr>
          <a:lstStyle/>
          <a:p>
            <a:pPr algn="l">
              <a:lnSpc>
                <a:spcPct val="100000"/>
              </a:lnSpc>
            </a:pPr>
            <a:r>
              <a:rPr sz="1150" b="1">
                <a:solidFill>
                  <a:srgbClr val="002C5F"/>
                </a:solidFill>
                <a:latin typeface="Pretendard"/>
                <a:ea typeface="Pretendard"/>
                <a:cs typeface="Pretendard"/>
              </a:rPr>
              <a:t>원래 어려운 문제다</a:t>
            </a:r>
          </a:p>
        </p:txBody>
      </p:sp>
      <p:sp>
        <p:nvSpPr>
          <p:cNvPr id="19" name="TextBox 18"/>
          <p:cNvSpPr txBox="1"/>
          <p:nvPr/>
        </p:nvSpPr>
        <p:spPr>
          <a:xfrm>
            <a:off x="8077200" y="2627471"/>
            <a:ext cx="3581400" cy="972979"/>
          </a:xfrm>
          <a:prstGeom prst="rect">
            <a:avLst/>
          </a:prstGeom>
          <a:noFill/>
        </p:spPr>
        <p:txBody>
          <a:bodyPr wrap="square" anchor="t" lIns="0" rIns="0" tIns="0" bIns="0">
            <a:spAutoFit/>
          </a:bodyPr>
          <a:lstStyle/>
          <a:p>
            <a:pPr algn="l">
              <a:lnSpc>
                <a:spcPct val="145000"/>
              </a:lnSpc>
              <a:spcAft>
                <a:spcPts val="400"/>
              </a:spcAft>
            </a:pPr>
            <a:r>
              <a:rPr sz="1000" b="0">
                <a:solidFill>
                  <a:srgbClr val="4D4D4D"/>
                </a:solidFill>
                <a:latin typeface="Pretendard"/>
                <a:ea typeface="Pretendard"/>
                <a:cs typeface="Pretendard"/>
              </a:rPr>
              <a:t>투명·검은 얼음이 아스팔트와 시각적으로 구분되지 않는다는 것은 업계 통설이다. 우리 모델도 마찬가지로, 실사진 얼음 6,340장 중 215장(3.4 %)이 문턱 아래에 남는다.</a:t>
            </a:r>
          </a:p>
        </p:txBody>
      </p:sp>
      <p:sp>
        <p:nvSpPr>
          <p:cNvPr id="20" name="Rectangle 19"/>
          <p:cNvSpPr/>
          <p:nvPr/>
        </p:nvSpPr>
        <p:spPr>
          <a:xfrm>
            <a:off x="8077200" y="3810000"/>
            <a:ext cx="3581400" cy="1676400"/>
          </a:xfrm>
          <a:prstGeom prst="rect">
            <a:avLst/>
          </a:prstGeom>
          <a:solidFill>
            <a:srgbClr val="F6F3F2"/>
          </a:solidFill>
          <a:ln>
            <a:noFill/>
          </a:ln>
          <a:effectLst/>
        </p:spPr>
        <p:txBody>
          <a:bodyPr rtlCol="0" anchor="ctr"/>
          <a:lstStyle/>
          <a:p/>
        </p:txBody>
      </p:sp>
      <p:sp>
        <p:nvSpPr>
          <p:cNvPr id="21" name="TextBox 20"/>
          <p:cNvSpPr txBox="1"/>
          <p:nvPr/>
        </p:nvSpPr>
        <p:spPr>
          <a:xfrm>
            <a:off x="8229600" y="3962400"/>
            <a:ext cx="3276600" cy="208121"/>
          </a:xfrm>
          <a:prstGeom prst="rect">
            <a:avLst/>
          </a:prstGeom>
          <a:noFill/>
        </p:spPr>
        <p:txBody>
          <a:bodyPr wrap="square" anchor="t" lIns="0" rIns="0" tIns="0" bIns="0">
            <a:spAutoFit/>
          </a:bodyPr>
          <a:lstStyle/>
          <a:p>
            <a:pPr algn="l">
              <a:lnSpc>
                <a:spcPct val="100000"/>
              </a:lnSpc>
            </a:pPr>
            <a:r>
              <a:rPr sz="1150" b="1">
                <a:solidFill>
                  <a:srgbClr val="002C5F"/>
                </a:solidFill>
                <a:latin typeface="Pretendard"/>
                <a:ea typeface="Pretendard"/>
                <a:cs typeface="Pretendard"/>
              </a:rPr>
              <a:t>그래서 내린 결론</a:t>
            </a:r>
          </a:p>
        </p:txBody>
      </p:sp>
      <p:sp>
        <p:nvSpPr>
          <p:cNvPr id="22" name="TextBox 21"/>
          <p:cNvSpPr txBox="1"/>
          <p:nvPr/>
        </p:nvSpPr>
        <p:spPr>
          <a:xfrm>
            <a:off x="8229600" y="4208621"/>
            <a:ext cx="3276600" cy="1125379"/>
          </a:xfrm>
          <a:prstGeom prst="rect">
            <a:avLst/>
          </a:prstGeom>
          <a:noFill/>
        </p:spPr>
        <p:txBody>
          <a:bodyPr wrap="square" anchor="t" lIns="0" rIns="0" tIns="0" bIns="0">
            <a:spAutoFit/>
          </a:bodyPr>
          <a:lstStyle/>
          <a:p>
            <a:pPr algn="l">
              <a:lnSpc>
                <a:spcPct val="145000"/>
              </a:lnSpc>
              <a:spcAft>
                <a:spcPts val="400"/>
              </a:spcAft>
            </a:pPr>
            <a:r>
              <a:rPr sz="1000" b="0">
                <a:solidFill>
                  <a:srgbClr val="4D4D4D"/>
                </a:solidFill>
                <a:latin typeface="Pretendard"/>
                <a:ea typeface="Pretendard"/>
                <a:cs typeface="Pretendard"/>
              </a:rPr>
              <a:t>1차는 블랙아이스를 직접 맞히려 하지 않는다. '결빙 위험 노면 확률 + 반사도 이상 + 기상 맥락'으로 위험도를 올린다. 그리고 그 전략이 실패할 때를 위해 2차가 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3400" y="323850"/>
            <a:ext cx="5715000" cy="162878"/>
          </a:xfrm>
          <a:prstGeom prst="rect">
            <a:avLst/>
          </a:prstGeom>
          <a:noFill/>
        </p:spPr>
        <p:txBody>
          <a:bodyPr wrap="square" anchor="t" lIns="0" rIns="0" tIns="0" bIns="0">
            <a:spAutoFit/>
          </a:bodyPr>
          <a:lstStyle/>
          <a:p>
            <a:pPr algn="l">
              <a:lnSpc>
                <a:spcPct val="100000"/>
              </a:lnSpc>
            </a:pPr>
            <a:r>
              <a:rPr sz="950" b="1" spc="80">
                <a:solidFill>
                  <a:srgbClr val="002C5F"/>
                </a:solidFill>
                <a:latin typeface="Pretendard"/>
                <a:ea typeface="Pretendard"/>
                <a:cs typeface="Pretendard"/>
              </a:rPr>
              <a:t>구조</a:t>
            </a:r>
          </a:p>
        </p:txBody>
      </p:sp>
      <p:sp>
        <p:nvSpPr>
          <p:cNvPr id="3" name="TextBox 2"/>
          <p:cNvSpPr txBox="1"/>
          <p:nvPr/>
        </p:nvSpPr>
        <p:spPr>
          <a:xfrm>
            <a:off x="9753600" y="314325"/>
            <a:ext cx="1905000" cy="152400"/>
          </a:xfrm>
          <a:prstGeom prst="rect">
            <a:avLst/>
          </a:prstGeom>
          <a:noFill/>
        </p:spPr>
        <p:txBody>
          <a:bodyPr wrap="square" anchor="t" lIns="0" rIns="0" tIns="0" bIns="0">
            <a:spAutoFit/>
          </a:bodyPr>
          <a:lstStyle/>
          <a:p>
            <a:pPr algn="r">
              <a:lnSpc>
                <a:spcPct val="140000"/>
              </a:lnSpc>
            </a:pPr>
            <a:r>
              <a:rPr sz="900" b="0">
                <a:solidFill>
                  <a:srgbClr val="A6A6A6"/>
                </a:solidFill>
                <a:latin typeface="Pretendard"/>
                <a:ea typeface="Pretendard"/>
                <a:cs typeface="Pretendard"/>
              </a:rPr>
              <a:t>04 / 20</a:t>
            </a:r>
          </a:p>
        </p:txBody>
      </p:sp>
      <p:sp>
        <p:nvSpPr>
          <p:cNvPr id="4" name="TextBox 3"/>
          <p:cNvSpPr txBox="1"/>
          <p:nvPr/>
        </p:nvSpPr>
        <p:spPr>
          <a:xfrm>
            <a:off x="533400" y="495300"/>
            <a:ext cx="11125200" cy="381000"/>
          </a:xfrm>
          <a:prstGeom prst="rect">
            <a:avLst/>
          </a:prstGeom>
          <a:noFill/>
        </p:spPr>
        <p:txBody>
          <a:bodyPr wrap="square" anchor="t" lIns="0" rIns="0" tIns="0" bIns="0">
            <a:spAutoFit/>
          </a:bodyPr>
          <a:lstStyle/>
          <a:p>
            <a:pPr algn="l">
              <a:lnSpc>
                <a:spcPct val="100000"/>
              </a:lnSpc>
            </a:pPr>
            <a:r>
              <a:rPr sz="2400" b="0">
                <a:solidFill>
                  <a:srgbClr val="1C1B1B"/>
                </a:solidFill>
                <a:latin typeface="Pretendard ExtraBold"/>
                <a:ea typeface="Pretendard ExtraBold"/>
                <a:cs typeface="Pretendard ExtraBold"/>
              </a:rPr>
              <a:t>이중 안전망 — 예측(AI)과 반응(RTOS)</a:t>
            </a:r>
          </a:p>
        </p:txBody>
      </p:sp>
      <p:sp>
        <p:nvSpPr>
          <p:cNvPr id="5" name="TextBox 4"/>
          <p:cNvSpPr txBox="1"/>
          <p:nvPr/>
        </p:nvSpPr>
        <p:spPr>
          <a:xfrm>
            <a:off x="533400" y="6286500"/>
            <a:ext cx="11125200" cy="304800"/>
          </a:xfrm>
          <a:prstGeom prst="rect">
            <a:avLst/>
          </a:prstGeom>
          <a:noFill/>
        </p:spPr>
        <p:txBody>
          <a:bodyPr wrap="square" anchor="t" lIns="0" rIns="0" tIns="0" bIns="0">
            <a:spAutoFit/>
          </a:bodyPr>
          <a:lstStyle/>
          <a:p>
            <a:pPr algn="l">
              <a:lnSpc>
                <a:spcPct val="130000"/>
              </a:lnSpc>
            </a:pPr>
            <a:r>
              <a:rPr sz="850" b="0">
                <a:solidFill>
                  <a:srgbClr val="767676"/>
                </a:solidFill>
                <a:latin typeface="Pretendard"/>
                <a:ea typeface="Pretendard"/>
                <a:cs typeface="Pretendard"/>
              </a:rPr>
              <a:t>ThreadX 우선순위는 IMU 융합 스레드가 3, NPU 프레임 스레드가 4다. 25 ms짜리 추론이 돌고 있어도 IMU 판정이 선점한다 — 혼합 임계도(mixed-criticality) AI ECU 구조.</a:t>
            </a:r>
          </a:p>
        </p:txBody>
      </p:sp>
      <p:sp>
        <p:nvSpPr>
          <p:cNvPr id="6" name="TextBox 5"/>
          <p:cNvSpPr txBox="1"/>
          <p:nvPr/>
        </p:nvSpPr>
        <p:spPr>
          <a:xfrm>
            <a:off x="533400" y="6648450"/>
            <a:ext cx="7620000" cy="133350"/>
          </a:xfrm>
          <a:prstGeom prst="rect">
            <a:avLst/>
          </a:prstGeom>
          <a:noFill/>
        </p:spPr>
        <p:txBody>
          <a:bodyPr wrap="square" anchor="t" lIns="0" rIns="0" tIns="0" bIns="0">
            <a:spAutoFit/>
          </a:bodyPr>
          <a:lstStyle/>
          <a:p>
            <a:pPr algn="l">
              <a:lnSpc>
                <a:spcPct val="140000"/>
              </a:lnSpc>
            </a:pPr>
            <a:r>
              <a:rPr sz="800" b="0">
                <a:solidFill>
                  <a:srgbClr val="A6A6A6"/>
                </a:solidFill>
                <a:latin typeface="Pretendard"/>
                <a:ea typeface="Pretendard"/>
                <a:cs typeface="Pretendard"/>
              </a:rPr>
              <a:t>팀 ARTS · 제24회 임베디드SW경진대회 자동차/모빌리티(현대자동차) · github.com/gkgk0119gmail-arch/2026ESWContest_mobility_ARTS</a:t>
            </a:r>
          </a:p>
        </p:txBody>
      </p:sp>
      <p:sp>
        <p:nvSpPr>
          <p:cNvPr id="7" name="TextBox 6"/>
          <p:cNvSpPr txBox="1"/>
          <p:nvPr/>
        </p:nvSpPr>
        <p:spPr>
          <a:xfrm>
            <a:off x="10134600" y="6638925"/>
            <a:ext cx="1524000" cy="133350"/>
          </a:xfrm>
          <a:prstGeom prst="rect">
            <a:avLst/>
          </a:prstGeom>
          <a:noFill/>
        </p:spPr>
        <p:txBody>
          <a:bodyPr wrap="square" anchor="t" lIns="0" rIns="0" tIns="0" bIns="0">
            <a:spAutoFit/>
          </a:bodyPr>
          <a:lstStyle/>
          <a:p>
            <a:pPr algn="r">
              <a:lnSpc>
                <a:spcPct val="140000"/>
              </a:lnSpc>
            </a:pPr>
            <a:r>
              <a:rPr sz="900" b="1">
                <a:solidFill>
                  <a:srgbClr val="002C5F"/>
                </a:solidFill>
                <a:latin typeface="Pretendard"/>
                <a:ea typeface="Pretendard"/>
                <a:cs typeface="Pretendard"/>
              </a:rPr>
              <a:t>IcePredict</a:t>
            </a:r>
          </a:p>
        </p:txBody>
      </p:sp>
      <p:pic>
        <p:nvPicPr>
          <p:cNvPr id="8" name="Picture 7" descr="architecture.png"/>
          <p:cNvPicPr>
            <a:picLocks noChangeAspect="1"/>
          </p:cNvPicPr>
          <p:nvPr/>
        </p:nvPicPr>
        <p:blipFill>
          <a:blip r:embed="rId2"/>
          <a:stretch>
            <a:fillRect/>
          </a:stretch>
        </p:blipFill>
        <p:spPr>
          <a:xfrm>
            <a:off x="533400" y="1028700"/>
            <a:ext cx="6858000" cy="3114675"/>
          </a:xfrm>
          <a:prstGeom prst="rect">
            <a:avLst/>
          </a:prstGeom>
        </p:spPr>
      </p:pic>
      <p:sp>
        <p:nvSpPr>
          <p:cNvPr id="9" name="TextBox 8"/>
          <p:cNvSpPr txBox="1"/>
          <p:nvPr/>
        </p:nvSpPr>
        <p:spPr>
          <a:xfrm>
            <a:off x="7772400" y="1085850"/>
            <a:ext cx="2857500" cy="385762"/>
          </a:xfrm>
          <a:prstGeom prst="rect">
            <a:avLst/>
          </a:prstGeom>
          <a:noFill/>
        </p:spPr>
        <p:txBody>
          <a:bodyPr wrap="square" anchor="t" lIns="0" rIns="0" tIns="0" bIns="0">
            <a:spAutoFit/>
          </a:bodyPr>
          <a:lstStyle/>
          <a:p>
            <a:pPr algn="l">
              <a:lnSpc>
                <a:spcPct val="100000"/>
              </a:lnSpc>
            </a:pPr>
            <a:r>
              <a:rPr sz="3000" b="0">
                <a:solidFill>
                  <a:srgbClr val="00AAD2"/>
                </a:solidFill>
                <a:latin typeface="Pretendard ExtraBold"/>
                <a:ea typeface="Pretendard ExtraBold"/>
                <a:cs typeface="Pretendard ExtraBold"/>
              </a:rPr>
              <a:t>25 ms</a:t>
            </a:r>
          </a:p>
        </p:txBody>
      </p:sp>
      <p:sp>
        <p:nvSpPr>
          <p:cNvPr id="10" name="TextBox 9"/>
          <p:cNvSpPr txBox="1"/>
          <p:nvPr/>
        </p:nvSpPr>
        <p:spPr>
          <a:xfrm>
            <a:off x="7772400" y="1490662"/>
            <a:ext cx="2857500" cy="471488"/>
          </a:xfrm>
          <a:prstGeom prst="rect">
            <a:avLst/>
          </a:prstGeom>
          <a:noFill/>
        </p:spPr>
        <p:txBody>
          <a:bodyPr wrap="square" anchor="t" lIns="0" rIns="0" tIns="0" bIns="0">
            <a:spAutoFit/>
          </a:bodyPr>
          <a:lstStyle/>
          <a:p>
            <a:pPr algn="l">
              <a:lnSpc>
                <a:spcPct val="130000"/>
              </a:lnSpc>
            </a:pPr>
            <a:r>
              <a:rPr sz="950" b="0">
                <a:solidFill>
                  <a:srgbClr val="767676"/>
                </a:solidFill>
                <a:latin typeface="Pretendard"/>
                <a:ea typeface="Pretendard"/>
                <a:cs typeface="Pretendard"/>
              </a:rPr>
              <a:t>1차 방어 · STM32N6 Neural-ART NPU</a:t>
            </a:r>
            <a:br/>
            <a:r>
              <a:rPr sz="950" b="0">
                <a:solidFill>
                  <a:srgbClr val="767676"/>
                </a:solidFill>
                <a:latin typeface="Pretendard"/>
                <a:ea typeface="Pretendard"/>
                <a:cs typeface="Pretendard"/>
              </a:rPr>
              <a:t>노면 4분류 + 반사도 추론 한 프레임</a:t>
            </a:r>
          </a:p>
        </p:txBody>
      </p:sp>
      <p:sp>
        <p:nvSpPr>
          <p:cNvPr id="11" name="TextBox 10"/>
          <p:cNvSpPr txBox="1"/>
          <p:nvPr/>
        </p:nvSpPr>
        <p:spPr>
          <a:xfrm>
            <a:off x="7772400" y="2171700"/>
            <a:ext cx="2857500" cy="385762"/>
          </a:xfrm>
          <a:prstGeom prst="rect">
            <a:avLst/>
          </a:prstGeom>
          <a:noFill/>
        </p:spPr>
        <p:txBody>
          <a:bodyPr wrap="square" anchor="t" lIns="0" rIns="0" tIns="0" bIns="0">
            <a:spAutoFit/>
          </a:bodyPr>
          <a:lstStyle/>
          <a:p>
            <a:pPr algn="l">
              <a:lnSpc>
                <a:spcPct val="100000"/>
              </a:lnSpc>
            </a:pPr>
            <a:r>
              <a:rPr sz="3000" b="0">
                <a:solidFill>
                  <a:srgbClr val="E63312"/>
                </a:solidFill>
                <a:latin typeface="Pretendard ExtraBold"/>
                <a:ea typeface="Pretendard ExtraBold"/>
                <a:cs typeface="Pretendard ExtraBold"/>
              </a:rPr>
              <a:t>22.6 µs</a:t>
            </a:r>
          </a:p>
        </p:txBody>
      </p:sp>
      <p:sp>
        <p:nvSpPr>
          <p:cNvPr id="12" name="TextBox 11"/>
          <p:cNvSpPr txBox="1"/>
          <p:nvPr/>
        </p:nvSpPr>
        <p:spPr>
          <a:xfrm>
            <a:off x="7772400" y="2576512"/>
            <a:ext cx="2857500" cy="471488"/>
          </a:xfrm>
          <a:prstGeom prst="rect">
            <a:avLst/>
          </a:prstGeom>
          <a:noFill/>
        </p:spPr>
        <p:txBody>
          <a:bodyPr wrap="square" anchor="t" lIns="0" rIns="0" tIns="0" bIns="0">
            <a:spAutoFit/>
          </a:bodyPr>
          <a:lstStyle/>
          <a:p>
            <a:pPr algn="l">
              <a:lnSpc>
                <a:spcPct val="130000"/>
              </a:lnSpc>
            </a:pPr>
            <a:r>
              <a:rPr sz="950" b="0">
                <a:solidFill>
                  <a:srgbClr val="767676"/>
                </a:solidFill>
                <a:latin typeface="Pretendard"/>
                <a:ea typeface="Pretendard"/>
                <a:cs typeface="Pretendard"/>
              </a:rPr>
              <a:t>2차 방어 · ThreadX 최악 응답</a:t>
            </a:r>
            <a:br/>
            <a:r>
              <a:rPr sz="950" b="0">
                <a:solidFill>
                  <a:srgbClr val="767676"/>
                </a:solidFill>
                <a:latin typeface="Pretendard"/>
                <a:ea typeface="Pretendard"/>
                <a:cs typeface="Pretendard"/>
              </a:rPr>
              <a:t>IMU 샘플 → 미끄러짐 판정 → 제어 출력</a:t>
            </a:r>
          </a:p>
        </p:txBody>
      </p:sp>
      <p:sp>
        <p:nvSpPr>
          <p:cNvPr id="13" name="TextBox 12"/>
          <p:cNvSpPr txBox="1"/>
          <p:nvPr/>
        </p:nvSpPr>
        <p:spPr>
          <a:xfrm>
            <a:off x="7772400" y="3257550"/>
            <a:ext cx="2857500" cy="385762"/>
          </a:xfrm>
          <a:prstGeom prst="rect">
            <a:avLst/>
          </a:prstGeom>
          <a:noFill/>
        </p:spPr>
        <p:txBody>
          <a:bodyPr wrap="square" anchor="t" lIns="0" rIns="0" tIns="0" bIns="0">
            <a:spAutoFit/>
          </a:bodyPr>
          <a:lstStyle/>
          <a:p>
            <a:pPr algn="l">
              <a:lnSpc>
                <a:spcPct val="100000"/>
              </a:lnSpc>
            </a:pPr>
            <a:r>
              <a:rPr sz="3000" b="0">
                <a:solidFill>
                  <a:srgbClr val="002C5F"/>
                </a:solidFill>
                <a:latin typeface="Pretendard ExtraBold"/>
                <a:ea typeface="Pretendard ExtraBold"/>
                <a:cs typeface="Pretendard ExtraBold"/>
              </a:rPr>
              <a:t>3 › 4</a:t>
            </a:r>
          </a:p>
        </p:txBody>
      </p:sp>
      <p:sp>
        <p:nvSpPr>
          <p:cNvPr id="14" name="TextBox 13"/>
          <p:cNvSpPr txBox="1"/>
          <p:nvPr/>
        </p:nvSpPr>
        <p:spPr>
          <a:xfrm>
            <a:off x="7772400" y="3662362"/>
            <a:ext cx="2857500" cy="642938"/>
          </a:xfrm>
          <a:prstGeom prst="rect">
            <a:avLst/>
          </a:prstGeom>
          <a:noFill/>
        </p:spPr>
        <p:txBody>
          <a:bodyPr wrap="square" anchor="t" lIns="0" rIns="0" tIns="0" bIns="0">
            <a:spAutoFit/>
          </a:bodyPr>
          <a:lstStyle/>
          <a:p>
            <a:pPr algn="l">
              <a:lnSpc>
                <a:spcPct val="130000"/>
              </a:lnSpc>
            </a:pPr>
            <a:r>
              <a:rPr sz="950" b="0">
                <a:solidFill>
                  <a:srgbClr val="767676"/>
                </a:solidFill>
                <a:latin typeface="Pretendard"/>
                <a:ea typeface="Pretendard"/>
                <a:cs typeface="Pretendard"/>
              </a:rPr>
              <a:t>ThreadX 우선순위 — IMU 융합 3, NPU 프레임 4</a:t>
            </a:r>
            <a:br/>
            <a:r>
              <a:rPr sz="950" b="0">
                <a:solidFill>
                  <a:srgbClr val="767676"/>
                </a:solidFill>
                <a:latin typeface="Pretendard"/>
                <a:ea typeface="Pretendard"/>
                <a:cs typeface="Pretendard"/>
              </a:rPr>
              <a:t>추론이 돌고 있어도 IMU 판정이 선점한다</a:t>
            </a:r>
          </a:p>
        </p:txBody>
      </p:sp>
      <p:graphicFrame>
        <p:nvGraphicFramePr>
          <p:cNvPr id="15" name="Table 14"/>
          <p:cNvGraphicFramePr>
            <a:graphicFrameLocks noGrp="1"/>
          </p:cNvGraphicFramePr>
          <p:nvPr/>
        </p:nvGraphicFramePr>
        <p:xfrm>
          <a:off x="533400" y="4352925"/>
          <a:ext cx="11125200" cy="1419225"/>
        </p:xfrm>
        <a:graphic>
          <a:graphicData uri="http://schemas.openxmlformats.org/drawingml/2006/table">
            <a:tbl>
              <a:tblPr>
                <a:tableStyleId>{2D5ABB26-0587-4C30-8999-92F81FD0307C}</a:tableStyleId>
              </a:tblPr>
              <a:tblGrid>
                <a:gridCol w="1183532"/>
                <a:gridCol w="4970834"/>
                <a:gridCol w="4970834"/>
              </a:tblGrid>
              <a:tr h="228600">
                <a:tc>
                  <a:txBody>
                    <a:bodyPr wrap="square"/>
                    <a:lstStyle/>
                    <a:p>
                      <a:pPr>
                        <a:lnSpc>
                          <a:spcPct val="122000"/>
                        </a:lnSpc>
                      </a:pPr>
                      <a:r>
                        <a:rPr sz="950" b="1">
                          <a:solidFill>
                            <a:srgbClr val="002C5F"/>
                          </a:solidFill>
                          <a:latin typeface="Pretendard"/>
                          <a:ea typeface="Pretendard"/>
                          <a:cs typeface="Pretendard"/>
                        </a:rPr>
                        <a:t> </a:t>
                      </a:r>
                      <a:endParaRPr sz="95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c>
                  <a:txBody>
                    <a:bodyPr wrap="square"/>
                    <a:lstStyle/>
                    <a:p>
                      <a:pPr>
                        <a:lnSpc>
                          <a:spcPct val="122000"/>
                        </a:lnSpc>
                      </a:pPr>
                      <a:r>
                        <a:rPr sz="950" b="1">
                          <a:solidFill>
                            <a:srgbClr val="00AAD2"/>
                          </a:solidFill>
                          <a:latin typeface="Pretendard"/>
                          <a:ea typeface="Pretendard"/>
                          <a:cs typeface="Pretendard"/>
                        </a:rPr>
                        <a:t>1차 방어 · 예측</a:t>
                      </a:r>
                      <a:endParaRPr sz="950"/>
                    </a:p>
                  </a:txBody>
                  <a:tcPr marL="76200" marR="57150" marT="28575" marB="28575" anchor="ctr">
                    <a:lnL w="9525" cap="flat" cmpd="sng" algn="ctr">
                      <a:noFill/>
                    </a:lnL>
                    <a:lnR w="9525" cap="flat" cmpd="sng" algn="ctr">
                      <a:noFill/>
                    </a:lnR>
                    <a:lnT w="9525" cap="flat" cmpd="sng" algn="ctr">
                      <a:noFill/>
                    </a:lnT>
                    <a:lnB w="15875" cap="flat" cmpd="sng" algn="ctr">
                      <a:solidFill>
                        <a:srgbClr val="00AAD2"/>
                      </a:solidFill>
                      <a:prstDash val="solid"/>
                    </a:lnB>
                    <a:noFill/>
                  </a:tcPr>
                </a:tc>
                <a:tc>
                  <a:txBody>
                    <a:bodyPr wrap="square"/>
                    <a:lstStyle/>
                    <a:p>
                      <a:pPr>
                        <a:lnSpc>
                          <a:spcPct val="122000"/>
                        </a:lnSpc>
                      </a:pPr>
                      <a:r>
                        <a:rPr sz="950" b="1">
                          <a:solidFill>
                            <a:srgbClr val="E63312"/>
                          </a:solidFill>
                          <a:latin typeface="Pretendard"/>
                          <a:ea typeface="Pretendard"/>
                          <a:cs typeface="Pretendard"/>
                        </a:rPr>
                        <a:t>2차 방어 · 반응</a:t>
                      </a:r>
                      <a:endParaRPr sz="950"/>
                    </a:p>
                  </a:txBody>
                  <a:tcPr marL="76200" marR="57150" marT="28575" marB="28575" anchor="ctr">
                    <a:lnL w="9525" cap="flat" cmpd="sng" algn="ctr">
                      <a:noFill/>
                    </a:lnL>
                    <a:lnR w="9525" cap="flat" cmpd="sng" algn="ctr">
                      <a:noFill/>
                    </a:lnR>
                    <a:lnT w="9525" cap="flat" cmpd="sng" algn="ctr">
                      <a:noFill/>
                    </a:lnT>
                    <a:lnB w="15875" cap="flat" cmpd="sng" algn="ctr">
                      <a:solidFill>
                        <a:srgbClr val="E63312"/>
                      </a:solidFill>
                      <a:prstDash val="solid"/>
                    </a:lnB>
                    <a:noFill/>
                  </a:tcPr>
                </a:tc>
              </a:tr>
              <a:tr h="238125">
                <a:tc>
                  <a:txBody>
                    <a:bodyPr wrap="square"/>
                    <a:lstStyle/>
                    <a:p>
                      <a:pPr>
                        <a:lnSpc>
                          <a:spcPct val="122000"/>
                        </a:lnSpc>
                      </a:pPr>
                      <a:r>
                        <a:rPr sz="1000" b="1">
                          <a:solidFill>
                            <a:srgbClr val="002C5F"/>
                          </a:solidFill>
                          <a:latin typeface="Pretendard"/>
                          <a:ea typeface="Pretendard"/>
                          <a:cs typeface="Pretendard"/>
                        </a:rPr>
                        <a:t>센서</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0">
                          <a:solidFill>
                            <a:srgbClr val="1C1B1B"/>
                          </a:solidFill>
                          <a:latin typeface="Pretendard"/>
                          <a:ea typeface="Pretendard"/>
                          <a:cs typeface="Pretendard"/>
                        </a:rPr>
                        <a:t>전방 카메라</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0">
                          <a:solidFill>
                            <a:srgbClr val="1C1B1B"/>
                          </a:solidFill>
                          <a:latin typeface="Pretendard"/>
                          <a:ea typeface="Pretendard"/>
                          <a:cs typeface="Pretendard"/>
                        </a:rPr>
                        <a:t>IMU (횡가속 · yaw rate · 종가속)</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38125">
                <a:tc>
                  <a:txBody>
                    <a:bodyPr wrap="square"/>
                    <a:lstStyle/>
                    <a:p>
                      <a:pPr>
                        <a:lnSpc>
                          <a:spcPct val="122000"/>
                        </a:lnSpc>
                      </a:pPr>
                      <a:r>
                        <a:rPr sz="1000" b="1">
                          <a:solidFill>
                            <a:srgbClr val="002C5F"/>
                          </a:solidFill>
                          <a:latin typeface="Pretendard"/>
                          <a:ea typeface="Pretendard"/>
                          <a:cs typeface="Pretendard"/>
                        </a:rPr>
                        <a:t>판단</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0">
                          <a:solidFill>
                            <a:srgbClr val="1C1B1B"/>
                          </a:solidFill>
                          <a:latin typeface="Pretendard"/>
                          <a:ea typeface="Pretendard"/>
                          <a:cs typeface="Pretendard"/>
                        </a:rPr>
                        <a:t>노면 4분류 + 반사도 + 기상 맥락 → 위험도</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0">
                          <a:solidFill>
                            <a:srgbClr val="1C1B1B"/>
                          </a:solidFill>
                          <a:latin typeface="Pretendard"/>
                          <a:ea typeface="Pretendard"/>
                          <a:cs typeface="Pretendard"/>
                        </a:rPr>
                        <a:t>칼만 필터 + 자전거 모델 잔차 → 미끄러짐 확정</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38125">
                <a:tc>
                  <a:txBody>
                    <a:bodyPr wrap="square"/>
                    <a:lstStyle/>
                    <a:p>
                      <a:pPr>
                        <a:lnSpc>
                          <a:spcPct val="122000"/>
                        </a:lnSpc>
                      </a:pPr>
                      <a:r>
                        <a:rPr sz="1000" b="1">
                          <a:solidFill>
                            <a:srgbClr val="002C5F"/>
                          </a:solidFill>
                          <a:latin typeface="Pretendard"/>
                          <a:ea typeface="Pretendard"/>
                          <a:cs typeface="Pretendard"/>
                        </a:rPr>
                        <a:t>시점</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0">
                          <a:solidFill>
                            <a:srgbClr val="1C1B1B"/>
                          </a:solidFill>
                          <a:latin typeface="Pretendard"/>
                          <a:ea typeface="Pretendard"/>
                          <a:cs typeface="Pretendard"/>
                        </a:rPr>
                        <a:t>빙판에 닿기 전</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0">
                          <a:solidFill>
                            <a:srgbClr val="1C1B1B"/>
                          </a:solidFill>
                          <a:latin typeface="Pretendard"/>
                          <a:ea typeface="Pretendard"/>
                          <a:cs typeface="Pretendard"/>
                        </a:rPr>
                        <a:t>미끄러지기 시작한 뒤</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38125">
                <a:tc>
                  <a:txBody>
                    <a:bodyPr wrap="square"/>
                    <a:lstStyle/>
                    <a:p>
                      <a:pPr>
                        <a:lnSpc>
                          <a:spcPct val="122000"/>
                        </a:lnSpc>
                      </a:pPr>
                      <a:r>
                        <a:rPr sz="1000" b="1">
                          <a:solidFill>
                            <a:srgbClr val="002C5F"/>
                          </a:solidFill>
                          <a:latin typeface="Pretendard"/>
                          <a:ea typeface="Pretendard"/>
                          <a:cs typeface="Pretendard"/>
                        </a:rPr>
                        <a:t>성격</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0">
                          <a:solidFill>
                            <a:srgbClr val="1C1B1B"/>
                          </a:solidFill>
                          <a:latin typeface="Pretendard"/>
                          <a:ea typeface="Pretendard"/>
                          <a:cs typeface="Pretendard"/>
                        </a:rPr>
                        <a:t>똑똑하지만 틀릴 수 있다</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0">
                          <a:solidFill>
                            <a:srgbClr val="1C1B1B"/>
                          </a:solidFill>
                          <a:latin typeface="Pretendard"/>
                          <a:ea typeface="Pretendard"/>
                          <a:cs typeface="Pretendard"/>
                        </a:rPr>
                        <a:t>단순하지만 제때 반드시 실행된다</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38125">
                <a:tc>
                  <a:txBody>
                    <a:bodyPr wrap="square"/>
                    <a:lstStyle/>
                    <a:p>
                      <a:pPr>
                        <a:lnSpc>
                          <a:spcPct val="122000"/>
                        </a:lnSpc>
                      </a:pPr>
                      <a:r>
                        <a:rPr sz="1000" b="1">
                          <a:solidFill>
                            <a:srgbClr val="002C5F"/>
                          </a:solidFill>
                          <a:latin typeface="Pretendard"/>
                          <a:ea typeface="Pretendard"/>
                          <a:cs typeface="Pretendard"/>
                        </a:rPr>
                        <a:t>실행</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0">
                          <a:solidFill>
                            <a:srgbClr val="1C1B1B"/>
                          </a:solidFill>
                          <a:latin typeface="Pretendard"/>
                          <a:ea typeface="Pretendard"/>
                          <a:cs typeface="Pretendard"/>
                        </a:rPr>
                        <a:t>STM32N6 NPU · 25 ms</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0">
                          <a:solidFill>
                            <a:srgbClr val="1C1B1B"/>
                          </a:solidFill>
                          <a:latin typeface="Pretendard"/>
                          <a:ea typeface="Pretendard"/>
                          <a:cs typeface="Pretendard"/>
                        </a:rPr>
                        <a:t>STM32N6 + ThreadX · 최악 22.6 µs</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3400" y="323850"/>
            <a:ext cx="5715000" cy="162878"/>
          </a:xfrm>
          <a:prstGeom prst="rect">
            <a:avLst/>
          </a:prstGeom>
          <a:noFill/>
        </p:spPr>
        <p:txBody>
          <a:bodyPr wrap="square" anchor="t" lIns="0" rIns="0" tIns="0" bIns="0">
            <a:spAutoFit/>
          </a:bodyPr>
          <a:lstStyle/>
          <a:p>
            <a:pPr algn="l">
              <a:lnSpc>
                <a:spcPct val="100000"/>
              </a:lnSpc>
            </a:pPr>
            <a:r>
              <a:rPr sz="950" b="1" spc="80">
                <a:solidFill>
                  <a:srgbClr val="002C5F"/>
                </a:solidFill>
                <a:latin typeface="Pretendard"/>
                <a:ea typeface="Pretendard"/>
                <a:cs typeface="Pretendard"/>
              </a:rPr>
              <a:t>구현</a:t>
            </a:r>
          </a:p>
        </p:txBody>
      </p:sp>
      <p:sp>
        <p:nvSpPr>
          <p:cNvPr id="3" name="TextBox 2"/>
          <p:cNvSpPr txBox="1"/>
          <p:nvPr/>
        </p:nvSpPr>
        <p:spPr>
          <a:xfrm>
            <a:off x="9753600" y="314325"/>
            <a:ext cx="1905000" cy="152400"/>
          </a:xfrm>
          <a:prstGeom prst="rect">
            <a:avLst/>
          </a:prstGeom>
          <a:noFill/>
        </p:spPr>
        <p:txBody>
          <a:bodyPr wrap="square" anchor="t" lIns="0" rIns="0" tIns="0" bIns="0">
            <a:spAutoFit/>
          </a:bodyPr>
          <a:lstStyle/>
          <a:p>
            <a:pPr algn="r">
              <a:lnSpc>
                <a:spcPct val="140000"/>
              </a:lnSpc>
            </a:pPr>
            <a:r>
              <a:rPr sz="900" b="0">
                <a:solidFill>
                  <a:srgbClr val="A6A6A6"/>
                </a:solidFill>
                <a:latin typeface="Pretendard"/>
                <a:ea typeface="Pretendard"/>
                <a:cs typeface="Pretendard"/>
              </a:rPr>
              <a:t>05 / 20</a:t>
            </a:r>
          </a:p>
        </p:txBody>
      </p:sp>
      <p:sp>
        <p:nvSpPr>
          <p:cNvPr id="4" name="TextBox 3"/>
          <p:cNvSpPr txBox="1"/>
          <p:nvPr/>
        </p:nvSpPr>
        <p:spPr>
          <a:xfrm>
            <a:off x="533400" y="495300"/>
            <a:ext cx="11125200" cy="381000"/>
          </a:xfrm>
          <a:prstGeom prst="rect">
            <a:avLst/>
          </a:prstGeom>
          <a:noFill/>
        </p:spPr>
        <p:txBody>
          <a:bodyPr wrap="square" anchor="t" lIns="0" rIns="0" tIns="0" bIns="0">
            <a:spAutoFit/>
          </a:bodyPr>
          <a:lstStyle/>
          <a:p>
            <a:pPr algn="l">
              <a:lnSpc>
                <a:spcPct val="100000"/>
              </a:lnSpc>
            </a:pPr>
            <a:r>
              <a:rPr sz="2400" b="0">
                <a:solidFill>
                  <a:srgbClr val="1C1B1B"/>
                </a:solidFill>
                <a:latin typeface="Pretendard ExtraBold"/>
                <a:ea typeface="Pretendard ExtraBold"/>
                <a:cs typeface="Pretendard ExtraBold"/>
              </a:rPr>
              <a:t>하드웨어 구성</a:t>
            </a:r>
          </a:p>
        </p:txBody>
      </p:sp>
      <p:sp>
        <p:nvSpPr>
          <p:cNvPr id="5" name="TextBox 4"/>
          <p:cNvSpPr txBox="1"/>
          <p:nvPr/>
        </p:nvSpPr>
        <p:spPr>
          <a:xfrm>
            <a:off x="533400" y="6648450"/>
            <a:ext cx="7620000" cy="133350"/>
          </a:xfrm>
          <a:prstGeom prst="rect">
            <a:avLst/>
          </a:prstGeom>
          <a:noFill/>
        </p:spPr>
        <p:txBody>
          <a:bodyPr wrap="square" anchor="t" lIns="0" rIns="0" tIns="0" bIns="0">
            <a:spAutoFit/>
          </a:bodyPr>
          <a:lstStyle/>
          <a:p>
            <a:pPr algn="l">
              <a:lnSpc>
                <a:spcPct val="140000"/>
              </a:lnSpc>
            </a:pPr>
            <a:r>
              <a:rPr sz="800" b="0">
                <a:solidFill>
                  <a:srgbClr val="A6A6A6"/>
                </a:solidFill>
                <a:latin typeface="Pretendard"/>
                <a:ea typeface="Pretendard"/>
                <a:cs typeface="Pretendard"/>
              </a:rPr>
              <a:t>팀 ARTS · 제24회 임베디드SW경진대회 자동차/모빌리티(현대자동차) · github.com/gkgk0119gmail-arch/2026ESWContest_mobility_ARTS</a:t>
            </a:r>
          </a:p>
        </p:txBody>
      </p:sp>
      <p:sp>
        <p:nvSpPr>
          <p:cNvPr id="6" name="TextBox 5"/>
          <p:cNvSpPr txBox="1"/>
          <p:nvPr/>
        </p:nvSpPr>
        <p:spPr>
          <a:xfrm>
            <a:off x="10134600" y="6638925"/>
            <a:ext cx="1524000" cy="133350"/>
          </a:xfrm>
          <a:prstGeom prst="rect">
            <a:avLst/>
          </a:prstGeom>
          <a:noFill/>
        </p:spPr>
        <p:txBody>
          <a:bodyPr wrap="square" anchor="t" lIns="0" rIns="0" tIns="0" bIns="0">
            <a:spAutoFit/>
          </a:bodyPr>
          <a:lstStyle/>
          <a:p>
            <a:pPr algn="r">
              <a:lnSpc>
                <a:spcPct val="140000"/>
              </a:lnSpc>
            </a:pPr>
            <a:r>
              <a:rPr sz="900" b="1">
                <a:solidFill>
                  <a:srgbClr val="002C5F"/>
                </a:solidFill>
                <a:latin typeface="Pretendard"/>
                <a:ea typeface="Pretendard"/>
                <a:cs typeface="Pretendard"/>
              </a:rPr>
              <a:t>IcePredict</a:t>
            </a:r>
          </a:p>
        </p:txBody>
      </p:sp>
      <p:pic>
        <p:nvPicPr>
          <p:cNvPr id="7" name="Picture 6" descr="image.jpg"/>
          <p:cNvPicPr>
            <a:picLocks noChangeAspect="1"/>
          </p:cNvPicPr>
          <p:nvPr/>
        </p:nvPicPr>
        <p:blipFill>
          <a:blip r:embed="rId2"/>
          <a:stretch>
            <a:fillRect/>
          </a:stretch>
        </p:blipFill>
        <p:spPr>
          <a:xfrm>
            <a:off x="533400" y="1028700"/>
            <a:ext cx="4000500" cy="3143250"/>
          </a:xfrm>
          <a:prstGeom prst="rect">
            <a:avLst/>
          </a:prstGeom>
        </p:spPr>
      </p:pic>
      <p:sp>
        <p:nvSpPr>
          <p:cNvPr id="8" name="TextBox 7"/>
          <p:cNvSpPr txBox="1"/>
          <p:nvPr/>
        </p:nvSpPr>
        <p:spPr>
          <a:xfrm>
            <a:off x="533400" y="4229100"/>
            <a:ext cx="4000500" cy="304800"/>
          </a:xfrm>
          <a:prstGeom prst="rect">
            <a:avLst/>
          </a:prstGeom>
          <a:noFill/>
        </p:spPr>
        <p:txBody>
          <a:bodyPr wrap="square" anchor="t" lIns="0" rIns="0" tIns="0" bIns="0">
            <a:spAutoFit/>
          </a:bodyPr>
          <a:lstStyle/>
          <a:p>
            <a:pPr algn="l">
              <a:lnSpc>
                <a:spcPct val="130000"/>
              </a:lnSpc>
            </a:pPr>
            <a:r>
              <a:rPr sz="900" b="1">
                <a:solidFill>
                  <a:srgbClr val="767676"/>
                </a:solidFill>
                <a:latin typeface="Pretendard"/>
                <a:ea typeface="Pretendard"/>
                <a:cs typeface="Pretendard"/>
              </a:rPr>
              <a:t>STM32N6570-DK</a:t>
            </a:r>
            <a:r>
              <a:rPr sz="900" b="0">
                <a:solidFill>
                  <a:srgbClr val="767676"/>
                </a:solidFill>
                <a:latin typeface="Pretendard"/>
                <a:ea typeface="Pretendard"/>
                <a:cs typeface="Pretendard"/>
              </a:rPr>
              <a:t> + AI 카메라 MB1854B — 왼쪽은 보조배터리, 위는 NVMe SSD</a:t>
            </a:r>
          </a:p>
        </p:txBody>
      </p:sp>
      <p:pic>
        <p:nvPicPr>
          <p:cNvPr id="9" name="Picture 8" descr="image.jpg"/>
          <p:cNvPicPr>
            <a:picLocks noChangeAspect="1"/>
          </p:cNvPicPr>
          <p:nvPr/>
        </p:nvPicPr>
        <p:blipFill>
          <a:blip r:embed="rId3"/>
          <a:stretch>
            <a:fillRect/>
          </a:stretch>
        </p:blipFill>
        <p:spPr>
          <a:xfrm>
            <a:off x="4648200" y="1028700"/>
            <a:ext cx="2247900" cy="3143250"/>
          </a:xfrm>
          <a:prstGeom prst="rect">
            <a:avLst/>
          </a:prstGeom>
        </p:spPr>
      </p:pic>
      <p:sp>
        <p:nvSpPr>
          <p:cNvPr id="10" name="TextBox 9"/>
          <p:cNvSpPr txBox="1"/>
          <p:nvPr/>
        </p:nvSpPr>
        <p:spPr>
          <a:xfrm>
            <a:off x="4648200" y="4229100"/>
            <a:ext cx="2247900" cy="304800"/>
          </a:xfrm>
          <a:prstGeom prst="rect">
            <a:avLst/>
          </a:prstGeom>
          <a:noFill/>
        </p:spPr>
        <p:txBody>
          <a:bodyPr wrap="square" anchor="t" lIns="0" rIns="0" tIns="0" bIns="0">
            <a:spAutoFit/>
          </a:bodyPr>
          <a:lstStyle/>
          <a:p>
            <a:pPr algn="l">
              <a:lnSpc>
                <a:spcPct val="130000"/>
              </a:lnSpc>
            </a:pPr>
            <a:r>
              <a:rPr sz="900" b="1">
                <a:solidFill>
                  <a:srgbClr val="767676"/>
                </a:solidFill>
                <a:latin typeface="Pretendard"/>
                <a:ea typeface="Pretendard"/>
                <a:cs typeface="Pretendard"/>
              </a:rPr>
              <a:t>Raspberry Pi 5 16 GB + AI HAT+ 2</a:t>
            </a:r>
            <a:br/>
            <a:r>
              <a:rPr sz="900" b="0">
                <a:solidFill>
                  <a:srgbClr val="767676"/>
                </a:solidFill>
                <a:latin typeface="Pretendard"/>
                <a:ea typeface="Pretendard"/>
                <a:cs typeface="Pretendard"/>
              </a:rPr>
              <a:t>KKSB 케이스 · 액티브 쿨러</a:t>
            </a:r>
          </a:p>
        </p:txBody>
      </p:sp>
      <p:pic>
        <p:nvPicPr>
          <p:cNvPr id="11" name="Picture 10" descr="image.jpg"/>
          <p:cNvPicPr>
            <a:picLocks noChangeAspect="1"/>
          </p:cNvPicPr>
          <p:nvPr/>
        </p:nvPicPr>
        <p:blipFill>
          <a:blip r:embed="rId4"/>
          <a:stretch>
            <a:fillRect/>
          </a:stretch>
        </p:blipFill>
        <p:spPr>
          <a:xfrm>
            <a:off x="7010400" y="1028700"/>
            <a:ext cx="2247900" cy="3143250"/>
          </a:xfrm>
          <a:prstGeom prst="rect">
            <a:avLst/>
          </a:prstGeom>
        </p:spPr>
      </p:pic>
      <p:sp>
        <p:nvSpPr>
          <p:cNvPr id="12" name="TextBox 11"/>
          <p:cNvSpPr txBox="1"/>
          <p:nvPr/>
        </p:nvSpPr>
        <p:spPr>
          <a:xfrm>
            <a:off x="7010400" y="4229100"/>
            <a:ext cx="2247900" cy="304800"/>
          </a:xfrm>
          <a:prstGeom prst="rect">
            <a:avLst/>
          </a:prstGeom>
          <a:noFill/>
        </p:spPr>
        <p:txBody>
          <a:bodyPr wrap="square" anchor="t" lIns="0" rIns="0" tIns="0" bIns="0">
            <a:spAutoFit/>
          </a:bodyPr>
          <a:lstStyle/>
          <a:p>
            <a:pPr algn="l">
              <a:lnSpc>
                <a:spcPct val="130000"/>
              </a:lnSpc>
            </a:pPr>
            <a:r>
              <a:rPr sz="900" b="1">
                <a:solidFill>
                  <a:srgbClr val="767676"/>
                </a:solidFill>
                <a:latin typeface="Pretendard"/>
                <a:ea typeface="Pretendard"/>
                <a:cs typeface="Pretendard"/>
              </a:rPr>
              <a:t>RealSense D435i</a:t>
            </a:r>
            <a:r>
              <a:rPr sz="900" b="0">
                <a:solidFill>
                  <a:srgbClr val="767676"/>
                </a:solidFill>
                <a:latin typeface="Pretendard"/>
                <a:ea typeface="Pretendard"/>
                <a:cs typeface="Pretendard"/>
              </a:rPr>
              <a:t> (RGB·뎁스·IMU)</a:t>
            </a:r>
            <a:br/>
            <a:r>
              <a:rPr sz="900" b="0">
                <a:solidFill>
                  <a:srgbClr val="767676"/>
                </a:solidFill>
                <a:latin typeface="Pretendard"/>
                <a:ea typeface="Pretendard"/>
                <a:cs typeface="Pretendard"/>
              </a:rPr>
              <a:t>NVMe 1 TB SSD 외장</a:t>
            </a:r>
          </a:p>
        </p:txBody>
      </p:sp>
      <p:pic>
        <p:nvPicPr>
          <p:cNvPr id="13" name="Picture 12" descr="image.jpg"/>
          <p:cNvPicPr>
            <a:picLocks noChangeAspect="1"/>
          </p:cNvPicPr>
          <p:nvPr/>
        </p:nvPicPr>
        <p:blipFill>
          <a:blip r:embed="rId5"/>
          <a:stretch>
            <a:fillRect/>
          </a:stretch>
        </p:blipFill>
        <p:spPr>
          <a:xfrm>
            <a:off x="9372600" y="1028700"/>
            <a:ext cx="2247900" cy="3143250"/>
          </a:xfrm>
          <a:prstGeom prst="rect">
            <a:avLst/>
          </a:prstGeom>
        </p:spPr>
      </p:pic>
      <p:sp>
        <p:nvSpPr>
          <p:cNvPr id="14" name="TextBox 13"/>
          <p:cNvSpPr txBox="1"/>
          <p:nvPr/>
        </p:nvSpPr>
        <p:spPr>
          <a:xfrm>
            <a:off x="9372600" y="4229100"/>
            <a:ext cx="2247900" cy="304800"/>
          </a:xfrm>
          <a:prstGeom prst="rect">
            <a:avLst/>
          </a:prstGeom>
          <a:noFill/>
        </p:spPr>
        <p:txBody>
          <a:bodyPr wrap="square" anchor="t" lIns="0" rIns="0" tIns="0" bIns="0">
            <a:spAutoFit/>
          </a:bodyPr>
          <a:lstStyle/>
          <a:p>
            <a:pPr algn="l">
              <a:lnSpc>
                <a:spcPct val="130000"/>
              </a:lnSpc>
            </a:pPr>
            <a:r>
              <a:rPr sz="900" b="1">
                <a:solidFill>
                  <a:srgbClr val="767676"/>
                </a:solidFill>
                <a:latin typeface="Pretendard"/>
                <a:ea typeface="Pretendard"/>
                <a:cs typeface="Pretendard"/>
              </a:rPr>
              <a:t>Moza 휠 · 페달</a:t>
            </a:r>
            <a:r>
              <a:rPr sz="900" b="0">
                <a:solidFill>
                  <a:srgbClr val="767676"/>
                </a:solidFill>
                <a:latin typeface="Pretendard"/>
                <a:ea typeface="Pretendard"/>
                <a:cs typeface="Pretendard"/>
              </a:rPr>
              <a:t> — 사람이 직접</a:t>
            </a:r>
            <a:br/>
            <a:r>
              <a:rPr sz="900" b="0">
                <a:solidFill>
                  <a:srgbClr val="767676"/>
                </a:solidFill>
                <a:latin typeface="Pretendard"/>
                <a:ea typeface="Pretendard"/>
                <a:cs typeface="Pretendard"/>
              </a:rPr>
              <a:t>CARLA 를 운전하는 경로</a:t>
            </a:r>
          </a:p>
        </p:txBody>
      </p:sp>
      <p:graphicFrame>
        <p:nvGraphicFramePr>
          <p:cNvPr id="15" name="Table 14"/>
          <p:cNvGraphicFramePr>
            <a:graphicFrameLocks noGrp="1"/>
          </p:cNvGraphicFramePr>
          <p:nvPr/>
        </p:nvGraphicFramePr>
        <p:xfrm>
          <a:off x="533400" y="4648200"/>
          <a:ext cx="11125201" cy="1562100"/>
        </p:xfrm>
        <a:graphic>
          <a:graphicData uri="http://schemas.openxmlformats.org/drawingml/2006/table">
            <a:tbl>
              <a:tblPr>
                <a:tableStyleId>{2D5ABB26-0587-4C30-8999-92F81FD0307C}</a:tableStyleId>
              </a:tblPr>
              <a:tblGrid>
                <a:gridCol w="1261621"/>
                <a:gridCol w="3899555"/>
                <a:gridCol w="5964025"/>
              </a:tblGrid>
              <a:tr h="228600">
                <a:tc>
                  <a:txBody>
                    <a:bodyPr wrap="square"/>
                    <a:lstStyle/>
                    <a:p>
                      <a:pPr>
                        <a:lnSpc>
                          <a:spcPct val="122000"/>
                        </a:lnSpc>
                      </a:pPr>
                      <a:r>
                        <a:rPr sz="900" b="1">
                          <a:solidFill>
                            <a:srgbClr val="002C5F"/>
                          </a:solidFill>
                          <a:latin typeface="Pretendard"/>
                          <a:ea typeface="Pretendard"/>
                          <a:cs typeface="Pretendard"/>
                        </a:rPr>
                        <a:t>구분</a:t>
                      </a:r>
                      <a:endParaRPr sz="90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c>
                  <a:txBody>
                    <a:bodyPr wrap="square"/>
                    <a:lstStyle/>
                    <a:p>
                      <a:pPr>
                        <a:lnSpc>
                          <a:spcPct val="122000"/>
                        </a:lnSpc>
                      </a:pPr>
                      <a:r>
                        <a:rPr sz="900" b="1">
                          <a:solidFill>
                            <a:srgbClr val="002C5F"/>
                          </a:solidFill>
                          <a:latin typeface="Pretendard"/>
                          <a:ea typeface="Pretendard"/>
                          <a:cs typeface="Pretendard"/>
                        </a:rPr>
                        <a:t>정식 명칭</a:t>
                      </a:r>
                      <a:endParaRPr sz="90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c>
                  <a:txBody>
                    <a:bodyPr wrap="square"/>
                    <a:lstStyle/>
                    <a:p>
                      <a:pPr>
                        <a:lnSpc>
                          <a:spcPct val="122000"/>
                        </a:lnSpc>
                      </a:pPr>
                      <a:r>
                        <a:rPr sz="900" b="1">
                          <a:solidFill>
                            <a:srgbClr val="002C5F"/>
                          </a:solidFill>
                          <a:latin typeface="Pretendard"/>
                          <a:ea typeface="Pretendard"/>
                          <a:cs typeface="Pretendard"/>
                        </a:rPr>
                        <a:t>역할</a:t>
                      </a:r>
                      <a:endParaRPr sz="90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r>
              <a:tr h="266700">
                <a:tc>
                  <a:txBody>
                    <a:bodyPr wrap="square"/>
                    <a:lstStyle/>
                    <a:p>
                      <a:pPr>
                        <a:lnSpc>
                          <a:spcPct val="122000"/>
                        </a:lnSpc>
                      </a:pPr>
                      <a:r>
                        <a:rPr sz="950" b="1">
                          <a:solidFill>
                            <a:srgbClr val="002C5F"/>
                          </a:solidFill>
                          <a:latin typeface="Pretendard"/>
                          <a:ea typeface="Pretendard"/>
                          <a:cs typeface="Pretendard"/>
                        </a:rPr>
                        <a:t>메인 보드</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STM32N6570-DK (MB1939-N6570-C02 + MB1860B)</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1차 NPU 추론(Neural-ART @ 1 GHz) + 2차 ThreadX 실시간 판정·제어. 두 임계도가 한 보드에 공존한다</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66700">
                <a:tc>
                  <a:txBody>
                    <a:bodyPr wrap="square"/>
                    <a:lstStyle/>
                    <a:p>
                      <a:pPr>
                        <a:lnSpc>
                          <a:spcPct val="122000"/>
                        </a:lnSpc>
                      </a:pPr>
                      <a:r>
                        <a:rPr sz="950" b="1">
                          <a:solidFill>
                            <a:srgbClr val="002C5F"/>
                          </a:solidFill>
                          <a:latin typeface="Pretendard"/>
                          <a:ea typeface="Pretendard"/>
                          <a:cs typeface="Pretendard"/>
                        </a:rPr>
                        <a:t>카메라</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ST AI Camera module MB1854B</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1차 방어 입력. 보드에 직결되어 NPU 로 바로 들어간다</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66700">
                <a:tc>
                  <a:txBody>
                    <a:bodyPr wrap="square"/>
                    <a:lstStyle/>
                    <a:p>
                      <a:pPr>
                        <a:lnSpc>
                          <a:spcPct val="122000"/>
                        </a:lnSpc>
                      </a:pPr>
                      <a:r>
                        <a:rPr sz="950" b="1">
                          <a:solidFill>
                            <a:srgbClr val="002C5F"/>
                          </a:solidFill>
                          <a:latin typeface="Pretendard"/>
                          <a:ea typeface="Pretendard"/>
                          <a:cs typeface="Pretendard"/>
                        </a:rPr>
                        <a:t>호스트</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Raspberry Pi 5 16 GB + AI HAT+ 2 (Hailo-10H)</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기상 맥락 생성, ZMQ 브리지, 교차 검증용 NPU (대회 필수 보드)</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66700">
                <a:tc>
                  <a:txBody>
                    <a:bodyPr wrap="square"/>
                    <a:lstStyle/>
                    <a:p>
                      <a:pPr>
                        <a:lnSpc>
                          <a:spcPct val="122000"/>
                        </a:lnSpc>
                      </a:pPr>
                      <a:r>
                        <a:rPr sz="950" b="1">
                          <a:solidFill>
                            <a:srgbClr val="002C5F"/>
                          </a:solidFill>
                          <a:latin typeface="Pretendard"/>
                          <a:ea typeface="Pretendard"/>
                          <a:cs typeface="Pretendard"/>
                        </a:rPr>
                        <a:t>저장·전원</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NVMe 1 TB SSD 외장 · 보조배터리</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데이터셋·주행 로그 적재 / 콘센트 없이 같은 구성을 돌리기 위한 것</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66700">
                <a:tc>
                  <a:txBody>
                    <a:bodyPr wrap="square"/>
                    <a:lstStyle/>
                    <a:p>
                      <a:pPr>
                        <a:lnSpc>
                          <a:spcPct val="122000"/>
                        </a:lnSpc>
                      </a:pPr>
                      <a:r>
                        <a:rPr sz="950" b="1">
                          <a:solidFill>
                            <a:srgbClr val="002C5F"/>
                          </a:solidFill>
                          <a:latin typeface="Pretendard"/>
                          <a:ea typeface="Pretendard"/>
                          <a:cs typeface="Pretendard"/>
                        </a:rPr>
                        <a:t>센서·렌더</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Intel RealSense D435i · RTX 5090</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실측 IMU 노이즈 확보 / CARLA 0.9.16 물리·센서 제공</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3400" y="323850"/>
            <a:ext cx="5715000" cy="162878"/>
          </a:xfrm>
          <a:prstGeom prst="rect">
            <a:avLst/>
          </a:prstGeom>
          <a:noFill/>
        </p:spPr>
        <p:txBody>
          <a:bodyPr wrap="square" anchor="t" lIns="0" rIns="0" tIns="0" bIns="0">
            <a:spAutoFit/>
          </a:bodyPr>
          <a:lstStyle/>
          <a:p>
            <a:pPr algn="l">
              <a:lnSpc>
                <a:spcPct val="100000"/>
              </a:lnSpc>
            </a:pPr>
            <a:r>
              <a:rPr sz="950" b="1" spc="80">
                <a:solidFill>
                  <a:srgbClr val="002C5F"/>
                </a:solidFill>
                <a:latin typeface="Pretendard"/>
                <a:ea typeface="Pretendard"/>
                <a:cs typeface="Pretendard"/>
              </a:rPr>
              <a:t>구현</a:t>
            </a:r>
          </a:p>
        </p:txBody>
      </p:sp>
      <p:sp>
        <p:nvSpPr>
          <p:cNvPr id="3" name="TextBox 2"/>
          <p:cNvSpPr txBox="1"/>
          <p:nvPr/>
        </p:nvSpPr>
        <p:spPr>
          <a:xfrm>
            <a:off x="9753600" y="314325"/>
            <a:ext cx="1905000" cy="152400"/>
          </a:xfrm>
          <a:prstGeom prst="rect">
            <a:avLst/>
          </a:prstGeom>
          <a:noFill/>
        </p:spPr>
        <p:txBody>
          <a:bodyPr wrap="square" anchor="t" lIns="0" rIns="0" tIns="0" bIns="0">
            <a:spAutoFit/>
          </a:bodyPr>
          <a:lstStyle/>
          <a:p>
            <a:pPr algn="r">
              <a:lnSpc>
                <a:spcPct val="140000"/>
              </a:lnSpc>
            </a:pPr>
            <a:r>
              <a:rPr sz="900" b="0">
                <a:solidFill>
                  <a:srgbClr val="A6A6A6"/>
                </a:solidFill>
                <a:latin typeface="Pretendard"/>
                <a:ea typeface="Pretendard"/>
                <a:cs typeface="Pretendard"/>
              </a:rPr>
              <a:t>06 / 20</a:t>
            </a:r>
          </a:p>
        </p:txBody>
      </p:sp>
      <p:sp>
        <p:nvSpPr>
          <p:cNvPr id="4" name="TextBox 3"/>
          <p:cNvSpPr txBox="1"/>
          <p:nvPr/>
        </p:nvSpPr>
        <p:spPr>
          <a:xfrm>
            <a:off x="533400" y="495300"/>
            <a:ext cx="11125200" cy="381000"/>
          </a:xfrm>
          <a:prstGeom prst="rect">
            <a:avLst/>
          </a:prstGeom>
          <a:noFill/>
        </p:spPr>
        <p:txBody>
          <a:bodyPr wrap="square" anchor="t" lIns="0" rIns="0" tIns="0" bIns="0">
            <a:spAutoFit/>
          </a:bodyPr>
          <a:lstStyle/>
          <a:p>
            <a:pPr algn="l">
              <a:lnSpc>
                <a:spcPct val="100000"/>
              </a:lnSpc>
            </a:pPr>
            <a:r>
              <a:rPr sz="2400" b="0">
                <a:solidFill>
                  <a:srgbClr val="1C1B1B"/>
                </a:solidFill>
                <a:latin typeface="Pretendard ExtraBold"/>
                <a:ea typeface="Pretendard ExtraBold"/>
                <a:cs typeface="Pretendard ExtraBold"/>
              </a:rPr>
              <a:t>개발계획서 대비 변경점과 그 이유</a:t>
            </a:r>
          </a:p>
        </p:txBody>
      </p:sp>
      <p:sp>
        <p:nvSpPr>
          <p:cNvPr id="5" name="TextBox 4"/>
          <p:cNvSpPr txBox="1"/>
          <p:nvPr/>
        </p:nvSpPr>
        <p:spPr>
          <a:xfrm>
            <a:off x="533400" y="6648450"/>
            <a:ext cx="7620000" cy="133350"/>
          </a:xfrm>
          <a:prstGeom prst="rect">
            <a:avLst/>
          </a:prstGeom>
          <a:noFill/>
        </p:spPr>
        <p:txBody>
          <a:bodyPr wrap="square" anchor="t" lIns="0" rIns="0" tIns="0" bIns="0">
            <a:spAutoFit/>
          </a:bodyPr>
          <a:lstStyle/>
          <a:p>
            <a:pPr algn="l">
              <a:lnSpc>
                <a:spcPct val="140000"/>
              </a:lnSpc>
            </a:pPr>
            <a:r>
              <a:rPr sz="800" b="0">
                <a:solidFill>
                  <a:srgbClr val="A6A6A6"/>
                </a:solidFill>
                <a:latin typeface="Pretendard"/>
                <a:ea typeface="Pretendard"/>
                <a:cs typeface="Pretendard"/>
              </a:rPr>
              <a:t>팀 ARTS · 제24회 임베디드SW경진대회 자동차/모빌리티(현대자동차) · github.com/gkgk0119gmail-arch/2026ESWContest_mobility_ARTS</a:t>
            </a:r>
          </a:p>
        </p:txBody>
      </p:sp>
      <p:sp>
        <p:nvSpPr>
          <p:cNvPr id="6" name="TextBox 5"/>
          <p:cNvSpPr txBox="1"/>
          <p:nvPr/>
        </p:nvSpPr>
        <p:spPr>
          <a:xfrm>
            <a:off x="10134600" y="6638925"/>
            <a:ext cx="1524000" cy="133350"/>
          </a:xfrm>
          <a:prstGeom prst="rect">
            <a:avLst/>
          </a:prstGeom>
          <a:noFill/>
        </p:spPr>
        <p:txBody>
          <a:bodyPr wrap="square" anchor="t" lIns="0" rIns="0" tIns="0" bIns="0">
            <a:spAutoFit/>
          </a:bodyPr>
          <a:lstStyle/>
          <a:p>
            <a:pPr algn="r">
              <a:lnSpc>
                <a:spcPct val="140000"/>
              </a:lnSpc>
            </a:pPr>
            <a:r>
              <a:rPr sz="900" b="1">
                <a:solidFill>
                  <a:srgbClr val="002C5F"/>
                </a:solidFill>
                <a:latin typeface="Pretendard"/>
                <a:ea typeface="Pretendard"/>
                <a:cs typeface="Pretendard"/>
              </a:rPr>
              <a:t>IcePredict</a:t>
            </a:r>
          </a:p>
        </p:txBody>
      </p:sp>
      <p:graphicFrame>
        <p:nvGraphicFramePr>
          <p:cNvPr id="7" name="Table 6"/>
          <p:cNvGraphicFramePr>
            <a:graphicFrameLocks noGrp="1"/>
          </p:cNvGraphicFramePr>
          <p:nvPr/>
        </p:nvGraphicFramePr>
        <p:xfrm>
          <a:off x="533400" y="1028700"/>
          <a:ext cx="11125200" cy="2362200"/>
        </p:xfrm>
        <a:graphic>
          <a:graphicData uri="http://schemas.openxmlformats.org/drawingml/2006/table">
            <a:tbl>
              <a:tblPr>
                <a:tableStyleId>{2D5ABB26-0587-4C30-8999-92F81FD0307C}</a:tableStyleId>
              </a:tblPr>
              <a:tblGrid>
                <a:gridCol w="1589314"/>
                <a:gridCol w="1801223"/>
                <a:gridCol w="2225040"/>
                <a:gridCol w="5509623"/>
              </a:tblGrid>
              <a:tr h="228600">
                <a:tc>
                  <a:txBody>
                    <a:bodyPr wrap="square"/>
                    <a:lstStyle/>
                    <a:p>
                      <a:pPr>
                        <a:lnSpc>
                          <a:spcPct val="122000"/>
                        </a:lnSpc>
                      </a:pPr>
                      <a:r>
                        <a:rPr sz="900" b="1">
                          <a:solidFill>
                            <a:srgbClr val="002C5F"/>
                          </a:solidFill>
                          <a:latin typeface="Pretendard"/>
                          <a:ea typeface="Pretendard"/>
                          <a:cs typeface="Pretendard"/>
                        </a:rPr>
                        <a:t>항목</a:t>
                      </a:r>
                      <a:endParaRPr sz="90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c>
                  <a:txBody>
                    <a:bodyPr wrap="square"/>
                    <a:lstStyle/>
                    <a:p>
                      <a:pPr>
                        <a:lnSpc>
                          <a:spcPct val="122000"/>
                        </a:lnSpc>
                      </a:pPr>
                      <a:r>
                        <a:rPr sz="900" b="1">
                          <a:solidFill>
                            <a:srgbClr val="002C5F"/>
                          </a:solidFill>
                          <a:latin typeface="Pretendard"/>
                          <a:ea typeface="Pretendard"/>
                          <a:cs typeface="Pretendard"/>
                        </a:rPr>
                        <a:t>개발계획서(6월)</a:t>
                      </a:r>
                      <a:endParaRPr sz="90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c>
                  <a:txBody>
                    <a:bodyPr wrap="square"/>
                    <a:lstStyle/>
                    <a:p>
                      <a:pPr>
                        <a:lnSpc>
                          <a:spcPct val="122000"/>
                        </a:lnSpc>
                      </a:pPr>
                      <a:r>
                        <a:rPr sz="900" b="1">
                          <a:solidFill>
                            <a:srgbClr val="002C5F"/>
                          </a:solidFill>
                          <a:latin typeface="Pretendard"/>
                          <a:ea typeface="Pretendard"/>
                          <a:cs typeface="Pretendard"/>
                        </a:rPr>
                        <a:t>실제 구현</a:t>
                      </a:r>
                      <a:endParaRPr sz="90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c>
                  <a:txBody>
                    <a:bodyPr wrap="square"/>
                    <a:lstStyle/>
                    <a:p>
                      <a:pPr>
                        <a:lnSpc>
                          <a:spcPct val="122000"/>
                        </a:lnSpc>
                      </a:pPr>
                      <a:r>
                        <a:rPr sz="900" b="1">
                          <a:solidFill>
                            <a:srgbClr val="002C5F"/>
                          </a:solidFill>
                          <a:latin typeface="Pretendard"/>
                          <a:ea typeface="Pretendard"/>
                          <a:cs typeface="Pretendard"/>
                        </a:rPr>
                        <a:t>바꾼 이유</a:t>
                      </a:r>
                      <a:endParaRPr sz="90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r>
              <a:tr h="533400">
                <a:tc>
                  <a:txBody>
                    <a:bodyPr wrap="square"/>
                    <a:lstStyle/>
                    <a:p>
                      <a:pPr>
                        <a:lnSpc>
                          <a:spcPct val="122000"/>
                        </a:lnSpc>
                      </a:pPr>
                      <a:r>
                        <a:rPr sz="950" b="1">
                          <a:solidFill>
                            <a:srgbClr val="002C5F"/>
                          </a:solidFill>
                          <a:latin typeface="Pretendard"/>
                          <a:ea typeface="Pretendard"/>
                          <a:cs typeface="Pretendard"/>
                        </a:rPr>
                        <a:t>2차 방어 실행 환경</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Pi 5 + 리눅스</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1">
                          <a:solidFill>
                            <a:srgbClr val="1C1B1B"/>
                          </a:solidFill>
                          <a:latin typeface="Pretendard"/>
                          <a:ea typeface="Pretendard"/>
                          <a:cs typeface="Pretendard"/>
                        </a:rPr>
                        <a:t>STM32N6 + ThreadX RTOS</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리눅스 최악 깨어남 지연이 </a:t>
                      </a:r>
                      <a:r>
                        <a:rPr sz="950" b="1">
                          <a:solidFill>
                            <a:srgbClr val="1C1B1B"/>
                          </a:solidFill>
                          <a:latin typeface="Pretendard"/>
                          <a:ea typeface="Pretendard"/>
                          <a:cs typeface="Pretendard"/>
                        </a:rPr>
                        <a:t>5,790 µs</a:t>
                      </a:r>
                      <a:r>
                        <a:rPr sz="950" b="0">
                          <a:solidFill>
                            <a:srgbClr val="1C1B1B"/>
                          </a:solidFill>
                          <a:latin typeface="Pretendard"/>
                          <a:ea typeface="Pretendard"/>
                          <a:cs typeface="Pretendard"/>
                        </a:rPr>
                        <a:t>로 측정됐다. 제어 주기 20 ms의 29 %를 한 번의 지터가 먹는다. 평균이 아니라 꼬리가 안전 기능의 기준이다</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533400">
                <a:tc>
                  <a:txBody>
                    <a:bodyPr wrap="square"/>
                    <a:lstStyle/>
                    <a:p>
                      <a:pPr>
                        <a:lnSpc>
                          <a:spcPct val="122000"/>
                        </a:lnSpc>
                      </a:pPr>
                      <a:r>
                        <a:rPr sz="950" b="1">
                          <a:solidFill>
                            <a:srgbClr val="002C5F"/>
                          </a:solidFill>
                          <a:latin typeface="Pretendard"/>
                          <a:ea typeface="Pretendard"/>
                          <a:cs typeface="Pretendard"/>
                        </a:rPr>
                        <a:t>1차 NPU</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Hailo-10H 단독</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1">
                          <a:solidFill>
                            <a:srgbClr val="1C1B1B"/>
                          </a:solidFill>
                          <a:latin typeface="Pretendard"/>
                          <a:ea typeface="Pretendard"/>
                          <a:cs typeface="Pretendard"/>
                        </a:rPr>
                        <a:t>Neural-ART(N6) 주</a:t>
                      </a:r>
                      <a:r>
                        <a:rPr sz="950" b="0">
                          <a:solidFill>
                            <a:srgbClr val="1C1B1B"/>
                          </a:solidFill>
                          <a:latin typeface="Pretendard"/>
                          <a:ea typeface="Pretendard"/>
                          <a:cs typeface="Pretendard"/>
                        </a:rPr>
                        <a:t> · Hailo 교차검증</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Hailo Dataflow Compiler 를 확보하지 못해 int8 변환 경로를 열지 못했다. 1·2차를 한 보드에 올리는 편이 선점 구조를 증명하기에도 맞다</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533400">
                <a:tc>
                  <a:txBody>
                    <a:bodyPr wrap="square"/>
                    <a:lstStyle/>
                    <a:p>
                      <a:pPr>
                        <a:lnSpc>
                          <a:spcPct val="122000"/>
                        </a:lnSpc>
                      </a:pPr>
                      <a:r>
                        <a:rPr sz="950" b="1">
                          <a:solidFill>
                            <a:srgbClr val="002C5F"/>
                          </a:solidFill>
                          <a:latin typeface="Pretendard"/>
                          <a:ea typeface="Pretendard"/>
                          <a:cs typeface="Pretendard"/>
                        </a:rPr>
                        <a:t>검증 방법</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1/5 차량 저마찰 노면 실측</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1">
                          <a:solidFill>
                            <a:srgbClr val="1C1B1B"/>
                          </a:solidFill>
                          <a:latin typeface="Pretendard"/>
                          <a:ea typeface="Pretendard"/>
                          <a:cs typeface="Pretendard"/>
                        </a:rPr>
                        <a:t>HIL</a:t>
                      </a:r>
                      <a:r>
                        <a:rPr sz="950" b="0">
                          <a:solidFill>
                            <a:srgbClr val="1C1B1B"/>
                          </a:solidFill>
                          <a:latin typeface="Pretendard"/>
                          <a:ea typeface="Pretendard"/>
                          <a:cs typeface="Pretendard"/>
                        </a:rPr>
                        <a:t> (실물 보드 + CARLA) + 실사진 69,358장</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실물 빙판을 재현 가능하게 만들기 어렵다. 대신 펌웨어는 실물 보드에서 그대로 돌리고, 비전 성능은 시뮬 화면이 아닌 실제 도로 사진으로 측정했다</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533400">
                <a:tc>
                  <a:txBody>
                    <a:bodyPr wrap="square"/>
                    <a:lstStyle/>
                    <a:p>
                      <a:pPr>
                        <a:lnSpc>
                          <a:spcPct val="122000"/>
                        </a:lnSpc>
                      </a:pPr>
                      <a:r>
                        <a:rPr sz="950" b="1">
                          <a:solidFill>
                            <a:srgbClr val="002C5F"/>
                          </a:solidFill>
                          <a:latin typeface="Pretendard"/>
                          <a:ea typeface="Pretendard"/>
                          <a:cs typeface="Pretendard"/>
                        </a:rPr>
                        <a:t>노면 클래스</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정상 / 젖음 / 결빙 위험 / 포트홀</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동일 (유지)</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RSCD 27클래스 → 4클래스 매핑을 계획대로 적용</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bl>
          </a:graphicData>
        </a:graphic>
      </p:graphicFrame>
      <p:pic>
        <p:nvPicPr>
          <p:cNvPr id="8" name="Picture 7" descr="rtos_latency.jpg"/>
          <p:cNvPicPr>
            <a:picLocks noChangeAspect="1"/>
          </p:cNvPicPr>
          <p:nvPr/>
        </p:nvPicPr>
        <p:blipFill>
          <a:blip r:embed="rId2"/>
          <a:stretch>
            <a:fillRect/>
          </a:stretch>
        </p:blipFill>
        <p:spPr>
          <a:xfrm>
            <a:off x="544224" y="3562350"/>
            <a:ext cx="3274002" cy="1895475"/>
          </a:xfrm>
          <a:prstGeom prst="rect">
            <a:avLst/>
          </a:prstGeom>
        </p:spPr>
      </p:pic>
      <p:sp>
        <p:nvSpPr>
          <p:cNvPr id="9" name="TextBox 8"/>
          <p:cNvSpPr txBox="1"/>
          <p:nvPr/>
        </p:nvSpPr>
        <p:spPr>
          <a:xfrm>
            <a:off x="533400" y="5505450"/>
            <a:ext cx="3295650" cy="247650"/>
          </a:xfrm>
          <a:prstGeom prst="rect">
            <a:avLst/>
          </a:prstGeom>
          <a:noFill/>
        </p:spPr>
        <p:txBody>
          <a:bodyPr wrap="square" anchor="t" lIns="0" rIns="0" tIns="0" bIns="0">
            <a:spAutoFit/>
          </a:bodyPr>
          <a:lstStyle/>
          <a:p>
            <a:pPr algn="l">
              <a:lnSpc>
                <a:spcPct val="130000"/>
              </a:lnSpc>
            </a:pPr>
            <a:r>
              <a:rPr sz="900" b="0">
                <a:solidFill>
                  <a:srgbClr val="767676"/>
                </a:solidFill>
                <a:latin typeface="Pretendard"/>
                <a:ea typeface="Pretendard"/>
                <a:cs typeface="Pretendard"/>
              </a:rPr>
              <a:t>1번 변경의 근거 — 같은 연산의 지연 분포. 리눅스는 꼬리가 길다</a:t>
            </a:r>
          </a:p>
        </p:txBody>
      </p:sp>
      <p:pic>
        <p:nvPicPr>
          <p:cNvPr id="10" name="Picture 9" descr="schedule_inverted.jpg"/>
          <p:cNvPicPr>
            <a:picLocks noChangeAspect="1"/>
          </p:cNvPicPr>
          <p:nvPr/>
        </p:nvPicPr>
        <p:blipFill>
          <a:blip r:embed="rId3"/>
          <a:stretch>
            <a:fillRect/>
          </a:stretch>
        </p:blipFill>
        <p:spPr>
          <a:xfrm>
            <a:off x="3989978" y="3562350"/>
            <a:ext cx="5069294" cy="1895475"/>
          </a:xfrm>
          <a:prstGeom prst="rect">
            <a:avLst/>
          </a:prstGeom>
        </p:spPr>
      </p:pic>
      <p:sp>
        <p:nvSpPr>
          <p:cNvPr id="11" name="TextBox 10"/>
          <p:cNvSpPr txBox="1"/>
          <p:nvPr/>
        </p:nvSpPr>
        <p:spPr>
          <a:xfrm>
            <a:off x="3981450" y="5505450"/>
            <a:ext cx="5086350" cy="247650"/>
          </a:xfrm>
          <a:prstGeom prst="rect">
            <a:avLst/>
          </a:prstGeom>
          <a:noFill/>
        </p:spPr>
        <p:txBody>
          <a:bodyPr wrap="square" anchor="t" lIns="0" rIns="0" tIns="0" bIns="0">
            <a:spAutoFit/>
          </a:bodyPr>
          <a:lstStyle/>
          <a:p>
            <a:pPr algn="l">
              <a:lnSpc>
                <a:spcPct val="130000"/>
              </a:lnSpc>
            </a:pPr>
            <a:r>
              <a:rPr sz="900" b="0">
                <a:solidFill>
                  <a:srgbClr val="767676"/>
                </a:solidFill>
                <a:latin typeface="Pretendard"/>
                <a:ea typeface="Pretendard"/>
                <a:cs typeface="Pretendard"/>
              </a:rPr>
              <a:t>2번 변경의 근거 — 우선순위를 뒤집으면 NPU 추론(25 ms)이 IMU 주기(20 ms)를 막는다</a:t>
            </a:r>
          </a:p>
        </p:txBody>
      </p:sp>
      <p:sp>
        <p:nvSpPr>
          <p:cNvPr id="12" name="Rectangle 11"/>
          <p:cNvSpPr/>
          <p:nvPr/>
        </p:nvSpPr>
        <p:spPr>
          <a:xfrm>
            <a:off x="9220200" y="3562350"/>
            <a:ext cx="2438400" cy="2190750"/>
          </a:xfrm>
          <a:prstGeom prst="rect">
            <a:avLst/>
          </a:prstGeom>
          <a:solidFill>
            <a:srgbClr val="F6F3F2"/>
          </a:solidFill>
          <a:ln>
            <a:noFill/>
          </a:ln>
          <a:effectLst/>
        </p:spPr>
        <p:txBody>
          <a:bodyPr rtlCol="0" anchor="ctr"/>
          <a:lstStyle/>
          <a:p/>
        </p:txBody>
      </p:sp>
      <p:sp>
        <p:nvSpPr>
          <p:cNvPr id="13" name="TextBox 12"/>
          <p:cNvSpPr txBox="1"/>
          <p:nvPr/>
        </p:nvSpPr>
        <p:spPr>
          <a:xfrm>
            <a:off x="9372600" y="3714750"/>
            <a:ext cx="2133600" cy="208121"/>
          </a:xfrm>
          <a:prstGeom prst="rect">
            <a:avLst/>
          </a:prstGeom>
          <a:noFill/>
        </p:spPr>
        <p:txBody>
          <a:bodyPr wrap="square" anchor="t" lIns="0" rIns="0" tIns="0" bIns="0">
            <a:spAutoFit/>
          </a:bodyPr>
          <a:lstStyle/>
          <a:p>
            <a:pPr algn="l">
              <a:lnSpc>
                <a:spcPct val="100000"/>
              </a:lnSpc>
            </a:pPr>
            <a:r>
              <a:rPr sz="1150" b="1">
                <a:solidFill>
                  <a:srgbClr val="002C5F"/>
                </a:solidFill>
                <a:latin typeface="Pretendard"/>
                <a:ea typeface="Pretendard"/>
                <a:cs typeface="Pretendard"/>
              </a:rPr>
              <a:t>바뀌지 않은 것</a:t>
            </a:r>
          </a:p>
        </p:txBody>
      </p:sp>
      <p:sp>
        <p:nvSpPr>
          <p:cNvPr id="14" name="TextBox 13"/>
          <p:cNvSpPr txBox="1"/>
          <p:nvPr/>
        </p:nvSpPr>
        <p:spPr>
          <a:xfrm>
            <a:off x="9372600" y="3960971"/>
            <a:ext cx="2133600" cy="1639729"/>
          </a:xfrm>
          <a:prstGeom prst="rect">
            <a:avLst/>
          </a:prstGeom>
          <a:noFill/>
        </p:spPr>
        <p:txBody>
          <a:bodyPr wrap="square" anchor="t" lIns="0" rIns="0" tIns="0" bIns="0">
            <a:spAutoFit/>
          </a:bodyPr>
          <a:lstStyle/>
          <a:p>
            <a:pPr algn="l">
              <a:lnSpc>
                <a:spcPct val="145000"/>
              </a:lnSpc>
              <a:spcAft>
                <a:spcPts val="400"/>
              </a:spcAft>
            </a:pPr>
            <a:r>
              <a:rPr sz="950" b="0">
                <a:solidFill>
                  <a:srgbClr val="4D4D4D"/>
                </a:solidFill>
                <a:latin typeface="Pretendard"/>
                <a:ea typeface="Pretendard"/>
                <a:cs typeface="Pretendard"/>
              </a:rPr>
              <a:t>이중 안전망이라는 구조와, '블랙아이스를 직접 맞히지 않고 위험도를 올린다'는 1차 전략, '노면 라벨과 무관하게 차량 거동으로 확정한다'는 2차 전략은 계획서 그대로다. 바뀐 것은 전부 그 구조를 더 확실히 증명하기 위한 수단이다.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3400" y="323850"/>
            <a:ext cx="5715000" cy="162878"/>
          </a:xfrm>
          <a:prstGeom prst="rect">
            <a:avLst/>
          </a:prstGeom>
          <a:noFill/>
        </p:spPr>
        <p:txBody>
          <a:bodyPr wrap="square" anchor="t" lIns="0" rIns="0" tIns="0" bIns="0">
            <a:spAutoFit/>
          </a:bodyPr>
          <a:lstStyle/>
          <a:p>
            <a:pPr algn="l">
              <a:lnSpc>
                <a:spcPct val="100000"/>
              </a:lnSpc>
            </a:pPr>
            <a:r>
              <a:rPr sz="950" b="1" spc="80">
                <a:solidFill>
                  <a:srgbClr val="002C5F"/>
                </a:solidFill>
                <a:latin typeface="Pretendard"/>
                <a:ea typeface="Pretendard"/>
                <a:cs typeface="Pretendard"/>
              </a:rPr>
              <a:t>데이터</a:t>
            </a:r>
          </a:p>
        </p:txBody>
      </p:sp>
      <p:sp>
        <p:nvSpPr>
          <p:cNvPr id="3" name="TextBox 2"/>
          <p:cNvSpPr txBox="1"/>
          <p:nvPr/>
        </p:nvSpPr>
        <p:spPr>
          <a:xfrm>
            <a:off x="9753600" y="314325"/>
            <a:ext cx="1905000" cy="152400"/>
          </a:xfrm>
          <a:prstGeom prst="rect">
            <a:avLst/>
          </a:prstGeom>
          <a:noFill/>
        </p:spPr>
        <p:txBody>
          <a:bodyPr wrap="square" anchor="t" lIns="0" rIns="0" tIns="0" bIns="0">
            <a:spAutoFit/>
          </a:bodyPr>
          <a:lstStyle/>
          <a:p>
            <a:pPr algn="r">
              <a:lnSpc>
                <a:spcPct val="140000"/>
              </a:lnSpc>
            </a:pPr>
            <a:r>
              <a:rPr sz="900" b="0">
                <a:solidFill>
                  <a:srgbClr val="A6A6A6"/>
                </a:solidFill>
                <a:latin typeface="Pretendard"/>
                <a:ea typeface="Pretendard"/>
                <a:cs typeface="Pretendard"/>
              </a:rPr>
              <a:t>07 / 20</a:t>
            </a:r>
          </a:p>
        </p:txBody>
      </p:sp>
      <p:sp>
        <p:nvSpPr>
          <p:cNvPr id="4" name="TextBox 3"/>
          <p:cNvSpPr txBox="1"/>
          <p:nvPr/>
        </p:nvSpPr>
        <p:spPr>
          <a:xfrm>
            <a:off x="533400" y="495300"/>
            <a:ext cx="11125200" cy="381000"/>
          </a:xfrm>
          <a:prstGeom prst="rect">
            <a:avLst/>
          </a:prstGeom>
          <a:noFill/>
        </p:spPr>
        <p:txBody>
          <a:bodyPr wrap="square" anchor="t" lIns="0" rIns="0" tIns="0" bIns="0">
            <a:spAutoFit/>
          </a:bodyPr>
          <a:lstStyle/>
          <a:p>
            <a:pPr algn="l">
              <a:lnSpc>
                <a:spcPct val="100000"/>
              </a:lnSpc>
            </a:pPr>
            <a:r>
              <a:rPr sz="2400" b="0">
                <a:solidFill>
                  <a:srgbClr val="1C1B1B"/>
                </a:solidFill>
                <a:latin typeface="Pretendard ExtraBold"/>
                <a:ea typeface="Pretendard ExtraBold"/>
                <a:cs typeface="Pretendard ExtraBold"/>
              </a:rPr>
              <a:t>데이터 전략 — 모델 헤드별 정답을 먼저 정의했다</a:t>
            </a:r>
          </a:p>
        </p:txBody>
      </p:sp>
      <p:sp>
        <p:nvSpPr>
          <p:cNvPr id="5" name="TextBox 4"/>
          <p:cNvSpPr txBox="1"/>
          <p:nvPr/>
        </p:nvSpPr>
        <p:spPr>
          <a:xfrm>
            <a:off x="533400" y="895350"/>
            <a:ext cx="11125200" cy="209550"/>
          </a:xfrm>
          <a:prstGeom prst="rect">
            <a:avLst/>
          </a:prstGeom>
          <a:noFill/>
        </p:spPr>
        <p:txBody>
          <a:bodyPr wrap="square" anchor="t" lIns="0" rIns="0" tIns="0" bIns="0">
            <a:spAutoFit/>
          </a:bodyPr>
          <a:lstStyle/>
          <a:p>
            <a:pPr algn="l">
              <a:lnSpc>
                <a:spcPct val="120000"/>
              </a:lnSpc>
            </a:pPr>
            <a:r>
              <a:rPr sz="1150" b="0">
                <a:solidFill>
                  <a:srgbClr val="4D4D4D"/>
                </a:solidFill>
                <a:latin typeface="Pretendard"/>
                <a:ea typeface="Pretendard"/>
                <a:cs typeface="Pretendard"/>
              </a:rPr>
              <a:t>데이터셋을 먼저 고르지 않았다. 각 헤드가 무엇을 정답으로 배워야 하는지를 정의한 뒤 거기에 맞는 공개 데이터셋을 매핑했다.</a:t>
            </a:r>
          </a:p>
        </p:txBody>
      </p:sp>
      <p:sp>
        <p:nvSpPr>
          <p:cNvPr id="6" name="TextBox 5"/>
          <p:cNvSpPr txBox="1"/>
          <p:nvPr/>
        </p:nvSpPr>
        <p:spPr>
          <a:xfrm>
            <a:off x="533400" y="6286500"/>
            <a:ext cx="11125200" cy="304800"/>
          </a:xfrm>
          <a:prstGeom prst="rect">
            <a:avLst/>
          </a:prstGeom>
          <a:noFill/>
        </p:spPr>
        <p:txBody>
          <a:bodyPr wrap="square" anchor="t" lIns="0" rIns="0" tIns="0" bIns="0">
            <a:spAutoFit/>
          </a:bodyPr>
          <a:lstStyle/>
          <a:p>
            <a:pPr algn="l">
              <a:lnSpc>
                <a:spcPct val="130000"/>
              </a:lnSpc>
            </a:pPr>
            <a:r>
              <a:rPr sz="850" b="0">
                <a:solidFill>
                  <a:srgbClr val="767676"/>
                </a:solidFill>
                <a:latin typeface="Pretendard"/>
                <a:ea typeface="Pretendard"/>
                <a:cs typeface="Pretendard"/>
              </a:rPr>
              <a:t>데이터셋 그림은 각 공개 데이터셋의 논문·공식 사이트에서 가져온 설명 목적의 인용이며, 라이선스는 저장소 NOTICE 에 명시했다.</a:t>
            </a:r>
          </a:p>
        </p:txBody>
      </p:sp>
      <p:sp>
        <p:nvSpPr>
          <p:cNvPr id="7" name="TextBox 6"/>
          <p:cNvSpPr txBox="1"/>
          <p:nvPr/>
        </p:nvSpPr>
        <p:spPr>
          <a:xfrm>
            <a:off x="533400" y="6648450"/>
            <a:ext cx="7620000" cy="133350"/>
          </a:xfrm>
          <a:prstGeom prst="rect">
            <a:avLst/>
          </a:prstGeom>
          <a:noFill/>
        </p:spPr>
        <p:txBody>
          <a:bodyPr wrap="square" anchor="t" lIns="0" rIns="0" tIns="0" bIns="0">
            <a:spAutoFit/>
          </a:bodyPr>
          <a:lstStyle/>
          <a:p>
            <a:pPr algn="l">
              <a:lnSpc>
                <a:spcPct val="140000"/>
              </a:lnSpc>
            </a:pPr>
            <a:r>
              <a:rPr sz="800" b="0">
                <a:solidFill>
                  <a:srgbClr val="A6A6A6"/>
                </a:solidFill>
                <a:latin typeface="Pretendard"/>
                <a:ea typeface="Pretendard"/>
                <a:cs typeface="Pretendard"/>
              </a:rPr>
              <a:t>팀 ARTS · 제24회 임베디드SW경진대회 자동차/모빌리티(현대자동차) · github.com/gkgk0119gmail-arch/2026ESWContest_mobility_ARTS</a:t>
            </a:r>
          </a:p>
        </p:txBody>
      </p:sp>
      <p:sp>
        <p:nvSpPr>
          <p:cNvPr id="8" name="TextBox 7"/>
          <p:cNvSpPr txBox="1"/>
          <p:nvPr/>
        </p:nvSpPr>
        <p:spPr>
          <a:xfrm>
            <a:off x="10134600" y="6638925"/>
            <a:ext cx="1524000" cy="133350"/>
          </a:xfrm>
          <a:prstGeom prst="rect">
            <a:avLst/>
          </a:prstGeom>
          <a:noFill/>
        </p:spPr>
        <p:txBody>
          <a:bodyPr wrap="square" anchor="t" lIns="0" rIns="0" tIns="0" bIns="0">
            <a:spAutoFit/>
          </a:bodyPr>
          <a:lstStyle/>
          <a:p>
            <a:pPr algn="r">
              <a:lnSpc>
                <a:spcPct val="140000"/>
              </a:lnSpc>
            </a:pPr>
            <a:r>
              <a:rPr sz="900" b="1">
                <a:solidFill>
                  <a:srgbClr val="002C5F"/>
                </a:solidFill>
                <a:latin typeface="Pretendard"/>
                <a:ea typeface="Pretendard"/>
                <a:cs typeface="Pretendard"/>
              </a:rPr>
              <a:t>IcePredict</a:t>
            </a:r>
          </a:p>
        </p:txBody>
      </p:sp>
      <p:graphicFrame>
        <p:nvGraphicFramePr>
          <p:cNvPr id="9" name="Table 8"/>
          <p:cNvGraphicFramePr>
            <a:graphicFrameLocks noGrp="1"/>
          </p:cNvGraphicFramePr>
          <p:nvPr/>
        </p:nvGraphicFramePr>
        <p:xfrm>
          <a:off x="533400" y="1219200"/>
          <a:ext cx="5715000" cy="1828800"/>
        </p:xfrm>
        <a:graphic>
          <a:graphicData uri="http://schemas.openxmlformats.org/drawingml/2006/table">
            <a:tbl>
              <a:tblPr>
                <a:tableStyleId>{2D5ABB26-0587-4C30-8999-92F81FD0307C}</a:tableStyleId>
              </a:tblPr>
              <a:tblGrid>
                <a:gridCol w="625078"/>
                <a:gridCol w="2232422"/>
                <a:gridCol w="1250156"/>
                <a:gridCol w="1607344"/>
              </a:tblGrid>
              <a:tr h="228600">
                <a:tc>
                  <a:txBody>
                    <a:bodyPr wrap="square"/>
                    <a:lstStyle/>
                    <a:p>
                      <a:pPr>
                        <a:lnSpc>
                          <a:spcPct val="122000"/>
                        </a:lnSpc>
                      </a:pPr>
                      <a:r>
                        <a:rPr sz="900" b="1">
                          <a:solidFill>
                            <a:srgbClr val="002C5F"/>
                          </a:solidFill>
                          <a:latin typeface="Pretendard"/>
                          <a:ea typeface="Pretendard"/>
                          <a:cs typeface="Pretendard"/>
                        </a:rPr>
                        <a:t>방어</a:t>
                      </a:r>
                      <a:endParaRPr sz="90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c>
                  <a:txBody>
                    <a:bodyPr wrap="square"/>
                    <a:lstStyle/>
                    <a:p>
                      <a:pPr>
                        <a:lnSpc>
                          <a:spcPct val="122000"/>
                        </a:lnSpc>
                      </a:pPr>
                      <a:r>
                        <a:rPr sz="900" b="1">
                          <a:solidFill>
                            <a:srgbClr val="002C5F"/>
                          </a:solidFill>
                          <a:latin typeface="Pretendard"/>
                          <a:ea typeface="Pretendard"/>
                          <a:cs typeface="Pretendard"/>
                        </a:rPr>
                        <a:t>필요한 정답(label)</a:t>
                      </a:r>
                      <a:endParaRPr sz="90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c>
                  <a:txBody>
                    <a:bodyPr wrap="square"/>
                    <a:lstStyle/>
                    <a:p>
                      <a:pPr>
                        <a:lnSpc>
                          <a:spcPct val="122000"/>
                        </a:lnSpc>
                      </a:pPr>
                      <a:r>
                        <a:rPr sz="900" b="1">
                          <a:solidFill>
                            <a:srgbClr val="002C5F"/>
                          </a:solidFill>
                          <a:latin typeface="Pretendard"/>
                          <a:ea typeface="Pretendard"/>
                          <a:cs typeface="Pretendard"/>
                        </a:rPr>
                        <a:t>데이터셋</a:t>
                      </a:r>
                      <a:endParaRPr sz="90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c>
                  <a:txBody>
                    <a:bodyPr wrap="square"/>
                    <a:lstStyle/>
                    <a:p>
                      <a:pPr>
                        <a:lnSpc>
                          <a:spcPct val="122000"/>
                        </a:lnSpc>
                      </a:pPr>
                      <a:r>
                        <a:rPr sz="900" b="1">
                          <a:solidFill>
                            <a:srgbClr val="002C5F"/>
                          </a:solidFill>
                          <a:latin typeface="Pretendard"/>
                          <a:ea typeface="Pretendard"/>
                          <a:cs typeface="Pretendard"/>
                        </a:rPr>
                        <a:t>활용</a:t>
                      </a:r>
                      <a:endParaRPr sz="90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r>
              <a:tr h="228600">
                <a:tc>
                  <a:txBody>
                    <a:bodyPr wrap="square"/>
                    <a:lstStyle/>
                    <a:p>
                      <a:pPr>
                        <a:lnSpc>
                          <a:spcPct val="122000"/>
                        </a:lnSpc>
                      </a:pPr>
                      <a:r>
                        <a:rPr sz="950" b="1">
                          <a:solidFill>
                            <a:srgbClr val="002C5F"/>
                          </a:solidFill>
                          <a:latin typeface="Pretendard"/>
                          <a:ea typeface="Pretendard"/>
                          <a:cs typeface="Pretendard"/>
                        </a:rPr>
                        <a:t>1차</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건조 / 젖음 / 눈 / 결빙 클래스</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1">
                          <a:solidFill>
                            <a:srgbClr val="1C1B1B"/>
                          </a:solidFill>
                          <a:latin typeface="Pretendard"/>
                          <a:ea typeface="Pretendard"/>
                          <a:cs typeface="Pretendard"/>
                        </a:rPr>
                        <a:t>RSCD</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주 학습 (사전학습)</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28600">
                <a:tc>
                  <a:txBody>
                    <a:bodyPr wrap="square"/>
                    <a:lstStyle/>
                    <a:p>
                      <a:pPr>
                        <a:lnSpc>
                          <a:spcPct val="122000"/>
                        </a:lnSpc>
                      </a:pPr>
                      <a:r>
                        <a:rPr sz="950" b="1">
                          <a:solidFill>
                            <a:srgbClr val="002C5F"/>
                          </a:solidFill>
                          <a:latin typeface="Pretendard"/>
                          <a:ea typeface="Pretendard"/>
                          <a:cs typeface="Pretendard"/>
                        </a:rPr>
                        <a:t>1차</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실측 수막 두께 (센서 GT)</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1">
                          <a:solidFill>
                            <a:srgbClr val="1C1B1B"/>
                          </a:solidFill>
                          <a:latin typeface="Pretendard"/>
                          <a:ea typeface="Pretendard"/>
                          <a:cs typeface="Pretendard"/>
                        </a:rPr>
                        <a:t>RoadSaW</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반사도 헤드 근거</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28600">
                <a:tc>
                  <a:txBody>
                    <a:bodyPr wrap="square"/>
                    <a:lstStyle/>
                    <a:p>
                      <a:pPr>
                        <a:lnSpc>
                          <a:spcPct val="122000"/>
                        </a:lnSpc>
                      </a:pPr>
                      <a:r>
                        <a:rPr sz="950" b="1">
                          <a:solidFill>
                            <a:srgbClr val="002C5F"/>
                          </a:solidFill>
                          <a:latin typeface="Pretendard"/>
                          <a:ea typeface="Pretendard"/>
                          <a:cs typeface="Pretendard"/>
                        </a:rPr>
                        <a:t>1차</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눈 · 비 · 안개 + 조도</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1">
                          <a:solidFill>
                            <a:srgbClr val="1C1B1B"/>
                          </a:solidFill>
                          <a:latin typeface="Pretendard"/>
                          <a:ea typeface="Pretendard"/>
                          <a:cs typeface="Pretendard"/>
                        </a:rPr>
                        <a:t>AI Hub</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국내 도로 도메인 검증</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28600">
                <a:tc>
                  <a:txBody>
                    <a:bodyPr wrap="square"/>
                    <a:lstStyle/>
                    <a:p>
                      <a:pPr>
                        <a:lnSpc>
                          <a:spcPct val="122000"/>
                        </a:lnSpc>
                      </a:pPr>
                      <a:r>
                        <a:rPr sz="950" b="1">
                          <a:solidFill>
                            <a:srgbClr val="002C5F"/>
                          </a:solidFill>
                          <a:latin typeface="Pretendard"/>
                          <a:ea typeface="Pretendard"/>
                          <a:cs typeface="Pretendard"/>
                        </a:rPr>
                        <a:t>2차</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실측 6축 IMU + 노면 라벨</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1">
                          <a:solidFill>
                            <a:srgbClr val="1C1B1B"/>
                          </a:solidFill>
                          <a:latin typeface="Pretendard"/>
                          <a:ea typeface="Pretendard"/>
                          <a:cs typeface="Pretendard"/>
                        </a:rPr>
                        <a:t>PVS</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칼만 공분산 설정</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28600">
                <a:tc>
                  <a:txBody>
                    <a:bodyPr wrap="square"/>
                    <a:lstStyle/>
                    <a:p>
                      <a:pPr>
                        <a:lnSpc>
                          <a:spcPct val="122000"/>
                        </a:lnSpc>
                      </a:pPr>
                      <a:r>
                        <a:rPr sz="950" b="1">
                          <a:solidFill>
                            <a:srgbClr val="002C5F"/>
                          </a:solidFill>
                          <a:latin typeface="Pretendard"/>
                          <a:ea typeface="Pretendard"/>
                          <a:cs typeface="Pretendard"/>
                        </a:rPr>
                        <a:t>2차</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RGB-IMU 동기화 · 악조건</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1">
                          <a:solidFill>
                            <a:srgbClr val="1C1B1B"/>
                          </a:solidFill>
                          <a:latin typeface="Pretendard"/>
                          <a:ea typeface="Pretendard"/>
                          <a:cs typeface="Pretendard"/>
                        </a:rPr>
                        <a:t>ROAD</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비교 기준선</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28600">
                <a:tc>
                  <a:txBody>
                    <a:bodyPr wrap="square"/>
                    <a:lstStyle/>
                    <a:p>
                      <a:pPr>
                        <a:lnSpc>
                          <a:spcPct val="122000"/>
                        </a:lnSpc>
                      </a:pPr>
                      <a:r>
                        <a:rPr sz="950" b="1">
                          <a:solidFill>
                            <a:srgbClr val="002C5F"/>
                          </a:solidFill>
                          <a:latin typeface="Pretendard"/>
                          <a:ea typeface="Pretendard"/>
                          <a:cs typeface="Pretendard"/>
                        </a:rPr>
                        <a:t>보조</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실제 폭설 주행 씬</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1">
                          <a:solidFill>
                            <a:srgbClr val="1C1B1B"/>
                          </a:solidFill>
                          <a:latin typeface="Pretendard"/>
                          <a:ea typeface="Pretendard"/>
                          <a:cs typeface="Pretendard"/>
                        </a:rPr>
                        <a:t>CADC · WADS</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야간 · 악천후 점검</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28600">
                <a:tc>
                  <a:txBody>
                    <a:bodyPr wrap="square"/>
                    <a:lstStyle/>
                    <a:p>
                      <a:pPr>
                        <a:lnSpc>
                          <a:spcPct val="122000"/>
                        </a:lnSpc>
                      </a:pPr>
                      <a:r>
                        <a:rPr sz="950" b="1">
                          <a:solidFill>
                            <a:srgbClr val="002C5F"/>
                          </a:solidFill>
                          <a:latin typeface="Pretendard"/>
                          <a:ea typeface="Pretendard"/>
                          <a:cs typeface="Pretendard"/>
                        </a:rPr>
                        <a:t>보조</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자동 라벨 (차선 가시성)</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1">
                          <a:solidFill>
                            <a:srgbClr val="1C1B1B"/>
                          </a:solidFill>
                          <a:latin typeface="Pretendard"/>
                          <a:ea typeface="Pretendard"/>
                          <a:cs typeface="Pretendard"/>
                        </a:rPr>
                        <a:t>CARLA</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합성 데이터 생성</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bl>
          </a:graphicData>
        </a:graphic>
      </p:graphicFrame>
      <p:sp>
        <p:nvSpPr>
          <p:cNvPr id="10" name="Rectangle 9"/>
          <p:cNvSpPr/>
          <p:nvPr/>
        </p:nvSpPr>
        <p:spPr>
          <a:xfrm>
            <a:off x="6477000" y="1219200"/>
            <a:ext cx="5181600" cy="1828800"/>
          </a:xfrm>
          <a:prstGeom prst="rect">
            <a:avLst/>
          </a:prstGeom>
          <a:solidFill>
            <a:srgbClr val="F6F3F2"/>
          </a:solidFill>
          <a:ln>
            <a:noFill/>
          </a:ln>
          <a:effectLst/>
        </p:spPr>
        <p:txBody>
          <a:bodyPr rtlCol="0" anchor="ctr"/>
          <a:lstStyle/>
          <a:p/>
        </p:txBody>
      </p:sp>
      <p:sp>
        <p:nvSpPr>
          <p:cNvPr id="11" name="TextBox 10"/>
          <p:cNvSpPr txBox="1"/>
          <p:nvPr/>
        </p:nvSpPr>
        <p:spPr>
          <a:xfrm>
            <a:off x="6629400" y="1371600"/>
            <a:ext cx="4876800" cy="208121"/>
          </a:xfrm>
          <a:prstGeom prst="rect">
            <a:avLst/>
          </a:prstGeom>
          <a:noFill/>
        </p:spPr>
        <p:txBody>
          <a:bodyPr wrap="square" anchor="t" lIns="0" rIns="0" tIns="0" bIns="0">
            <a:spAutoFit/>
          </a:bodyPr>
          <a:lstStyle/>
          <a:p>
            <a:pPr algn="l">
              <a:lnSpc>
                <a:spcPct val="100000"/>
              </a:lnSpc>
            </a:pPr>
            <a:r>
              <a:rPr sz="1150" b="1">
                <a:solidFill>
                  <a:srgbClr val="002C5F"/>
                </a:solidFill>
                <a:latin typeface="Pretendard"/>
                <a:ea typeface="Pretendard"/>
                <a:cs typeface="Pretendard"/>
              </a:rPr>
              <a:t>RSCD 27클래스 → 우리 4클래스</a:t>
            </a:r>
          </a:p>
        </p:txBody>
      </p:sp>
      <p:sp>
        <p:nvSpPr>
          <p:cNvPr id="12" name="TextBox 11"/>
          <p:cNvSpPr txBox="1"/>
          <p:nvPr/>
        </p:nvSpPr>
        <p:spPr>
          <a:xfrm>
            <a:off x="6629400" y="1617821"/>
            <a:ext cx="4876800" cy="1277779"/>
          </a:xfrm>
          <a:prstGeom prst="rect">
            <a:avLst/>
          </a:prstGeom>
          <a:noFill/>
        </p:spPr>
        <p:txBody>
          <a:bodyPr wrap="square" anchor="t" lIns="0" rIns="0" tIns="0" bIns="0">
            <a:spAutoFit/>
          </a:bodyPr>
          <a:lstStyle/>
          <a:p>
            <a:pPr algn="l">
              <a:lnSpc>
                <a:spcPct val="145000"/>
              </a:lnSpc>
              <a:spcAft>
                <a:spcPts val="600"/>
              </a:spcAft>
            </a:pPr>
            <a:r>
              <a:rPr sz="950" b="1">
                <a:solidFill>
                  <a:srgbClr val="4D4D4D"/>
                </a:solidFill>
                <a:latin typeface="Pretendard"/>
                <a:ea typeface="Pretendard"/>
                <a:cs typeface="Pretendard"/>
              </a:rPr>
              <a:t>정상</a:t>
            </a:r>
            <a:r>
              <a:rPr sz="950" b="0">
                <a:solidFill>
                  <a:srgbClr val="4D4D4D"/>
                </a:solidFill>
                <a:latin typeface="Pretendard"/>
                <a:ea typeface="Pretendard"/>
                <a:cs typeface="Pretendard"/>
              </a:rPr>
              <a:t> ← 건조 (dry)　　</a:t>
            </a:r>
            <a:r>
              <a:rPr sz="950" b="1">
                <a:solidFill>
                  <a:srgbClr val="4D4D4D"/>
                </a:solidFill>
                <a:latin typeface="Pretendard"/>
                <a:ea typeface="Pretendard"/>
                <a:cs typeface="Pretendard"/>
              </a:rPr>
              <a:t>젖음</a:t>
            </a:r>
            <a:r>
              <a:rPr sz="950" b="0">
                <a:solidFill>
                  <a:srgbClr val="4D4D4D"/>
                </a:solidFill>
                <a:latin typeface="Pretendard"/>
                <a:ea typeface="Pretendard"/>
                <a:cs typeface="Pretendard"/>
              </a:rPr>
              <a:t> ← 젖음 · 물 고임 (wet · water)</a:t>
            </a:r>
          </a:p>
          <a:p>
            <a:pPr algn="l">
              <a:lnSpc>
                <a:spcPct val="145000"/>
              </a:lnSpc>
              <a:spcAft>
                <a:spcPts val="600"/>
              </a:spcAft>
            </a:pPr>
            <a:r>
              <a:rPr sz="950" b="1">
                <a:solidFill>
                  <a:srgbClr val="4D4D4D"/>
                </a:solidFill>
                <a:latin typeface="Pretendard"/>
                <a:ea typeface="Pretendard"/>
                <a:cs typeface="Pretendard"/>
              </a:rPr>
              <a:t>결빙 위험</a:t>
            </a:r>
            <a:r>
              <a:rPr sz="950" b="0">
                <a:solidFill>
                  <a:srgbClr val="4D4D4D"/>
                </a:solidFill>
                <a:latin typeface="Pretendard"/>
                <a:ea typeface="Pretendard"/>
                <a:cs typeface="Pretendard"/>
              </a:rPr>
              <a:t> ← 결빙 · 녹은 눈 (ice · melted snow)　　</a:t>
            </a:r>
            <a:r>
              <a:rPr sz="950" b="1">
                <a:solidFill>
                  <a:srgbClr val="4D4D4D"/>
                </a:solidFill>
                <a:latin typeface="Pretendard"/>
                <a:ea typeface="Pretendard"/>
                <a:cs typeface="Pretendard"/>
              </a:rPr>
              <a:t>포트홀</a:t>
            </a:r>
            <a:r>
              <a:rPr sz="950" b="0">
                <a:solidFill>
                  <a:srgbClr val="4D4D4D"/>
                </a:solidFill>
                <a:latin typeface="Pretendard"/>
                <a:ea typeface="Pretendard"/>
                <a:cs typeface="Pretendard"/>
              </a:rPr>
              <a:t> ← 요철 '심함' 라벨</a:t>
            </a:r>
          </a:p>
          <a:p>
            <a:pPr algn="l">
              <a:lnSpc>
                <a:spcPct val="145000"/>
              </a:lnSpc>
              <a:spcAft>
                <a:spcPts val="600"/>
              </a:spcAft>
            </a:pPr>
            <a:r>
              <a:rPr sz="950" b="0">
                <a:solidFill>
                  <a:srgbClr val="4D4D4D"/>
                </a:solidFill>
                <a:latin typeface="Pretendard"/>
                <a:ea typeface="Pretendard"/>
                <a:cs typeface="Pretendard"/>
              </a:rPr>
              <a:t>약 100만 장(공개 서브셋 37만 장) · 27클래스 = 마찰 6 × 재질 4 × 요철 3 · 베이징 약 700 km 실도로 주행(2022) · 240×360 패치라 NPU 입력 크기에 맞는다 · 눈·얼음은 결빙 57,262 · 녹은 눈 64,263 · 신설 76,730장</a:t>
            </a:r>
          </a:p>
        </p:txBody>
      </p:sp>
      <p:sp>
        <p:nvSpPr>
          <p:cNvPr id="13" name="Rectangle 12"/>
          <p:cNvSpPr/>
          <p:nvPr/>
        </p:nvSpPr>
        <p:spPr>
          <a:xfrm>
            <a:off x="533400" y="3200400"/>
            <a:ext cx="3632200" cy="2762250"/>
          </a:xfrm>
          <a:prstGeom prst="rect">
            <a:avLst/>
          </a:prstGeom>
          <a:solidFill>
            <a:srgbClr val="F6F3F2"/>
          </a:solidFill>
          <a:ln>
            <a:noFill/>
          </a:ln>
          <a:effectLst/>
        </p:spPr>
        <p:txBody>
          <a:bodyPr rtlCol="0" anchor="ctr"/>
          <a:lstStyle/>
          <a:p/>
        </p:txBody>
      </p:sp>
      <p:pic>
        <p:nvPicPr>
          <p:cNvPr id="14" name="Picture 13" descr="ds_rscd_classes.jpg"/>
          <p:cNvPicPr>
            <a:picLocks noChangeAspect="1"/>
          </p:cNvPicPr>
          <p:nvPr/>
        </p:nvPicPr>
        <p:blipFill>
          <a:blip r:embed="rId2"/>
          <a:stretch>
            <a:fillRect/>
          </a:stretch>
        </p:blipFill>
        <p:spPr>
          <a:xfrm>
            <a:off x="628650" y="4055884"/>
            <a:ext cx="3441700" cy="1051283"/>
          </a:xfrm>
          <a:prstGeom prst="rect">
            <a:avLst/>
          </a:prstGeom>
        </p:spPr>
      </p:pic>
      <p:sp>
        <p:nvSpPr>
          <p:cNvPr id="15" name="TextBox 14"/>
          <p:cNvSpPr txBox="1"/>
          <p:nvPr/>
        </p:nvSpPr>
        <p:spPr>
          <a:xfrm>
            <a:off x="533400" y="6010275"/>
            <a:ext cx="3632200" cy="171450"/>
          </a:xfrm>
          <a:prstGeom prst="rect">
            <a:avLst/>
          </a:prstGeom>
          <a:noFill/>
        </p:spPr>
        <p:txBody>
          <a:bodyPr wrap="square" anchor="t" lIns="0" rIns="0" tIns="0" bIns="0">
            <a:spAutoFit/>
          </a:bodyPr>
          <a:lstStyle/>
          <a:p>
            <a:pPr algn="l">
              <a:lnSpc>
                <a:spcPct val="140000"/>
              </a:lnSpc>
            </a:pPr>
            <a:r>
              <a:rPr sz="900" b="0">
                <a:solidFill>
                  <a:srgbClr val="767676"/>
                </a:solidFill>
                <a:latin typeface="Pretendard"/>
                <a:ea typeface="Pretendard"/>
                <a:cs typeface="Pretendard"/>
              </a:rPr>
              <a:t>RSCD 클래스별 샘플</a:t>
            </a:r>
          </a:p>
        </p:txBody>
      </p:sp>
      <p:sp>
        <p:nvSpPr>
          <p:cNvPr id="16" name="Rectangle 15"/>
          <p:cNvSpPr/>
          <p:nvPr/>
        </p:nvSpPr>
        <p:spPr>
          <a:xfrm>
            <a:off x="4279900" y="3200400"/>
            <a:ext cx="3632200" cy="2762250"/>
          </a:xfrm>
          <a:prstGeom prst="rect">
            <a:avLst/>
          </a:prstGeom>
          <a:solidFill>
            <a:srgbClr val="F6F3F2"/>
          </a:solidFill>
          <a:ln>
            <a:noFill/>
          </a:ln>
          <a:effectLst/>
        </p:spPr>
        <p:txBody>
          <a:bodyPr rtlCol="0" anchor="ctr"/>
          <a:lstStyle/>
          <a:p/>
        </p:txBody>
      </p:sp>
      <p:pic>
        <p:nvPicPr>
          <p:cNvPr id="17" name="Picture 16" descr="ds_rscd_patch.jpg"/>
          <p:cNvPicPr>
            <a:picLocks noChangeAspect="1"/>
          </p:cNvPicPr>
          <p:nvPr/>
        </p:nvPicPr>
        <p:blipFill>
          <a:blip r:embed="rId3"/>
          <a:stretch>
            <a:fillRect/>
          </a:stretch>
        </p:blipFill>
        <p:spPr>
          <a:xfrm>
            <a:off x="4375150" y="3603953"/>
            <a:ext cx="3441700" cy="1955144"/>
          </a:xfrm>
          <a:prstGeom prst="rect">
            <a:avLst/>
          </a:prstGeom>
        </p:spPr>
      </p:pic>
      <p:sp>
        <p:nvSpPr>
          <p:cNvPr id="18" name="TextBox 17"/>
          <p:cNvSpPr txBox="1"/>
          <p:nvPr/>
        </p:nvSpPr>
        <p:spPr>
          <a:xfrm>
            <a:off x="4279900" y="6010275"/>
            <a:ext cx="3632200" cy="171450"/>
          </a:xfrm>
          <a:prstGeom prst="rect">
            <a:avLst/>
          </a:prstGeom>
          <a:noFill/>
        </p:spPr>
        <p:txBody>
          <a:bodyPr wrap="square" anchor="t" lIns="0" rIns="0" tIns="0" bIns="0">
            <a:spAutoFit/>
          </a:bodyPr>
          <a:lstStyle/>
          <a:p>
            <a:pPr algn="l">
              <a:lnSpc>
                <a:spcPct val="140000"/>
              </a:lnSpc>
            </a:pPr>
            <a:r>
              <a:rPr sz="900" b="0">
                <a:solidFill>
                  <a:srgbClr val="767676"/>
                </a:solidFill>
                <a:latin typeface="Pretendard"/>
                <a:ea typeface="Pretendard"/>
                <a:cs typeface="Pretendard"/>
              </a:rPr>
              <a:t>주행 영상에서 노면 영역만 잘라 패치로 쓴다</a:t>
            </a:r>
          </a:p>
        </p:txBody>
      </p:sp>
      <p:sp>
        <p:nvSpPr>
          <p:cNvPr id="19" name="Rectangle 18"/>
          <p:cNvSpPr/>
          <p:nvPr/>
        </p:nvSpPr>
        <p:spPr>
          <a:xfrm>
            <a:off x="8026400" y="3200400"/>
            <a:ext cx="3632200" cy="2762250"/>
          </a:xfrm>
          <a:prstGeom prst="rect">
            <a:avLst/>
          </a:prstGeom>
          <a:solidFill>
            <a:srgbClr val="F6F3F2"/>
          </a:solidFill>
          <a:ln>
            <a:noFill/>
          </a:ln>
          <a:effectLst/>
        </p:spPr>
        <p:txBody>
          <a:bodyPr rtlCol="0" anchor="ctr"/>
          <a:lstStyle/>
          <a:p/>
        </p:txBody>
      </p:sp>
      <p:pic>
        <p:nvPicPr>
          <p:cNvPr id="20" name="Picture 19" descr="ds_rscd_camera.jpg"/>
          <p:cNvPicPr>
            <a:picLocks noChangeAspect="1"/>
          </p:cNvPicPr>
          <p:nvPr/>
        </p:nvPicPr>
        <p:blipFill>
          <a:blip r:embed="rId4"/>
          <a:stretch>
            <a:fillRect/>
          </a:stretch>
        </p:blipFill>
        <p:spPr>
          <a:xfrm>
            <a:off x="8121650" y="4136330"/>
            <a:ext cx="3441700" cy="890390"/>
          </a:xfrm>
          <a:prstGeom prst="rect">
            <a:avLst/>
          </a:prstGeom>
        </p:spPr>
      </p:pic>
      <p:sp>
        <p:nvSpPr>
          <p:cNvPr id="21" name="TextBox 20"/>
          <p:cNvSpPr txBox="1"/>
          <p:nvPr/>
        </p:nvSpPr>
        <p:spPr>
          <a:xfrm>
            <a:off x="8026400" y="6010275"/>
            <a:ext cx="3632200" cy="171450"/>
          </a:xfrm>
          <a:prstGeom prst="rect">
            <a:avLst/>
          </a:prstGeom>
          <a:noFill/>
        </p:spPr>
        <p:txBody>
          <a:bodyPr wrap="square" anchor="t" lIns="0" rIns="0" tIns="0" bIns="0">
            <a:spAutoFit/>
          </a:bodyPr>
          <a:lstStyle/>
          <a:p>
            <a:pPr algn="l">
              <a:lnSpc>
                <a:spcPct val="140000"/>
              </a:lnSpc>
            </a:pPr>
            <a:r>
              <a:rPr sz="900" b="0">
                <a:solidFill>
                  <a:srgbClr val="767676"/>
                </a:solidFill>
                <a:latin typeface="Pretendard"/>
                <a:ea typeface="Pretendard"/>
                <a:cs typeface="Pretendard"/>
              </a:rPr>
              <a:t>차량 전방 카메라 — 20~80 km/h 주행 촬영</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3400" y="323850"/>
            <a:ext cx="5715000" cy="162878"/>
          </a:xfrm>
          <a:prstGeom prst="rect">
            <a:avLst/>
          </a:prstGeom>
          <a:noFill/>
        </p:spPr>
        <p:txBody>
          <a:bodyPr wrap="square" anchor="t" lIns="0" rIns="0" tIns="0" bIns="0">
            <a:spAutoFit/>
          </a:bodyPr>
          <a:lstStyle/>
          <a:p>
            <a:pPr algn="l">
              <a:lnSpc>
                <a:spcPct val="100000"/>
              </a:lnSpc>
            </a:pPr>
            <a:r>
              <a:rPr sz="950" b="1" spc="80">
                <a:solidFill>
                  <a:srgbClr val="00AAD2"/>
                </a:solidFill>
                <a:latin typeface="Pretendard"/>
                <a:ea typeface="Pretendard"/>
                <a:cs typeface="Pretendard"/>
              </a:rPr>
              <a:t>1차 방어</a:t>
            </a:r>
          </a:p>
        </p:txBody>
      </p:sp>
      <p:sp>
        <p:nvSpPr>
          <p:cNvPr id="3" name="TextBox 2"/>
          <p:cNvSpPr txBox="1"/>
          <p:nvPr/>
        </p:nvSpPr>
        <p:spPr>
          <a:xfrm>
            <a:off x="9753600" y="314325"/>
            <a:ext cx="1905000" cy="152400"/>
          </a:xfrm>
          <a:prstGeom prst="rect">
            <a:avLst/>
          </a:prstGeom>
          <a:noFill/>
        </p:spPr>
        <p:txBody>
          <a:bodyPr wrap="square" anchor="t" lIns="0" rIns="0" tIns="0" bIns="0">
            <a:spAutoFit/>
          </a:bodyPr>
          <a:lstStyle/>
          <a:p>
            <a:pPr algn="r">
              <a:lnSpc>
                <a:spcPct val="140000"/>
              </a:lnSpc>
            </a:pPr>
            <a:r>
              <a:rPr sz="900" b="0">
                <a:solidFill>
                  <a:srgbClr val="A6A6A6"/>
                </a:solidFill>
                <a:latin typeface="Pretendard"/>
                <a:ea typeface="Pretendard"/>
                <a:cs typeface="Pretendard"/>
              </a:rPr>
              <a:t>08 / 20</a:t>
            </a:r>
          </a:p>
        </p:txBody>
      </p:sp>
      <p:sp>
        <p:nvSpPr>
          <p:cNvPr id="4" name="TextBox 3"/>
          <p:cNvSpPr txBox="1"/>
          <p:nvPr/>
        </p:nvSpPr>
        <p:spPr>
          <a:xfrm>
            <a:off x="533400" y="495300"/>
            <a:ext cx="11125200" cy="381000"/>
          </a:xfrm>
          <a:prstGeom prst="rect">
            <a:avLst/>
          </a:prstGeom>
          <a:noFill/>
        </p:spPr>
        <p:txBody>
          <a:bodyPr wrap="square" anchor="t" lIns="0" rIns="0" tIns="0" bIns="0">
            <a:spAutoFit/>
          </a:bodyPr>
          <a:lstStyle/>
          <a:p>
            <a:pPr algn="l">
              <a:lnSpc>
                <a:spcPct val="100000"/>
              </a:lnSpc>
            </a:pPr>
            <a:r>
              <a:rPr sz="2400" b="0">
                <a:solidFill>
                  <a:srgbClr val="1C1B1B"/>
                </a:solidFill>
                <a:latin typeface="Pretendard ExtraBold"/>
                <a:ea typeface="Pretendard ExtraBold"/>
                <a:cs typeface="Pretendard ExtraBold"/>
              </a:rPr>
              <a:t>모델과 int8 배포 — RoadNet</a:t>
            </a:r>
          </a:p>
        </p:txBody>
      </p:sp>
      <p:sp>
        <p:nvSpPr>
          <p:cNvPr id="5" name="TextBox 4"/>
          <p:cNvSpPr txBox="1"/>
          <p:nvPr/>
        </p:nvSpPr>
        <p:spPr>
          <a:xfrm>
            <a:off x="533400" y="6648450"/>
            <a:ext cx="7620000" cy="133350"/>
          </a:xfrm>
          <a:prstGeom prst="rect">
            <a:avLst/>
          </a:prstGeom>
          <a:noFill/>
        </p:spPr>
        <p:txBody>
          <a:bodyPr wrap="square" anchor="t" lIns="0" rIns="0" tIns="0" bIns="0">
            <a:spAutoFit/>
          </a:bodyPr>
          <a:lstStyle/>
          <a:p>
            <a:pPr algn="l">
              <a:lnSpc>
                <a:spcPct val="140000"/>
              </a:lnSpc>
            </a:pPr>
            <a:r>
              <a:rPr sz="800" b="0">
                <a:solidFill>
                  <a:srgbClr val="A6A6A6"/>
                </a:solidFill>
                <a:latin typeface="Pretendard"/>
                <a:ea typeface="Pretendard"/>
                <a:cs typeface="Pretendard"/>
              </a:rPr>
              <a:t>팀 ARTS · 제24회 임베디드SW경진대회 자동차/모빌리티(현대자동차) · github.com/gkgk0119gmail-arch/2026ESWContest_mobility_ARTS</a:t>
            </a:r>
          </a:p>
        </p:txBody>
      </p:sp>
      <p:sp>
        <p:nvSpPr>
          <p:cNvPr id="6" name="TextBox 5"/>
          <p:cNvSpPr txBox="1"/>
          <p:nvPr/>
        </p:nvSpPr>
        <p:spPr>
          <a:xfrm>
            <a:off x="10134600" y="6638925"/>
            <a:ext cx="1524000" cy="133350"/>
          </a:xfrm>
          <a:prstGeom prst="rect">
            <a:avLst/>
          </a:prstGeom>
          <a:noFill/>
        </p:spPr>
        <p:txBody>
          <a:bodyPr wrap="square" anchor="t" lIns="0" rIns="0" tIns="0" bIns="0">
            <a:spAutoFit/>
          </a:bodyPr>
          <a:lstStyle/>
          <a:p>
            <a:pPr algn="r">
              <a:lnSpc>
                <a:spcPct val="140000"/>
              </a:lnSpc>
            </a:pPr>
            <a:r>
              <a:rPr sz="900" b="1">
                <a:solidFill>
                  <a:srgbClr val="002C5F"/>
                </a:solidFill>
                <a:latin typeface="Pretendard"/>
                <a:ea typeface="Pretendard"/>
                <a:cs typeface="Pretendard"/>
              </a:rPr>
              <a:t>IcePredict</a:t>
            </a:r>
          </a:p>
        </p:txBody>
      </p:sp>
      <p:graphicFrame>
        <p:nvGraphicFramePr>
          <p:cNvPr id="7" name="Table 6"/>
          <p:cNvGraphicFramePr>
            <a:graphicFrameLocks noGrp="1"/>
          </p:cNvGraphicFramePr>
          <p:nvPr/>
        </p:nvGraphicFramePr>
        <p:xfrm>
          <a:off x="533400" y="1028700"/>
          <a:ext cx="5334000" cy="2609850"/>
        </p:xfrm>
        <a:graphic>
          <a:graphicData uri="http://schemas.openxmlformats.org/drawingml/2006/table">
            <a:tbl>
              <a:tblPr>
                <a:tableStyleId>{2D5ABB26-0587-4C30-8999-92F81FD0307C}</a:tableStyleId>
              </a:tblPr>
              <a:tblGrid>
                <a:gridCol w="1403684"/>
                <a:gridCol w="3930316"/>
              </a:tblGrid>
              <a:tr h="228600">
                <a:tc>
                  <a:txBody>
                    <a:bodyPr wrap="square"/>
                    <a:lstStyle/>
                    <a:p>
                      <a:pPr>
                        <a:lnSpc>
                          <a:spcPct val="122000"/>
                        </a:lnSpc>
                      </a:pPr>
                      <a:r>
                        <a:rPr sz="900" b="1">
                          <a:solidFill>
                            <a:srgbClr val="002C5F"/>
                          </a:solidFill>
                          <a:latin typeface="Pretendard"/>
                          <a:ea typeface="Pretendard"/>
                          <a:cs typeface="Pretendard"/>
                        </a:rPr>
                        <a:t>항목</a:t>
                      </a:r>
                      <a:endParaRPr sz="90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c>
                  <a:txBody>
                    <a:bodyPr wrap="square"/>
                    <a:lstStyle/>
                    <a:p>
                      <a:pPr>
                        <a:lnSpc>
                          <a:spcPct val="122000"/>
                        </a:lnSpc>
                      </a:pPr>
                      <a:r>
                        <a:rPr sz="900" b="1">
                          <a:solidFill>
                            <a:srgbClr val="002C5F"/>
                          </a:solidFill>
                          <a:latin typeface="Pretendard"/>
                          <a:ea typeface="Pretendard"/>
                          <a:cs typeface="Pretendard"/>
                        </a:rPr>
                        <a:t>값</a:t>
                      </a:r>
                      <a:endParaRPr sz="90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r>
              <a:tr h="238125">
                <a:tc>
                  <a:txBody>
                    <a:bodyPr wrap="square"/>
                    <a:lstStyle/>
                    <a:p>
                      <a:pPr>
                        <a:lnSpc>
                          <a:spcPct val="122000"/>
                        </a:lnSpc>
                      </a:pPr>
                      <a:r>
                        <a:rPr sz="950" b="1">
                          <a:solidFill>
                            <a:srgbClr val="002C5F"/>
                          </a:solidFill>
                          <a:latin typeface="Pretendard"/>
                          <a:ea typeface="Pretendard"/>
                          <a:cs typeface="Pretendard"/>
                        </a:rPr>
                        <a:t>백본</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MobileNetV3-Small (ImageNet 사전학습)</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38125">
                <a:tc>
                  <a:txBody>
                    <a:bodyPr wrap="square"/>
                    <a:lstStyle/>
                    <a:p>
                      <a:pPr>
                        <a:lnSpc>
                          <a:spcPct val="122000"/>
                        </a:lnSpc>
                      </a:pPr>
                      <a:r>
                        <a:rPr sz="950" b="1">
                          <a:solidFill>
                            <a:srgbClr val="002C5F"/>
                          </a:solidFill>
                          <a:latin typeface="Pretendard"/>
                          <a:ea typeface="Pretendard"/>
                          <a:cs typeface="Pretendard"/>
                        </a:rPr>
                        <a:t>입력</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1×3×224×224 NCHW, int8</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38125">
                <a:tc>
                  <a:txBody>
                    <a:bodyPr wrap="square"/>
                    <a:lstStyle/>
                    <a:p>
                      <a:pPr>
                        <a:lnSpc>
                          <a:spcPct val="122000"/>
                        </a:lnSpc>
                      </a:pPr>
                      <a:r>
                        <a:rPr sz="950" b="1">
                          <a:solidFill>
                            <a:srgbClr val="002C5F"/>
                          </a:solidFill>
                          <a:latin typeface="Pretendard"/>
                          <a:ea typeface="Pretendard"/>
                          <a:cs typeface="Pretendard"/>
                        </a:rPr>
                        <a:t>출력</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4클래스 로짓 + 반사도 헤드 (576→64→1)</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38125">
                <a:tc>
                  <a:txBody>
                    <a:bodyPr wrap="square"/>
                    <a:lstStyle/>
                    <a:p>
                      <a:pPr>
                        <a:lnSpc>
                          <a:spcPct val="122000"/>
                        </a:lnSpc>
                      </a:pPr>
                      <a:r>
                        <a:rPr sz="950" b="1">
                          <a:solidFill>
                            <a:srgbClr val="002C5F"/>
                          </a:solidFill>
                          <a:latin typeface="Pretendard"/>
                          <a:ea typeface="Pretendard"/>
                          <a:cs typeface="Pretendard"/>
                        </a:rPr>
                        <a:t>내보내기</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ONNX opset 13, 고정 배치 1</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38125">
                <a:tc>
                  <a:txBody>
                    <a:bodyPr wrap="square"/>
                    <a:lstStyle/>
                    <a:p>
                      <a:pPr>
                        <a:lnSpc>
                          <a:spcPct val="122000"/>
                        </a:lnSpc>
                      </a:pPr>
                      <a:r>
                        <a:rPr sz="950" b="1">
                          <a:solidFill>
                            <a:srgbClr val="002C5F"/>
                          </a:solidFill>
                          <a:latin typeface="Pretendard"/>
                          <a:ea typeface="Pretendard"/>
                          <a:cs typeface="Pretendard"/>
                        </a:rPr>
                        <a:t>양자화</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int8 PTQ (QDQ), 가중치 채널별 · 활성 대칭</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38125">
                <a:tc>
                  <a:txBody>
                    <a:bodyPr wrap="square"/>
                    <a:lstStyle/>
                    <a:p>
                      <a:pPr>
                        <a:lnSpc>
                          <a:spcPct val="122000"/>
                        </a:lnSpc>
                      </a:pPr>
                      <a:r>
                        <a:rPr sz="950" b="1">
                          <a:solidFill>
                            <a:srgbClr val="002C5F"/>
                          </a:solidFill>
                          <a:latin typeface="Pretendard"/>
                          <a:ea typeface="Pretendard"/>
                          <a:cs typeface="Pretendard"/>
                        </a:rPr>
                        <a:t>입력 양자화</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scale 0.018658448, zero-point −14</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38125">
                <a:tc>
                  <a:txBody>
                    <a:bodyPr wrap="square"/>
                    <a:lstStyle/>
                    <a:p>
                      <a:pPr>
                        <a:lnSpc>
                          <a:spcPct val="122000"/>
                        </a:lnSpc>
                      </a:pPr>
                      <a:r>
                        <a:rPr sz="950" b="1">
                          <a:solidFill>
                            <a:srgbClr val="002C5F"/>
                          </a:solidFill>
                          <a:latin typeface="Pretendard"/>
                          <a:ea typeface="Pretendard"/>
                          <a:cs typeface="Pretendard"/>
                        </a:rPr>
                        <a:t>출력 양자화</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scale 0.029451849</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38125">
                <a:tc>
                  <a:txBody>
                    <a:bodyPr wrap="square"/>
                    <a:lstStyle/>
                    <a:p>
                      <a:pPr>
                        <a:lnSpc>
                          <a:spcPct val="122000"/>
                        </a:lnSpc>
                      </a:pPr>
                      <a:r>
                        <a:rPr sz="950" b="1">
                          <a:solidFill>
                            <a:srgbClr val="002C5F"/>
                          </a:solidFill>
                          <a:latin typeface="Pretendard"/>
                          <a:ea typeface="Pretendard"/>
                          <a:cs typeface="Pretendard"/>
                        </a:rPr>
                        <a:t>프레임당 전송</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150,528 B</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38125">
                <a:tc>
                  <a:txBody>
                    <a:bodyPr wrap="square"/>
                    <a:lstStyle/>
                    <a:p>
                      <a:pPr>
                        <a:lnSpc>
                          <a:spcPct val="122000"/>
                        </a:lnSpc>
                      </a:pPr>
                      <a:r>
                        <a:rPr sz="950" b="1">
                          <a:solidFill>
                            <a:srgbClr val="002C5F"/>
                          </a:solidFill>
                          <a:latin typeface="Pretendard"/>
                          <a:ea typeface="Pretendard"/>
                          <a:cs typeface="Pretendard"/>
                        </a:rPr>
                        <a:t>NPU</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Neural-ART @ 1 GHz · 추론 </a:t>
                      </a:r>
                      <a:r>
                        <a:rPr sz="950" b="1">
                          <a:solidFill>
                            <a:srgbClr val="1C1B1B"/>
                          </a:solidFill>
                          <a:latin typeface="Pretendard"/>
                          <a:ea typeface="Pretendard"/>
                          <a:cs typeface="Pretendard"/>
                        </a:rPr>
                        <a:t>25 ms</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38125">
                <a:tc>
                  <a:txBody>
                    <a:bodyPr wrap="square"/>
                    <a:lstStyle/>
                    <a:p>
                      <a:pPr>
                        <a:lnSpc>
                          <a:spcPct val="122000"/>
                        </a:lnSpc>
                      </a:pPr>
                      <a:r>
                        <a:rPr sz="950" b="1">
                          <a:solidFill>
                            <a:srgbClr val="002C5F"/>
                          </a:solidFill>
                          <a:latin typeface="Pretendard"/>
                          <a:ea typeface="Pretendard"/>
                          <a:cs typeface="Pretendard"/>
                        </a:rPr>
                        <a:t>카메라 ROI</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차량 전방 </a:t>
                      </a:r>
                      <a:r>
                        <a:rPr sz="950" b="1">
                          <a:solidFill>
                            <a:srgbClr val="1C1B1B"/>
                          </a:solidFill>
                          <a:latin typeface="Pretendard"/>
                          <a:ea typeface="Pretendard"/>
                          <a:cs typeface="Pretendard"/>
                        </a:rPr>
                        <a:t>7.9 ~ 42.2 m</a:t>
                      </a:r>
                      <a:r>
                        <a:rPr sz="950" b="0">
                          <a:solidFill>
                            <a:srgbClr val="1C1B1B"/>
                          </a:solidFill>
                          <a:latin typeface="Pretendard"/>
                          <a:ea typeface="Pretendard"/>
                          <a:cs typeface="Pretendard"/>
                        </a:rPr>
                        <a:t> (FOV 60°, 피치 −12°)</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bl>
          </a:graphicData>
        </a:graphic>
      </p:graphicFrame>
      <p:pic>
        <p:nvPicPr>
          <p:cNvPr id="8" name="Picture 7" descr="image.jpg"/>
          <p:cNvPicPr>
            <a:picLocks noChangeAspect="1"/>
          </p:cNvPicPr>
          <p:nvPr/>
        </p:nvPicPr>
        <p:blipFill>
          <a:blip r:embed="rId2"/>
          <a:stretch>
            <a:fillRect/>
          </a:stretch>
        </p:blipFill>
        <p:spPr>
          <a:xfrm>
            <a:off x="533400" y="3790950"/>
            <a:ext cx="5334000" cy="2324100"/>
          </a:xfrm>
          <a:prstGeom prst="rect">
            <a:avLst/>
          </a:prstGeom>
        </p:spPr>
      </p:pic>
      <p:sp>
        <p:nvSpPr>
          <p:cNvPr id="9" name="TextBox 8"/>
          <p:cNvSpPr txBox="1"/>
          <p:nvPr/>
        </p:nvSpPr>
        <p:spPr>
          <a:xfrm>
            <a:off x="533400" y="6162675"/>
            <a:ext cx="5334000" cy="171450"/>
          </a:xfrm>
          <a:prstGeom prst="rect">
            <a:avLst/>
          </a:prstGeom>
          <a:noFill/>
        </p:spPr>
        <p:txBody>
          <a:bodyPr wrap="square" anchor="t" lIns="0" rIns="0" tIns="0" bIns="0">
            <a:spAutoFit/>
          </a:bodyPr>
          <a:lstStyle/>
          <a:p>
            <a:pPr algn="l">
              <a:lnSpc>
                <a:spcPct val="140000"/>
              </a:lnSpc>
            </a:pPr>
            <a:r>
              <a:rPr sz="900" b="0">
                <a:solidFill>
                  <a:srgbClr val="767676"/>
                </a:solidFill>
                <a:latin typeface="Pretendard"/>
                <a:ea typeface="Pretendard"/>
                <a:cs typeface="Pretendard"/>
              </a:rPr>
              <a:t>이 모델이 실제로 돌아가는 보드 — STM32N6570-DK 위의 AI 카메라 MB1854B 가 NPU 입력을 바로 공급한다</a:t>
            </a:r>
          </a:p>
        </p:txBody>
      </p:sp>
      <p:sp>
        <p:nvSpPr>
          <p:cNvPr id="10" name="TextBox 9"/>
          <p:cNvSpPr txBox="1"/>
          <p:nvPr/>
        </p:nvSpPr>
        <p:spPr>
          <a:xfrm>
            <a:off x="6134100" y="1028700"/>
            <a:ext cx="5524500" cy="208121"/>
          </a:xfrm>
          <a:prstGeom prst="rect">
            <a:avLst/>
          </a:prstGeom>
          <a:noFill/>
        </p:spPr>
        <p:txBody>
          <a:bodyPr wrap="square" anchor="t" lIns="0" rIns="0" tIns="0" bIns="0">
            <a:spAutoFit/>
          </a:bodyPr>
          <a:lstStyle/>
          <a:p>
            <a:pPr algn="l">
              <a:lnSpc>
                <a:spcPct val="100000"/>
              </a:lnSpc>
            </a:pPr>
            <a:r>
              <a:rPr sz="1150" b="1">
                <a:solidFill>
                  <a:srgbClr val="00AAD2"/>
                </a:solidFill>
                <a:latin typeface="Pretendard"/>
                <a:ea typeface="Pretendard"/>
                <a:cs typeface="Pretendard"/>
              </a:rPr>
              <a:t>반사도 헤드를 따로 둔 이유</a:t>
            </a:r>
          </a:p>
        </p:txBody>
      </p:sp>
      <p:sp>
        <p:nvSpPr>
          <p:cNvPr id="11" name="TextBox 10"/>
          <p:cNvSpPr txBox="1"/>
          <p:nvPr/>
        </p:nvSpPr>
        <p:spPr>
          <a:xfrm>
            <a:off x="6134100" y="1274921"/>
            <a:ext cx="5524500" cy="1182529"/>
          </a:xfrm>
          <a:prstGeom prst="rect">
            <a:avLst/>
          </a:prstGeom>
          <a:noFill/>
        </p:spPr>
        <p:txBody>
          <a:bodyPr wrap="square" anchor="t" lIns="0" rIns="0" tIns="0" bIns="0">
            <a:spAutoFit/>
          </a:bodyPr>
          <a:lstStyle/>
          <a:p>
            <a:pPr algn="l">
              <a:lnSpc>
                <a:spcPct val="145000"/>
              </a:lnSpc>
              <a:spcAft>
                <a:spcPts val="400"/>
              </a:spcAft>
            </a:pPr>
            <a:r>
              <a:rPr sz="1000" b="0">
                <a:solidFill>
                  <a:srgbClr val="4D4D4D"/>
                </a:solidFill>
                <a:latin typeface="Pretendard"/>
                <a:ea typeface="Pretendard"/>
                <a:cs typeface="Pretendard"/>
              </a:rPr>
              <a:t>블랙아이스의 단서는 '무슨 노면인가'보다 '빛을 어떻게 되돌리는가'에 가깝다. 분류 로짓 하나로는 젖음과 결빙이 섞인다. RoadSaW 의 실측 수막 두께를 정답으로 반사도를 회귀로 따로 배우게 하고, 융합 단계에서 분류 확률과 더한다.</a:t>
            </a:r>
          </a:p>
        </p:txBody>
      </p:sp>
      <p:sp>
        <p:nvSpPr>
          <p:cNvPr id="12" name="TextBox 11"/>
          <p:cNvSpPr txBox="1"/>
          <p:nvPr/>
        </p:nvSpPr>
        <p:spPr>
          <a:xfrm>
            <a:off x="6134100" y="2552700"/>
            <a:ext cx="5524500" cy="208121"/>
          </a:xfrm>
          <a:prstGeom prst="rect">
            <a:avLst/>
          </a:prstGeom>
          <a:noFill/>
        </p:spPr>
        <p:txBody>
          <a:bodyPr wrap="square" anchor="t" lIns="0" rIns="0" tIns="0" bIns="0">
            <a:spAutoFit/>
          </a:bodyPr>
          <a:lstStyle/>
          <a:p>
            <a:pPr algn="l">
              <a:lnSpc>
                <a:spcPct val="100000"/>
              </a:lnSpc>
            </a:pPr>
            <a:r>
              <a:rPr sz="1150" b="1">
                <a:solidFill>
                  <a:srgbClr val="00AAD2"/>
                </a:solidFill>
                <a:latin typeface="Pretendard"/>
                <a:ea typeface="Pretendard"/>
                <a:cs typeface="Pretendard"/>
              </a:rPr>
              <a:t>양자화에서 겪은 것</a:t>
            </a:r>
          </a:p>
        </p:txBody>
      </p:sp>
      <p:sp>
        <p:nvSpPr>
          <p:cNvPr id="13" name="TextBox 12"/>
          <p:cNvSpPr txBox="1"/>
          <p:nvPr/>
        </p:nvSpPr>
        <p:spPr>
          <a:xfrm>
            <a:off x="6134100" y="2798921"/>
            <a:ext cx="5524500" cy="1182529"/>
          </a:xfrm>
          <a:prstGeom prst="rect">
            <a:avLst/>
          </a:prstGeom>
          <a:noFill/>
        </p:spPr>
        <p:txBody>
          <a:bodyPr wrap="square" anchor="t" lIns="0" rIns="0" tIns="0" bIns="0">
            <a:spAutoFit/>
          </a:bodyPr>
          <a:lstStyle/>
          <a:p>
            <a:pPr algn="l">
              <a:lnSpc>
                <a:spcPct val="145000"/>
              </a:lnSpc>
              <a:spcAft>
                <a:spcPts val="400"/>
              </a:spcAft>
            </a:pPr>
            <a:r>
              <a:rPr sz="1000" b="0">
                <a:solidFill>
                  <a:srgbClr val="4D4D4D"/>
                </a:solidFill>
                <a:latin typeface="Pretendard"/>
                <a:ea typeface="Pretendard"/>
                <a:cs typeface="Pretendard"/>
              </a:rPr>
              <a:t>표준 PTQ 로는 stem 층의 활성 분포가 넓어 int8 에서 정확도가 떨어졌다. stem 등화(equalization)와 클리핑을 적용해 회복했고, QDQ 그래프를 u8→i8 로 다시 쓰는 변환을 거쳐 Neural-ART 가 받는 형태로 맞췄다.</a:t>
            </a:r>
          </a:p>
        </p:txBody>
      </p:sp>
      <p:sp>
        <p:nvSpPr>
          <p:cNvPr id="14" name="TextBox 13"/>
          <p:cNvSpPr txBox="1"/>
          <p:nvPr/>
        </p:nvSpPr>
        <p:spPr>
          <a:xfrm>
            <a:off x="6134100" y="4171950"/>
            <a:ext cx="5524500" cy="162878"/>
          </a:xfrm>
          <a:prstGeom prst="rect">
            <a:avLst/>
          </a:prstGeom>
          <a:noFill/>
        </p:spPr>
        <p:txBody>
          <a:bodyPr wrap="square" anchor="t" lIns="0" rIns="0" tIns="0" bIns="0">
            <a:spAutoFit/>
          </a:bodyPr>
          <a:lstStyle/>
          <a:p>
            <a:pPr algn="l">
              <a:lnSpc>
                <a:spcPct val="100000"/>
              </a:lnSpc>
            </a:pPr>
            <a:r>
              <a:rPr sz="950" b="1" spc="80">
                <a:solidFill>
                  <a:srgbClr val="002C5F"/>
                </a:solidFill>
                <a:latin typeface="Pretendard"/>
                <a:ea typeface="Pretendard"/>
                <a:cs typeface="Pretendard"/>
              </a:rPr>
              <a:t>배포 경로</a:t>
            </a:r>
          </a:p>
        </p:txBody>
      </p:sp>
      <p:sp>
        <p:nvSpPr>
          <p:cNvPr id="15" name="Rectangle 14"/>
          <p:cNvSpPr/>
          <p:nvPr/>
        </p:nvSpPr>
        <p:spPr>
          <a:xfrm>
            <a:off x="6134100" y="4419600"/>
            <a:ext cx="1309688" cy="1943100"/>
          </a:xfrm>
          <a:prstGeom prst="rect">
            <a:avLst/>
          </a:prstGeom>
          <a:solidFill>
            <a:srgbClr val="F6F3F2"/>
          </a:solidFill>
          <a:ln>
            <a:noFill/>
          </a:ln>
          <a:effectLst/>
        </p:spPr>
        <p:txBody>
          <a:bodyPr rtlCol="0" anchor="ctr"/>
          <a:lstStyle/>
          <a:p/>
        </p:txBody>
      </p:sp>
      <p:sp>
        <p:nvSpPr>
          <p:cNvPr id="16" name="TextBox 15"/>
          <p:cNvSpPr txBox="1"/>
          <p:nvPr/>
        </p:nvSpPr>
        <p:spPr>
          <a:xfrm>
            <a:off x="6248400" y="4533900"/>
            <a:ext cx="1081088" cy="285750"/>
          </a:xfrm>
          <a:prstGeom prst="rect">
            <a:avLst/>
          </a:prstGeom>
          <a:noFill/>
        </p:spPr>
        <p:txBody>
          <a:bodyPr wrap="square" anchor="t" lIns="0" rIns="0" tIns="0" bIns="0">
            <a:spAutoFit/>
          </a:bodyPr>
          <a:lstStyle/>
          <a:p>
            <a:pPr algn="l">
              <a:lnSpc>
                <a:spcPct val="100000"/>
              </a:lnSpc>
            </a:pPr>
            <a:r>
              <a:rPr sz="2000" b="0">
                <a:solidFill>
                  <a:srgbClr val="00AAD2"/>
                </a:solidFill>
                <a:latin typeface="Pretendard ExtraBold"/>
                <a:ea typeface="Pretendard ExtraBold"/>
                <a:cs typeface="Pretendard ExtraBold"/>
              </a:rPr>
              <a:t>01</a:t>
            </a:r>
          </a:p>
        </p:txBody>
      </p:sp>
      <p:sp>
        <p:nvSpPr>
          <p:cNvPr id="17" name="TextBox 16"/>
          <p:cNvSpPr txBox="1"/>
          <p:nvPr/>
        </p:nvSpPr>
        <p:spPr>
          <a:xfrm>
            <a:off x="6248400" y="4857750"/>
            <a:ext cx="1081088" cy="209550"/>
          </a:xfrm>
          <a:prstGeom prst="rect">
            <a:avLst/>
          </a:prstGeom>
          <a:noFill/>
        </p:spPr>
        <p:txBody>
          <a:bodyPr wrap="square" anchor="t" lIns="0" rIns="0" tIns="0" bIns="0">
            <a:spAutoFit/>
          </a:bodyPr>
          <a:lstStyle/>
          <a:p>
            <a:pPr algn="l">
              <a:lnSpc>
                <a:spcPct val="140000"/>
              </a:lnSpc>
            </a:pPr>
            <a:r>
              <a:rPr sz="1100" b="1">
                <a:solidFill>
                  <a:srgbClr val="1C1B1B"/>
                </a:solidFill>
                <a:latin typeface="Pretendard"/>
                <a:ea typeface="Pretendard"/>
                <a:cs typeface="Pretendard"/>
              </a:rPr>
              <a:t>학습</a:t>
            </a:r>
          </a:p>
        </p:txBody>
      </p:sp>
      <p:sp>
        <p:nvSpPr>
          <p:cNvPr id="18" name="TextBox 17"/>
          <p:cNvSpPr txBox="1"/>
          <p:nvPr/>
        </p:nvSpPr>
        <p:spPr>
          <a:xfrm>
            <a:off x="6248400" y="5086350"/>
            <a:ext cx="1081088" cy="571500"/>
          </a:xfrm>
          <a:prstGeom prst="rect">
            <a:avLst/>
          </a:prstGeom>
          <a:noFill/>
        </p:spPr>
        <p:txBody>
          <a:bodyPr wrap="square" anchor="t" lIns="0" rIns="0" tIns="0" bIns="0">
            <a:spAutoFit/>
          </a:bodyPr>
          <a:lstStyle/>
          <a:p>
            <a:pPr algn="l">
              <a:lnSpc>
                <a:spcPct val="140000"/>
              </a:lnSpc>
            </a:pPr>
            <a:r>
              <a:rPr sz="900" b="0">
                <a:solidFill>
                  <a:srgbClr val="4D4D4D"/>
                </a:solidFill>
                <a:latin typeface="Pretendard"/>
                <a:ea typeface="Pretendard"/>
                <a:cs typeface="Pretendard"/>
              </a:rPr>
              <a:t>PyTorch · RSCD 패치</a:t>
            </a:r>
            <a:br/>
            <a:r>
              <a:rPr sz="900" b="0">
                <a:solidFill>
                  <a:srgbClr val="4D4D4D"/>
                </a:solidFill>
                <a:latin typeface="Pretendard"/>
                <a:ea typeface="Pretendard"/>
                <a:cs typeface="Pretendard"/>
              </a:rPr>
              <a:t>MobileNetV3-Small</a:t>
            </a:r>
          </a:p>
        </p:txBody>
      </p:sp>
      <p:sp>
        <p:nvSpPr>
          <p:cNvPr id="19" name="Rectangle 18"/>
          <p:cNvSpPr/>
          <p:nvPr/>
        </p:nvSpPr>
        <p:spPr>
          <a:xfrm>
            <a:off x="7539038" y="4419600"/>
            <a:ext cx="1309688" cy="1943100"/>
          </a:xfrm>
          <a:prstGeom prst="rect">
            <a:avLst/>
          </a:prstGeom>
          <a:solidFill>
            <a:srgbClr val="F6F3F2"/>
          </a:solidFill>
          <a:ln>
            <a:noFill/>
          </a:ln>
          <a:effectLst/>
        </p:spPr>
        <p:txBody>
          <a:bodyPr rtlCol="0" anchor="ctr"/>
          <a:lstStyle/>
          <a:p/>
        </p:txBody>
      </p:sp>
      <p:sp>
        <p:nvSpPr>
          <p:cNvPr id="20" name="TextBox 19"/>
          <p:cNvSpPr txBox="1"/>
          <p:nvPr/>
        </p:nvSpPr>
        <p:spPr>
          <a:xfrm>
            <a:off x="7653338" y="4533900"/>
            <a:ext cx="1081088" cy="285750"/>
          </a:xfrm>
          <a:prstGeom prst="rect">
            <a:avLst/>
          </a:prstGeom>
          <a:noFill/>
        </p:spPr>
        <p:txBody>
          <a:bodyPr wrap="square" anchor="t" lIns="0" rIns="0" tIns="0" bIns="0">
            <a:spAutoFit/>
          </a:bodyPr>
          <a:lstStyle/>
          <a:p>
            <a:pPr algn="l">
              <a:lnSpc>
                <a:spcPct val="100000"/>
              </a:lnSpc>
            </a:pPr>
            <a:r>
              <a:rPr sz="2000" b="0">
                <a:solidFill>
                  <a:srgbClr val="00AAD2"/>
                </a:solidFill>
                <a:latin typeface="Pretendard ExtraBold"/>
                <a:ea typeface="Pretendard ExtraBold"/>
                <a:cs typeface="Pretendard ExtraBold"/>
              </a:rPr>
              <a:t>02</a:t>
            </a:r>
          </a:p>
        </p:txBody>
      </p:sp>
      <p:sp>
        <p:nvSpPr>
          <p:cNvPr id="21" name="TextBox 20"/>
          <p:cNvSpPr txBox="1"/>
          <p:nvPr/>
        </p:nvSpPr>
        <p:spPr>
          <a:xfrm>
            <a:off x="7653338" y="4857750"/>
            <a:ext cx="1081088" cy="209550"/>
          </a:xfrm>
          <a:prstGeom prst="rect">
            <a:avLst/>
          </a:prstGeom>
          <a:noFill/>
        </p:spPr>
        <p:txBody>
          <a:bodyPr wrap="square" anchor="t" lIns="0" rIns="0" tIns="0" bIns="0">
            <a:spAutoFit/>
          </a:bodyPr>
          <a:lstStyle/>
          <a:p>
            <a:pPr algn="l">
              <a:lnSpc>
                <a:spcPct val="140000"/>
              </a:lnSpc>
            </a:pPr>
            <a:r>
              <a:rPr sz="1100" b="1">
                <a:solidFill>
                  <a:srgbClr val="1C1B1B"/>
                </a:solidFill>
                <a:latin typeface="Pretendard"/>
                <a:ea typeface="Pretendard"/>
                <a:cs typeface="Pretendard"/>
              </a:rPr>
              <a:t>내보내기</a:t>
            </a:r>
          </a:p>
        </p:txBody>
      </p:sp>
      <p:sp>
        <p:nvSpPr>
          <p:cNvPr id="22" name="TextBox 21"/>
          <p:cNvSpPr txBox="1"/>
          <p:nvPr/>
        </p:nvSpPr>
        <p:spPr>
          <a:xfrm>
            <a:off x="7653338" y="5086350"/>
            <a:ext cx="1081088" cy="571500"/>
          </a:xfrm>
          <a:prstGeom prst="rect">
            <a:avLst/>
          </a:prstGeom>
          <a:noFill/>
        </p:spPr>
        <p:txBody>
          <a:bodyPr wrap="square" anchor="t" lIns="0" rIns="0" tIns="0" bIns="0">
            <a:spAutoFit/>
          </a:bodyPr>
          <a:lstStyle/>
          <a:p>
            <a:pPr algn="l">
              <a:lnSpc>
                <a:spcPct val="140000"/>
              </a:lnSpc>
            </a:pPr>
            <a:r>
              <a:rPr sz="900" b="0">
                <a:solidFill>
                  <a:srgbClr val="4D4D4D"/>
                </a:solidFill>
                <a:latin typeface="Pretendard"/>
                <a:ea typeface="Pretendard"/>
                <a:cs typeface="Pretendard"/>
              </a:rPr>
              <a:t>ONNX opset 13</a:t>
            </a:r>
            <a:br/>
            <a:r>
              <a:rPr sz="900" b="0">
                <a:solidFill>
                  <a:srgbClr val="4D4D4D"/>
                </a:solidFill>
                <a:latin typeface="Pretendard"/>
                <a:ea typeface="Pretendard"/>
                <a:cs typeface="Pretendard"/>
              </a:rPr>
              <a:t>고정 배치 1</a:t>
            </a:r>
          </a:p>
        </p:txBody>
      </p:sp>
      <p:sp>
        <p:nvSpPr>
          <p:cNvPr id="23" name="Rectangle 22"/>
          <p:cNvSpPr/>
          <p:nvPr/>
        </p:nvSpPr>
        <p:spPr>
          <a:xfrm>
            <a:off x="8943975" y="4419600"/>
            <a:ext cx="1309688" cy="1943100"/>
          </a:xfrm>
          <a:prstGeom prst="rect">
            <a:avLst/>
          </a:prstGeom>
          <a:solidFill>
            <a:srgbClr val="F6F3F2"/>
          </a:solidFill>
          <a:ln>
            <a:noFill/>
          </a:ln>
          <a:effectLst/>
        </p:spPr>
        <p:txBody>
          <a:bodyPr rtlCol="0" anchor="ctr"/>
          <a:lstStyle/>
          <a:p/>
        </p:txBody>
      </p:sp>
      <p:sp>
        <p:nvSpPr>
          <p:cNvPr id="24" name="TextBox 23"/>
          <p:cNvSpPr txBox="1"/>
          <p:nvPr/>
        </p:nvSpPr>
        <p:spPr>
          <a:xfrm>
            <a:off x="9058275" y="4533900"/>
            <a:ext cx="1081088" cy="285750"/>
          </a:xfrm>
          <a:prstGeom prst="rect">
            <a:avLst/>
          </a:prstGeom>
          <a:noFill/>
        </p:spPr>
        <p:txBody>
          <a:bodyPr wrap="square" anchor="t" lIns="0" rIns="0" tIns="0" bIns="0">
            <a:spAutoFit/>
          </a:bodyPr>
          <a:lstStyle/>
          <a:p>
            <a:pPr algn="l">
              <a:lnSpc>
                <a:spcPct val="100000"/>
              </a:lnSpc>
            </a:pPr>
            <a:r>
              <a:rPr sz="2000" b="0">
                <a:solidFill>
                  <a:srgbClr val="00AAD2"/>
                </a:solidFill>
                <a:latin typeface="Pretendard ExtraBold"/>
                <a:ea typeface="Pretendard ExtraBold"/>
                <a:cs typeface="Pretendard ExtraBold"/>
              </a:rPr>
              <a:t>03</a:t>
            </a:r>
          </a:p>
        </p:txBody>
      </p:sp>
      <p:sp>
        <p:nvSpPr>
          <p:cNvPr id="25" name="TextBox 24"/>
          <p:cNvSpPr txBox="1"/>
          <p:nvPr/>
        </p:nvSpPr>
        <p:spPr>
          <a:xfrm>
            <a:off x="9058275" y="4857750"/>
            <a:ext cx="1081088" cy="209550"/>
          </a:xfrm>
          <a:prstGeom prst="rect">
            <a:avLst/>
          </a:prstGeom>
          <a:noFill/>
        </p:spPr>
        <p:txBody>
          <a:bodyPr wrap="square" anchor="t" lIns="0" rIns="0" tIns="0" bIns="0">
            <a:spAutoFit/>
          </a:bodyPr>
          <a:lstStyle/>
          <a:p>
            <a:pPr algn="l">
              <a:lnSpc>
                <a:spcPct val="140000"/>
              </a:lnSpc>
            </a:pPr>
            <a:r>
              <a:rPr sz="1100" b="1">
                <a:solidFill>
                  <a:srgbClr val="1C1B1B"/>
                </a:solidFill>
                <a:latin typeface="Pretendard"/>
                <a:ea typeface="Pretendard"/>
                <a:cs typeface="Pretendard"/>
              </a:rPr>
              <a:t>양자화</a:t>
            </a:r>
          </a:p>
        </p:txBody>
      </p:sp>
      <p:sp>
        <p:nvSpPr>
          <p:cNvPr id="26" name="TextBox 25"/>
          <p:cNvSpPr txBox="1"/>
          <p:nvPr/>
        </p:nvSpPr>
        <p:spPr>
          <a:xfrm>
            <a:off x="9058275" y="5086350"/>
            <a:ext cx="1081088" cy="571500"/>
          </a:xfrm>
          <a:prstGeom prst="rect">
            <a:avLst/>
          </a:prstGeom>
          <a:noFill/>
        </p:spPr>
        <p:txBody>
          <a:bodyPr wrap="square" anchor="t" lIns="0" rIns="0" tIns="0" bIns="0">
            <a:spAutoFit/>
          </a:bodyPr>
          <a:lstStyle/>
          <a:p>
            <a:pPr algn="l">
              <a:lnSpc>
                <a:spcPct val="140000"/>
              </a:lnSpc>
            </a:pPr>
            <a:r>
              <a:rPr sz="900" b="0">
                <a:solidFill>
                  <a:srgbClr val="4D4D4D"/>
                </a:solidFill>
                <a:latin typeface="Pretendard"/>
                <a:ea typeface="Pretendard"/>
                <a:cs typeface="Pretendard"/>
              </a:rPr>
              <a:t>int8 PTQ (QDQ)</a:t>
            </a:r>
            <a:br/>
            <a:r>
              <a:rPr sz="900" b="0">
                <a:solidFill>
                  <a:srgbClr val="4D4D4D"/>
                </a:solidFill>
                <a:latin typeface="Pretendard"/>
                <a:ea typeface="Pretendard"/>
                <a:cs typeface="Pretendard"/>
              </a:rPr>
              <a:t>stem 등화 + 클리핑</a:t>
            </a:r>
          </a:p>
        </p:txBody>
      </p:sp>
      <p:sp>
        <p:nvSpPr>
          <p:cNvPr id="27" name="Rectangle 26"/>
          <p:cNvSpPr/>
          <p:nvPr/>
        </p:nvSpPr>
        <p:spPr>
          <a:xfrm>
            <a:off x="10348912" y="4419600"/>
            <a:ext cx="1309688" cy="1943100"/>
          </a:xfrm>
          <a:prstGeom prst="rect">
            <a:avLst/>
          </a:prstGeom>
          <a:solidFill>
            <a:srgbClr val="F6F3F2"/>
          </a:solidFill>
          <a:ln>
            <a:noFill/>
          </a:ln>
          <a:effectLst/>
        </p:spPr>
        <p:txBody>
          <a:bodyPr rtlCol="0" anchor="ctr"/>
          <a:lstStyle/>
          <a:p/>
        </p:txBody>
      </p:sp>
      <p:sp>
        <p:nvSpPr>
          <p:cNvPr id="28" name="TextBox 27"/>
          <p:cNvSpPr txBox="1"/>
          <p:nvPr/>
        </p:nvSpPr>
        <p:spPr>
          <a:xfrm>
            <a:off x="10463212" y="4533900"/>
            <a:ext cx="1081088" cy="285750"/>
          </a:xfrm>
          <a:prstGeom prst="rect">
            <a:avLst/>
          </a:prstGeom>
          <a:noFill/>
        </p:spPr>
        <p:txBody>
          <a:bodyPr wrap="square" anchor="t" lIns="0" rIns="0" tIns="0" bIns="0">
            <a:spAutoFit/>
          </a:bodyPr>
          <a:lstStyle/>
          <a:p>
            <a:pPr algn="l">
              <a:lnSpc>
                <a:spcPct val="100000"/>
              </a:lnSpc>
            </a:pPr>
            <a:r>
              <a:rPr sz="2000" b="0">
                <a:solidFill>
                  <a:srgbClr val="00AAD2"/>
                </a:solidFill>
                <a:latin typeface="Pretendard ExtraBold"/>
                <a:ea typeface="Pretendard ExtraBold"/>
                <a:cs typeface="Pretendard ExtraBold"/>
              </a:rPr>
              <a:t>04</a:t>
            </a:r>
          </a:p>
        </p:txBody>
      </p:sp>
      <p:sp>
        <p:nvSpPr>
          <p:cNvPr id="29" name="TextBox 28"/>
          <p:cNvSpPr txBox="1"/>
          <p:nvPr/>
        </p:nvSpPr>
        <p:spPr>
          <a:xfrm>
            <a:off x="10463212" y="4857750"/>
            <a:ext cx="1081088" cy="209550"/>
          </a:xfrm>
          <a:prstGeom prst="rect">
            <a:avLst/>
          </a:prstGeom>
          <a:noFill/>
        </p:spPr>
        <p:txBody>
          <a:bodyPr wrap="square" anchor="t" lIns="0" rIns="0" tIns="0" bIns="0">
            <a:spAutoFit/>
          </a:bodyPr>
          <a:lstStyle/>
          <a:p>
            <a:pPr algn="l">
              <a:lnSpc>
                <a:spcPct val="140000"/>
              </a:lnSpc>
            </a:pPr>
            <a:r>
              <a:rPr sz="1100" b="1">
                <a:solidFill>
                  <a:srgbClr val="1C1B1B"/>
                </a:solidFill>
                <a:latin typeface="Pretendard"/>
                <a:ea typeface="Pretendard"/>
                <a:cs typeface="Pretendard"/>
              </a:rPr>
              <a:t>보드</a:t>
            </a:r>
          </a:p>
        </p:txBody>
      </p:sp>
      <p:sp>
        <p:nvSpPr>
          <p:cNvPr id="30" name="TextBox 29"/>
          <p:cNvSpPr txBox="1"/>
          <p:nvPr/>
        </p:nvSpPr>
        <p:spPr>
          <a:xfrm>
            <a:off x="10463212" y="5086350"/>
            <a:ext cx="1081088" cy="571500"/>
          </a:xfrm>
          <a:prstGeom prst="rect">
            <a:avLst/>
          </a:prstGeom>
          <a:noFill/>
        </p:spPr>
        <p:txBody>
          <a:bodyPr wrap="square" anchor="t" lIns="0" rIns="0" tIns="0" bIns="0">
            <a:spAutoFit/>
          </a:bodyPr>
          <a:lstStyle/>
          <a:p>
            <a:pPr algn="l">
              <a:lnSpc>
                <a:spcPct val="140000"/>
              </a:lnSpc>
            </a:pPr>
            <a:r>
              <a:rPr sz="900" b="0">
                <a:solidFill>
                  <a:srgbClr val="4D4D4D"/>
                </a:solidFill>
                <a:latin typeface="Pretendard"/>
                <a:ea typeface="Pretendard"/>
                <a:cs typeface="Pretendard"/>
              </a:rPr>
              <a:t>u8→i8 변환</a:t>
            </a:r>
            <a:br/>
            <a:r>
              <a:rPr sz="900" b="0">
                <a:solidFill>
                  <a:srgbClr val="4D4D4D"/>
                </a:solidFill>
                <a:latin typeface="Pretendard"/>
                <a:ea typeface="Pretendard"/>
                <a:cs typeface="Pretendard"/>
              </a:rPr>
              <a:t>Neural-ART @ 1 GHz</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3400" y="323850"/>
            <a:ext cx="5715000" cy="162878"/>
          </a:xfrm>
          <a:prstGeom prst="rect">
            <a:avLst/>
          </a:prstGeom>
          <a:noFill/>
        </p:spPr>
        <p:txBody>
          <a:bodyPr wrap="square" anchor="t" lIns="0" rIns="0" tIns="0" bIns="0">
            <a:spAutoFit/>
          </a:bodyPr>
          <a:lstStyle/>
          <a:p>
            <a:pPr algn="l">
              <a:lnSpc>
                <a:spcPct val="100000"/>
              </a:lnSpc>
            </a:pPr>
            <a:r>
              <a:rPr sz="950" b="1" spc="80">
                <a:solidFill>
                  <a:srgbClr val="00AAD2"/>
                </a:solidFill>
                <a:latin typeface="Pretendard"/>
                <a:ea typeface="Pretendard"/>
                <a:cs typeface="Pretendard"/>
              </a:rPr>
              <a:t>1차 방어</a:t>
            </a:r>
          </a:p>
        </p:txBody>
      </p:sp>
      <p:sp>
        <p:nvSpPr>
          <p:cNvPr id="3" name="TextBox 2"/>
          <p:cNvSpPr txBox="1"/>
          <p:nvPr/>
        </p:nvSpPr>
        <p:spPr>
          <a:xfrm>
            <a:off x="9753600" y="314325"/>
            <a:ext cx="1905000" cy="152400"/>
          </a:xfrm>
          <a:prstGeom prst="rect">
            <a:avLst/>
          </a:prstGeom>
          <a:noFill/>
        </p:spPr>
        <p:txBody>
          <a:bodyPr wrap="square" anchor="t" lIns="0" rIns="0" tIns="0" bIns="0">
            <a:spAutoFit/>
          </a:bodyPr>
          <a:lstStyle/>
          <a:p>
            <a:pPr algn="r">
              <a:lnSpc>
                <a:spcPct val="140000"/>
              </a:lnSpc>
            </a:pPr>
            <a:r>
              <a:rPr sz="900" b="0">
                <a:solidFill>
                  <a:srgbClr val="A6A6A6"/>
                </a:solidFill>
                <a:latin typeface="Pretendard"/>
                <a:ea typeface="Pretendard"/>
                <a:cs typeface="Pretendard"/>
              </a:rPr>
              <a:t>09 / 20</a:t>
            </a:r>
          </a:p>
        </p:txBody>
      </p:sp>
      <p:sp>
        <p:nvSpPr>
          <p:cNvPr id="4" name="TextBox 3"/>
          <p:cNvSpPr txBox="1"/>
          <p:nvPr/>
        </p:nvSpPr>
        <p:spPr>
          <a:xfrm>
            <a:off x="533400" y="495300"/>
            <a:ext cx="11125200" cy="381000"/>
          </a:xfrm>
          <a:prstGeom prst="rect">
            <a:avLst/>
          </a:prstGeom>
          <a:noFill/>
        </p:spPr>
        <p:txBody>
          <a:bodyPr wrap="square" anchor="t" lIns="0" rIns="0" tIns="0" bIns="0">
            <a:spAutoFit/>
          </a:bodyPr>
          <a:lstStyle/>
          <a:p>
            <a:pPr algn="l">
              <a:lnSpc>
                <a:spcPct val="100000"/>
              </a:lnSpc>
            </a:pPr>
            <a:r>
              <a:rPr sz="2400" b="0">
                <a:solidFill>
                  <a:srgbClr val="1C1B1B"/>
                </a:solidFill>
                <a:latin typeface="Pretendard ExtraBold"/>
                <a:ea typeface="Pretendard ExtraBold"/>
                <a:cs typeface="Pretendard ExtraBold"/>
              </a:rPr>
              <a:t>성능 — 실제 도로 사진 69,358장을 보드에 직접 넣었다</a:t>
            </a:r>
          </a:p>
        </p:txBody>
      </p:sp>
      <p:sp>
        <p:nvSpPr>
          <p:cNvPr id="5" name="TextBox 4"/>
          <p:cNvSpPr txBox="1"/>
          <p:nvPr/>
        </p:nvSpPr>
        <p:spPr>
          <a:xfrm>
            <a:off x="533400" y="895350"/>
            <a:ext cx="11125200" cy="209550"/>
          </a:xfrm>
          <a:prstGeom prst="rect">
            <a:avLst/>
          </a:prstGeom>
          <a:noFill/>
        </p:spPr>
        <p:txBody>
          <a:bodyPr wrap="square" anchor="t" lIns="0" rIns="0" tIns="0" bIns="0">
            <a:spAutoFit/>
          </a:bodyPr>
          <a:lstStyle/>
          <a:p>
            <a:pPr algn="l">
              <a:lnSpc>
                <a:spcPct val="120000"/>
              </a:lnSpc>
            </a:pPr>
            <a:r>
              <a:rPr sz="1150" b="0">
                <a:solidFill>
                  <a:srgbClr val="4D4D4D"/>
                </a:solidFill>
                <a:latin typeface="Pretendard"/>
                <a:ea typeface="Pretendard"/>
                <a:cs typeface="Pretendard"/>
              </a:rPr>
              <a:t>시뮬레이션 화면이 아니다. RSCD 실사진을 STM32N6 에 그대로 넣고 추론·융합을 전부 보드에서 돌려 받은 판정이다.</a:t>
            </a:r>
          </a:p>
        </p:txBody>
      </p:sp>
      <p:sp>
        <p:nvSpPr>
          <p:cNvPr id="6" name="TextBox 5"/>
          <p:cNvSpPr txBox="1"/>
          <p:nvPr/>
        </p:nvSpPr>
        <p:spPr>
          <a:xfrm>
            <a:off x="533400" y="6286500"/>
            <a:ext cx="11125200" cy="304800"/>
          </a:xfrm>
          <a:prstGeom prst="rect">
            <a:avLst/>
          </a:prstGeom>
          <a:noFill/>
        </p:spPr>
        <p:txBody>
          <a:bodyPr wrap="square" anchor="t" lIns="0" rIns="0" tIns="0" bIns="0">
            <a:spAutoFit/>
          </a:bodyPr>
          <a:lstStyle/>
          <a:p>
            <a:pPr algn="l">
              <a:lnSpc>
                <a:spcPct val="130000"/>
              </a:lnSpc>
            </a:pPr>
            <a:r>
              <a:rPr sz="850" b="0">
                <a:solidFill>
                  <a:srgbClr val="767676"/>
                </a:solidFill>
                <a:latin typeface="Pretendard"/>
                <a:ea typeface="Pretendard"/>
                <a:cs typeface="Pretendard"/>
              </a:rPr>
              <a:t>경보율은 보드의 alarm 플래그가 아니라 risk ≥ 문턱으로 계산했다. 보드 융합기의 히스테리시스(켜짐 0.441 / 꺼짐 0.341)는 연속 영상의 깜빡임을 막지만, 서로 무관한 낱장 사진을 이어 넣으면 앞 사진 상태가 넘어와 경보율이 부풀려지기 때문이다.</a:t>
            </a:r>
          </a:p>
        </p:txBody>
      </p:sp>
      <p:sp>
        <p:nvSpPr>
          <p:cNvPr id="7" name="TextBox 6"/>
          <p:cNvSpPr txBox="1"/>
          <p:nvPr/>
        </p:nvSpPr>
        <p:spPr>
          <a:xfrm>
            <a:off x="533400" y="6648450"/>
            <a:ext cx="7620000" cy="133350"/>
          </a:xfrm>
          <a:prstGeom prst="rect">
            <a:avLst/>
          </a:prstGeom>
          <a:noFill/>
        </p:spPr>
        <p:txBody>
          <a:bodyPr wrap="square" anchor="t" lIns="0" rIns="0" tIns="0" bIns="0">
            <a:spAutoFit/>
          </a:bodyPr>
          <a:lstStyle/>
          <a:p>
            <a:pPr algn="l">
              <a:lnSpc>
                <a:spcPct val="140000"/>
              </a:lnSpc>
            </a:pPr>
            <a:r>
              <a:rPr sz="800" b="0">
                <a:solidFill>
                  <a:srgbClr val="A6A6A6"/>
                </a:solidFill>
                <a:latin typeface="Pretendard"/>
                <a:ea typeface="Pretendard"/>
                <a:cs typeface="Pretendard"/>
              </a:rPr>
              <a:t>팀 ARTS · 제24회 임베디드SW경진대회 자동차/모빌리티(현대자동차) · github.com/gkgk0119gmail-arch/2026ESWContest_mobility_ARTS</a:t>
            </a:r>
          </a:p>
        </p:txBody>
      </p:sp>
      <p:sp>
        <p:nvSpPr>
          <p:cNvPr id="8" name="TextBox 7"/>
          <p:cNvSpPr txBox="1"/>
          <p:nvPr/>
        </p:nvSpPr>
        <p:spPr>
          <a:xfrm>
            <a:off x="10134600" y="6638925"/>
            <a:ext cx="1524000" cy="133350"/>
          </a:xfrm>
          <a:prstGeom prst="rect">
            <a:avLst/>
          </a:prstGeom>
          <a:noFill/>
        </p:spPr>
        <p:txBody>
          <a:bodyPr wrap="square" anchor="t" lIns="0" rIns="0" tIns="0" bIns="0">
            <a:spAutoFit/>
          </a:bodyPr>
          <a:lstStyle/>
          <a:p>
            <a:pPr algn="r">
              <a:lnSpc>
                <a:spcPct val="140000"/>
              </a:lnSpc>
            </a:pPr>
            <a:r>
              <a:rPr sz="900" b="1">
                <a:solidFill>
                  <a:srgbClr val="002C5F"/>
                </a:solidFill>
                <a:latin typeface="Pretendard"/>
                <a:ea typeface="Pretendard"/>
                <a:cs typeface="Pretendard"/>
              </a:rPr>
              <a:t>IcePredict</a:t>
            </a:r>
          </a:p>
        </p:txBody>
      </p:sp>
      <p:graphicFrame>
        <p:nvGraphicFramePr>
          <p:cNvPr id="9" name="Table 8"/>
          <p:cNvGraphicFramePr>
            <a:graphicFrameLocks noGrp="1"/>
          </p:cNvGraphicFramePr>
          <p:nvPr/>
        </p:nvGraphicFramePr>
        <p:xfrm>
          <a:off x="533400" y="1219200"/>
          <a:ext cx="5334000" cy="1295400"/>
        </p:xfrm>
        <a:graphic>
          <a:graphicData uri="http://schemas.openxmlformats.org/drawingml/2006/table">
            <a:tbl>
              <a:tblPr>
                <a:tableStyleId>{2D5ABB26-0587-4C30-8999-92F81FD0307C}</a:tableStyleId>
              </a:tblPr>
              <a:tblGrid>
                <a:gridCol w="1493520"/>
                <a:gridCol w="1066800"/>
                <a:gridCol w="1066800"/>
                <a:gridCol w="1706880"/>
              </a:tblGrid>
              <a:tr h="228600">
                <a:tc>
                  <a:txBody>
                    <a:bodyPr wrap="square"/>
                    <a:lstStyle/>
                    <a:p>
                      <a:pPr>
                        <a:lnSpc>
                          <a:spcPct val="122000"/>
                        </a:lnSpc>
                      </a:pPr>
                      <a:r>
                        <a:rPr sz="950" b="1">
                          <a:solidFill>
                            <a:srgbClr val="002C5F"/>
                          </a:solidFill>
                          <a:latin typeface="Pretendard"/>
                          <a:ea typeface="Pretendard"/>
                          <a:cs typeface="Pretendard"/>
                        </a:rPr>
                        <a:t>실제 노면</a:t>
                      </a:r>
                      <a:endParaRPr sz="95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c>
                  <a:txBody>
                    <a:bodyPr wrap="square"/>
                    <a:lstStyle/>
                    <a:p>
                      <a:pPr>
                        <a:lnSpc>
                          <a:spcPct val="122000"/>
                        </a:lnSpc>
                      </a:pPr>
                      <a:r>
                        <a:rPr sz="950" b="1">
                          <a:solidFill>
                            <a:srgbClr val="002C5F"/>
                          </a:solidFill>
                          <a:latin typeface="Pretendard"/>
                          <a:ea typeface="Pretendard"/>
                          <a:cs typeface="Pretendard"/>
                        </a:rPr>
                        <a:t>장수</a:t>
                      </a:r>
                      <a:endParaRPr sz="95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c>
                  <a:txBody>
                    <a:bodyPr wrap="square"/>
                    <a:lstStyle/>
                    <a:p>
                      <a:pPr>
                        <a:lnSpc>
                          <a:spcPct val="122000"/>
                        </a:lnSpc>
                      </a:pPr>
                      <a:r>
                        <a:rPr sz="950" b="1">
                          <a:solidFill>
                            <a:srgbClr val="002C5F"/>
                          </a:solidFill>
                          <a:latin typeface="Pretendard"/>
                          <a:ea typeface="Pretendard"/>
                          <a:cs typeface="Pretendard"/>
                        </a:rPr>
                        <a:t>정답률</a:t>
                      </a:r>
                      <a:endParaRPr sz="95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c>
                  <a:txBody>
                    <a:bodyPr wrap="square"/>
                    <a:lstStyle/>
                    <a:p>
                      <a:pPr>
                        <a:lnSpc>
                          <a:spcPct val="122000"/>
                        </a:lnSpc>
                      </a:pPr>
                      <a:r>
                        <a:rPr sz="950" b="1">
                          <a:solidFill>
                            <a:srgbClr val="002C5F"/>
                          </a:solidFill>
                          <a:latin typeface="Pretendard"/>
                          <a:ea typeface="Pretendard"/>
                          <a:cs typeface="Pretendard"/>
                        </a:rPr>
                        <a:t>경보율 (문턱 0.603)</a:t>
                      </a:r>
                      <a:endParaRPr sz="95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r>
              <a:tr h="266700">
                <a:tc>
                  <a:txBody>
                    <a:bodyPr wrap="square"/>
                    <a:lstStyle/>
                    <a:p>
                      <a:pPr>
                        <a:lnSpc>
                          <a:spcPct val="122000"/>
                        </a:lnSpc>
                      </a:pPr>
                      <a:r>
                        <a:rPr sz="1000" b="1">
                          <a:solidFill>
                            <a:srgbClr val="002C5F"/>
                          </a:solidFill>
                          <a:latin typeface="Pretendard"/>
                          <a:ea typeface="Pretendard"/>
                          <a:cs typeface="Pretendard"/>
                        </a:rPr>
                        <a:t>블랙아이스</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0">
                          <a:solidFill>
                            <a:srgbClr val="1C1B1B"/>
                          </a:solidFill>
                          <a:latin typeface="Pretendard"/>
                          <a:ea typeface="Pretendard"/>
                          <a:cs typeface="Pretendard"/>
                        </a:rPr>
                        <a:t>6,340</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1">
                          <a:solidFill>
                            <a:srgbClr val="1C1B1B"/>
                          </a:solidFill>
                          <a:latin typeface="Pretendard"/>
                          <a:ea typeface="Pretendard"/>
                          <a:cs typeface="Pretendard"/>
                        </a:rPr>
                        <a:t>96.1 %</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1">
                          <a:solidFill>
                            <a:srgbClr val="E63312"/>
                          </a:solidFill>
                          <a:latin typeface="Pretendard"/>
                          <a:ea typeface="Pretendard"/>
                          <a:cs typeface="Pretendard"/>
                        </a:rPr>
                        <a:t>96.6 %</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66700">
                <a:tc>
                  <a:txBody>
                    <a:bodyPr wrap="square"/>
                    <a:lstStyle/>
                    <a:p>
                      <a:pPr>
                        <a:lnSpc>
                          <a:spcPct val="122000"/>
                        </a:lnSpc>
                      </a:pPr>
                      <a:r>
                        <a:rPr sz="1000" b="1">
                          <a:solidFill>
                            <a:srgbClr val="002C5F"/>
                          </a:solidFill>
                          <a:latin typeface="Pretendard"/>
                          <a:ea typeface="Pretendard"/>
                          <a:cs typeface="Pretendard"/>
                        </a:rPr>
                        <a:t>마른 노면</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0">
                          <a:solidFill>
                            <a:srgbClr val="1C1B1B"/>
                          </a:solidFill>
                          <a:latin typeface="Pretendard"/>
                          <a:ea typeface="Pretendard"/>
                          <a:cs typeface="Pretendard"/>
                        </a:rPr>
                        <a:t>19,018</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0">
                          <a:solidFill>
                            <a:srgbClr val="1C1B1B"/>
                          </a:solidFill>
                          <a:latin typeface="Pretendard"/>
                          <a:ea typeface="Pretendard"/>
                          <a:cs typeface="Pretendard"/>
                        </a:rPr>
                        <a:t>80.7 %</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1">
                          <a:solidFill>
                            <a:srgbClr val="1E8A4C"/>
                          </a:solidFill>
                          <a:latin typeface="Pretendard"/>
                          <a:ea typeface="Pretendard"/>
                          <a:cs typeface="Pretendard"/>
                        </a:rPr>
                        <a:t>0.3 %</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66700">
                <a:tc>
                  <a:txBody>
                    <a:bodyPr wrap="square"/>
                    <a:lstStyle/>
                    <a:p>
                      <a:pPr>
                        <a:lnSpc>
                          <a:spcPct val="122000"/>
                        </a:lnSpc>
                      </a:pPr>
                      <a:r>
                        <a:rPr sz="1000" b="1">
                          <a:solidFill>
                            <a:srgbClr val="002C5F"/>
                          </a:solidFill>
                          <a:latin typeface="Pretendard"/>
                          <a:ea typeface="Pretendard"/>
                          <a:cs typeface="Pretendard"/>
                        </a:rPr>
                        <a:t>젖은 노면</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0">
                          <a:solidFill>
                            <a:srgbClr val="1C1B1B"/>
                          </a:solidFill>
                          <a:latin typeface="Pretendard"/>
                          <a:ea typeface="Pretendard"/>
                          <a:cs typeface="Pretendard"/>
                        </a:rPr>
                        <a:t>34,440</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0">
                          <a:solidFill>
                            <a:srgbClr val="1C1B1B"/>
                          </a:solidFill>
                          <a:latin typeface="Pretendard"/>
                          <a:ea typeface="Pretendard"/>
                          <a:cs typeface="Pretendard"/>
                        </a:rPr>
                        <a:t>84.6 %</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1">
                          <a:solidFill>
                            <a:srgbClr val="1E8A4C"/>
                          </a:solidFill>
                          <a:latin typeface="Pretendard"/>
                          <a:ea typeface="Pretendard"/>
                          <a:cs typeface="Pretendard"/>
                        </a:rPr>
                        <a:t>0.8 %</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66700">
                <a:tc>
                  <a:txBody>
                    <a:bodyPr wrap="square"/>
                    <a:lstStyle/>
                    <a:p>
                      <a:pPr>
                        <a:lnSpc>
                          <a:spcPct val="122000"/>
                        </a:lnSpc>
                      </a:pPr>
                      <a:r>
                        <a:rPr sz="1000" b="1">
                          <a:solidFill>
                            <a:srgbClr val="002C5F"/>
                          </a:solidFill>
                          <a:latin typeface="Pretendard"/>
                          <a:ea typeface="Pretendard"/>
                          <a:cs typeface="Pretendard"/>
                        </a:rPr>
                        <a:t>포트홀</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0">
                          <a:solidFill>
                            <a:srgbClr val="1C1B1B"/>
                          </a:solidFill>
                          <a:latin typeface="Pretendard"/>
                          <a:ea typeface="Pretendard"/>
                          <a:cs typeface="Pretendard"/>
                        </a:rPr>
                        <a:t>9,560</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0">
                          <a:solidFill>
                            <a:srgbClr val="1C1B1B"/>
                          </a:solidFill>
                          <a:latin typeface="Pretendard"/>
                          <a:ea typeface="Pretendard"/>
                          <a:cs typeface="Pretendard"/>
                        </a:rPr>
                        <a:t>90.2 %</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1">
                          <a:solidFill>
                            <a:srgbClr val="1E8A4C"/>
                          </a:solidFill>
                          <a:latin typeface="Pretendard"/>
                          <a:ea typeface="Pretendard"/>
                          <a:cs typeface="Pretendard"/>
                        </a:rPr>
                        <a:t>0.3 %</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bl>
          </a:graphicData>
        </a:graphic>
      </p:graphicFrame>
      <p:sp>
        <p:nvSpPr>
          <p:cNvPr id="10" name="TextBox 9"/>
          <p:cNvSpPr txBox="1"/>
          <p:nvPr/>
        </p:nvSpPr>
        <p:spPr>
          <a:xfrm>
            <a:off x="533400" y="2686050"/>
            <a:ext cx="1714500" cy="360045"/>
          </a:xfrm>
          <a:prstGeom prst="rect">
            <a:avLst/>
          </a:prstGeom>
          <a:noFill/>
        </p:spPr>
        <p:txBody>
          <a:bodyPr wrap="square" anchor="t" lIns="0" rIns="0" tIns="0" bIns="0">
            <a:spAutoFit/>
          </a:bodyPr>
          <a:lstStyle/>
          <a:p>
            <a:pPr algn="l">
              <a:lnSpc>
                <a:spcPct val="100000"/>
              </a:lnSpc>
            </a:pPr>
            <a:r>
              <a:rPr sz="2800" b="0">
                <a:solidFill>
                  <a:srgbClr val="E63312"/>
                </a:solidFill>
                <a:latin typeface="Pretendard ExtraBold"/>
                <a:ea typeface="Pretendard ExtraBold"/>
                <a:cs typeface="Pretendard ExtraBold"/>
              </a:rPr>
              <a:t>96.6 %</a:t>
            </a:r>
          </a:p>
        </p:txBody>
      </p:sp>
      <p:sp>
        <p:nvSpPr>
          <p:cNvPr id="11" name="TextBox 10"/>
          <p:cNvSpPr txBox="1"/>
          <p:nvPr/>
        </p:nvSpPr>
        <p:spPr>
          <a:xfrm>
            <a:off x="533400" y="3065145"/>
            <a:ext cx="1714500" cy="382905"/>
          </a:xfrm>
          <a:prstGeom prst="rect">
            <a:avLst/>
          </a:prstGeom>
          <a:noFill/>
        </p:spPr>
        <p:txBody>
          <a:bodyPr wrap="square" anchor="t" lIns="0" rIns="0" tIns="0" bIns="0">
            <a:spAutoFit/>
          </a:bodyPr>
          <a:lstStyle/>
          <a:p>
            <a:pPr algn="l">
              <a:lnSpc>
                <a:spcPct val="130000"/>
              </a:lnSpc>
            </a:pPr>
            <a:r>
              <a:rPr sz="950" b="0">
                <a:solidFill>
                  <a:srgbClr val="767676"/>
                </a:solidFill>
                <a:latin typeface="Pretendard"/>
                <a:ea typeface="Pretendard"/>
                <a:cs typeface="Pretendard"/>
              </a:rPr>
              <a:t>블랙아이스 6,340장</a:t>
            </a:r>
            <a:br/>
            <a:r>
              <a:rPr sz="950" b="0">
                <a:solidFill>
                  <a:srgbClr val="767676"/>
                </a:solidFill>
                <a:latin typeface="Pretendard"/>
                <a:ea typeface="Pretendard"/>
                <a:cs typeface="Pretendard"/>
              </a:rPr>
              <a:t>경보율</a:t>
            </a:r>
          </a:p>
        </p:txBody>
      </p:sp>
      <p:sp>
        <p:nvSpPr>
          <p:cNvPr id="12" name="TextBox 11"/>
          <p:cNvSpPr txBox="1"/>
          <p:nvPr/>
        </p:nvSpPr>
        <p:spPr>
          <a:xfrm>
            <a:off x="2343150" y="2686050"/>
            <a:ext cx="1714500" cy="360045"/>
          </a:xfrm>
          <a:prstGeom prst="rect">
            <a:avLst/>
          </a:prstGeom>
          <a:noFill/>
        </p:spPr>
        <p:txBody>
          <a:bodyPr wrap="square" anchor="t" lIns="0" rIns="0" tIns="0" bIns="0">
            <a:spAutoFit/>
          </a:bodyPr>
          <a:lstStyle/>
          <a:p>
            <a:pPr algn="l">
              <a:lnSpc>
                <a:spcPct val="100000"/>
              </a:lnSpc>
            </a:pPr>
            <a:r>
              <a:rPr sz="2800" b="0">
                <a:solidFill>
                  <a:srgbClr val="002C5F"/>
                </a:solidFill>
                <a:latin typeface="Pretendard ExtraBold"/>
                <a:ea typeface="Pretendard ExtraBold"/>
                <a:cs typeface="Pretendard ExtraBold"/>
              </a:rPr>
              <a:t>0.3 %</a:t>
            </a:r>
          </a:p>
        </p:txBody>
      </p:sp>
      <p:sp>
        <p:nvSpPr>
          <p:cNvPr id="13" name="TextBox 12"/>
          <p:cNvSpPr txBox="1"/>
          <p:nvPr/>
        </p:nvSpPr>
        <p:spPr>
          <a:xfrm>
            <a:off x="2343150" y="3065145"/>
            <a:ext cx="1714500" cy="382905"/>
          </a:xfrm>
          <a:prstGeom prst="rect">
            <a:avLst/>
          </a:prstGeom>
          <a:noFill/>
        </p:spPr>
        <p:txBody>
          <a:bodyPr wrap="square" anchor="t" lIns="0" rIns="0" tIns="0" bIns="0">
            <a:spAutoFit/>
          </a:bodyPr>
          <a:lstStyle/>
          <a:p>
            <a:pPr algn="l">
              <a:lnSpc>
                <a:spcPct val="130000"/>
              </a:lnSpc>
            </a:pPr>
            <a:r>
              <a:rPr sz="950" b="0">
                <a:solidFill>
                  <a:srgbClr val="767676"/>
                </a:solidFill>
                <a:latin typeface="Pretendard"/>
                <a:ea typeface="Pretendard"/>
                <a:cs typeface="Pretendard"/>
              </a:rPr>
              <a:t>마른 노면 19,018장</a:t>
            </a:r>
            <a:br/>
            <a:r>
              <a:rPr sz="950" b="0">
                <a:solidFill>
                  <a:srgbClr val="767676"/>
                </a:solidFill>
                <a:latin typeface="Pretendard"/>
                <a:ea typeface="Pretendard"/>
                <a:cs typeface="Pretendard"/>
              </a:rPr>
              <a:t>오경보율</a:t>
            </a:r>
          </a:p>
        </p:txBody>
      </p:sp>
      <p:sp>
        <p:nvSpPr>
          <p:cNvPr id="14" name="TextBox 13"/>
          <p:cNvSpPr txBox="1"/>
          <p:nvPr/>
        </p:nvSpPr>
        <p:spPr>
          <a:xfrm>
            <a:off x="4152900" y="2686050"/>
            <a:ext cx="1714500" cy="360045"/>
          </a:xfrm>
          <a:prstGeom prst="rect">
            <a:avLst/>
          </a:prstGeom>
          <a:noFill/>
        </p:spPr>
        <p:txBody>
          <a:bodyPr wrap="square" anchor="t" lIns="0" rIns="0" tIns="0" bIns="0">
            <a:spAutoFit/>
          </a:bodyPr>
          <a:lstStyle/>
          <a:p>
            <a:pPr algn="l">
              <a:lnSpc>
                <a:spcPct val="100000"/>
              </a:lnSpc>
            </a:pPr>
            <a:r>
              <a:rPr sz="2800" b="0">
                <a:solidFill>
                  <a:srgbClr val="002C5F"/>
                </a:solidFill>
                <a:latin typeface="Pretendard ExtraBold"/>
                <a:ea typeface="Pretendard ExtraBold"/>
                <a:cs typeface="Pretendard ExtraBold"/>
              </a:rPr>
              <a:t>0.8 %</a:t>
            </a:r>
          </a:p>
        </p:txBody>
      </p:sp>
      <p:sp>
        <p:nvSpPr>
          <p:cNvPr id="15" name="TextBox 14"/>
          <p:cNvSpPr txBox="1"/>
          <p:nvPr/>
        </p:nvSpPr>
        <p:spPr>
          <a:xfrm>
            <a:off x="4152900" y="3065145"/>
            <a:ext cx="1714500" cy="382905"/>
          </a:xfrm>
          <a:prstGeom prst="rect">
            <a:avLst/>
          </a:prstGeom>
          <a:noFill/>
        </p:spPr>
        <p:txBody>
          <a:bodyPr wrap="square" anchor="t" lIns="0" rIns="0" tIns="0" bIns="0">
            <a:spAutoFit/>
          </a:bodyPr>
          <a:lstStyle/>
          <a:p>
            <a:pPr algn="l">
              <a:lnSpc>
                <a:spcPct val="130000"/>
              </a:lnSpc>
            </a:pPr>
            <a:r>
              <a:rPr sz="950" b="0">
                <a:solidFill>
                  <a:srgbClr val="767676"/>
                </a:solidFill>
                <a:latin typeface="Pretendard"/>
                <a:ea typeface="Pretendard"/>
                <a:cs typeface="Pretendard"/>
              </a:rPr>
              <a:t>젖은 노면 34,440장</a:t>
            </a:r>
            <a:br/>
            <a:r>
              <a:rPr sz="950" b="0">
                <a:solidFill>
                  <a:srgbClr val="767676"/>
                </a:solidFill>
                <a:latin typeface="Pretendard"/>
                <a:ea typeface="Pretendard"/>
                <a:cs typeface="Pretendard"/>
              </a:rPr>
              <a:t>오경보율</a:t>
            </a:r>
          </a:p>
        </p:txBody>
      </p:sp>
      <p:pic>
        <p:nvPicPr>
          <p:cNvPr id="16" name="Picture 15" descr="real_confusion.jpg"/>
          <p:cNvPicPr>
            <a:picLocks noChangeAspect="1"/>
          </p:cNvPicPr>
          <p:nvPr/>
        </p:nvPicPr>
        <p:blipFill>
          <a:blip r:embed="rId2"/>
          <a:stretch>
            <a:fillRect/>
          </a:stretch>
        </p:blipFill>
        <p:spPr>
          <a:xfrm>
            <a:off x="1775130" y="3600450"/>
            <a:ext cx="2850539" cy="2390775"/>
          </a:xfrm>
          <a:prstGeom prst="rect">
            <a:avLst/>
          </a:prstGeom>
        </p:spPr>
      </p:pic>
      <p:sp>
        <p:nvSpPr>
          <p:cNvPr id="17" name="TextBox 16"/>
          <p:cNvSpPr txBox="1"/>
          <p:nvPr/>
        </p:nvSpPr>
        <p:spPr>
          <a:xfrm>
            <a:off x="533400" y="6038850"/>
            <a:ext cx="5334000" cy="171450"/>
          </a:xfrm>
          <a:prstGeom prst="rect">
            <a:avLst/>
          </a:prstGeom>
          <a:noFill/>
        </p:spPr>
        <p:txBody>
          <a:bodyPr wrap="square" anchor="t" lIns="0" rIns="0" tIns="0" bIns="0">
            <a:spAutoFit/>
          </a:bodyPr>
          <a:lstStyle/>
          <a:p>
            <a:pPr algn="l">
              <a:lnSpc>
                <a:spcPct val="130000"/>
              </a:lnSpc>
            </a:pPr>
            <a:r>
              <a:rPr sz="900" b="0">
                <a:solidFill>
                  <a:srgbClr val="767676"/>
                </a:solidFill>
                <a:latin typeface="Pretendard"/>
                <a:ea typeface="Pretendard"/>
                <a:cs typeface="Pretendard"/>
              </a:rPr>
              <a:t>혼동 행렬 (행 = 실제, 열 = 보드 판정)</a:t>
            </a:r>
          </a:p>
        </p:txBody>
      </p:sp>
      <p:pic>
        <p:nvPicPr>
          <p:cNvPr id="18" name="Picture 17" descr="real_threshold.jpg"/>
          <p:cNvPicPr>
            <a:picLocks noChangeAspect="1"/>
          </p:cNvPicPr>
          <p:nvPr/>
        </p:nvPicPr>
        <p:blipFill>
          <a:blip r:embed="rId3"/>
          <a:stretch>
            <a:fillRect/>
          </a:stretch>
        </p:blipFill>
        <p:spPr>
          <a:xfrm>
            <a:off x="6505989" y="1219200"/>
            <a:ext cx="4780722" cy="2971800"/>
          </a:xfrm>
          <a:prstGeom prst="rect">
            <a:avLst/>
          </a:prstGeom>
        </p:spPr>
      </p:pic>
      <p:sp>
        <p:nvSpPr>
          <p:cNvPr id="19" name="TextBox 18"/>
          <p:cNvSpPr txBox="1"/>
          <p:nvPr/>
        </p:nvSpPr>
        <p:spPr>
          <a:xfrm>
            <a:off x="6134100" y="4238625"/>
            <a:ext cx="5524500" cy="171450"/>
          </a:xfrm>
          <a:prstGeom prst="rect">
            <a:avLst/>
          </a:prstGeom>
          <a:noFill/>
        </p:spPr>
        <p:txBody>
          <a:bodyPr wrap="square" anchor="t" lIns="0" rIns="0" tIns="0" bIns="0">
            <a:spAutoFit/>
          </a:bodyPr>
          <a:lstStyle/>
          <a:p>
            <a:pPr algn="l">
              <a:lnSpc>
                <a:spcPct val="130000"/>
              </a:lnSpc>
            </a:pPr>
            <a:r>
              <a:rPr sz="900" b="0">
                <a:solidFill>
                  <a:srgbClr val="767676"/>
                </a:solidFill>
                <a:latin typeface="Pretendard"/>
                <a:ea typeface="Pretendard"/>
                <a:cs typeface="Pretendard"/>
              </a:rPr>
              <a:t>운영 문턱 결정 — 69,358장 전량 스윕. 절벽 구간을 찾아 0.603 으로 정했다</a:t>
            </a:r>
          </a:p>
        </p:txBody>
      </p:sp>
      <p:sp>
        <p:nvSpPr>
          <p:cNvPr id="20" name="Rectangle 19"/>
          <p:cNvSpPr/>
          <p:nvPr/>
        </p:nvSpPr>
        <p:spPr>
          <a:xfrm>
            <a:off x="6134100" y="4562475"/>
            <a:ext cx="5524500" cy="1647825"/>
          </a:xfrm>
          <a:prstGeom prst="rect">
            <a:avLst/>
          </a:prstGeom>
          <a:solidFill>
            <a:srgbClr val="F6F3F2"/>
          </a:solidFill>
          <a:ln>
            <a:noFill/>
          </a:ln>
          <a:effectLst/>
        </p:spPr>
        <p:txBody>
          <a:bodyPr rtlCol="0" anchor="ctr"/>
          <a:lstStyle/>
          <a:p/>
        </p:txBody>
      </p:sp>
      <p:sp>
        <p:nvSpPr>
          <p:cNvPr id="21" name="TextBox 20"/>
          <p:cNvSpPr txBox="1"/>
          <p:nvPr/>
        </p:nvSpPr>
        <p:spPr>
          <a:xfrm>
            <a:off x="6286500" y="4714875"/>
            <a:ext cx="5219700" cy="208121"/>
          </a:xfrm>
          <a:prstGeom prst="rect">
            <a:avLst/>
          </a:prstGeom>
          <a:noFill/>
        </p:spPr>
        <p:txBody>
          <a:bodyPr wrap="square" anchor="t" lIns="0" rIns="0" tIns="0" bIns="0">
            <a:spAutoFit/>
          </a:bodyPr>
          <a:lstStyle/>
          <a:p>
            <a:pPr algn="l">
              <a:lnSpc>
                <a:spcPct val="100000"/>
              </a:lnSpc>
            </a:pPr>
            <a:r>
              <a:rPr sz="1150" b="1">
                <a:solidFill>
                  <a:srgbClr val="00AAD2"/>
                </a:solidFill>
                <a:latin typeface="Pretendard"/>
                <a:ea typeface="Pretendard"/>
                <a:cs typeface="Pretendard"/>
              </a:rPr>
              <a:t>이 숫자가 왜 믿을 만한가</a:t>
            </a:r>
          </a:p>
        </p:txBody>
      </p:sp>
      <p:sp>
        <p:nvSpPr>
          <p:cNvPr id="22" name="TextBox 21"/>
          <p:cNvSpPr txBox="1"/>
          <p:nvPr/>
        </p:nvSpPr>
        <p:spPr>
          <a:xfrm>
            <a:off x="6286500" y="4961096"/>
            <a:ext cx="5219700" cy="1096804"/>
          </a:xfrm>
          <a:prstGeom prst="rect">
            <a:avLst/>
          </a:prstGeom>
          <a:noFill/>
        </p:spPr>
        <p:txBody>
          <a:bodyPr wrap="square" anchor="t" lIns="0" rIns="0" tIns="0" bIns="0">
            <a:spAutoFit/>
          </a:bodyPr>
          <a:lstStyle/>
          <a:p>
            <a:pPr algn="l">
              <a:lnSpc>
                <a:spcPct val="145000"/>
              </a:lnSpc>
              <a:spcAft>
                <a:spcPts val="400"/>
              </a:spcAft>
            </a:pPr>
            <a:r>
              <a:rPr sz="950" b="0">
                <a:solidFill>
                  <a:srgbClr val="4D4D4D"/>
                </a:solidFill>
                <a:latin typeface="Pretendard"/>
                <a:ea typeface="Pretendard"/>
                <a:cs typeface="Pretendard"/>
              </a:rPr>
              <a:t>표본이 보드 바깥에서 만들어진 것이 아니다. 실사진을 STM32N6 에 그대로 넣어 추론·융합을 보드에서 돌리고, 돌아온 판정을 그대로 셌다.</a:t>
            </a:r>
          </a:p>
          <a:p>
            <a:pPr algn="l">
              <a:lnSpc>
                <a:spcPct val="145000"/>
              </a:lnSpc>
              <a:spcAft>
                <a:spcPts val="400"/>
              </a:spcAft>
            </a:pPr>
            <a:r>
              <a:rPr sz="950" b="0">
                <a:solidFill>
                  <a:srgbClr val="4D4D4D"/>
                </a:solidFill>
                <a:latin typeface="Pretendard"/>
                <a:ea typeface="Pretendard"/>
                <a:cs typeface="Pretendard"/>
              </a:rPr>
              <a:t>장당 판정을 </a:t>
            </a:r>
            <a:r>
              <a:rPr sz="950" b="0">
                <a:solidFill>
                  <a:srgbClr val="4D4D4D"/>
                </a:solidFill>
                <a:latin typeface="Consolas"/>
                <a:ea typeface="Consolas"/>
                <a:cs typeface="Consolas"/>
              </a:rPr>
              <a:t>logs/rscd_board_samples.jsonl</a:t>
            </a:r>
            <a:r>
              <a:rPr sz="950" b="0">
                <a:solidFill>
                  <a:srgbClr val="4D4D4D"/>
                </a:solidFill>
                <a:latin typeface="Pretendard"/>
                <a:ea typeface="Pretendard"/>
                <a:cs typeface="Pretendard"/>
              </a:rPr>
              <a:t> 에 남겨 두어, 문턱을 바꿔 다시 계산할 때 보드를 다시 돌릴 필요가 없다.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3400" y="323850"/>
            <a:ext cx="5715000" cy="162878"/>
          </a:xfrm>
          <a:prstGeom prst="rect">
            <a:avLst/>
          </a:prstGeom>
          <a:noFill/>
        </p:spPr>
        <p:txBody>
          <a:bodyPr wrap="square" anchor="t" lIns="0" rIns="0" tIns="0" bIns="0">
            <a:spAutoFit/>
          </a:bodyPr>
          <a:lstStyle/>
          <a:p>
            <a:pPr algn="l">
              <a:lnSpc>
                <a:spcPct val="100000"/>
              </a:lnSpc>
            </a:pPr>
            <a:r>
              <a:rPr sz="950" b="1" spc="80">
                <a:solidFill>
                  <a:srgbClr val="00AAD2"/>
                </a:solidFill>
                <a:latin typeface="Pretendard"/>
                <a:ea typeface="Pretendard"/>
                <a:cs typeface="Pretendard"/>
              </a:rPr>
              <a:t>1차 방어</a:t>
            </a:r>
          </a:p>
        </p:txBody>
      </p:sp>
      <p:sp>
        <p:nvSpPr>
          <p:cNvPr id="3" name="TextBox 2"/>
          <p:cNvSpPr txBox="1"/>
          <p:nvPr/>
        </p:nvSpPr>
        <p:spPr>
          <a:xfrm>
            <a:off x="9753600" y="314325"/>
            <a:ext cx="1905000" cy="152400"/>
          </a:xfrm>
          <a:prstGeom prst="rect">
            <a:avLst/>
          </a:prstGeom>
          <a:noFill/>
        </p:spPr>
        <p:txBody>
          <a:bodyPr wrap="square" anchor="t" lIns="0" rIns="0" tIns="0" bIns="0">
            <a:spAutoFit/>
          </a:bodyPr>
          <a:lstStyle/>
          <a:p>
            <a:pPr algn="r">
              <a:lnSpc>
                <a:spcPct val="140000"/>
              </a:lnSpc>
            </a:pPr>
            <a:r>
              <a:rPr sz="900" b="0">
                <a:solidFill>
                  <a:srgbClr val="A6A6A6"/>
                </a:solidFill>
                <a:latin typeface="Pretendard"/>
                <a:ea typeface="Pretendard"/>
                <a:cs typeface="Pretendard"/>
              </a:rPr>
              <a:t>10 / 20</a:t>
            </a:r>
          </a:p>
        </p:txBody>
      </p:sp>
      <p:sp>
        <p:nvSpPr>
          <p:cNvPr id="4" name="TextBox 3"/>
          <p:cNvSpPr txBox="1"/>
          <p:nvPr/>
        </p:nvSpPr>
        <p:spPr>
          <a:xfrm>
            <a:off x="533400" y="495300"/>
            <a:ext cx="11125200" cy="381000"/>
          </a:xfrm>
          <a:prstGeom prst="rect">
            <a:avLst/>
          </a:prstGeom>
          <a:noFill/>
        </p:spPr>
        <p:txBody>
          <a:bodyPr wrap="square" anchor="t" lIns="0" rIns="0" tIns="0" bIns="0">
            <a:spAutoFit/>
          </a:bodyPr>
          <a:lstStyle/>
          <a:p>
            <a:pPr algn="l">
              <a:lnSpc>
                <a:spcPct val="100000"/>
              </a:lnSpc>
            </a:pPr>
            <a:r>
              <a:rPr sz="2400" b="0">
                <a:solidFill>
                  <a:srgbClr val="1C1B1B"/>
                </a:solidFill>
                <a:latin typeface="Pretendard ExtraBold"/>
                <a:ea typeface="Pretendard ExtraBold"/>
                <a:cs typeface="Pretendard ExtraBold"/>
              </a:rPr>
              <a:t>동작 — 카메라가 보고 빙판 앞에서 선다</a:t>
            </a:r>
          </a:p>
        </p:txBody>
      </p:sp>
      <p:sp>
        <p:nvSpPr>
          <p:cNvPr id="5" name="TextBox 4"/>
          <p:cNvSpPr txBox="1"/>
          <p:nvPr/>
        </p:nvSpPr>
        <p:spPr>
          <a:xfrm>
            <a:off x="533400" y="895350"/>
            <a:ext cx="11125200" cy="209550"/>
          </a:xfrm>
          <a:prstGeom prst="rect">
            <a:avLst/>
          </a:prstGeom>
          <a:noFill/>
        </p:spPr>
        <p:txBody>
          <a:bodyPr wrap="square" anchor="t" lIns="0" rIns="0" tIns="0" bIns="0">
            <a:spAutoFit/>
          </a:bodyPr>
          <a:lstStyle/>
          <a:p>
            <a:pPr algn="l">
              <a:lnSpc>
                <a:spcPct val="120000"/>
              </a:lnSpc>
            </a:pPr>
            <a:r>
              <a:rPr sz="1150" b="0">
                <a:solidFill>
                  <a:srgbClr val="4D4D4D"/>
                </a:solidFill>
                <a:latin typeface="Pretendard"/>
                <a:ea typeface="Pretendard"/>
                <a:cs typeface="Pretendard"/>
              </a:rPr>
              <a:t>CARLA Town04 · 맑은 낮 · 40 km/h · 마찰 0.02 · 1차 방어 ON (보드 NPU 추론 + 융합)</a:t>
            </a:r>
          </a:p>
        </p:txBody>
      </p:sp>
      <p:sp>
        <p:nvSpPr>
          <p:cNvPr id="6" name="TextBox 5"/>
          <p:cNvSpPr txBox="1"/>
          <p:nvPr/>
        </p:nvSpPr>
        <p:spPr>
          <a:xfrm>
            <a:off x="533400" y="6286500"/>
            <a:ext cx="11125200" cy="304800"/>
          </a:xfrm>
          <a:prstGeom prst="rect">
            <a:avLst/>
          </a:prstGeom>
          <a:noFill/>
        </p:spPr>
        <p:txBody>
          <a:bodyPr wrap="square" anchor="t" lIns="0" rIns="0" tIns="0" bIns="0">
            <a:spAutoFit/>
          </a:bodyPr>
          <a:lstStyle/>
          <a:p>
            <a:pPr algn="l">
              <a:lnSpc>
                <a:spcPct val="130000"/>
              </a:lnSpc>
            </a:pPr>
            <a:r>
              <a:rPr sz="850" b="0">
                <a:solidFill>
                  <a:srgbClr val="767676"/>
                </a:solidFill>
                <a:latin typeface="Pretendard"/>
                <a:ea typeface="Pretendard"/>
                <a:cs typeface="Pretendard"/>
              </a:rPr>
              <a:t>같은 주행선에서 날씨 11종(맑음·흐림·젖은 노면·보슬비·폭우·해질녘·밤·비 오는 밤·눈 등)을 모두 돌렸다. 인식·정지 14회 · 경고 늦음 7회 · 미인식 10회 · 오경보 1회.</a:t>
            </a:r>
          </a:p>
        </p:txBody>
      </p:sp>
      <p:sp>
        <p:nvSpPr>
          <p:cNvPr id="7" name="TextBox 6"/>
          <p:cNvSpPr txBox="1"/>
          <p:nvPr/>
        </p:nvSpPr>
        <p:spPr>
          <a:xfrm>
            <a:off x="533400" y="6648450"/>
            <a:ext cx="7620000" cy="133350"/>
          </a:xfrm>
          <a:prstGeom prst="rect">
            <a:avLst/>
          </a:prstGeom>
          <a:noFill/>
        </p:spPr>
        <p:txBody>
          <a:bodyPr wrap="square" anchor="t" lIns="0" rIns="0" tIns="0" bIns="0">
            <a:spAutoFit/>
          </a:bodyPr>
          <a:lstStyle/>
          <a:p>
            <a:pPr algn="l">
              <a:lnSpc>
                <a:spcPct val="140000"/>
              </a:lnSpc>
            </a:pPr>
            <a:r>
              <a:rPr sz="800" b="0">
                <a:solidFill>
                  <a:srgbClr val="A6A6A6"/>
                </a:solidFill>
                <a:latin typeface="Pretendard"/>
                <a:ea typeface="Pretendard"/>
                <a:cs typeface="Pretendard"/>
              </a:rPr>
              <a:t>팀 ARTS · 제24회 임베디드SW경진대회 자동차/모빌리티(현대자동차) · github.com/gkgk0119gmail-arch/2026ESWContest_mobility_ARTS</a:t>
            </a:r>
          </a:p>
        </p:txBody>
      </p:sp>
      <p:sp>
        <p:nvSpPr>
          <p:cNvPr id="8" name="TextBox 7"/>
          <p:cNvSpPr txBox="1"/>
          <p:nvPr/>
        </p:nvSpPr>
        <p:spPr>
          <a:xfrm>
            <a:off x="10134600" y="6638925"/>
            <a:ext cx="1524000" cy="133350"/>
          </a:xfrm>
          <a:prstGeom prst="rect">
            <a:avLst/>
          </a:prstGeom>
          <a:noFill/>
        </p:spPr>
        <p:txBody>
          <a:bodyPr wrap="square" anchor="t" lIns="0" rIns="0" tIns="0" bIns="0">
            <a:spAutoFit/>
          </a:bodyPr>
          <a:lstStyle/>
          <a:p>
            <a:pPr algn="r">
              <a:lnSpc>
                <a:spcPct val="140000"/>
              </a:lnSpc>
            </a:pPr>
            <a:r>
              <a:rPr sz="900" b="1">
                <a:solidFill>
                  <a:srgbClr val="002C5F"/>
                </a:solidFill>
                <a:latin typeface="Pretendard"/>
                <a:ea typeface="Pretendard"/>
                <a:cs typeface="Pretendard"/>
              </a:rPr>
              <a:t>IcePredict</a:t>
            </a:r>
          </a:p>
        </p:txBody>
      </p:sp>
      <p:pic>
        <p:nvPicPr>
          <p:cNvPr id="9" name="v_primary.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33400" y="1219200"/>
            <a:ext cx="8077200" cy="3028950"/>
          </a:xfrm>
          <a:prstGeom prst="rect">
            <a:avLst/>
          </a:prstGeom>
        </p:spPr>
      </p:pic>
      <p:sp>
        <p:nvSpPr>
          <p:cNvPr id="10" name="TextBox 9"/>
          <p:cNvSpPr txBox="1"/>
          <p:nvPr/>
        </p:nvSpPr>
        <p:spPr>
          <a:xfrm>
            <a:off x="533400" y="4286250"/>
            <a:ext cx="8077200" cy="133350"/>
          </a:xfrm>
          <a:prstGeom prst="rect">
            <a:avLst/>
          </a:prstGeom>
          <a:noFill/>
        </p:spPr>
        <p:txBody>
          <a:bodyPr wrap="square" anchor="t" lIns="0" rIns="0" tIns="0" bIns="0">
            <a:spAutoFit/>
          </a:bodyPr>
          <a:lstStyle/>
          <a:p>
            <a:pPr algn="l">
              <a:lnSpc>
                <a:spcPct val="140000"/>
              </a:lnSpc>
            </a:pPr>
            <a:r>
              <a:rPr sz="800" b="0">
                <a:solidFill>
                  <a:srgbClr val="A6A6A6"/>
                </a:solidFill>
                <a:latin typeface="Pretendard"/>
                <a:ea typeface="Pretendard"/>
                <a:cs typeface="Pretendard"/>
              </a:rPr>
              <a:t>▶ 발표 모드에서 자동 재생 · 왼쪽 전방 카메라(NPU 입력) · 오른쪽 조감</a:t>
            </a:r>
          </a:p>
        </p:txBody>
      </p:sp>
      <p:pic>
        <p:nvPicPr>
          <p:cNvPr id="11" name="Picture 10" descr="image.jpg"/>
          <p:cNvPicPr>
            <a:picLocks noChangeAspect="1"/>
          </p:cNvPicPr>
          <p:nvPr/>
        </p:nvPicPr>
        <p:blipFill>
          <a:blip r:embed="rId5"/>
          <a:stretch>
            <a:fillRect/>
          </a:stretch>
        </p:blipFill>
        <p:spPr>
          <a:xfrm>
            <a:off x="533400" y="4533900"/>
            <a:ext cx="2609850" cy="1466850"/>
          </a:xfrm>
          <a:prstGeom prst="rect">
            <a:avLst/>
          </a:prstGeom>
        </p:spPr>
      </p:pic>
      <p:sp>
        <p:nvSpPr>
          <p:cNvPr id="12" name="Rectangle 11"/>
          <p:cNvSpPr/>
          <p:nvPr/>
        </p:nvSpPr>
        <p:spPr>
          <a:xfrm>
            <a:off x="533400" y="4533900"/>
            <a:ext cx="285750" cy="190500"/>
          </a:xfrm>
          <a:prstGeom prst="rect">
            <a:avLst/>
          </a:prstGeom>
          <a:solidFill>
            <a:srgbClr val="00AAD2"/>
          </a:solidFill>
          <a:ln>
            <a:noFill/>
          </a:ln>
          <a:effectLst/>
        </p:spPr>
        <p:txBody>
          <a:bodyPr rtlCol="0" anchor="ctr"/>
          <a:lstStyle/>
          <a:p/>
        </p:txBody>
      </p:sp>
      <p:sp>
        <p:nvSpPr>
          <p:cNvPr id="13" name="TextBox 12"/>
          <p:cNvSpPr txBox="1"/>
          <p:nvPr/>
        </p:nvSpPr>
        <p:spPr>
          <a:xfrm>
            <a:off x="533400" y="4543425"/>
            <a:ext cx="285750" cy="171450"/>
          </a:xfrm>
          <a:prstGeom prst="rect">
            <a:avLst/>
          </a:prstGeom>
          <a:noFill/>
        </p:spPr>
        <p:txBody>
          <a:bodyPr wrap="square" anchor="ctr" lIns="0" rIns="0" tIns="0" bIns="0">
            <a:spAutoFit/>
          </a:bodyPr>
          <a:lstStyle/>
          <a:p>
            <a:pPr algn="ctr">
              <a:lnSpc>
                <a:spcPct val="140000"/>
              </a:lnSpc>
            </a:pPr>
            <a:r>
              <a:rPr sz="900" b="1">
                <a:solidFill>
                  <a:srgbClr val="FFFFFF"/>
                </a:solidFill>
                <a:latin typeface="Pretendard"/>
                <a:ea typeface="Pretendard"/>
                <a:cs typeface="Pretendard"/>
              </a:rPr>
              <a:t>01</a:t>
            </a:r>
          </a:p>
        </p:txBody>
      </p:sp>
      <p:pic>
        <p:nvPicPr>
          <p:cNvPr id="14" name="Picture 13" descr="image.jpg"/>
          <p:cNvPicPr>
            <a:picLocks noChangeAspect="1"/>
          </p:cNvPicPr>
          <p:nvPr/>
        </p:nvPicPr>
        <p:blipFill>
          <a:blip r:embed="rId6"/>
          <a:stretch>
            <a:fillRect/>
          </a:stretch>
        </p:blipFill>
        <p:spPr>
          <a:xfrm>
            <a:off x="3267075" y="4533900"/>
            <a:ext cx="2609850" cy="1466850"/>
          </a:xfrm>
          <a:prstGeom prst="rect">
            <a:avLst/>
          </a:prstGeom>
        </p:spPr>
      </p:pic>
      <p:sp>
        <p:nvSpPr>
          <p:cNvPr id="15" name="Rectangle 14"/>
          <p:cNvSpPr/>
          <p:nvPr/>
        </p:nvSpPr>
        <p:spPr>
          <a:xfrm>
            <a:off x="3267075" y="4533900"/>
            <a:ext cx="285750" cy="190500"/>
          </a:xfrm>
          <a:prstGeom prst="rect">
            <a:avLst/>
          </a:prstGeom>
          <a:solidFill>
            <a:srgbClr val="00AAD2"/>
          </a:solidFill>
          <a:ln>
            <a:noFill/>
          </a:ln>
          <a:effectLst/>
        </p:spPr>
        <p:txBody>
          <a:bodyPr rtlCol="0" anchor="ctr"/>
          <a:lstStyle/>
          <a:p/>
        </p:txBody>
      </p:sp>
      <p:sp>
        <p:nvSpPr>
          <p:cNvPr id="16" name="TextBox 15"/>
          <p:cNvSpPr txBox="1"/>
          <p:nvPr/>
        </p:nvSpPr>
        <p:spPr>
          <a:xfrm>
            <a:off x="3267075" y="4543425"/>
            <a:ext cx="285750" cy="171450"/>
          </a:xfrm>
          <a:prstGeom prst="rect">
            <a:avLst/>
          </a:prstGeom>
          <a:noFill/>
        </p:spPr>
        <p:txBody>
          <a:bodyPr wrap="square" anchor="ctr" lIns="0" rIns="0" tIns="0" bIns="0">
            <a:spAutoFit/>
          </a:bodyPr>
          <a:lstStyle/>
          <a:p>
            <a:pPr algn="ctr">
              <a:lnSpc>
                <a:spcPct val="140000"/>
              </a:lnSpc>
            </a:pPr>
            <a:r>
              <a:rPr sz="900" b="1">
                <a:solidFill>
                  <a:srgbClr val="FFFFFF"/>
                </a:solidFill>
                <a:latin typeface="Pretendard"/>
                <a:ea typeface="Pretendard"/>
                <a:cs typeface="Pretendard"/>
              </a:rPr>
              <a:t>02</a:t>
            </a:r>
          </a:p>
        </p:txBody>
      </p:sp>
      <p:pic>
        <p:nvPicPr>
          <p:cNvPr id="17" name="Picture 16" descr="image.jpg"/>
          <p:cNvPicPr>
            <a:picLocks noChangeAspect="1"/>
          </p:cNvPicPr>
          <p:nvPr/>
        </p:nvPicPr>
        <p:blipFill>
          <a:blip r:embed="rId7"/>
          <a:stretch>
            <a:fillRect/>
          </a:stretch>
        </p:blipFill>
        <p:spPr>
          <a:xfrm>
            <a:off x="6000750" y="4533900"/>
            <a:ext cx="2609850" cy="1466850"/>
          </a:xfrm>
          <a:prstGeom prst="rect">
            <a:avLst/>
          </a:prstGeom>
        </p:spPr>
      </p:pic>
      <p:sp>
        <p:nvSpPr>
          <p:cNvPr id="18" name="Rectangle 17"/>
          <p:cNvSpPr/>
          <p:nvPr/>
        </p:nvSpPr>
        <p:spPr>
          <a:xfrm>
            <a:off x="6000750" y="4533900"/>
            <a:ext cx="285750" cy="190500"/>
          </a:xfrm>
          <a:prstGeom prst="rect">
            <a:avLst/>
          </a:prstGeom>
          <a:solidFill>
            <a:srgbClr val="00AAD2"/>
          </a:solidFill>
          <a:ln>
            <a:noFill/>
          </a:ln>
          <a:effectLst/>
        </p:spPr>
        <p:txBody>
          <a:bodyPr rtlCol="0" anchor="ctr"/>
          <a:lstStyle/>
          <a:p/>
        </p:txBody>
      </p:sp>
      <p:sp>
        <p:nvSpPr>
          <p:cNvPr id="19" name="TextBox 18"/>
          <p:cNvSpPr txBox="1"/>
          <p:nvPr/>
        </p:nvSpPr>
        <p:spPr>
          <a:xfrm>
            <a:off x="6000750" y="4543425"/>
            <a:ext cx="285750" cy="171450"/>
          </a:xfrm>
          <a:prstGeom prst="rect">
            <a:avLst/>
          </a:prstGeom>
          <a:noFill/>
        </p:spPr>
        <p:txBody>
          <a:bodyPr wrap="square" anchor="ctr" lIns="0" rIns="0" tIns="0" bIns="0">
            <a:spAutoFit/>
          </a:bodyPr>
          <a:lstStyle/>
          <a:p>
            <a:pPr algn="ctr">
              <a:lnSpc>
                <a:spcPct val="140000"/>
              </a:lnSpc>
            </a:pPr>
            <a:r>
              <a:rPr sz="900" b="1">
                <a:solidFill>
                  <a:srgbClr val="FFFFFF"/>
                </a:solidFill>
                <a:latin typeface="Pretendard"/>
                <a:ea typeface="Pretendard"/>
                <a:cs typeface="Pretendard"/>
              </a:rPr>
              <a:t>03</a:t>
            </a:r>
          </a:p>
        </p:txBody>
      </p:sp>
      <p:sp>
        <p:nvSpPr>
          <p:cNvPr id="20" name="Rectangle 19"/>
          <p:cNvSpPr/>
          <p:nvPr/>
        </p:nvSpPr>
        <p:spPr>
          <a:xfrm>
            <a:off x="8763000" y="1219200"/>
            <a:ext cx="2895600" cy="4991100"/>
          </a:xfrm>
          <a:prstGeom prst="rect">
            <a:avLst/>
          </a:prstGeom>
          <a:solidFill>
            <a:srgbClr val="F6F3F2"/>
          </a:solidFill>
          <a:ln>
            <a:noFill/>
          </a:ln>
          <a:effectLst/>
        </p:spPr>
        <p:txBody>
          <a:bodyPr rtlCol="0" anchor="ctr"/>
          <a:lstStyle/>
          <a:p/>
        </p:txBody>
      </p:sp>
      <p:sp>
        <p:nvSpPr>
          <p:cNvPr id="21" name="TextBox 20"/>
          <p:cNvSpPr txBox="1"/>
          <p:nvPr/>
        </p:nvSpPr>
        <p:spPr>
          <a:xfrm>
            <a:off x="8934450" y="1390650"/>
            <a:ext cx="419100" cy="285750"/>
          </a:xfrm>
          <a:prstGeom prst="rect">
            <a:avLst/>
          </a:prstGeom>
          <a:noFill/>
        </p:spPr>
        <p:txBody>
          <a:bodyPr wrap="none" anchor="t" lIns="0" rIns="0" tIns="0" bIns="0">
            <a:spAutoFit/>
          </a:bodyPr>
          <a:lstStyle/>
          <a:p>
            <a:pPr algn="l">
              <a:lnSpc>
                <a:spcPct val="100000"/>
              </a:lnSpc>
            </a:pPr>
            <a:r>
              <a:rPr sz="2000" b="0">
                <a:solidFill>
                  <a:srgbClr val="00AAD2"/>
                </a:solidFill>
                <a:latin typeface="Pretendard ExtraBold"/>
                <a:ea typeface="Pretendard ExtraBold"/>
                <a:cs typeface="Pretendard ExtraBold"/>
              </a:rPr>
              <a:t>01</a:t>
            </a:r>
          </a:p>
        </p:txBody>
      </p:sp>
      <p:sp>
        <p:nvSpPr>
          <p:cNvPr id="22" name="TextBox 21"/>
          <p:cNvSpPr txBox="1"/>
          <p:nvPr/>
        </p:nvSpPr>
        <p:spPr>
          <a:xfrm>
            <a:off x="9315450" y="1419225"/>
            <a:ext cx="2171700" cy="209550"/>
          </a:xfrm>
          <a:prstGeom prst="rect">
            <a:avLst/>
          </a:prstGeom>
          <a:noFill/>
        </p:spPr>
        <p:txBody>
          <a:bodyPr wrap="square" anchor="t" lIns="0" rIns="0" tIns="0" bIns="0">
            <a:spAutoFit/>
          </a:bodyPr>
          <a:lstStyle/>
          <a:p>
            <a:pPr algn="l">
              <a:lnSpc>
                <a:spcPct val="100000"/>
              </a:lnSpc>
            </a:pPr>
            <a:r>
              <a:rPr sz="1100" b="1">
                <a:solidFill>
                  <a:srgbClr val="1C1B1B"/>
                </a:solidFill>
                <a:latin typeface="Pretendard"/>
                <a:ea typeface="Pretendard"/>
                <a:cs typeface="Pretendard"/>
              </a:rPr>
              <a:t>접근</a:t>
            </a:r>
          </a:p>
        </p:txBody>
      </p:sp>
      <p:sp>
        <p:nvSpPr>
          <p:cNvPr id="23" name="TextBox 22"/>
          <p:cNvSpPr txBox="1"/>
          <p:nvPr/>
        </p:nvSpPr>
        <p:spPr>
          <a:xfrm>
            <a:off x="9315450" y="1638300"/>
            <a:ext cx="2171700" cy="1047750"/>
          </a:xfrm>
          <a:prstGeom prst="rect">
            <a:avLst/>
          </a:prstGeom>
          <a:noFill/>
        </p:spPr>
        <p:txBody>
          <a:bodyPr wrap="square" anchor="t" lIns="0" rIns="0" tIns="0" bIns="0">
            <a:spAutoFit/>
          </a:bodyPr>
          <a:lstStyle/>
          <a:p>
            <a:pPr algn="l">
              <a:lnSpc>
                <a:spcPct val="140000"/>
              </a:lnSpc>
            </a:pPr>
            <a:r>
              <a:rPr sz="950" b="0">
                <a:solidFill>
                  <a:srgbClr val="4D4D4D"/>
                </a:solidFill>
                <a:latin typeface="Pretendard"/>
                <a:ea typeface="Pretendard"/>
                <a:cs typeface="Pretendard"/>
              </a:rPr>
              <a:t>40 km/h 주행. 왼쪽은 전방 카메라(모델 입력), 오른쪽은 조감.</a:t>
            </a:r>
            <a:br/>
            <a:r>
              <a:rPr sz="950" b="0">
                <a:solidFill>
                  <a:srgbClr val="4D4D4D"/>
                </a:solidFill>
                <a:latin typeface="Pretendard"/>
                <a:ea typeface="Pretendard"/>
                <a:cs typeface="Pretendard"/>
              </a:rPr>
              <a:t>위험도 0.00 · </a:t>
            </a:r>
            <a:r>
              <a:rPr sz="950" b="1">
                <a:solidFill>
                  <a:srgbClr val="4D4D4D"/>
                </a:solidFill>
                <a:latin typeface="Pretendard"/>
                <a:ea typeface="Pretendard"/>
                <a:cs typeface="Pretendard"/>
              </a:rPr>
              <a:t>DRIVE</a:t>
            </a:r>
          </a:p>
        </p:txBody>
      </p:sp>
      <p:sp>
        <p:nvSpPr>
          <p:cNvPr id="24" name="TextBox 23"/>
          <p:cNvSpPr txBox="1"/>
          <p:nvPr/>
        </p:nvSpPr>
        <p:spPr>
          <a:xfrm>
            <a:off x="8934450" y="2940050"/>
            <a:ext cx="419100" cy="285750"/>
          </a:xfrm>
          <a:prstGeom prst="rect">
            <a:avLst/>
          </a:prstGeom>
          <a:noFill/>
        </p:spPr>
        <p:txBody>
          <a:bodyPr wrap="none" anchor="t" lIns="0" rIns="0" tIns="0" bIns="0">
            <a:spAutoFit/>
          </a:bodyPr>
          <a:lstStyle/>
          <a:p>
            <a:pPr algn="l">
              <a:lnSpc>
                <a:spcPct val="100000"/>
              </a:lnSpc>
            </a:pPr>
            <a:r>
              <a:rPr sz="2000" b="0">
                <a:solidFill>
                  <a:srgbClr val="00AAD2"/>
                </a:solidFill>
                <a:latin typeface="Pretendard ExtraBold"/>
                <a:ea typeface="Pretendard ExtraBold"/>
                <a:cs typeface="Pretendard ExtraBold"/>
              </a:rPr>
              <a:t>02</a:t>
            </a:r>
          </a:p>
        </p:txBody>
      </p:sp>
      <p:sp>
        <p:nvSpPr>
          <p:cNvPr id="25" name="TextBox 24"/>
          <p:cNvSpPr txBox="1"/>
          <p:nvPr/>
        </p:nvSpPr>
        <p:spPr>
          <a:xfrm>
            <a:off x="9315450" y="2968625"/>
            <a:ext cx="2171700" cy="209550"/>
          </a:xfrm>
          <a:prstGeom prst="rect">
            <a:avLst/>
          </a:prstGeom>
          <a:noFill/>
        </p:spPr>
        <p:txBody>
          <a:bodyPr wrap="square" anchor="t" lIns="0" rIns="0" tIns="0" bIns="0">
            <a:spAutoFit/>
          </a:bodyPr>
          <a:lstStyle/>
          <a:p>
            <a:pPr algn="l">
              <a:lnSpc>
                <a:spcPct val="100000"/>
              </a:lnSpc>
            </a:pPr>
            <a:r>
              <a:rPr sz="1100" b="1">
                <a:solidFill>
                  <a:srgbClr val="1C1B1B"/>
                </a:solidFill>
                <a:latin typeface="Pretendard"/>
                <a:ea typeface="Pretendard"/>
                <a:cs typeface="Pretendard"/>
              </a:rPr>
              <a:t>1차 경보 </a:t>
            </a:r>
            <a:r>
              <a:rPr sz="1100" b="1">
                <a:solidFill>
                  <a:srgbClr val="00AAD2"/>
                </a:solidFill>
                <a:latin typeface="Pretendard"/>
                <a:ea typeface="Pretendard"/>
                <a:cs typeface="Pretendard"/>
              </a:rPr>
              <a:t>6.10 s</a:t>
            </a:r>
          </a:p>
        </p:txBody>
      </p:sp>
      <p:sp>
        <p:nvSpPr>
          <p:cNvPr id="26" name="TextBox 25"/>
          <p:cNvSpPr txBox="1"/>
          <p:nvPr/>
        </p:nvSpPr>
        <p:spPr>
          <a:xfrm>
            <a:off x="9315450" y="3187700"/>
            <a:ext cx="2171700" cy="1047750"/>
          </a:xfrm>
          <a:prstGeom prst="rect">
            <a:avLst/>
          </a:prstGeom>
          <a:noFill/>
        </p:spPr>
        <p:txBody>
          <a:bodyPr wrap="square" anchor="t" lIns="0" rIns="0" tIns="0" bIns="0">
            <a:spAutoFit/>
          </a:bodyPr>
          <a:lstStyle/>
          <a:p>
            <a:pPr algn="l">
              <a:lnSpc>
                <a:spcPct val="140000"/>
              </a:lnSpc>
            </a:pPr>
            <a:r>
              <a:rPr sz="950" b="0">
                <a:solidFill>
                  <a:srgbClr val="4D4D4D"/>
                </a:solidFill>
                <a:latin typeface="Pretendard"/>
                <a:ea typeface="Pretendard"/>
                <a:cs typeface="Pretendard"/>
              </a:rPr>
              <a:t>위험도 0.443 → 문턱 돌파. 빙판 가장자리까지 11.4 m.</a:t>
            </a:r>
            <a:br/>
            <a:r>
              <a:rPr sz="950" b="1">
                <a:solidFill>
                  <a:srgbClr val="4D4D4D"/>
                </a:solidFill>
                <a:latin typeface="Pretendard"/>
                <a:ea typeface="Pretendard"/>
                <a:cs typeface="Pretendard"/>
              </a:rPr>
              <a:t>PRIMARY WARNING · BRAKE</a:t>
            </a:r>
          </a:p>
        </p:txBody>
      </p:sp>
      <p:sp>
        <p:nvSpPr>
          <p:cNvPr id="27" name="TextBox 26"/>
          <p:cNvSpPr txBox="1"/>
          <p:nvPr/>
        </p:nvSpPr>
        <p:spPr>
          <a:xfrm>
            <a:off x="8934450" y="4489450"/>
            <a:ext cx="419100" cy="285750"/>
          </a:xfrm>
          <a:prstGeom prst="rect">
            <a:avLst/>
          </a:prstGeom>
          <a:noFill/>
        </p:spPr>
        <p:txBody>
          <a:bodyPr wrap="none" anchor="t" lIns="0" rIns="0" tIns="0" bIns="0">
            <a:spAutoFit/>
          </a:bodyPr>
          <a:lstStyle/>
          <a:p>
            <a:pPr algn="l">
              <a:lnSpc>
                <a:spcPct val="100000"/>
              </a:lnSpc>
            </a:pPr>
            <a:r>
              <a:rPr sz="2000" b="0">
                <a:solidFill>
                  <a:srgbClr val="00AAD2"/>
                </a:solidFill>
                <a:latin typeface="Pretendard ExtraBold"/>
                <a:ea typeface="Pretendard ExtraBold"/>
                <a:cs typeface="Pretendard ExtraBold"/>
              </a:rPr>
              <a:t>03</a:t>
            </a:r>
          </a:p>
        </p:txBody>
      </p:sp>
      <p:sp>
        <p:nvSpPr>
          <p:cNvPr id="28" name="TextBox 27"/>
          <p:cNvSpPr txBox="1"/>
          <p:nvPr/>
        </p:nvSpPr>
        <p:spPr>
          <a:xfrm>
            <a:off x="9315450" y="4518025"/>
            <a:ext cx="2171700" cy="209550"/>
          </a:xfrm>
          <a:prstGeom prst="rect">
            <a:avLst/>
          </a:prstGeom>
          <a:noFill/>
        </p:spPr>
        <p:txBody>
          <a:bodyPr wrap="square" anchor="t" lIns="0" rIns="0" tIns="0" bIns="0">
            <a:spAutoFit/>
          </a:bodyPr>
          <a:lstStyle/>
          <a:p>
            <a:pPr algn="l">
              <a:lnSpc>
                <a:spcPct val="100000"/>
              </a:lnSpc>
            </a:pPr>
            <a:r>
              <a:rPr sz="1100" b="1">
                <a:solidFill>
                  <a:srgbClr val="1C1B1B"/>
                </a:solidFill>
                <a:latin typeface="Pretendard"/>
                <a:ea typeface="Pretendard"/>
                <a:cs typeface="Pretendard"/>
              </a:rPr>
              <a:t>정지 </a:t>
            </a:r>
            <a:r>
              <a:rPr sz="1100" b="1">
                <a:solidFill>
                  <a:srgbClr val="00AAD2"/>
                </a:solidFill>
                <a:latin typeface="Pretendard"/>
                <a:ea typeface="Pretendard"/>
                <a:cs typeface="Pretendard"/>
              </a:rPr>
              <a:t>7.14 s</a:t>
            </a:r>
          </a:p>
        </p:txBody>
      </p:sp>
      <p:sp>
        <p:nvSpPr>
          <p:cNvPr id="29" name="TextBox 28"/>
          <p:cNvSpPr txBox="1"/>
          <p:nvPr/>
        </p:nvSpPr>
        <p:spPr>
          <a:xfrm>
            <a:off x="9315450" y="4737100"/>
            <a:ext cx="2171700" cy="1047750"/>
          </a:xfrm>
          <a:prstGeom prst="rect">
            <a:avLst/>
          </a:prstGeom>
          <a:noFill/>
        </p:spPr>
        <p:txBody>
          <a:bodyPr wrap="square" anchor="t" lIns="0" rIns="0" tIns="0" bIns="0">
            <a:spAutoFit/>
          </a:bodyPr>
          <a:lstStyle/>
          <a:p>
            <a:pPr algn="l">
              <a:lnSpc>
                <a:spcPct val="140000"/>
              </a:lnSpc>
            </a:pPr>
            <a:r>
              <a:rPr sz="950" b="0">
                <a:solidFill>
                  <a:srgbClr val="4D4D4D"/>
                </a:solidFill>
                <a:latin typeface="Pretendard"/>
                <a:ea typeface="Pretendard"/>
                <a:cs typeface="Pretendard"/>
              </a:rPr>
              <a:t>빙판 23.6 m 앞에서 멈췄다.</a:t>
            </a:r>
            <a:br/>
            <a:r>
              <a:rPr sz="950" b="0">
                <a:solidFill>
                  <a:srgbClr val="4D4D4D"/>
                </a:solidFill>
                <a:latin typeface="Pretendard"/>
                <a:ea typeface="Pretendard"/>
                <a:cs typeface="Pretendard"/>
              </a:rPr>
              <a:t>빙판에 닿지 않았다 — </a:t>
            </a:r>
            <a:r>
              <a:rPr sz="950" b="1">
                <a:solidFill>
                  <a:srgbClr val="4D4D4D"/>
                </a:solidFill>
                <a:latin typeface="Pretendard"/>
                <a:ea typeface="Pretendard"/>
                <a:cs typeface="Pretendard"/>
              </a:rPr>
              <a:t>예방에 성공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endCondLst>
                    <p:cond evt="onStopAudio" delay="0">
                      <p:tn val="2"/>
                    </p:cond>
                  </p:endCondLst>
                </p:cTn>
                <p:tgtEl>
                  <p:spTgt spid="9"/>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3400" y="323850"/>
            <a:ext cx="5715000" cy="162878"/>
          </a:xfrm>
          <a:prstGeom prst="rect">
            <a:avLst/>
          </a:prstGeom>
          <a:noFill/>
        </p:spPr>
        <p:txBody>
          <a:bodyPr wrap="square" anchor="t" lIns="0" rIns="0" tIns="0" bIns="0">
            <a:spAutoFit/>
          </a:bodyPr>
          <a:lstStyle/>
          <a:p>
            <a:pPr algn="l">
              <a:lnSpc>
                <a:spcPct val="100000"/>
              </a:lnSpc>
            </a:pPr>
            <a:r>
              <a:rPr sz="950" b="1" spc="80">
                <a:solidFill>
                  <a:srgbClr val="00AAD2"/>
                </a:solidFill>
                <a:latin typeface="Pretendard"/>
                <a:ea typeface="Pretendard"/>
                <a:cs typeface="Pretendard"/>
              </a:rPr>
              <a:t>1차 방어</a:t>
            </a:r>
          </a:p>
        </p:txBody>
      </p:sp>
      <p:sp>
        <p:nvSpPr>
          <p:cNvPr id="3" name="TextBox 2"/>
          <p:cNvSpPr txBox="1"/>
          <p:nvPr/>
        </p:nvSpPr>
        <p:spPr>
          <a:xfrm>
            <a:off x="9753600" y="314325"/>
            <a:ext cx="1905000" cy="152400"/>
          </a:xfrm>
          <a:prstGeom prst="rect">
            <a:avLst/>
          </a:prstGeom>
          <a:noFill/>
        </p:spPr>
        <p:txBody>
          <a:bodyPr wrap="square" anchor="t" lIns="0" rIns="0" tIns="0" bIns="0">
            <a:spAutoFit/>
          </a:bodyPr>
          <a:lstStyle/>
          <a:p>
            <a:pPr algn="r">
              <a:lnSpc>
                <a:spcPct val="140000"/>
              </a:lnSpc>
            </a:pPr>
            <a:r>
              <a:rPr sz="900" b="0">
                <a:solidFill>
                  <a:srgbClr val="A6A6A6"/>
                </a:solidFill>
                <a:latin typeface="Pretendard"/>
                <a:ea typeface="Pretendard"/>
                <a:cs typeface="Pretendard"/>
              </a:rPr>
              <a:t>11 / 20</a:t>
            </a:r>
          </a:p>
        </p:txBody>
      </p:sp>
      <p:sp>
        <p:nvSpPr>
          <p:cNvPr id="4" name="TextBox 3"/>
          <p:cNvSpPr txBox="1"/>
          <p:nvPr/>
        </p:nvSpPr>
        <p:spPr>
          <a:xfrm>
            <a:off x="533400" y="495300"/>
            <a:ext cx="11125200" cy="381000"/>
          </a:xfrm>
          <a:prstGeom prst="rect">
            <a:avLst/>
          </a:prstGeom>
          <a:noFill/>
        </p:spPr>
        <p:txBody>
          <a:bodyPr wrap="square" anchor="t" lIns="0" rIns="0" tIns="0" bIns="0">
            <a:spAutoFit/>
          </a:bodyPr>
          <a:lstStyle/>
          <a:p>
            <a:pPr algn="l">
              <a:lnSpc>
                <a:spcPct val="100000"/>
              </a:lnSpc>
            </a:pPr>
            <a:r>
              <a:rPr sz="2400" b="0">
                <a:solidFill>
                  <a:srgbClr val="1C1B1B"/>
                </a:solidFill>
                <a:latin typeface="Pretendard ExtraBold"/>
                <a:ea typeface="Pretendard ExtraBold"/>
                <a:cs typeface="Pretendard ExtraBold"/>
              </a:rPr>
              <a:t>위험도 융합 — 기상·위치 맥락으로 가중치를 바꾼다</a:t>
            </a:r>
          </a:p>
        </p:txBody>
      </p:sp>
      <p:sp>
        <p:nvSpPr>
          <p:cNvPr id="5" name="TextBox 4"/>
          <p:cNvSpPr txBox="1"/>
          <p:nvPr/>
        </p:nvSpPr>
        <p:spPr>
          <a:xfrm>
            <a:off x="533400" y="6286500"/>
            <a:ext cx="11125200" cy="304800"/>
          </a:xfrm>
          <a:prstGeom prst="rect">
            <a:avLst/>
          </a:prstGeom>
          <a:noFill/>
        </p:spPr>
        <p:txBody>
          <a:bodyPr wrap="square" anchor="t" lIns="0" rIns="0" tIns="0" bIns="0">
            <a:spAutoFit/>
          </a:bodyPr>
          <a:lstStyle/>
          <a:p>
            <a:pPr algn="l">
              <a:lnSpc>
                <a:spcPct val="130000"/>
              </a:lnSpc>
            </a:pPr>
            <a:r>
              <a:rPr sz="850" b="0">
                <a:solidFill>
                  <a:srgbClr val="767676"/>
                </a:solidFill>
                <a:latin typeface="Pretendard"/>
                <a:ea typeface="Pretendard"/>
                <a:cs typeface="Pretendard"/>
              </a:rPr>
              <a:t>운영 문턱 0.603 — 손으로 고른 값이 아니라 실사진 전량 스윕에서 결정했고, logs/rscd_board_samples.jsonl 로 문턱을 바꿔 재계산할 수 있다.</a:t>
            </a:r>
          </a:p>
        </p:txBody>
      </p:sp>
      <p:sp>
        <p:nvSpPr>
          <p:cNvPr id="6" name="TextBox 5"/>
          <p:cNvSpPr txBox="1"/>
          <p:nvPr/>
        </p:nvSpPr>
        <p:spPr>
          <a:xfrm>
            <a:off x="533400" y="6648450"/>
            <a:ext cx="7620000" cy="133350"/>
          </a:xfrm>
          <a:prstGeom prst="rect">
            <a:avLst/>
          </a:prstGeom>
          <a:noFill/>
        </p:spPr>
        <p:txBody>
          <a:bodyPr wrap="square" anchor="t" lIns="0" rIns="0" tIns="0" bIns="0">
            <a:spAutoFit/>
          </a:bodyPr>
          <a:lstStyle/>
          <a:p>
            <a:pPr algn="l">
              <a:lnSpc>
                <a:spcPct val="140000"/>
              </a:lnSpc>
            </a:pPr>
            <a:r>
              <a:rPr sz="800" b="0">
                <a:solidFill>
                  <a:srgbClr val="A6A6A6"/>
                </a:solidFill>
                <a:latin typeface="Pretendard"/>
                <a:ea typeface="Pretendard"/>
                <a:cs typeface="Pretendard"/>
              </a:rPr>
              <a:t>팀 ARTS · 제24회 임베디드SW경진대회 자동차/모빌리티(현대자동차) · github.com/gkgk0119gmail-arch/2026ESWContest_mobility_ARTS</a:t>
            </a:r>
          </a:p>
        </p:txBody>
      </p:sp>
      <p:sp>
        <p:nvSpPr>
          <p:cNvPr id="7" name="TextBox 6"/>
          <p:cNvSpPr txBox="1"/>
          <p:nvPr/>
        </p:nvSpPr>
        <p:spPr>
          <a:xfrm>
            <a:off x="10134600" y="6638925"/>
            <a:ext cx="1524000" cy="133350"/>
          </a:xfrm>
          <a:prstGeom prst="rect">
            <a:avLst/>
          </a:prstGeom>
          <a:noFill/>
        </p:spPr>
        <p:txBody>
          <a:bodyPr wrap="square" anchor="t" lIns="0" rIns="0" tIns="0" bIns="0">
            <a:spAutoFit/>
          </a:bodyPr>
          <a:lstStyle/>
          <a:p>
            <a:pPr algn="r">
              <a:lnSpc>
                <a:spcPct val="140000"/>
              </a:lnSpc>
            </a:pPr>
            <a:r>
              <a:rPr sz="900" b="1">
                <a:solidFill>
                  <a:srgbClr val="002C5F"/>
                </a:solidFill>
                <a:latin typeface="Pretendard"/>
                <a:ea typeface="Pretendard"/>
                <a:cs typeface="Pretendard"/>
              </a:rPr>
              <a:t>IcePredict</a:t>
            </a:r>
          </a:p>
        </p:txBody>
      </p:sp>
      <p:sp>
        <p:nvSpPr>
          <p:cNvPr id="8" name="Rectangle 7"/>
          <p:cNvSpPr/>
          <p:nvPr/>
        </p:nvSpPr>
        <p:spPr>
          <a:xfrm>
            <a:off x="533400" y="1028700"/>
            <a:ext cx="11125200" cy="533400"/>
          </a:xfrm>
          <a:prstGeom prst="rect">
            <a:avLst/>
          </a:prstGeom>
          <a:solidFill>
            <a:srgbClr val="002C5F"/>
          </a:solidFill>
          <a:ln>
            <a:noFill/>
          </a:ln>
          <a:effectLst/>
        </p:spPr>
        <p:txBody>
          <a:bodyPr rtlCol="0" anchor="ctr"/>
          <a:lstStyle/>
          <a:p/>
        </p:txBody>
      </p:sp>
      <p:sp>
        <p:nvSpPr>
          <p:cNvPr id="9" name="TextBox 8"/>
          <p:cNvSpPr txBox="1"/>
          <p:nvPr/>
        </p:nvSpPr>
        <p:spPr>
          <a:xfrm>
            <a:off x="533400" y="1028700"/>
            <a:ext cx="11125200" cy="533400"/>
          </a:xfrm>
          <a:prstGeom prst="rect">
            <a:avLst/>
          </a:prstGeom>
          <a:noFill/>
        </p:spPr>
        <p:txBody>
          <a:bodyPr wrap="square" anchor="ctr" lIns="0" rIns="0" tIns="0" bIns="0">
            <a:spAutoFit/>
          </a:bodyPr>
          <a:lstStyle/>
          <a:p>
            <a:pPr algn="ctr">
              <a:lnSpc>
                <a:spcPct val="100000"/>
              </a:lnSpc>
            </a:pPr>
            <a:r>
              <a:rPr sz="1700" b="0">
                <a:solidFill>
                  <a:srgbClr val="FFFFFF"/>
                </a:solidFill>
                <a:latin typeface="Pretendard"/>
                <a:ea typeface="Pretendard"/>
                <a:cs typeface="Pretendard"/>
              </a:rPr>
              <a:t>risk  =  </a:t>
            </a:r>
            <a:r>
              <a:rPr sz="1700" b="0">
                <a:solidFill>
                  <a:srgbClr val="FFFFFF"/>
                </a:solidFill>
                <a:latin typeface="Pretendard ExtraBold"/>
                <a:ea typeface="Pretendard ExtraBold"/>
                <a:cs typeface="Pretendard ExtraBold"/>
              </a:rPr>
              <a:t>α</a:t>
            </a:r>
            <a:r>
              <a:rPr sz="1700" b="0">
                <a:solidFill>
                  <a:srgbClr val="FFFFFF"/>
                </a:solidFill>
                <a:latin typeface="Pretendard"/>
                <a:ea typeface="Pretendard"/>
                <a:cs typeface="Pretendard"/>
              </a:rPr>
              <a:t> · p_ice   +   </a:t>
            </a:r>
            <a:r>
              <a:rPr sz="1700" b="0">
                <a:solidFill>
                  <a:srgbClr val="FFFFFF"/>
                </a:solidFill>
                <a:latin typeface="Pretendard ExtraBold"/>
                <a:ea typeface="Pretendard ExtraBold"/>
                <a:cs typeface="Pretendard ExtraBold"/>
              </a:rPr>
              <a:t>β</a:t>
            </a:r>
            <a:r>
              <a:rPr sz="1700" b="0">
                <a:solidFill>
                  <a:srgbClr val="FFFFFF"/>
                </a:solidFill>
                <a:latin typeface="Pretendard"/>
                <a:ea typeface="Pretendard"/>
                <a:cs typeface="Pretendard"/>
              </a:rPr>
              <a:t> · 반사도   +   </a:t>
            </a:r>
            <a:r>
              <a:rPr sz="1700" b="0">
                <a:solidFill>
                  <a:srgbClr val="FFFFFF"/>
                </a:solidFill>
                <a:latin typeface="Pretendard ExtraBold"/>
                <a:ea typeface="Pretendard ExtraBold"/>
                <a:cs typeface="Pretendard ExtraBold"/>
              </a:rPr>
              <a:t>γ</a:t>
            </a:r>
            <a:r>
              <a:rPr sz="1700" b="0">
                <a:solidFill>
                  <a:srgbClr val="FFFFFF"/>
                </a:solidFill>
                <a:latin typeface="Pretendard"/>
                <a:ea typeface="Pretendard"/>
                <a:cs typeface="Pretendard"/>
              </a:rPr>
              <a:t> · (1 − 차선 가시성)</a:t>
            </a:r>
          </a:p>
        </p:txBody>
      </p:sp>
      <p:graphicFrame>
        <p:nvGraphicFramePr>
          <p:cNvPr id="10" name="Table 9"/>
          <p:cNvGraphicFramePr>
            <a:graphicFrameLocks noGrp="1"/>
          </p:cNvGraphicFramePr>
          <p:nvPr/>
        </p:nvGraphicFramePr>
        <p:xfrm>
          <a:off x="533400" y="1714500"/>
          <a:ext cx="5333999" cy="1028700"/>
        </p:xfrm>
        <a:graphic>
          <a:graphicData uri="http://schemas.openxmlformats.org/drawingml/2006/table">
            <a:tbl>
              <a:tblPr>
                <a:tableStyleId>{2D5ABB26-0587-4C30-8999-92F81FD0307C}</a:tableStyleId>
              </a:tblPr>
              <a:tblGrid>
                <a:gridCol w="2256692"/>
                <a:gridCol w="1025769"/>
                <a:gridCol w="1025769"/>
                <a:gridCol w="1025769"/>
              </a:tblGrid>
              <a:tr h="228600">
                <a:tc>
                  <a:txBody>
                    <a:bodyPr wrap="square"/>
                    <a:lstStyle/>
                    <a:p>
                      <a:pPr>
                        <a:lnSpc>
                          <a:spcPct val="122000"/>
                        </a:lnSpc>
                      </a:pPr>
                      <a:r>
                        <a:rPr sz="950" b="1">
                          <a:solidFill>
                            <a:srgbClr val="002C5F"/>
                          </a:solidFill>
                          <a:latin typeface="Pretendard"/>
                          <a:ea typeface="Pretendard"/>
                          <a:cs typeface="Pretendard"/>
                        </a:rPr>
                        <a:t>기상 · 위치 맥락</a:t>
                      </a:r>
                      <a:endParaRPr sz="95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c>
                  <a:txBody>
                    <a:bodyPr wrap="square"/>
                    <a:lstStyle/>
                    <a:p>
                      <a:pPr>
                        <a:lnSpc>
                          <a:spcPct val="122000"/>
                        </a:lnSpc>
                      </a:pPr>
                      <a:r>
                        <a:rPr sz="950" b="1">
                          <a:solidFill>
                            <a:srgbClr val="002C5F"/>
                          </a:solidFill>
                          <a:latin typeface="Pretendard"/>
                          <a:ea typeface="Pretendard"/>
                          <a:cs typeface="Pretendard"/>
                        </a:rPr>
                        <a:t>α (분류)</a:t>
                      </a:r>
                      <a:endParaRPr sz="95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c>
                  <a:txBody>
                    <a:bodyPr wrap="square"/>
                    <a:lstStyle/>
                    <a:p>
                      <a:pPr>
                        <a:lnSpc>
                          <a:spcPct val="122000"/>
                        </a:lnSpc>
                      </a:pPr>
                      <a:r>
                        <a:rPr sz="950" b="1">
                          <a:solidFill>
                            <a:srgbClr val="002C5F"/>
                          </a:solidFill>
                          <a:latin typeface="Pretendard"/>
                          <a:ea typeface="Pretendard"/>
                          <a:cs typeface="Pretendard"/>
                        </a:rPr>
                        <a:t>β (반사도)</a:t>
                      </a:r>
                      <a:endParaRPr sz="95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c>
                  <a:txBody>
                    <a:bodyPr wrap="square"/>
                    <a:lstStyle/>
                    <a:p>
                      <a:pPr>
                        <a:lnSpc>
                          <a:spcPct val="122000"/>
                        </a:lnSpc>
                      </a:pPr>
                      <a:r>
                        <a:rPr sz="950" b="1">
                          <a:solidFill>
                            <a:srgbClr val="002C5F"/>
                          </a:solidFill>
                          <a:latin typeface="Pretendard"/>
                          <a:ea typeface="Pretendard"/>
                          <a:cs typeface="Pretendard"/>
                        </a:rPr>
                        <a:t>γ (차선)</a:t>
                      </a:r>
                      <a:endParaRPr sz="95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r>
              <a:tr h="266700">
                <a:tc>
                  <a:txBody>
                    <a:bodyPr wrap="square"/>
                    <a:lstStyle/>
                    <a:p>
                      <a:pPr>
                        <a:lnSpc>
                          <a:spcPct val="122000"/>
                        </a:lnSpc>
                      </a:pPr>
                      <a:r>
                        <a:rPr sz="1000" b="1">
                          <a:solidFill>
                            <a:srgbClr val="002C5F"/>
                          </a:solidFill>
                          <a:latin typeface="Pretendard"/>
                          <a:ea typeface="Pretendard"/>
                          <a:cs typeface="Pretendard"/>
                        </a:rPr>
                        <a:t>교량 · 새벽 등 결빙 위험 높음</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0">
                          <a:solidFill>
                            <a:srgbClr val="1C1B1B"/>
                          </a:solidFill>
                          <a:latin typeface="Pretendard"/>
                          <a:ea typeface="Pretendard"/>
                          <a:cs typeface="Pretendard"/>
                        </a:rPr>
                        <a:t>0.35</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1">
                          <a:solidFill>
                            <a:srgbClr val="1C1B1B"/>
                          </a:solidFill>
                          <a:latin typeface="Pretendard"/>
                          <a:ea typeface="Pretendard"/>
                          <a:cs typeface="Pretendard"/>
                        </a:rPr>
                        <a:t>0.45</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0">
                          <a:solidFill>
                            <a:srgbClr val="1C1B1B"/>
                          </a:solidFill>
                          <a:latin typeface="Pretendard"/>
                          <a:ea typeface="Pretendard"/>
                          <a:cs typeface="Pretendard"/>
                        </a:rPr>
                        <a:t>0.20</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66700">
                <a:tc>
                  <a:txBody>
                    <a:bodyPr wrap="square"/>
                    <a:lstStyle/>
                    <a:p>
                      <a:pPr>
                        <a:lnSpc>
                          <a:spcPct val="122000"/>
                        </a:lnSpc>
                      </a:pPr>
                      <a:r>
                        <a:rPr sz="1000" b="1">
                          <a:solidFill>
                            <a:srgbClr val="002C5F"/>
                          </a:solidFill>
                          <a:latin typeface="Pretendard"/>
                          <a:ea typeface="Pretendard"/>
                          <a:cs typeface="Pretendard"/>
                        </a:rPr>
                        <a:t>일반</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1">
                          <a:solidFill>
                            <a:srgbClr val="1C1B1B"/>
                          </a:solidFill>
                          <a:latin typeface="Pretendard"/>
                          <a:ea typeface="Pretendard"/>
                          <a:cs typeface="Pretendard"/>
                        </a:rPr>
                        <a:t>0.50</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0">
                          <a:solidFill>
                            <a:srgbClr val="1C1B1B"/>
                          </a:solidFill>
                          <a:latin typeface="Pretendard"/>
                          <a:ea typeface="Pretendard"/>
                          <a:cs typeface="Pretendard"/>
                        </a:rPr>
                        <a:t>0.30</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0">
                          <a:solidFill>
                            <a:srgbClr val="1C1B1B"/>
                          </a:solidFill>
                          <a:latin typeface="Pretendard"/>
                          <a:ea typeface="Pretendard"/>
                          <a:cs typeface="Pretendard"/>
                        </a:rPr>
                        <a:t>0.20</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66700">
                <a:tc>
                  <a:txBody>
                    <a:bodyPr wrap="square"/>
                    <a:lstStyle/>
                    <a:p>
                      <a:pPr>
                        <a:lnSpc>
                          <a:spcPct val="122000"/>
                        </a:lnSpc>
                      </a:pPr>
                      <a:r>
                        <a:rPr sz="1000" b="1">
                          <a:solidFill>
                            <a:srgbClr val="002C5F"/>
                          </a:solidFill>
                          <a:latin typeface="Pretendard"/>
                          <a:ea typeface="Pretendard"/>
                          <a:cs typeface="Pretendard"/>
                        </a:rPr>
                        <a:t>저위험</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1">
                          <a:solidFill>
                            <a:srgbClr val="1C1B1B"/>
                          </a:solidFill>
                          <a:latin typeface="Pretendard"/>
                          <a:ea typeface="Pretendard"/>
                          <a:cs typeface="Pretendard"/>
                        </a:rPr>
                        <a:t>0.55</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0">
                          <a:solidFill>
                            <a:srgbClr val="1C1B1B"/>
                          </a:solidFill>
                          <a:latin typeface="Pretendard"/>
                          <a:ea typeface="Pretendard"/>
                          <a:cs typeface="Pretendard"/>
                        </a:rPr>
                        <a:t>0.15</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0">
                          <a:solidFill>
                            <a:srgbClr val="1C1B1B"/>
                          </a:solidFill>
                          <a:latin typeface="Pretendard"/>
                          <a:ea typeface="Pretendard"/>
                          <a:cs typeface="Pretendard"/>
                        </a:rPr>
                        <a:t>0.30</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bl>
          </a:graphicData>
        </a:graphic>
      </p:graphicFrame>
      <p:sp>
        <p:nvSpPr>
          <p:cNvPr id="11" name="TextBox 10"/>
          <p:cNvSpPr txBox="1"/>
          <p:nvPr/>
        </p:nvSpPr>
        <p:spPr>
          <a:xfrm>
            <a:off x="6134100" y="1714500"/>
            <a:ext cx="5524500" cy="208121"/>
          </a:xfrm>
          <a:prstGeom prst="rect">
            <a:avLst/>
          </a:prstGeom>
          <a:noFill/>
        </p:spPr>
        <p:txBody>
          <a:bodyPr wrap="square" anchor="t" lIns="0" rIns="0" tIns="0" bIns="0">
            <a:spAutoFit/>
          </a:bodyPr>
          <a:lstStyle/>
          <a:p>
            <a:pPr algn="l">
              <a:lnSpc>
                <a:spcPct val="100000"/>
              </a:lnSpc>
            </a:pPr>
            <a:r>
              <a:rPr sz="1150" b="1">
                <a:solidFill>
                  <a:srgbClr val="00AAD2"/>
                </a:solidFill>
                <a:latin typeface="Pretendard"/>
                <a:ea typeface="Pretendard"/>
                <a:cs typeface="Pretendard"/>
              </a:rPr>
              <a:t>설계에서 고친 두 가지</a:t>
            </a:r>
          </a:p>
        </p:txBody>
      </p:sp>
      <p:sp>
        <p:nvSpPr>
          <p:cNvPr id="12" name="TextBox 11"/>
          <p:cNvSpPr txBox="1"/>
          <p:nvPr/>
        </p:nvSpPr>
        <p:spPr>
          <a:xfrm>
            <a:off x="6134100" y="1960721"/>
            <a:ext cx="5524500" cy="1353979"/>
          </a:xfrm>
          <a:prstGeom prst="rect">
            <a:avLst/>
          </a:prstGeom>
          <a:noFill/>
        </p:spPr>
        <p:txBody>
          <a:bodyPr wrap="square" anchor="t" lIns="0" rIns="0" tIns="0" bIns="0">
            <a:spAutoFit/>
          </a:bodyPr>
          <a:lstStyle/>
          <a:p>
            <a:pPr algn="l">
              <a:lnSpc>
                <a:spcPct val="145000"/>
              </a:lnSpc>
              <a:spcAft>
                <a:spcPts val="400"/>
              </a:spcAft>
            </a:pPr>
            <a:r>
              <a:rPr sz="950" b="1">
                <a:solidFill>
                  <a:srgbClr val="4D4D4D"/>
                </a:solidFill>
                <a:latin typeface="Pretendard"/>
                <a:ea typeface="Pretendard"/>
                <a:cs typeface="Pretendard"/>
              </a:rPr>
              <a:t>① 재정규화.</a:t>
            </a:r>
            <a:r>
              <a:rPr sz="950" b="0">
                <a:solidFill>
                  <a:srgbClr val="4D4D4D"/>
                </a:solidFill>
                <a:latin typeface="Pretendard"/>
                <a:ea typeface="Pretendard"/>
                <a:cs typeface="Pretendard"/>
              </a:rPr>
              <a:t> 쓸 수 없는 신호에 0을 넣으면 안 된다. 0은 중립값이 아니라 최솟값이라 위험도 상한이 잘린다. 그래서 쓸 수 없는 신호는 분모에서 빼고 남은 신호로 다시 정규화한다.</a:t>
            </a:r>
          </a:p>
          <a:p>
            <a:pPr algn="l">
              <a:lnSpc>
                <a:spcPct val="145000"/>
              </a:lnSpc>
              <a:spcAft>
                <a:spcPts val="400"/>
              </a:spcAft>
            </a:pPr>
            <a:r>
              <a:rPr sz="950" b="1">
                <a:solidFill>
                  <a:srgbClr val="4D4D4D"/>
                </a:solidFill>
                <a:latin typeface="Pretendard"/>
                <a:ea typeface="Pretendard"/>
                <a:cs typeface="Pretendard"/>
              </a:rPr>
              <a:t>② 문턱 재교정.</a:t>
            </a:r>
            <a:r>
              <a:rPr sz="950" b="0">
                <a:solidFill>
                  <a:srgbClr val="4D4D4D"/>
                </a:solidFill>
                <a:latin typeface="Pretendard"/>
                <a:ea typeface="Pretendard"/>
                <a:cs typeface="Pretendard"/>
              </a:rPr>
              <a:t> 초기 0.441 에서는 젖은 노면 오경보가 40 %였다. 실사진 69,358장 스윕으로 절벽 구간을 찾아 0.603 으로 올렸고 오경보가 0.8 %로 내려갔다. 폭우는 강수 게이트로 따로 분리했다.</a:t>
            </a:r>
          </a:p>
        </p:txBody>
      </p:sp>
      <p:sp>
        <p:nvSpPr>
          <p:cNvPr id="13" name="TextBox 12"/>
          <p:cNvSpPr txBox="1"/>
          <p:nvPr/>
        </p:nvSpPr>
        <p:spPr>
          <a:xfrm>
            <a:off x="533400" y="2971800"/>
            <a:ext cx="5715000" cy="162878"/>
          </a:xfrm>
          <a:prstGeom prst="rect">
            <a:avLst/>
          </a:prstGeom>
          <a:noFill/>
        </p:spPr>
        <p:txBody>
          <a:bodyPr wrap="square" anchor="t" lIns="0" rIns="0" tIns="0" bIns="0">
            <a:spAutoFit/>
          </a:bodyPr>
          <a:lstStyle/>
          <a:p>
            <a:pPr algn="l">
              <a:lnSpc>
                <a:spcPct val="100000"/>
              </a:lnSpc>
            </a:pPr>
            <a:r>
              <a:rPr sz="950" b="1" spc="80">
                <a:solidFill>
                  <a:srgbClr val="002C5F"/>
                </a:solidFill>
                <a:latin typeface="Pretendard"/>
                <a:ea typeface="Pretendard"/>
                <a:cs typeface="Pretendard"/>
              </a:rPr>
              <a:t>맥락 계층이 보는 입력 — 같은 빙판 · 같은 주행선, 날씨만 바꿨다</a:t>
            </a:r>
          </a:p>
        </p:txBody>
      </p:sp>
      <p:pic>
        <p:nvPicPr>
          <p:cNvPr id="14" name="Picture 13" descr="image.jpg"/>
          <p:cNvPicPr>
            <a:picLocks noChangeAspect="1"/>
          </p:cNvPicPr>
          <p:nvPr/>
        </p:nvPicPr>
        <p:blipFill>
          <a:blip r:embed="rId2"/>
          <a:stretch>
            <a:fillRect/>
          </a:stretch>
        </p:blipFill>
        <p:spPr>
          <a:xfrm>
            <a:off x="533400" y="3219450"/>
            <a:ext cx="2695575" cy="2990850"/>
          </a:xfrm>
          <a:prstGeom prst="rect">
            <a:avLst/>
          </a:prstGeom>
        </p:spPr>
      </p:pic>
      <p:sp>
        <p:nvSpPr>
          <p:cNvPr id="15" name="Rectangle 14"/>
          <p:cNvSpPr/>
          <p:nvPr/>
        </p:nvSpPr>
        <p:spPr>
          <a:xfrm>
            <a:off x="533400" y="5962650"/>
            <a:ext cx="1066800" cy="247650"/>
          </a:xfrm>
          <a:prstGeom prst="rect">
            <a:avLst/>
          </a:prstGeom>
          <a:solidFill>
            <a:srgbClr val="002C5F">
              <a:alpha val="85000"/>
            </a:srgbClr>
          </a:solidFill>
          <a:ln>
            <a:noFill/>
          </a:ln>
          <a:effectLst/>
        </p:spPr>
        <p:txBody>
          <a:bodyPr rtlCol="0" anchor="ctr"/>
          <a:lstStyle/>
          <a:p/>
        </p:txBody>
      </p:sp>
      <p:sp>
        <p:nvSpPr>
          <p:cNvPr id="16" name="TextBox 15"/>
          <p:cNvSpPr txBox="1"/>
          <p:nvPr/>
        </p:nvSpPr>
        <p:spPr>
          <a:xfrm>
            <a:off x="628650" y="5962650"/>
            <a:ext cx="971550" cy="247650"/>
          </a:xfrm>
          <a:prstGeom prst="rect">
            <a:avLst/>
          </a:prstGeom>
          <a:noFill/>
        </p:spPr>
        <p:txBody>
          <a:bodyPr wrap="square" anchor="ctr" lIns="0" rIns="0" tIns="0" bIns="0">
            <a:spAutoFit/>
          </a:bodyPr>
          <a:lstStyle/>
          <a:p>
            <a:pPr algn="l">
              <a:lnSpc>
                <a:spcPct val="140000"/>
              </a:lnSpc>
            </a:pPr>
            <a:r>
              <a:rPr sz="900" b="1">
                <a:solidFill>
                  <a:srgbClr val="FFFFFF"/>
                </a:solidFill>
                <a:latin typeface="Pretendard"/>
                <a:ea typeface="Pretendard"/>
                <a:cs typeface="Pretendard"/>
              </a:rPr>
              <a:t>맑은 낮</a:t>
            </a:r>
          </a:p>
        </p:txBody>
      </p:sp>
      <p:pic>
        <p:nvPicPr>
          <p:cNvPr id="17" name="Picture 16" descr="image.jpg"/>
          <p:cNvPicPr>
            <a:picLocks noChangeAspect="1"/>
          </p:cNvPicPr>
          <p:nvPr/>
        </p:nvPicPr>
        <p:blipFill>
          <a:blip r:embed="rId3"/>
          <a:stretch>
            <a:fillRect/>
          </a:stretch>
        </p:blipFill>
        <p:spPr>
          <a:xfrm>
            <a:off x="3343275" y="3219450"/>
            <a:ext cx="2695575" cy="2990850"/>
          </a:xfrm>
          <a:prstGeom prst="rect">
            <a:avLst/>
          </a:prstGeom>
        </p:spPr>
      </p:pic>
      <p:sp>
        <p:nvSpPr>
          <p:cNvPr id="18" name="Rectangle 17"/>
          <p:cNvSpPr/>
          <p:nvPr/>
        </p:nvSpPr>
        <p:spPr>
          <a:xfrm>
            <a:off x="3343275" y="5962650"/>
            <a:ext cx="1066800" cy="247650"/>
          </a:xfrm>
          <a:prstGeom prst="rect">
            <a:avLst/>
          </a:prstGeom>
          <a:solidFill>
            <a:srgbClr val="002C5F">
              <a:alpha val="85000"/>
            </a:srgbClr>
          </a:solidFill>
          <a:ln>
            <a:noFill/>
          </a:ln>
          <a:effectLst/>
        </p:spPr>
        <p:txBody>
          <a:bodyPr rtlCol="0" anchor="ctr"/>
          <a:lstStyle/>
          <a:p/>
        </p:txBody>
      </p:sp>
      <p:sp>
        <p:nvSpPr>
          <p:cNvPr id="19" name="TextBox 18"/>
          <p:cNvSpPr txBox="1"/>
          <p:nvPr/>
        </p:nvSpPr>
        <p:spPr>
          <a:xfrm>
            <a:off x="3438525" y="5962650"/>
            <a:ext cx="971550" cy="247650"/>
          </a:xfrm>
          <a:prstGeom prst="rect">
            <a:avLst/>
          </a:prstGeom>
          <a:noFill/>
        </p:spPr>
        <p:txBody>
          <a:bodyPr wrap="square" anchor="ctr" lIns="0" rIns="0" tIns="0" bIns="0">
            <a:spAutoFit/>
          </a:bodyPr>
          <a:lstStyle/>
          <a:p>
            <a:pPr algn="l">
              <a:lnSpc>
                <a:spcPct val="140000"/>
              </a:lnSpc>
            </a:pPr>
            <a:r>
              <a:rPr sz="900" b="1">
                <a:solidFill>
                  <a:srgbClr val="FFFFFF"/>
                </a:solidFill>
                <a:latin typeface="Pretendard"/>
                <a:ea typeface="Pretendard"/>
                <a:cs typeface="Pretendard"/>
              </a:rPr>
              <a:t>비 오는 밤</a:t>
            </a:r>
          </a:p>
        </p:txBody>
      </p:sp>
      <p:pic>
        <p:nvPicPr>
          <p:cNvPr id="20" name="Picture 19" descr="image.jpg"/>
          <p:cNvPicPr>
            <a:picLocks noChangeAspect="1"/>
          </p:cNvPicPr>
          <p:nvPr/>
        </p:nvPicPr>
        <p:blipFill>
          <a:blip r:embed="rId4"/>
          <a:stretch>
            <a:fillRect/>
          </a:stretch>
        </p:blipFill>
        <p:spPr>
          <a:xfrm>
            <a:off x="6153150" y="3219450"/>
            <a:ext cx="2695575" cy="2990850"/>
          </a:xfrm>
          <a:prstGeom prst="rect">
            <a:avLst/>
          </a:prstGeom>
        </p:spPr>
      </p:pic>
      <p:sp>
        <p:nvSpPr>
          <p:cNvPr id="21" name="Rectangle 20"/>
          <p:cNvSpPr/>
          <p:nvPr/>
        </p:nvSpPr>
        <p:spPr>
          <a:xfrm>
            <a:off x="6153150" y="5962650"/>
            <a:ext cx="1066800" cy="247650"/>
          </a:xfrm>
          <a:prstGeom prst="rect">
            <a:avLst/>
          </a:prstGeom>
          <a:solidFill>
            <a:srgbClr val="002C5F">
              <a:alpha val="85000"/>
            </a:srgbClr>
          </a:solidFill>
          <a:ln>
            <a:noFill/>
          </a:ln>
          <a:effectLst/>
        </p:spPr>
        <p:txBody>
          <a:bodyPr rtlCol="0" anchor="ctr"/>
          <a:lstStyle/>
          <a:p/>
        </p:txBody>
      </p:sp>
      <p:sp>
        <p:nvSpPr>
          <p:cNvPr id="22" name="TextBox 21"/>
          <p:cNvSpPr txBox="1"/>
          <p:nvPr/>
        </p:nvSpPr>
        <p:spPr>
          <a:xfrm>
            <a:off x="6248400" y="5962650"/>
            <a:ext cx="971550" cy="247650"/>
          </a:xfrm>
          <a:prstGeom prst="rect">
            <a:avLst/>
          </a:prstGeom>
          <a:noFill/>
        </p:spPr>
        <p:txBody>
          <a:bodyPr wrap="square" anchor="ctr" lIns="0" rIns="0" tIns="0" bIns="0">
            <a:spAutoFit/>
          </a:bodyPr>
          <a:lstStyle/>
          <a:p>
            <a:pPr algn="l">
              <a:lnSpc>
                <a:spcPct val="140000"/>
              </a:lnSpc>
            </a:pPr>
            <a:r>
              <a:rPr sz="900" b="1">
                <a:solidFill>
                  <a:srgbClr val="FFFFFF"/>
                </a:solidFill>
                <a:latin typeface="Pretendard"/>
                <a:ea typeface="Pretendard"/>
                <a:cs typeface="Pretendard"/>
              </a:rPr>
              <a:t>눈</a:t>
            </a:r>
          </a:p>
        </p:txBody>
      </p:sp>
      <p:pic>
        <p:nvPicPr>
          <p:cNvPr id="23" name="Picture 22" descr="image.jpg"/>
          <p:cNvPicPr>
            <a:picLocks noChangeAspect="1"/>
          </p:cNvPicPr>
          <p:nvPr/>
        </p:nvPicPr>
        <p:blipFill>
          <a:blip r:embed="rId5"/>
          <a:stretch>
            <a:fillRect/>
          </a:stretch>
        </p:blipFill>
        <p:spPr>
          <a:xfrm>
            <a:off x="8963025" y="3219450"/>
            <a:ext cx="2695575" cy="2990850"/>
          </a:xfrm>
          <a:prstGeom prst="rect">
            <a:avLst/>
          </a:prstGeom>
        </p:spPr>
      </p:pic>
      <p:sp>
        <p:nvSpPr>
          <p:cNvPr id="24" name="Rectangle 23"/>
          <p:cNvSpPr/>
          <p:nvPr/>
        </p:nvSpPr>
        <p:spPr>
          <a:xfrm>
            <a:off x="8963025" y="5962650"/>
            <a:ext cx="1066800" cy="247650"/>
          </a:xfrm>
          <a:prstGeom prst="rect">
            <a:avLst/>
          </a:prstGeom>
          <a:solidFill>
            <a:srgbClr val="002C5F">
              <a:alpha val="85000"/>
            </a:srgbClr>
          </a:solidFill>
          <a:ln>
            <a:noFill/>
          </a:ln>
          <a:effectLst/>
        </p:spPr>
        <p:txBody>
          <a:bodyPr rtlCol="0" anchor="ctr"/>
          <a:lstStyle/>
          <a:p/>
        </p:txBody>
      </p:sp>
      <p:sp>
        <p:nvSpPr>
          <p:cNvPr id="25" name="TextBox 24"/>
          <p:cNvSpPr txBox="1"/>
          <p:nvPr/>
        </p:nvSpPr>
        <p:spPr>
          <a:xfrm>
            <a:off x="9058275" y="5962650"/>
            <a:ext cx="971550" cy="247650"/>
          </a:xfrm>
          <a:prstGeom prst="rect">
            <a:avLst/>
          </a:prstGeom>
          <a:noFill/>
        </p:spPr>
        <p:txBody>
          <a:bodyPr wrap="square" anchor="ctr" lIns="0" rIns="0" tIns="0" bIns="0">
            <a:spAutoFit/>
          </a:bodyPr>
          <a:lstStyle/>
          <a:p>
            <a:pPr algn="l">
              <a:lnSpc>
                <a:spcPct val="140000"/>
              </a:lnSpc>
            </a:pPr>
            <a:r>
              <a:rPr sz="900" b="1">
                <a:solidFill>
                  <a:srgbClr val="FFFFFF"/>
                </a:solidFill>
                <a:latin typeface="Pretendard"/>
                <a:ea typeface="Pretendard"/>
                <a:cs typeface="Pretendard"/>
              </a:rPr>
              <a:t>폭우 낮</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3400" y="323850"/>
            <a:ext cx="5715000" cy="162878"/>
          </a:xfrm>
          <a:prstGeom prst="rect">
            <a:avLst/>
          </a:prstGeom>
          <a:noFill/>
        </p:spPr>
        <p:txBody>
          <a:bodyPr wrap="square" anchor="t" lIns="0" rIns="0" tIns="0" bIns="0">
            <a:spAutoFit/>
          </a:bodyPr>
          <a:lstStyle/>
          <a:p>
            <a:pPr algn="l">
              <a:lnSpc>
                <a:spcPct val="100000"/>
              </a:lnSpc>
            </a:pPr>
            <a:r>
              <a:rPr sz="950" b="1" spc="80">
                <a:solidFill>
                  <a:srgbClr val="E63312"/>
                </a:solidFill>
                <a:latin typeface="Pretendard"/>
                <a:ea typeface="Pretendard"/>
                <a:cs typeface="Pretendard"/>
              </a:rPr>
              <a:t>2차 방어</a:t>
            </a:r>
          </a:p>
        </p:txBody>
      </p:sp>
      <p:sp>
        <p:nvSpPr>
          <p:cNvPr id="3" name="TextBox 2"/>
          <p:cNvSpPr txBox="1"/>
          <p:nvPr/>
        </p:nvSpPr>
        <p:spPr>
          <a:xfrm>
            <a:off x="9753600" y="314325"/>
            <a:ext cx="1905000" cy="152400"/>
          </a:xfrm>
          <a:prstGeom prst="rect">
            <a:avLst/>
          </a:prstGeom>
          <a:noFill/>
        </p:spPr>
        <p:txBody>
          <a:bodyPr wrap="square" anchor="t" lIns="0" rIns="0" tIns="0" bIns="0">
            <a:spAutoFit/>
          </a:bodyPr>
          <a:lstStyle/>
          <a:p>
            <a:pPr algn="r">
              <a:lnSpc>
                <a:spcPct val="140000"/>
              </a:lnSpc>
            </a:pPr>
            <a:r>
              <a:rPr sz="900" b="0">
                <a:solidFill>
                  <a:srgbClr val="A6A6A6"/>
                </a:solidFill>
                <a:latin typeface="Pretendard"/>
                <a:ea typeface="Pretendard"/>
                <a:cs typeface="Pretendard"/>
              </a:rPr>
              <a:t>12 / 20</a:t>
            </a:r>
          </a:p>
        </p:txBody>
      </p:sp>
      <p:sp>
        <p:nvSpPr>
          <p:cNvPr id="4" name="TextBox 3"/>
          <p:cNvSpPr txBox="1"/>
          <p:nvPr/>
        </p:nvSpPr>
        <p:spPr>
          <a:xfrm>
            <a:off x="533400" y="495300"/>
            <a:ext cx="11125200" cy="381000"/>
          </a:xfrm>
          <a:prstGeom prst="rect">
            <a:avLst/>
          </a:prstGeom>
          <a:noFill/>
        </p:spPr>
        <p:txBody>
          <a:bodyPr wrap="square" anchor="t" lIns="0" rIns="0" tIns="0" bIns="0">
            <a:spAutoFit/>
          </a:bodyPr>
          <a:lstStyle/>
          <a:p>
            <a:pPr algn="l">
              <a:lnSpc>
                <a:spcPct val="100000"/>
              </a:lnSpc>
            </a:pPr>
            <a:r>
              <a:rPr sz="2400" b="0">
                <a:solidFill>
                  <a:srgbClr val="1C1B1B"/>
                </a:solidFill>
                <a:latin typeface="Pretendard ExtraBold"/>
                <a:ea typeface="Pretendard ExtraBold"/>
                <a:cs typeface="Pretendard ExtraBold"/>
              </a:rPr>
              <a:t>원리 — 칼만 필터 + 자전거 모델 잔차</a:t>
            </a:r>
          </a:p>
        </p:txBody>
      </p:sp>
      <p:sp>
        <p:nvSpPr>
          <p:cNvPr id="5" name="TextBox 4"/>
          <p:cNvSpPr txBox="1"/>
          <p:nvPr/>
        </p:nvSpPr>
        <p:spPr>
          <a:xfrm>
            <a:off x="533400" y="6286500"/>
            <a:ext cx="11125200" cy="304800"/>
          </a:xfrm>
          <a:prstGeom prst="rect">
            <a:avLst/>
          </a:prstGeom>
          <a:noFill/>
        </p:spPr>
        <p:txBody>
          <a:bodyPr wrap="square" anchor="t" lIns="0" rIns="0" tIns="0" bIns="0">
            <a:spAutoFit/>
          </a:bodyPr>
          <a:lstStyle/>
          <a:p>
            <a:pPr algn="l">
              <a:lnSpc>
                <a:spcPct val="130000"/>
              </a:lnSpc>
            </a:pPr>
            <a:r>
              <a:rPr sz="850" b="0">
                <a:solidFill>
                  <a:srgbClr val="767676"/>
                </a:solidFill>
                <a:latin typeface="Pretendard"/>
                <a:ea typeface="Pretendard"/>
                <a:cs typeface="Pretendard"/>
              </a:rPr>
              <a:t>C 코어(sw/fw/npu_lib/slip_core.h)는 HAL·OS 비의존이라 호스트에서도 컴파일된다. 파이썬 참조 구현과 같은 판정을 내리는지 매 커밋 검증한다.</a:t>
            </a:r>
          </a:p>
        </p:txBody>
      </p:sp>
      <p:sp>
        <p:nvSpPr>
          <p:cNvPr id="6" name="TextBox 5"/>
          <p:cNvSpPr txBox="1"/>
          <p:nvPr/>
        </p:nvSpPr>
        <p:spPr>
          <a:xfrm>
            <a:off x="533400" y="6648450"/>
            <a:ext cx="7620000" cy="133350"/>
          </a:xfrm>
          <a:prstGeom prst="rect">
            <a:avLst/>
          </a:prstGeom>
          <a:noFill/>
        </p:spPr>
        <p:txBody>
          <a:bodyPr wrap="square" anchor="t" lIns="0" rIns="0" tIns="0" bIns="0">
            <a:spAutoFit/>
          </a:bodyPr>
          <a:lstStyle/>
          <a:p>
            <a:pPr algn="l">
              <a:lnSpc>
                <a:spcPct val="140000"/>
              </a:lnSpc>
            </a:pPr>
            <a:r>
              <a:rPr sz="800" b="0">
                <a:solidFill>
                  <a:srgbClr val="A6A6A6"/>
                </a:solidFill>
                <a:latin typeface="Pretendard"/>
                <a:ea typeface="Pretendard"/>
                <a:cs typeface="Pretendard"/>
              </a:rPr>
              <a:t>팀 ARTS · 제24회 임베디드SW경진대회 자동차/모빌리티(현대자동차) · github.com/gkgk0119gmail-arch/2026ESWContest_mobility_ARTS</a:t>
            </a:r>
          </a:p>
        </p:txBody>
      </p:sp>
      <p:sp>
        <p:nvSpPr>
          <p:cNvPr id="7" name="TextBox 6"/>
          <p:cNvSpPr txBox="1"/>
          <p:nvPr/>
        </p:nvSpPr>
        <p:spPr>
          <a:xfrm>
            <a:off x="10134600" y="6638925"/>
            <a:ext cx="1524000" cy="133350"/>
          </a:xfrm>
          <a:prstGeom prst="rect">
            <a:avLst/>
          </a:prstGeom>
          <a:noFill/>
        </p:spPr>
        <p:txBody>
          <a:bodyPr wrap="square" anchor="t" lIns="0" rIns="0" tIns="0" bIns="0">
            <a:spAutoFit/>
          </a:bodyPr>
          <a:lstStyle/>
          <a:p>
            <a:pPr algn="r">
              <a:lnSpc>
                <a:spcPct val="140000"/>
              </a:lnSpc>
            </a:pPr>
            <a:r>
              <a:rPr sz="900" b="1">
                <a:solidFill>
                  <a:srgbClr val="002C5F"/>
                </a:solidFill>
                <a:latin typeface="Pretendard"/>
                <a:ea typeface="Pretendard"/>
                <a:cs typeface="Pretendard"/>
              </a:rPr>
              <a:t>IcePredict</a:t>
            </a:r>
          </a:p>
        </p:txBody>
      </p:sp>
      <p:sp>
        <p:nvSpPr>
          <p:cNvPr id="8" name="Rectangle 7"/>
          <p:cNvSpPr/>
          <p:nvPr/>
        </p:nvSpPr>
        <p:spPr>
          <a:xfrm>
            <a:off x="533400" y="1028700"/>
            <a:ext cx="6477000" cy="1638300"/>
          </a:xfrm>
          <a:prstGeom prst="rect">
            <a:avLst/>
          </a:prstGeom>
          <a:solidFill>
            <a:srgbClr val="F6F3F2"/>
          </a:solidFill>
          <a:ln>
            <a:noFill/>
          </a:ln>
          <a:effectLst/>
        </p:spPr>
        <p:txBody>
          <a:bodyPr rtlCol="0" anchor="ctr"/>
          <a:lstStyle/>
          <a:p/>
        </p:txBody>
      </p:sp>
      <p:sp>
        <p:nvSpPr>
          <p:cNvPr id="9" name="TextBox 8"/>
          <p:cNvSpPr txBox="1"/>
          <p:nvPr/>
        </p:nvSpPr>
        <p:spPr>
          <a:xfrm>
            <a:off x="685800" y="1181100"/>
            <a:ext cx="6172200" cy="208121"/>
          </a:xfrm>
          <a:prstGeom prst="rect">
            <a:avLst/>
          </a:prstGeom>
          <a:noFill/>
        </p:spPr>
        <p:txBody>
          <a:bodyPr wrap="square" anchor="t" lIns="0" rIns="0" tIns="0" bIns="0">
            <a:spAutoFit/>
          </a:bodyPr>
          <a:lstStyle/>
          <a:p>
            <a:pPr algn="l">
              <a:lnSpc>
                <a:spcPct val="100000"/>
              </a:lnSpc>
            </a:pPr>
            <a:r>
              <a:rPr sz="1150" b="1">
                <a:solidFill>
                  <a:srgbClr val="E63312"/>
                </a:solidFill>
                <a:latin typeface="Pretendard"/>
                <a:ea typeface="Pretendard"/>
                <a:cs typeface="Pretendard"/>
              </a:rPr>
              <a:t>판단 절차</a:t>
            </a:r>
          </a:p>
        </p:txBody>
      </p:sp>
      <p:sp>
        <p:nvSpPr>
          <p:cNvPr id="10" name="TextBox 9"/>
          <p:cNvSpPr txBox="1"/>
          <p:nvPr/>
        </p:nvSpPr>
        <p:spPr>
          <a:xfrm>
            <a:off x="685800" y="1427321"/>
            <a:ext cx="6172200" cy="1087279"/>
          </a:xfrm>
          <a:prstGeom prst="rect">
            <a:avLst/>
          </a:prstGeom>
          <a:noFill/>
        </p:spPr>
        <p:txBody>
          <a:bodyPr wrap="square" anchor="t" lIns="0" rIns="0" tIns="0" bIns="0">
            <a:spAutoFit/>
          </a:bodyPr>
          <a:lstStyle/>
          <a:p>
            <a:pPr algn="l">
              <a:lnSpc>
                <a:spcPct val="145000"/>
              </a:lnSpc>
              <a:spcAft>
                <a:spcPts val="300"/>
              </a:spcAft>
            </a:pPr>
            <a:r>
              <a:rPr sz="950" b="1">
                <a:solidFill>
                  <a:srgbClr val="E63312"/>
                </a:solidFill>
                <a:latin typeface="Pretendard"/>
                <a:ea typeface="Pretendard"/>
                <a:cs typeface="Pretendard"/>
              </a:rPr>
              <a:t>1</a:t>
            </a:r>
            <a:r>
              <a:rPr sz="950" b="0">
                <a:solidFill>
                  <a:srgbClr val="4D4D4D"/>
                </a:solidFill>
                <a:latin typeface="Pretendard"/>
                <a:ea typeface="Pretendard"/>
                <a:cs typeface="Pretendard"/>
              </a:rPr>
              <a:t>  IMU 50 Hz 에서 횡가속 a_y · yaw rate · 종가속을 받는다</a:t>
            </a:r>
          </a:p>
          <a:p>
            <a:pPr algn="l">
              <a:lnSpc>
                <a:spcPct val="145000"/>
              </a:lnSpc>
              <a:spcAft>
                <a:spcPts val="300"/>
              </a:spcAft>
            </a:pPr>
            <a:r>
              <a:rPr sz="950" b="1">
                <a:solidFill>
                  <a:srgbClr val="E63312"/>
                </a:solidFill>
                <a:latin typeface="Pretendard"/>
                <a:ea typeface="Pretendard"/>
                <a:cs typeface="Pretendard"/>
              </a:rPr>
              <a:t>2</a:t>
            </a:r>
            <a:r>
              <a:rPr sz="950" b="0">
                <a:solidFill>
                  <a:srgbClr val="4D4D4D"/>
                </a:solidFill>
                <a:latin typeface="Pretendard"/>
                <a:ea typeface="Pretendard"/>
                <a:cs typeface="Pretendard"/>
              </a:rPr>
              <a:t>  2상태 칼만 필터(값 · 변화율)로 잡음을 거른다 — Q = 2000/3000, R = 0.16/0.0005</a:t>
            </a:r>
          </a:p>
          <a:p>
            <a:pPr algn="l">
              <a:lnSpc>
                <a:spcPct val="145000"/>
              </a:lnSpc>
              <a:spcAft>
                <a:spcPts val="300"/>
              </a:spcAft>
            </a:pPr>
            <a:r>
              <a:rPr sz="950" b="1">
                <a:solidFill>
                  <a:srgbClr val="E63312"/>
                </a:solidFill>
                <a:latin typeface="Pretendard"/>
                <a:ea typeface="Pretendard"/>
                <a:cs typeface="Pretendard"/>
              </a:rPr>
              <a:t>3</a:t>
            </a:r>
            <a:r>
              <a:rPr sz="950" b="0">
                <a:solidFill>
                  <a:srgbClr val="4D4D4D"/>
                </a:solidFill>
                <a:latin typeface="Pretendard"/>
                <a:ea typeface="Pretendard"/>
                <a:cs typeface="Pretendard"/>
              </a:rPr>
              <a:t>  자전거 모델로 '이 속도·이 조향이면 나와야 할 yaw rate'를 계산한다 (고속 언더스티어 보정 1/(1+(v/v_ch)²), v_ch = 17 m/s)</a:t>
            </a:r>
          </a:p>
          <a:p>
            <a:pPr algn="l">
              <a:lnSpc>
                <a:spcPct val="145000"/>
              </a:lnSpc>
              <a:spcAft>
                <a:spcPts val="300"/>
              </a:spcAft>
            </a:pPr>
            <a:r>
              <a:rPr sz="950" b="1">
                <a:solidFill>
                  <a:srgbClr val="E63312"/>
                </a:solidFill>
                <a:latin typeface="Pretendard"/>
                <a:ea typeface="Pretendard"/>
                <a:cs typeface="Pretendard"/>
              </a:rPr>
              <a:t>4</a:t>
            </a:r>
            <a:r>
              <a:rPr sz="950" b="0">
                <a:solidFill>
                  <a:srgbClr val="4D4D4D"/>
                </a:solidFill>
                <a:latin typeface="Pretendard"/>
                <a:ea typeface="Pretendard"/>
                <a:cs typeface="Pretendard"/>
              </a:rPr>
              <a:t>  실측과 모델의 잔차가 </a:t>
            </a:r>
            <a:r>
              <a:rPr sz="950" b="1">
                <a:solidFill>
                  <a:srgbClr val="4D4D4D"/>
                </a:solidFill>
                <a:latin typeface="Pretendard"/>
                <a:ea typeface="Pretendard"/>
                <a:cs typeface="Pretendard"/>
              </a:rPr>
              <a:t>타원 밖</a:t>
            </a:r>
            <a:r>
              <a:rPr sz="950" b="0">
                <a:solidFill>
                  <a:srgbClr val="4D4D4D"/>
                </a:solidFill>
                <a:latin typeface="Pretendard"/>
                <a:ea typeface="Pretendard"/>
                <a:cs typeface="Pretendard"/>
              </a:rPr>
              <a:t>이면 미끄러짐 — 3샘플(60 ms) 연속이면 확정</a:t>
            </a:r>
          </a:p>
        </p:txBody>
      </p:sp>
      <p:graphicFrame>
        <p:nvGraphicFramePr>
          <p:cNvPr id="11" name="Table 10"/>
          <p:cNvGraphicFramePr>
            <a:graphicFrameLocks noGrp="1"/>
          </p:cNvGraphicFramePr>
          <p:nvPr/>
        </p:nvGraphicFramePr>
        <p:xfrm>
          <a:off x="533400" y="2800350"/>
          <a:ext cx="6477000" cy="1771650"/>
        </p:xfrm>
        <a:graphic>
          <a:graphicData uri="http://schemas.openxmlformats.org/drawingml/2006/table">
            <a:tbl>
              <a:tblPr>
                <a:tableStyleId>{2D5ABB26-0587-4C30-8999-92F81FD0307C}</a:tableStyleId>
              </a:tblPr>
              <a:tblGrid>
                <a:gridCol w="1133475"/>
                <a:gridCol w="2105025"/>
                <a:gridCol w="3238500"/>
              </a:tblGrid>
              <a:tr h="228600">
                <a:tc>
                  <a:txBody>
                    <a:bodyPr wrap="square"/>
                    <a:lstStyle/>
                    <a:p>
                      <a:pPr>
                        <a:lnSpc>
                          <a:spcPct val="122000"/>
                        </a:lnSpc>
                      </a:pPr>
                      <a:r>
                        <a:rPr sz="900" b="1">
                          <a:solidFill>
                            <a:srgbClr val="002C5F"/>
                          </a:solidFill>
                          <a:latin typeface="Pretendard"/>
                          <a:ea typeface="Pretendard"/>
                          <a:cs typeface="Pretendard"/>
                        </a:rPr>
                        <a:t>항목</a:t>
                      </a:r>
                      <a:endParaRPr sz="90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c>
                  <a:txBody>
                    <a:bodyPr wrap="square"/>
                    <a:lstStyle/>
                    <a:p>
                      <a:pPr>
                        <a:lnSpc>
                          <a:spcPct val="122000"/>
                        </a:lnSpc>
                      </a:pPr>
                      <a:r>
                        <a:rPr sz="900" b="1">
                          <a:solidFill>
                            <a:srgbClr val="002C5F"/>
                          </a:solidFill>
                          <a:latin typeface="Pretendard"/>
                          <a:ea typeface="Pretendard"/>
                          <a:cs typeface="Pretendard"/>
                        </a:rPr>
                        <a:t>값</a:t>
                      </a:r>
                      <a:endParaRPr sz="90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c>
                  <a:txBody>
                    <a:bodyPr wrap="square"/>
                    <a:lstStyle/>
                    <a:p>
                      <a:pPr>
                        <a:lnSpc>
                          <a:spcPct val="122000"/>
                        </a:lnSpc>
                      </a:pPr>
                      <a:r>
                        <a:rPr sz="900" b="1">
                          <a:solidFill>
                            <a:srgbClr val="002C5F"/>
                          </a:solidFill>
                          <a:latin typeface="Pretendard"/>
                          <a:ea typeface="Pretendard"/>
                          <a:cs typeface="Pretendard"/>
                        </a:rPr>
                        <a:t>왜 이 값인가</a:t>
                      </a:r>
                      <a:endParaRPr sz="90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r>
              <a:tr h="257175">
                <a:tc>
                  <a:txBody>
                    <a:bodyPr wrap="square"/>
                    <a:lstStyle/>
                    <a:p>
                      <a:pPr>
                        <a:lnSpc>
                          <a:spcPct val="122000"/>
                        </a:lnSpc>
                      </a:pPr>
                      <a:r>
                        <a:rPr sz="950" b="1">
                          <a:solidFill>
                            <a:srgbClr val="002C5F"/>
                          </a:solidFill>
                          <a:latin typeface="Pretendard"/>
                          <a:ea typeface="Pretendard"/>
                          <a:cs typeface="Pretendard"/>
                        </a:rPr>
                        <a:t>축거 L</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2.7 m</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자전거 모델</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57175">
                <a:tc>
                  <a:txBody>
                    <a:bodyPr wrap="square"/>
                    <a:lstStyle/>
                    <a:p>
                      <a:pPr>
                        <a:lnSpc>
                          <a:spcPct val="122000"/>
                        </a:lnSpc>
                      </a:pPr>
                      <a:r>
                        <a:rPr sz="950" b="1">
                          <a:solidFill>
                            <a:srgbClr val="002C5F"/>
                          </a:solidFill>
                          <a:latin typeface="Pretendard"/>
                          <a:ea typeface="Pretendard"/>
                          <a:cs typeface="Pretendard"/>
                        </a:rPr>
                        <a:t>조향 지연 τ</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1">
                          <a:solidFill>
                            <a:srgbClr val="1C1B1B"/>
                          </a:solidFill>
                          <a:latin typeface="Pretendard"/>
                          <a:ea typeface="Pretendard"/>
                          <a:cs typeface="Pretendard"/>
                        </a:rPr>
                        <a:t>0.06 s</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급조향 시 '모델이 즉답한다'는 가정이 오탐을 만들었다</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57175">
                <a:tc>
                  <a:txBody>
                    <a:bodyPr wrap="square"/>
                    <a:lstStyle/>
                    <a:p>
                      <a:pPr>
                        <a:lnSpc>
                          <a:spcPct val="122000"/>
                        </a:lnSpc>
                      </a:pPr>
                      <a:r>
                        <a:rPr sz="950" b="1">
                          <a:solidFill>
                            <a:srgbClr val="002C5F"/>
                          </a:solidFill>
                          <a:latin typeface="Pretendard"/>
                          <a:ea typeface="Pretendard"/>
                          <a:cs typeface="Pretendard"/>
                        </a:rPr>
                        <a:t>횡가속 임계</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0.30 g</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 </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57175">
                <a:tc>
                  <a:txBody>
                    <a:bodyPr wrap="square"/>
                    <a:lstStyle/>
                    <a:p>
                      <a:pPr>
                        <a:lnSpc>
                          <a:spcPct val="122000"/>
                        </a:lnSpc>
                      </a:pPr>
                      <a:r>
                        <a:rPr sz="950" b="1">
                          <a:solidFill>
                            <a:srgbClr val="002C5F"/>
                          </a:solidFill>
                          <a:latin typeface="Pretendard"/>
                          <a:ea typeface="Pretendard"/>
                          <a:cs typeface="Pretendard"/>
                        </a:rPr>
                        <a:t>yaw 오차 임계</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0.35 rad/s</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 </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57175">
                <a:tc>
                  <a:txBody>
                    <a:bodyPr wrap="square"/>
                    <a:lstStyle/>
                    <a:p>
                      <a:pPr>
                        <a:lnSpc>
                          <a:spcPct val="122000"/>
                        </a:lnSpc>
                      </a:pPr>
                      <a:r>
                        <a:rPr sz="950" b="1">
                          <a:solidFill>
                            <a:srgbClr val="002C5F"/>
                          </a:solidFill>
                          <a:latin typeface="Pretendard"/>
                          <a:ea typeface="Pretendard"/>
                          <a:cs typeface="Pretendard"/>
                        </a:rPr>
                        <a:t>판정 규칙</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1">
                          <a:solidFill>
                            <a:srgbClr val="1C1B1B"/>
                          </a:solidFill>
                          <a:latin typeface="Pretendard"/>
                          <a:ea typeface="Pretendard"/>
                          <a:cs typeface="Pretendard"/>
                        </a:rPr>
                        <a:t>타원</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직사각형은 모서리에서 저속 지연이 생겼다</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57175">
                <a:tc>
                  <a:txBody>
                    <a:bodyPr wrap="square"/>
                    <a:lstStyle/>
                    <a:p>
                      <a:pPr>
                        <a:lnSpc>
                          <a:spcPct val="122000"/>
                        </a:lnSpc>
                      </a:pPr>
                      <a:r>
                        <a:rPr sz="950" b="1">
                          <a:solidFill>
                            <a:srgbClr val="002C5F"/>
                          </a:solidFill>
                          <a:latin typeface="Pretendard"/>
                          <a:ea typeface="Pretendard"/>
                          <a:cs typeface="Pretendard"/>
                        </a:rPr>
                        <a:t>저마찰 트리거</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제동 ≥ 0.3 이 0.3 s 지속 + 감속 &lt; 1.2 m/s²</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필터 지연 구간의 오탐 방지</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bl>
          </a:graphicData>
        </a:graphic>
      </p:graphicFrame>
      <p:sp>
        <p:nvSpPr>
          <p:cNvPr id="12" name="TextBox 11"/>
          <p:cNvSpPr txBox="1"/>
          <p:nvPr/>
        </p:nvSpPr>
        <p:spPr>
          <a:xfrm>
            <a:off x="533400" y="4953000"/>
            <a:ext cx="2000250" cy="308610"/>
          </a:xfrm>
          <a:prstGeom prst="rect">
            <a:avLst/>
          </a:prstGeom>
          <a:noFill/>
        </p:spPr>
        <p:txBody>
          <a:bodyPr wrap="square" anchor="t" lIns="0" rIns="0" tIns="0" bIns="0">
            <a:spAutoFit/>
          </a:bodyPr>
          <a:lstStyle/>
          <a:p>
            <a:pPr algn="l">
              <a:lnSpc>
                <a:spcPct val="100000"/>
              </a:lnSpc>
            </a:pPr>
            <a:r>
              <a:rPr sz="2400" b="0">
                <a:solidFill>
                  <a:srgbClr val="E63312"/>
                </a:solidFill>
                <a:latin typeface="Pretendard ExtraBold"/>
                <a:ea typeface="Pretendard ExtraBold"/>
                <a:cs typeface="Pretendard ExtraBold"/>
              </a:rPr>
              <a:t>50 Hz</a:t>
            </a:r>
          </a:p>
        </p:txBody>
      </p:sp>
      <p:sp>
        <p:nvSpPr>
          <p:cNvPr id="13" name="TextBox 12"/>
          <p:cNvSpPr txBox="1"/>
          <p:nvPr/>
        </p:nvSpPr>
        <p:spPr>
          <a:xfrm>
            <a:off x="533400" y="5280660"/>
            <a:ext cx="2000250" cy="339090"/>
          </a:xfrm>
          <a:prstGeom prst="rect">
            <a:avLst/>
          </a:prstGeom>
          <a:noFill/>
        </p:spPr>
        <p:txBody>
          <a:bodyPr wrap="square" anchor="t" lIns="0" rIns="0" tIns="0" bIns="0">
            <a:spAutoFit/>
          </a:bodyPr>
          <a:lstStyle/>
          <a:p>
            <a:pPr algn="l">
              <a:lnSpc>
                <a:spcPct val="130000"/>
              </a:lnSpc>
            </a:pPr>
            <a:r>
              <a:rPr sz="950" b="0">
                <a:solidFill>
                  <a:srgbClr val="767676"/>
                </a:solidFill>
                <a:latin typeface="Pretendard"/>
                <a:ea typeface="Pretendard"/>
                <a:cs typeface="Pretendard"/>
              </a:rPr>
              <a:t>IMU 입력 주기</a:t>
            </a:r>
          </a:p>
        </p:txBody>
      </p:sp>
      <p:sp>
        <p:nvSpPr>
          <p:cNvPr id="14" name="TextBox 13"/>
          <p:cNvSpPr txBox="1"/>
          <p:nvPr/>
        </p:nvSpPr>
        <p:spPr>
          <a:xfrm>
            <a:off x="2724150" y="4953000"/>
            <a:ext cx="2000250" cy="308610"/>
          </a:xfrm>
          <a:prstGeom prst="rect">
            <a:avLst/>
          </a:prstGeom>
          <a:noFill/>
        </p:spPr>
        <p:txBody>
          <a:bodyPr wrap="square" anchor="t" lIns="0" rIns="0" tIns="0" bIns="0">
            <a:spAutoFit/>
          </a:bodyPr>
          <a:lstStyle/>
          <a:p>
            <a:pPr algn="l">
              <a:lnSpc>
                <a:spcPct val="100000"/>
              </a:lnSpc>
            </a:pPr>
            <a:r>
              <a:rPr sz="2400" b="0">
                <a:solidFill>
                  <a:srgbClr val="E63312"/>
                </a:solidFill>
                <a:latin typeface="Pretendard ExtraBold"/>
                <a:ea typeface="Pretendard ExtraBold"/>
                <a:cs typeface="Pretendard ExtraBold"/>
              </a:rPr>
              <a:t>60 ms</a:t>
            </a:r>
          </a:p>
        </p:txBody>
      </p:sp>
      <p:sp>
        <p:nvSpPr>
          <p:cNvPr id="15" name="TextBox 14"/>
          <p:cNvSpPr txBox="1"/>
          <p:nvPr/>
        </p:nvSpPr>
        <p:spPr>
          <a:xfrm>
            <a:off x="2724150" y="5280660"/>
            <a:ext cx="2000250" cy="339090"/>
          </a:xfrm>
          <a:prstGeom prst="rect">
            <a:avLst/>
          </a:prstGeom>
          <a:noFill/>
        </p:spPr>
        <p:txBody>
          <a:bodyPr wrap="square" anchor="t" lIns="0" rIns="0" tIns="0" bIns="0">
            <a:spAutoFit/>
          </a:bodyPr>
          <a:lstStyle/>
          <a:p>
            <a:pPr algn="l">
              <a:lnSpc>
                <a:spcPct val="130000"/>
              </a:lnSpc>
            </a:pPr>
            <a:r>
              <a:rPr sz="950" b="0">
                <a:solidFill>
                  <a:srgbClr val="767676"/>
                </a:solidFill>
                <a:latin typeface="Pretendard"/>
                <a:ea typeface="Pretendard"/>
                <a:cs typeface="Pretendard"/>
              </a:rPr>
              <a:t>3샘플 연속이어야 확정</a:t>
            </a:r>
          </a:p>
        </p:txBody>
      </p:sp>
      <p:sp>
        <p:nvSpPr>
          <p:cNvPr id="16" name="TextBox 15"/>
          <p:cNvSpPr txBox="1"/>
          <p:nvPr/>
        </p:nvSpPr>
        <p:spPr>
          <a:xfrm>
            <a:off x="4914900" y="4953000"/>
            <a:ext cx="2000250" cy="308610"/>
          </a:xfrm>
          <a:prstGeom prst="rect">
            <a:avLst/>
          </a:prstGeom>
          <a:noFill/>
        </p:spPr>
        <p:txBody>
          <a:bodyPr wrap="square" anchor="t" lIns="0" rIns="0" tIns="0" bIns="0">
            <a:spAutoFit/>
          </a:bodyPr>
          <a:lstStyle/>
          <a:p>
            <a:pPr algn="l">
              <a:lnSpc>
                <a:spcPct val="100000"/>
              </a:lnSpc>
            </a:pPr>
            <a:r>
              <a:rPr sz="2400" b="0">
                <a:solidFill>
                  <a:srgbClr val="E63312"/>
                </a:solidFill>
                <a:latin typeface="Pretendard ExtraBold"/>
                <a:ea typeface="Pretendard ExtraBold"/>
                <a:cs typeface="Pretendard ExtraBold"/>
              </a:rPr>
              <a:t>22.6 µs</a:t>
            </a:r>
          </a:p>
        </p:txBody>
      </p:sp>
      <p:sp>
        <p:nvSpPr>
          <p:cNvPr id="17" name="TextBox 16"/>
          <p:cNvSpPr txBox="1"/>
          <p:nvPr/>
        </p:nvSpPr>
        <p:spPr>
          <a:xfrm>
            <a:off x="4914900" y="5280660"/>
            <a:ext cx="2000250" cy="339090"/>
          </a:xfrm>
          <a:prstGeom prst="rect">
            <a:avLst/>
          </a:prstGeom>
          <a:noFill/>
        </p:spPr>
        <p:txBody>
          <a:bodyPr wrap="square" anchor="t" lIns="0" rIns="0" tIns="0" bIns="0">
            <a:spAutoFit/>
          </a:bodyPr>
          <a:lstStyle/>
          <a:p>
            <a:pPr algn="l">
              <a:lnSpc>
                <a:spcPct val="130000"/>
              </a:lnSpc>
            </a:pPr>
            <a:r>
              <a:rPr sz="950" b="0">
                <a:solidFill>
                  <a:srgbClr val="767676"/>
                </a:solidFill>
                <a:latin typeface="Pretendard"/>
                <a:ea typeface="Pretendard"/>
                <a:cs typeface="Pretendard"/>
              </a:rPr>
              <a:t>샘플 → 판정 → 제어, 최악</a:t>
            </a:r>
          </a:p>
        </p:txBody>
      </p:sp>
      <p:pic>
        <p:nvPicPr>
          <p:cNvPr id="18" name="Picture 17" descr="rule_boundary.jpg"/>
          <p:cNvPicPr>
            <a:picLocks noChangeAspect="1"/>
          </p:cNvPicPr>
          <p:nvPr/>
        </p:nvPicPr>
        <p:blipFill>
          <a:blip r:embed="rId2"/>
          <a:stretch>
            <a:fillRect/>
          </a:stretch>
        </p:blipFill>
        <p:spPr>
          <a:xfrm>
            <a:off x="7277100" y="1599646"/>
            <a:ext cx="4381500" cy="3668233"/>
          </a:xfrm>
          <a:prstGeom prst="rect">
            <a:avLst/>
          </a:prstGeom>
        </p:spPr>
      </p:pic>
      <p:sp>
        <p:nvSpPr>
          <p:cNvPr id="19" name="TextBox 18"/>
          <p:cNvSpPr txBox="1"/>
          <p:nvPr/>
        </p:nvSpPr>
        <p:spPr>
          <a:xfrm>
            <a:off x="7277100" y="5886450"/>
            <a:ext cx="4381500" cy="323850"/>
          </a:xfrm>
          <a:prstGeom prst="rect">
            <a:avLst/>
          </a:prstGeom>
          <a:noFill/>
        </p:spPr>
        <p:txBody>
          <a:bodyPr wrap="square" anchor="t" lIns="0" rIns="0" tIns="0" bIns="0">
            <a:spAutoFit/>
          </a:bodyPr>
          <a:lstStyle/>
          <a:p>
            <a:pPr algn="l">
              <a:lnSpc>
                <a:spcPct val="130000"/>
              </a:lnSpc>
            </a:pPr>
            <a:r>
              <a:rPr sz="900" b="0">
                <a:solidFill>
                  <a:srgbClr val="767676"/>
                </a:solidFill>
                <a:latin typeface="Pretendard"/>
                <a:ea typeface="Pretendard"/>
                <a:cs typeface="Pretendard"/>
              </a:rPr>
              <a:t>판정 경계 — 직사각형(점선) 대 타원(실선). 모서리에 걸리던 저속 구간이 타원에서 사라진다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3400" y="323850"/>
            <a:ext cx="5715000" cy="162878"/>
          </a:xfrm>
          <a:prstGeom prst="rect">
            <a:avLst/>
          </a:prstGeom>
          <a:noFill/>
        </p:spPr>
        <p:txBody>
          <a:bodyPr wrap="square" anchor="t" lIns="0" rIns="0" tIns="0" bIns="0">
            <a:spAutoFit/>
          </a:bodyPr>
          <a:lstStyle/>
          <a:p>
            <a:pPr algn="l">
              <a:lnSpc>
                <a:spcPct val="100000"/>
              </a:lnSpc>
            </a:pPr>
            <a:r>
              <a:rPr sz="950" b="1" spc="80">
                <a:solidFill>
                  <a:srgbClr val="E63312"/>
                </a:solidFill>
                <a:latin typeface="Pretendard"/>
                <a:ea typeface="Pretendard"/>
                <a:cs typeface="Pretendard"/>
              </a:rPr>
              <a:t>2차 방어</a:t>
            </a:r>
          </a:p>
        </p:txBody>
      </p:sp>
      <p:sp>
        <p:nvSpPr>
          <p:cNvPr id="3" name="TextBox 2"/>
          <p:cNvSpPr txBox="1"/>
          <p:nvPr/>
        </p:nvSpPr>
        <p:spPr>
          <a:xfrm>
            <a:off x="9753600" y="314325"/>
            <a:ext cx="1905000" cy="152400"/>
          </a:xfrm>
          <a:prstGeom prst="rect">
            <a:avLst/>
          </a:prstGeom>
          <a:noFill/>
        </p:spPr>
        <p:txBody>
          <a:bodyPr wrap="square" anchor="t" lIns="0" rIns="0" tIns="0" bIns="0">
            <a:spAutoFit/>
          </a:bodyPr>
          <a:lstStyle/>
          <a:p>
            <a:pPr algn="r">
              <a:lnSpc>
                <a:spcPct val="140000"/>
              </a:lnSpc>
            </a:pPr>
            <a:r>
              <a:rPr sz="900" b="0">
                <a:solidFill>
                  <a:srgbClr val="A6A6A6"/>
                </a:solidFill>
                <a:latin typeface="Pretendard"/>
                <a:ea typeface="Pretendard"/>
                <a:cs typeface="Pretendard"/>
              </a:rPr>
              <a:t>13 / 20</a:t>
            </a:r>
          </a:p>
        </p:txBody>
      </p:sp>
      <p:sp>
        <p:nvSpPr>
          <p:cNvPr id="4" name="TextBox 3"/>
          <p:cNvSpPr txBox="1"/>
          <p:nvPr/>
        </p:nvSpPr>
        <p:spPr>
          <a:xfrm>
            <a:off x="533400" y="495300"/>
            <a:ext cx="11125200" cy="381000"/>
          </a:xfrm>
          <a:prstGeom prst="rect">
            <a:avLst/>
          </a:prstGeom>
          <a:noFill/>
        </p:spPr>
        <p:txBody>
          <a:bodyPr wrap="square" anchor="t" lIns="0" rIns="0" tIns="0" bIns="0">
            <a:spAutoFit/>
          </a:bodyPr>
          <a:lstStyle/>
          <a:p>
            <a:pPr algn="l">
              <a:lnSpc>
                <a:spcPct val="100000"/>
              </a:lnSpc>
            </a:pPr>
            <a:r>
              <a:rPr sz="2400" b="0">
                <a:solidFill>
                  <a:srgbClr val="1C1B1B"/>
                </a:solidFill>
                <a:latin typeface="Pretendard ExtraBold"/>
                <a:ea typeface="Pretendard ExtraBold"/>
                <a:cs typeface="Pretendard ExtraBold"/>
              </a:rPr>
              <a:t>왜 리눅스가 아니라 RTOS 인가 — 평균이 아니라 꼬리</a:t>
            </a:r>
          </a:p>
        </p:txBody>
      </p:sp>
      <p:sp>
        <p:nvSpPr>
          <p:cNvPr id="5" name="TextBox 4"/>
          <p:cNvSpPr txBox="1"/>
          <p:nvPr/>
        </p:nvSpPr>
        <p:spPr>
          <a:xfrm>
            <a:off x="533400" y="895350"/>
            <a:ext cx="11125200" cy="209550"/>
          </a:xfrm>
          <a:prstGeom prst="rect">
            <a:avLst/>
          </a:prstGeom>
          <a:noFill/>
        </p:spPr>
        <p:txBody>
          <a:bodyPr wrap="square" anchor="t" lIns="0" rIns="0" tIns="0" bIns="0">
            <a:spAutoFit/>
          </a:bodyPr>
          <a:lstStyle/>
          <a:p>
            <a:pPr algn="l">
              <a:lnSpc>
                <a:spcPct val="120000"/>
              </a:lnSpc>
            </a:pPr>
            <a:r>
              <a:rPr sz="1150" b="0">
                <a:solidFill>
                  <a:srgbClr val="4D4D4D"/>
                </a:solidFill>
                <a:latin typeface="Pretendard"/>
                <a:ea typeface="Pretendard"/>
                <a:cs typeface="Pretendard"/>
              </a:rPr>
              <a:t>같은 연산을 Pi 5 리눅스가 평균 146배 빠르게 한다. 그런데도 RTOS 보드를 쓴다. 안전 기능의 기준은 평균이 아니라 최악이기 때문이다.</a:t>
            </a:r>
          </a:p>
        </p:txBody>
      </p:sp>
      <p:sp>
        <p:nvSpPr>
          <p:cNvPr id="6" name="TextBox 5"/>
          <p:cNvSpPr txBox="1"/>
          <p:nvPr/>
        </p:nvSpPr>
        <p:spPr>
          <a:xfrm>
            <a:off x="533400" y="6286500"/>
            <a:ext cx="11125200" cy="304800"/>
          </a:xfrm>
          <a:prstGeom prst="rect">
            <a:avLst/>
          </a:prstGeom>
          <a:noFill/>
        </p:spPr>
        <p:txBody>
          <a:bodyPr wrap="square" anchor="t" lIns="0" rIns="0" tIns="0" bIns="0">
            <a:spAutoFit/>
          </a:bodyPr>
          <a:lstStyle/>
          <a:p>
            <a:pPr algn="l">
              <a:lnSpc>
                <a:spcPct val="130000"/>
              </a:lnSpc>
            </a:pPr>
            <a:r>
              <a:rPr sz="850" b="0">
                <a:solidFill>
                  <a:srgbClr val="767676"/>
                </a:solidFill>
                <a:latin typeface="Pretendard"/>
                <a:ea typeface="Pretendard"/>
                <a:cs typeface="Pretendard"/>
              </a:rPr>
              <a:t>우선순위를 뒤집으면(NPU가 IMU보다 높으면) 25 ms 추론이 20 ms 주기를 막아 스케줄 자체가 불가능해진다 — 근거: sw/docs/evidence/10_스케줄가능성_분석.md</a:t>
            </a:r>
          </a:p>
        </p:txBody>
      </p:sp>
      <p:sp>
        <p:nvSpPr>
          <p:cNvPr id="7" name="TextBox 6"/>
          <p:cNvSpPr txBox="1"/>
          <p:nvPr/>
        </p:nvSpPr>
        <p:spPr>
          <a:xfrm>
            <a:off x="533400" y="6648450"/>
            <a:ext cx="7620000" cy="133350"/>
          </a:xfrm>
          <a:prstGeom prst="rect">
            <a:avLst/>
          </a:prstGeom>
          <a:noFill/>
        </p:spPr>
        <p:txBody>
          <a:bodyPr wrap="square" anchor="t" lIns="0" rIns="0" tIns="0" bIns="0">
            <a:spAutoFit/>
          </a:bodyPr>
          <a:lstStyle/>
          <a:p>
            <a:pPr algn="l">
              <a:lnSpc>
                <a:spcPct val="140000"/>
              </a:lnSpc>
            </a:pPr>
            <a:r>
              <a:rPr sz="800" b="0">
                <a:solidFill>
                  <a:srgbClr val="A6A6A6"/>
                </a:solidFill>
                <a:latin typeface="Pretendard"/>
                <a:ea typeface="Pretendard"/>
                <a:cs typeface="Pretendard"/>
              </a:rPr>
              <a:t>팀 ARTS · 제24회 임베디드SW경진대회 자동차/모빌리티(현대자동차) · github.com/gkgk0119gmail-arch/2026ESWContest_mobility_ARTS</a:t>
            </a:r>
          </a:p>
        </p:txBody>
      </p:sp>
      <p:sp>
        <p:nvSpPr>
          <p:cNvPr id="8" name="TextBox 7"/>
          <p:cNvSpPr txBox="1"/>
          <p:nvPr/>
        </p:nvSpPr>
        <p:spPr>
          <a:xfrm>
            <a:off x="10134600" y="6638925"/>
            <a:ext cx="1524000" cy="133350"/>
          </a:xfrm>
          <a:prstGeom prst="rect">
            <a:avLst/>
          </a:prstGeom>
          <a:noFill/>
        </p:spPr>
        <p:txBody>
          <a:bodyPr wrap="square" anchor="t" lIns="0" rIns="0" tIns="0" bIns="0">
            <a:spAutoFit/>
          </a:bodyPr>
          <a:lstStyle/>
          <a:p>
            <a:pPr algn="r">
              <a:lnSpc>
                <a:spcPct val="140000"/>
              </a:lnSpc>
            </a:pPr>
            <a:r>
              <a:rPr sz="900" b="1">
                <a:solidFill>
                  <a:srgbClr val="002C5F"/>
                </a:solidFill>
                <a:latin typeface="Pretendard"/>
                <a:ea typeface="Pretendard"/>
                <a:cs typeface="Pretendard"/>
              </a:rPr>
              <a:t>IcePredict</a:t>
            </a:r>
          </a:p>
        </p:txBody>
      </p:sp>
      <p:graphicFrame>
        <p:nvGraphicFramePr>
          <p:cNvPr id="9" name="Table 8"/>
          <p:cNvGraphicFramePr>
            <a:graphicFrameLocks noGrp="1"/>
          </p:cNvGraphicFramePr>
          <p:nvPr/>
        </p:nvGraphicFramePr>
        <p:xfrm>
          <a:off x="533400" y="1219200"/>
          <a:ext cx="5334000" cy="1028700"/>
        </p:xfrm>
        <a:graphic>
          <a:graphicData uri="http://schemas.openxmlformats.org/drawingml/2006/table">
            <a:tbl>
              <a:tblPr>
                <a:tableStyleId>{2D5ABB26-0587-4C30-8999-92F81FD0307C}</a:tableStyleId>
              </a:tblPr>
              <a:tblGrid>
                <a:gridCol w="2286000"/>
                <a:gridCol w="952500"/>
                <a:gridCol w="952500"/>
                <a:gridCol w="1143000"/>
              </a:tblGrid>
              <a:tr h="228600">
                <a:tc>
                  <a:txBody>
                    <a:bodyPr wrap="square"/>
                    <a:lstStyle/>
                    <a:p>
                      <a:pPr>
                        <a:lnSpc>
                          <a:spcPct val="122000"/>
                        </a:lnSpc>
                      </a:pPr>
                      <a:r>
                        <a:rPr sz="950" b="1">
                          <a:solidFill>
                            <a:srgbClr val="002C5F"/>
                          </a:solidFill>
                          <a:latin typeface="Pretendard"/>
                          <a:ea typeface="Pretendard"/>
                          <a:cs typeface="Pretendard"/>
                        </a:rPr>
                        <a:t>플랫폼</a:t>
                      </a:r>
                      <a:endParaRPr sz="95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c>
                  <a:txBody>
                    <a:bodyPr wrap="square"/>
                    <a:lstStyle/>
                    <a:p>
                      <a:pPr>
                        <a:lnSpc>
                          <a:spcPct val="122000"/>
                        </a:lnSpc>
                      </a:pPr>
                      <a:r>
                        <a:rPr sz="950" b="1">
                          <a:solidFill>
                            <a:srgbClr val="002C5F"/>
                          </a:solidFill>
                          <a:latin typeface="Pretendard"/>
                          <a:ea typeface="Pretendard"/>
                          <a:cs typeface="Pretendard"/>
                        </a:rPr>
                        <a:t>표본</a:t>
                      </a:r>
                      <a:endParaRPr sz="95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c>
                  <a:txBody>
                    <a:bodyPr wrap="square"/>
                    <a:lstStyle/>
                    <a:p>
                      <a:pPr>
                        <a:lnSpc>
                          <a:spcPct val="122000"/>
                        </a:lnSpc>
                      </a:pPr>
                      <a:r>
                        <a:rPr sz="950" b="1">
                          <a:solidFill>
                            <a:srgbClr val="002C5F"/>
                          </a:solidFill>
                          <a:latin typeface="Pretendard"/>
                          <a:ea typeface="Pretendard"/>
                          <a:cs typeface="Pretendard"/>
                        </a:rPr>
                        <a:t>중앙값</a:t>
                      </a:r>
                      <a:endParaRPr sz="95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c>
                  <a:txBody>
                    <a:bodyPr wrap="square"/>
                    <a:lstStyle/>
                    <a:p>
                      <a:pPr>
                        <a:lnSpc>
                          <a:spcPct val="122000"/>
                        </a:lnSpc>
                      </a:pPr>
                      <a:r>
                        <a:rPr sz="950" b="1">
                          <a:solidFill>
                            <a:srgbClr val="002C5F"/>
                          </a:solidFill>
                          <a:latin typeface="Pretendard"/>
                          <a:ea typeface="Pretendard"/>
                          <a:cs typeface="Pretendard"/>
                        </a:rPr>
                        <a:t>최악</a:t>
                      </a:r>
                      <a:endParaRPr sz="95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r>
              <a:tr h="266700">
                <a:tc>
                  <a:txBody>
                    <a:bodyPr wrap="square"/>
                    <a:lstStyle/>
                    <a:p>
                      <a:pPr>
                        <a:lnSpc>
                          <a:spcPct val="122000"/>
                        </a:lnSpc>
                      </a:pPr>
                      <a:r>
                        <a:rPr sz="1000" b="1">
                          <a:solidFill>
                            <a:srgbClr val="002C5F"/>
                          </a:solidFill>
                          <a:latin typeface="Pretendard"/>
                          <a:ea typeface="Pretendard"/>
                          <a:cs typeface="Pretendard"/>
                        </a:rPr>
                        <a:t>Pi 5 + Linux · 유휴</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0">
                          <a:solidFill>
                            <a:srgbClr val="1C1B1B"/>
                          </a:solidFill>
                          <a:latin typeface="Pretendard"/>
                          <a:ea typeface="Pretendard"/>
                          <a:cs typeface="Pretendard"/>
                        </a:rPr>
                        <a:t>20,000</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0">
                          <a:solidFill>
                            <a:srgbClr val="1C1B1B"/>
                          </a:solidFill>
                          <a:latin typeface="Pretendard"/>
                          <a:ea typeface="Pretendard"/>
                          <a:cs typeface="Pretendard"/>
                        </a:rPr>
                        <a:t>69 µs</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1">
                          <a:solidFill>
                            <a:srgbClr val="E63312"/>
                          </a:solidFill>
                          <a:latin typeface="Pretendard"/>
                          <a:ea typeface="Pretendard"/>
                          <a:cs typeface="Pretendard"/>
                        </a:rPr>
                        <a:t>5,790 µs</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66700">
                <a:tc>
                  <a:txBody>
                    <a:bodyPr wrap="square"/>
                    <a:lstStyle/>
                    <a:p>
                      <a:pPr>
                        <a:lnSpc>
                          <a:spcPct val="122000"/>
                        </a:lnSpc>
                      </a:pPr>
                      <a:r>
                        <a:rPr sz="1000" b="1">
                          <a:solidFill>
                            <a:srgbClr val="002C5F"/>
                          </a:solidFill>
                          <a:latin typeface="Pretendard"/>
                          <a:ea typeface="Pretendard"/>
                          <a:cs typeface="Pretendard"/>
                        </a:rPr>
                        <a:t>Pi 5 + Linux · 부하</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0">
                          <a:solidFill>
                            <a:srgbClr val="1C1B1B"/>
                          </a:solidFill>
                          <a:latin typeface="Pretendard"/>
                          <a:ea typeface="Pretendard"/>
                          <a:cs typeface="Pretendard"/>
                        </a:rPr>
                        <a:t>20,000</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0">
                          <a:solidFill>
                            <a:srgbClr val="1C1B1B"/>
                          </a:solidFill>
                          <a:latin typeface="Pretendard"/>
                          <a:ea typeface="Pretendard"/>
                          <a:cs typeface="Pretendard"/>
                        </a:rPr>
                        <a:t>68 µs</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1">
                          <a:solidFill>
                            <a:srgbClr val="E63312"/>
                          </a:solidFill>
                          <a:latin typeface="Pretendard"/>
                          <a:ea typeface="Pretendard"/>
                          <a:cs typeface="Pretendard"/>
                        </a:rPr>
                        <a:t>5,429 µs</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66700">
                <a:tc>
                  <a:txBody>
                    <a:bodyPr wrap="square"/>
                    <a:lstStyle/>
                    <a:p>
                      <a:pPr>
                        <a:lnSpc>
                          <a:spcPct val="122000"/>
                        </a:lnSpc>
                      </a:pPr>
                      <a:r>
                        <a:rPr sz="1000" b="1">
                          <a:solidFill>
                            <a:srgbClr val="002C5F"/>
                          </a:solidFill>
                          <a:latin typeface="Pretendard"/>
                          <a:ea typeface="Pretendard"/>
                          <a:cs typeface="Pretendard"/>
                        </a:rPr>
                        <a:t>STM32N6 + ThreadX (응답 전체)</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0">
                          <a:solidFill>
                            <a:srgbClr val="1C1B1B"/>
                          </a:solidFill>
                          <a:latin typeface="Pretendard"/>
                          <a:ea typeface="Pretendard"/>
                          <a:cs typeface="Pretendard"/>
                        </a:rPr>
                        <a:t>49,405</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0">
                          <a:solidFill>
                            <a:srgbClr val="1C1B1B"/>
                          </a:solidFill>
                          <a:latin typeface="Pretendard"/>
                          <a:ea typeface="Pretendard"/>
                          <a:cs typeface="Pretendard"/>
                        </a:rPr>
                        <a:t>12.4 µs</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1000" b="1">
                          <a:solidFill>
                            <a:srgbClr val="1E8A4C"/>
                          </a:solidFill>
                          <a:latin typeface="Pretendard"/>
                          <a:ea typeface="Pretendard"/>
                          <a:cs typeface="Pretendard"/>
                        </a:rPr>
                        <a:t>22.6 µs</a:t>
                      </a:r>
                      <a:endParaRPr sz="10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bl>
          </a:graphicData>
        </a:graphic>
      </p:graphicFrame>
      <p:sp>
        <p:nvSpPr>
          <p:cNvPr id="10" name="TextBox 9"/>
          <p:cNvSpPr txBox="1"/>
          <p:nvPr/>
        </p:nvSpPr>
        <p:spPr>
          <a:xfrm>
            <a:off x="533400" y="2419350"/>
            <a:ext cx="1714500" cy="334328"/>
          </a:xfrm>
          <a:prstGeom prst="rect">
            <a:avLst/>
          </a:prstGeom>
          <a:noFill/>
        </p:spPr>
        <p:txBody>
          <a:bodyPr wrap="square" anchor="t" lIns="0" rIns="0" tIns="0" bIns="0">
            <a:spAutoFit/>
          </a:bodyPr>
          <a:lstStyle/>
          <a:p>
            <a:pPr algn="l">
              <a:lnSpc>
                <a:spcPct val="100000"/>
              </a:lnSpc>
            </a:pPr>
            <a:r>
              <a:rPr sz="2600" b="0">
                <a:solidFill>
                  <a:srgbClr val="E63312"/>
                </a:solidFill>
                <a:latin typeface="Pretendard ExtraBold"/>
                <a:ea typeface="Pretendard ExtraBold"/>
                <a:cs typeface="Pretendard ExtraBold"/>
              </a:rPr>
              <a:t>5,790 µs</a:t>
            </a:r>
          </a:p>
        </p:txBody>
      </p:sp>
      <p:sp>
        <p:nvSpPr>
          <p:cNvPr id="11" name="TextBox 10"/>
          <p:cNvSpPr txBox="1"/>
          <p:nvPr/>
        </p:nvSpPr>
        <p:spPr>
          <a:xfrm>
            <a:off x="533400" y="2772728"/>
            <a:ext cx="1714500" cy="446722"/>
          </a:xfrm>
          <a:prstGeom prst="rect">
            <a:avLst/>
          </a:prstGeom>
          <a:noFill/>
        </p:spPr>
        <p:txBody>
          <a:bodyPr wrap="square" anchor="t" lIns="0" rIns="0" tIns="0" bIns="0">
            <a:spAutoFit/>
          </a:bodyPr>
          <a:lstStyle/>
          <a:p>
            <a:pPr algn="l">
              <a:lnSpc>
                <a:spcPct val="130000"/>
              </a:lnSpc>
            </a:pPr>
            <a:r>
              <a:rPr sz="950" b="0">
                <a:solidFill>
                  <a:srgbClr val="767676"/>
                </a:solidFill>
                <a:latin typeface="Pretendard"/>
                <a:ea typeface="Pretendard"/>
                <a:cs typeface="Pretendard"/>
              </a:rPr>
              <a:t>Pi 5 리눅스</a:t>
            </a:r>
            <a:br/>
            <a:r>
              <a:rPr sz="950" b="0">
                <a:solidFill>
                  <a:srgbClr val="767676"/>
                </a:solidFill>
                <a:latin typeface="Pretendard"/>
                <a:ea typeface="Pretendard"/>
                <a:cs typeface="Pretendard"/>
              </a:rPr>
              <a:t>최악 깨어남 지연</a:t>
            </a:r>
          </a:p>
        </p:txBody>
      </p:sp>
      <p:sp>
        <p:nvSpPr>
          <p:cNvPr id="12" name="TextBox 11"/>
          <p:cNvSpPr txBox="1"/>
          <p:nvPr/>
        </p:nvSpPr>
        <p:spPr>
          <a:xfrm>
            <a:off x="2343150" y="2419350"/>
            <a:ext cx="1714500" cy="334328"/>
          </a:xfrm>
          <a:prstGeom prst="rect">
            <a:avLst/>
          </a:prstGeom>
          <a:noFill/>
        </p:spPr>
        <p:txBody>
          <a:bodyPr wrap="square" anchor="t" lIns="0" rIns="0" tIns="0" bIns="0">
            <a:spAutoFit/>
          </a:bodyPr>
          <a:lstStyle/>
          <a:p>
            <a:pPr algn="l">
              <a:lnSpc>
                <a:spcPct val="100000"/>
              </a:lnSpc>
            </a:pPr>
            <a:r>
              <a:rPr sz="2600" b="0">
                <a:solidFill>
                  <a:srgbClr val="00AAD2"/>
                </a:solidFill>
                <a:latin typeface="Pretendard ExtraBold"/>
                <a:ea typeface="Pretendard ExtraBold"/>
                <a:cs typeface="Pretendard ExtraBold"/>
              </a:rPr>
              <a:t>22.6 µs</a:t>
            </a:r>
          </a:p>
        </p:txBody>
      </p:sp>
      <p:sp>
        <p:nvSpPr>
          <p:cNvPr id="13" name="TextBox 12"/>
          <p:cNvSpPr txBox="1"/>
          <p:nvPr/>
        </p:nvSpPr>
        <p:spPr>
          <a:xfrm>
            <a:off x="2343150" y="2772728"/>
            <a:ext cx="1714500" cy="446722"/>
          </a:xfrm>
          <a:prstGeom prst="rect">
            <a:avLst/>
          </a:prstGeom>
          <a:noFill/>
        </p:spPr>
        <p:txBody>
          <a:bodyPr wrap="square" anchor="t" lIns="0" rIns="0" tIns="0" bIns="0">
            <a:spAutoFit/>
          </a:bodyPr>
          <a:lstStyle/>
          <a:p>
            <a:pPr algn="l">
              <a:lnSpc>
                <a:spcPct val="130000"/>
              </a:lnSpc>
            </a:pPr>
            <a:r>
              <a:rPr sz="950" b="0">
                <a:solidFill>
                  <a:srgbClr val="767676"/>
                </a:solidFill>
                <a:latin typeface="Pretendard"/>
                <a:ea typeface="Pretendard"/>
                <a:cs typeface="Pretendard"/>
              </a:rPr>
              <a:t>STM32N6 + ThreadX</a:t>
            </a:r>
            <a:br/>
            <a:r>
              <a:rPr sz="950" b="0">
                <a:solidFill>
                  <a:srgbClr val="767676"/>
                </a:solidFill>
                <a:latin typeface="Pretendard"/>
                <a:ea typeface="Pretendard"/>
                <a:cs typeface="Pretendard"/>
              </a:rPr>
              <a:t>최악 응답 전체</a:t>
            </a:r>
          </a:p>
        </p:txBody>
      </p:sp>
      <p:sp>
        <p:nvSpPr>
          <p:cNvPr id="14" name="TextBox 13"/>
          <p:cNvSpPr txBox="1"/>
          <p:nvPr/>
        </p:nvSpPr>
        <p:spPr>
          <a:xfrm>
            <a:off x="4152900" y="2419350"/>
            <a:ext cx="1714500" cy="334328"/>
          </a:xfrm>
          <a:prstGeom prst="rect">
            <a:avLst/>
          </a:prstGeom>
          <a:noFill/>
        </p:spPr>
        <p:txBody>
          <a:bodyPr wrap="square" anchor="t" lIns="0" rIns="0" tIns="0" bIns="0">
            <a:spAutoFit/>
          </a:bodyPr>
          <a:lstStyle/>
          <a:p>
            <a:pPr algn="l">
              <a:lnSpc>
                <a:spcPct val="100000"/>
              </a:lnSpc>
            </a:pPr>
            <a:r>
              <a:rPr sz="2600" b="0">
                <a:solidFill>
                  <a:srgbClr val="002C5F"/>
                </a:solidFill>
                <a:latin typeface="Pretendard ExtraBold"/>
                <a:ea typeface="Pretendard ExtraBold"/>
                <a:cs typeface="Pretendard ExtraBold"/>
              </a:rPr>
              <a:t>29 %</a:t>
            </a:r>
          </a:p>
        </p:txBody>
      </p:sp>
      <p:sp>
        <p:nvSpPr>
          <p:cNvPr id="15" name="TextBox 14"/>
          <p:cNvSpPr txBox="1"/>
          <p:nvPr/>
        </p:nvSpPr>
        <p:spPr>
          <a:xfrm>
            <a:off x="4152900" y="2772728"/>
            <a:ext cx="1714500" cy="446722"/>
          </a:xfrm>
          <a:prstGeom prst="rect">
            <a:avLst/>
          </a:prstGeom>
          <a:noFill/>
        </p:spPr>
        <p:txBody>
          <a:bodyPr wrap="square" anchor="t" lIns="0" rIns="0" tIns="0" bIns="0">
            <a:spAutoFit/>
          </a:bodyPr>
          <a:lstStyle/>
          <a:p>
            <a:pPr algn="l">
              <a:lnSpc>
                <a:spcPct val="130000"/>
              </a:lnSpc>
            </a:pPr>
            <a:r>
              <a:rPr sz="950" b="0">
                <a:solidFill>
                  <a:srgbClr val="767676"/>
                </a:solidFill>
                <a:latin typeface="Pretendard"/>
                <a:ea typeface="Pretendard"/>
                <a:cs typeface="Pretendard"/>
              </a:rPr>
              <a:t>20 ms 제어 주기 중</a:t>
            </a:r>
            <a:br/>
            <a:r>
              <a:rPr sz="950" b="0">
                <a:solidFill>
                  <a:srgbClr val="767676"/>
                </a:solidFill>
                <a:latin typeface="Pretendard"/>
                <a:ea typeface="Pretendard"/>
                <a:cs typeface="Pretendard"/>
              </a:rPr>
              <a:t>지터 한 번이 먹는 몫</a:t>
            </a:r>
          </a:p>
        </p:txBody>
      </p:sp>
      <p:sp>
        <p:nvSpPr>
          <p:cNvPr id="16" name="Rectangle 15"/>
          <p:cNvSpPr/>
          <p:nvPr/>
        </p:nvSpPr>
        <p:spPr>
          <a:xfrm>
            <a:off x="533400" y="3409950"/>
            <a:ext cx="5334000" cy="1428750"/>
          </a:xfrm>
          <a:prstGeom prst="rect">
            <a:avLst/>
          </a:prstGeom>
          <a:solidFill>
            <a:srgbClr val="F6F3F2"/>
          </a:solidFill>
          <a:ln>
            <a:noFill/>
          </a:ln>
          <a:effectLst/>
        </p:spPr>
        <p:txBody>
          <a:bodyPr rtlCol="0" anchor="ctr"/>
          <a:lstStyle/>
          <a:p/>
        </p:txBody>
      </p:sp>
      <p:sp>
        <p:nvSpPr>
          <p:cNvPr id="17" name="TextBox 16"/>
          <p:cNvSpPr txBox="1"/>
          <p:nvPr/>
        </p:nvSpPr>
        <p:spPr>
          <a:xfrm>
            <a:off x="685800" y="3562350"/>
            <a:ext cx="5029200" cy="208121"/>
          </a:xfrm>
          <a:prstGeom prst="rect">
            <a:avLst/>
          </a:prstGeom>
          <a:noFill/>
        </p:spPr>
        <p:txBody>
          <a:bodyPr wrap="square" anchor="t" lIns="0" rIns="0" tIns="0" bIns="0">
            <a:spAutoFit/>
          </a:bodyPr>
          <a:lstStyle/>
          <a:p>
            <a:pPr algn="l">
              <a:lnSpc>
                <a:spcPct val="100000"/>
              </a:lnSpc>
            </a:pPr>
            <a:r>
              <a:rPr sz="1150" b="1">
                <a:solidFill>
                  <a:srgbClr val="E63312"/>
                </a:solidFill>
                <a:latin typeface="Pretendard"/>
                <a:ea typeface="Pretendard"/>
                <a:cs typeface="Pretendard"/>
              </a:rPr>
              <a:t>이것이 왜 치명적인가</a:t>
            </a:r>
          </a:p>
        </p:txBody>
      </p:sp>
      <p:sp>
        <p:nvSpPr>
          <p:cNvPr id="18" name="TextBox 17"/>
          <p:cNvSpPr txBox="1"/>
          <p:nvPr/>
        </p:nvSpPr>
        <p:spPr>
          <a:xfrm>
            <a:off x="685800" y="3808571"/>
            <a:ext cx="5029200" cy="877729"/>
          </a:xfrm>
          <a:prstGeom prst="rect">
            <a:avLst/>
          </a:prstGeom>
          <a:noFill/>
        </p:spPr>
        <p:txBody>
          <a:bodyPr wrap="square" anchor="t" lIns="0" rIns="0" tIns="0" bIns="0">
            <a:spAutoFit/>
          </a:bodyPr>
          <a:lstStyle/>
          <a:p>
            <a:pPr algn="l">
              <a:lnSpc>
                <a:spcPct val="145000"/>
              </a:lnSpc>
              <a:spcAft>
                <a:spcPts val="400"/>
              </a:spcAft>
            </a:pPr>
            <a:r>
              <a:rPr sz="1000" b="0">
                <a:solidFill>
                  <a:srgbClr val="4D4D4D"/>
                </a:solidFill>
                <a:latin typeface="Pretendard"/>
                <a:ea typeface="Pretendard"/>
                <a:cs typeface="Pretendard"/>
              </a:rPr>
              <a:t>제어 주기는 20 ms 다. 리눅스의 최악 지터 5,790 µs 는 한 주기의 29 %를 한 번에 먹는다. 40 km/h 에서 5.8 ms 는 6.4 cm 지만, 미끄러짐이 시작된 뒤의 제어 루프에서는 그 한 번이 차선 유지와 제어 상실을 가른다.</a:t>
            </a:r>
          </a:p>
        </p:txBody>
      </p:sp>
      <p:pic>
        <p:nvPicPr>
          <p:cNvPr id="19" name="Picture 18" descr="latency_cdf.jpg"/>
          <p:cNvPicPr>
            <a:picLocks noChangeAspect="1"/>
          </p:cNvPicPr>
          <p:nvPr/>
        </p:nvPicPr>
        <p:blipFill>
          <a:blip r:embed="rId2"/>
          <a:stretch>
            <a:fillRect/>
          </a:stretch>
        </p:blipFill>
        <p:spPr>
          <a:xfrm>
            <a:off x="6833592" y="1219200"/>
            <a:ext cx="4125516" cy="2200275"/>
          </a:xfrm>
          <a:prstGeom prst="rect">
            <a:avLst/>
          </a:prstGeom>
        </p:spPr>
      </p:pic>
      <p:sp>
        <p:nvSpPr>
          <p:cNvPr id="20" name="TextBox 19"/>
          <p:cNvSpPr txBox="1"/>
          <p:nvPr/>
        </p:nvSpPr>
        <p:spPr>
          <a:xfrm>
            <a:off x="6134100" y="3467100"/>
            <a:ext cx="5524500" cy="171450"/>
          </a:xfrm>
          <a:prstGeom prst="rect">
            <a:avLst/>
          </a:prstGeom>
          <a:noFill/>
        </p:spPr>
        <p:txBody>
          <a:bodyPr wrap="square" anchor="t" lIns="0" rIns="0" tIns="0" bIns="0">
            <a:spAutoFit/>
          </a:bodyPr>
          <a:lstStyle/>
          <a:p>
            <a:pPr algn="l">
              <a:lnSpc>
                <a:spcPct val="130000"/>
              </a:lnSpc>
            </a:pPr>
            <a:r>
              <a:rPr sz="900" b="0">
                <a:solidFill>
                  <a:srgbClr val="767676"/>
                </a:solidFill>
                <a:latin typeface="Pretendard"/>
                <a:ea typeface="Pretendard"/>
                <a:cs typeface="Pretendard"/>
              </a:rPr>
              <a:t>지연 분포 CDF — 리눅스는 꼬리가 길다</a:t>
            </a:r>
          </a:p>
        </p:txBody>
      </p:sp>
      <p:pic>
        <p:nvPicPr>
          <p:cNvPr id="21" name="Picture 20" descr="schedule_rtos.jpg"/>
          <p:cNvPicPr>
            <a:picLocks noChangeAspect="1"/>
          </p:cNvPicPr>
          <p:nvPr/>
        </p:nvPicPr>
        <p:blipFill>
          <a:blip r:embed="rId3"/>
          <a:stretch>
            <a:fillRect/>
          </a:stretch>
        </p:blipFill>
        <p:spPr>
          <a:xfrm>
            <a:off x="6134100" y="3858246"/>
            <a:ext cx="5524500" cy="2065683"/>
          </a:xfrm>
          <a:prstGeom prst="rect">
            <a:avLst/>
          </a:prstGeom>
        </p:spPr>
      </p:pic>
      <p:sp>
        <p:nvSpPr>
          <p:cNvPr id="22" name="TextBox 21"/>
          <p:cNvSpPr txBox="1"/>
          <p:nvPr/>
        </p:nvSpPr>
        <p:spPr>
          <a:xfrm>
            <a:off x="6134100" y="6038850"/>
            <a:ext cx="5524500" cy="171450"/>
          </a:xfrm>
          <a:prstGeom prst="rect">
            <a:avLst/>
          </a:prstGeom>
          <a:noFill/>
        </p:spPr>
        <p:txBody>
          <a:bodyPr wrap="square" anchor="t" lIns="0" rIns="0" tIns="0" bIns="0">
            <a:spAutoFit/>
          </a:bodyPr>
          <a:lstStyle/>
          <a:p>
            <a:pPr algn="l">
              <a:lnSpc>
                <a:spcPct val="130000"/>
              </a:lnSpc>
            </a:pPr>
            <a:r>
              <a:rPr sz="900" b="0">
                <a:solidFill>
                  <a:srgbClr val="767676"/>
                </a:solidFill>
                <a:latin typeface="Pretendard"/>
                <a:ea typeface="Pretendard"/>
                <a:cs typeface="Pretendard"/>
              </a:rPr>
              <a:t>RM 스케줄 — IMU(우선순위 3)가 NPU(4)를 선점한다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3400" y="323850"/>
            <a:ext cx="5715000" cy="162878"/>
          </a:xfrm>
          <a:prstGeom prst="rect">
            <a:avLst/>
          </a:prstGeom>
          <a:noFill/>
        </p:spPr>
        <p:txBody>
          <a:bodyPr wrap="square" anchor="t" lIns="0" rIns="0" tIns="0" bIns="0">
            <a:spAutoFit/>
          </a:bodyPr>
          <a:lstStyle/>
          <a:p>
            <a:pPr algn="l">
              <a:lnSpc>
                <a:spcPct val="100000"/>
              </a:lnSpc>
            </a:pPr>
            <a:r>
              <a:rPr sz="950" b="1" spc="80">
                <a:solidFill>
                  <a:srgbClr val="002C5F"/>
                </a:solidFill>
                <a:latin typeface="Pretendard"/>
                <a:ea typeface="Pretendard"/>
                <a:cs typeface="Pretendard"/>
              </a:rPr>
              <a:t>검증</a:t>
            </a:r>
          </a:p>
        </p:txBody>
      </p:sp>
      <p:sp>
        <p:nvSpPr>
          <p:cNvPr id="3" name="TextBox 2"/>
          <p:cNvSpPr txBox="1"/>
          <p:nvPr/>
        </p:nvSpPr>
        <p:spPr>
          <a:xfrm>
            <a:off x="9753600" y="314325"/>
            <a:ext cx="1905000" cy="152400"/>
          </a:xfrm>
          <a:prstGeom prst="rect">
            <a:avLst/>
          </a:prstGeom>
          <a:noFill/>
        </p:spPr>
        <p:txBody>
          <a:bodyPr wrap="square" anchor="t" lIns="0" rIns="0" tIns="0" bIns="0">
            <a:spAutoFit/>
          </a:bodyPr>
          <a:lstStyle/>
          <a:p>
            <a:pPr algn="r">
              <a:lnSpc>
                <a:spcPct val="140000"/>
              </a:lnSpc>
            </a:pPr>
            <a:r>
              <a:rPr sz="900" b="0">
                <a:solidFill>
                  <a:srgbClr val="A6A6A6"/>
                </a:solidFill>
                <a:latin typeface="Pretendard"/>
                <a:ea typeface="Pretendard"/>
                <a:cs typeface="Pretendard"/>
              </a:rPr>
              <a:t>14 / 20</a:t>
            </a:r>
          </a:p>
        </p:txBody>
      </p:sp>
      <p:sp>
        <p:nvSpPr>
          <p:cNvPr id="4" name="TextBox 3"/>
          <p:cNvSpPr txBox="1"/>
          <p:nvPr/>
        </p:nvSpPr>
        <p:spPr>
          <a:xfrm>
            <a:off x="533400" y="495300"/>
            <a:ext cx="11125200" cy="381000"/>
          </a:xfrm>
          <a:prstGeom prst="rect">
            <a:avLst/>
          </a:prstGeom>
          <a:noFill/>
        </p:spPr>
        <p:txBody>
          <a:bodyPr wrap="square" anchor="t" lIns="0" rIns="0" tIns="0" bIns="0">
            <a:spAutoFit/>
          </a:bodyPr>
          <a:lstStyle/>
          <a:p>
            <a:pPr algn="l">
              <a:lnSpc>
                <a:spcPct val="100000"/>
              </a:lnSpc>
            </a:pPr>
            <a:r>
              <a:rPr sz="2400" b="0">
                <a:solidFill>
                  <a:srgbClr val="1C1B1B"/>
                </a:solidFill>
                <a:latin typeface="Pretendard ExtraBold"/>
                <a:ea typeface="Pretendard ExtraBold"/>
                <a:cs typeface="Pretendard ExtraBold"/>
              </a:rPr>
              <a:t>같은 조건 직접 비교 — 방어 없음 vs STM32N6 RTOS 2차 방어</a:t>
            </a:r>
          </a:p>
        </p:txBody>
      </p:sp>
      <p:sp>
        <p:nvSpPr>
          <p:cNvPr id="5" name="TextBox 4"/>
          <p:cNvSpPr txBox="1"/>
          <p:nvPr/>
        </p:nvSpPr>
        <p:spPr>
          <a:xfrm>
            <a:off x="533400" y="895350"/>
            <a:ext cx="11125200" cy="209550"/>
          </a:xfrm>
          <a:prstGeom prst="rect">
            <a:avLst/>
          </a:prstGeom>
          <a:noFill/>
        </p:spPr>
        <p:txBody>
          <a:bodyPr wrap="square" anchor="t" lIns="0" rIns="0" tIns="0" bIns="0">
            <a:spAutoFit/>
          </a:bodyPr>
          <a:lstStyle/>
          <a:p>
            <a:pPr algn="l">
              <a:lnSpc>
                <a:spcPct val="120000"/>
              </a:lnSpc>
            </a:pPr>
            <a:r>
              <a:rPr sz="1150" b="0">
                <a:solidFill>
                  <a:srgbClr val="4D4D4D"/>
                </a:solidFill>
                <a:latin typeface="Pretendard"/>
                <a:ea typeface="Pretendard"/>
                <a:cs typeface="Pretendard"/>
              </a:rPr>
              <a:t>같은 날씨 · 같은 주행선 · 같은 빙판 · 같은 주변 차량 8대. 차이는 2차 방어 하나뿐이다.</a:t>
            </a:r>
          </a:p>
        </p:txBody>
      </p:sp>
      <p:sp>
        <p:nvSpPr>
          <p:cNvPr id="6" name="TextBox 5"/>
          <p:cNvSpPr txBox="1"/>
          <p:nvPr/>
        </p:nvSpPr>
        <p:spPr>
          <a:xfrm>
            <a:off x="533400" y="6286500"/>
            <a:ext cx="11125200" cy="304800"/>
          </a:xfrm>
          <a:prstGeom prst="rect">
            <a:avLst/>
          </a:prstGeom>
          <a:noFill/>
        </p:spPr>
        <p:txBody>
          <a:bodyPr wrap="square" anchor="t" lIns="0" rIns="0" tIns="0" bIns="0">
            <a:spAutoFit/>
          </a:bodyPr>
          <a:lstStyle/>
          <a:p>
            <a:pPr algn="l">
              <a:lnSpc>
                <a:spcPct val="130000"/>
              </a:lnSpc>
            </a:pPr>
            <a:r>
              <a:rPr sz="850" b="0">
                <a:solidFill>
                  <a:srgbClr val="767676"/>
                </a:solidFill>
                <a:latin typeface="Pretendard"/>
                <a:ea typeface="Pretendard"/>
                <a:cs typeface="Pretendard"/>
              </a:rPr>
              <a:t>날씨 4종(맑은 낮 · 밤 · 젖은 노면 · 눈)에서 같은 비교를 만들었다. 전체 영상은 저장소 sw/media/ 와 logs/carla_demo/정리/G_비교_방어없음_vs_RTOS/ 에 있다.</a:t>
            </a:r>
          </a:p>
        </p:txBody>
      </p:sp>
      <p:sp>
        <p:nvSpPr>
          <p:cNvPr id="7" name="TextBox 6"/>
          <p:cNvSpPr txBox="1"/>
          <p:nvPr/>
        </p:nvSpPr>
        <p:spPr>
          <a:xfrm>
            <a:off x="533400" y="6648450"/>
            <a:ext cx="7620000" cy="133350"/>
          </a:xfrm>
          <a:prstGeom prst="rect">
            <a:avLst/>
          </a:prstGeom>
          <a:noFill/>
        </p:spPr>
        <p:txBody>
          <a:bodyPr wrap="square" anchor="t" lIns="0" rIns="0" tIns="0" bIns="0">
            <a:spAutoFit/>
          </a:bodyPr>
          <a:lstStyle/>
          <a:p>
            <a:pPr algn="l">
              <a:lnSpc>
                <a:spcPct val="140000"/>
              </a:lnSpc>
            </a:pPr>
            <a:r>
              <a:rPr sz="800" b="0">
                <a:solidFill>
                  <a:srgbClr val="A6A6A6"/>
                </a:solidFill>
                <a:latin typeface="Pretendard"/>
                <a:ea typeface="Pretendard"/>
                <a:cs typeface="Pretendard"/>
              </a:rPr>
              <a:t>팀 ARTS · 제24회 임베디드SW경진대회 자동차/모빌리티(현대자동차) · github.com/gkgk0119gmail-arch/2026ESWContest_mobility_ARTS</a:t>
            </a:r>
          </a:p>
        </p:txBody>
      </p:sp>
      <p:sp>
        <p:nvSpPr>
          <p:cNvPr id="8" name="TextBox 7"/>
          <p:cNvSpPr txBox="1"/>
          <p:nvPr/>
        </p:nvSpPr>
        <p:spPr>
          <a:xfrm>
            <a:off x="10134600" y="6638925"/>
            <a:ext cx="1524000" cy="133350"/>
          </a:xfrm>
          <a:prstGeom prst="rect">
            <a:avLst/>
          </a:prstGeom>
          <a:noFill/>
        </p:spPr>
        <p:txBody>
          <a:bodyPr wrap="square" anchor="t" lIns="0" rIns="0" tIns="0" bIns="0">
            <a:spAutoFit/>
          </a:bodyPr>
          <a:lstStyle/>
          <a:p>
            <a:pPr algn="r">
              <a:lnSpc>
                <a:spcPct val="140000"/>
              </a:lnSpc>
            </a:pPr>
            <a:r>
              <a:rPr sz="900" b="1">
                <a:solidFill>
                  <a:srgbClr val="002C5F"/>
                </a:solidFill>
                <a:latin typeface="Pretendard"/>
                <a:ea typeface="Pretendard"/>
                <a:cs typeface="Pretendard"/>
              </a:rPr>
              <a:t>IcePredict</a:t>
            </a:r>
          </a:p>
        </p:txBody>
      </p:sp>
      <p:pic>
        <p:nvPicPr>
          <p:cNvPr id="9" name="v_compare.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33400" y="1219200"/>
            <a:ext cx="11125200" cy="2247900"/>
          </a:xfrm>
          <a:prstGeom prst="rect">
            <a:avLst/>
          </a:prstGeom>
        </p:spPr>
      </p:pic>
      <p:sp>
        <p:nvSpPr>
          <p:cNvPr id="10" name="TextBox 9"/>
          <p:cNvSpPr txBox="1"/>
          <p:nvPr/>
        </p:nvSpPr>
        <p:spPr>
          <a:xfrm>
            <a:off x="533400" y="3505200"/>
            <a:ext cx="11125200" cy="133350"/>
          </a:xfrm>
          <a:prstGeom prst="rect">
            <a:avLst/>
          </a:prstGeom>
          <a:noFill/>
        </p:spPr>
        <p:txBody>
          <a:bodyPr wrap="square" anchor="t" lIns="0" rIns="0" tIns="0" bIns="0">
            <a:spAutoFit/>
          </a:bodyPr>
          <a:lstStyle/>
          <a:p>
            <a:pPr algn="l">
              <a:lnSpc>
                <a:spcPct val="140000"/>
              </a:lnSpc>
            </a:pPr>
            <a:r>
              <a:rPr sz="800" b="0">
                <a:solidFill>
                  <a:srgbClr val="A6A6A6"/>
                </a:solidFill>
                <a:latin typeface="Pretendard"/>
                <a:ea typeface="Pretendard"/>
                <a:cs typeface="Pretendard"/>
              </a:rPr>
              <a:t>▶ 발표 모드에서 자동 재생 · 각각 전방 카메라(NPU 입력) + 조감 · 16 s</a:t>
            </a:r>
          </a:p>
        </p:txBody>
      </p:sp>
      <p:sp>
        <p:nvSpPr>
          <p:cNvPr id="11" name="TextBox 10"/>
          <p:cNvSpPr txBox="1"/>
          <p:nvPr/>
        </p:nvSpPr>
        <p:spPr>
          <a:xfrm>
            <a:off x="533400" y="3752850"/>
            <a:ext cx="5334000" cy="162878"/>
          </a:xfrm>
          <a:prstGeom prst="rect">
            <a:avLst/>
          </a:prstGeom>
          <a:noFill/>
        </p:spPr>
        <p:txBody>
          <a:bodyPr wrap="square" anchor="t" lIns="0" rIns="0" tIns="0" bIns="0">
            <a:spAutoFit/>
          </a:bodyPr>
          <a:lstStyle/>
          <a:p>
            <a:pPr algn="l">
              <a:lnSpc>
                <a:spcPct val="100000"/>
              </a:lnSpc>
            </a:pPr>
            <a:r>
              <a:rPr sz="950" b="1" spc="80">
                <a:solidFill>
                  <a:srgbClr val="E63312"/>
                </a:solidFill>
                <a:latin typeface="Pretendard"/>
                <a:ea typeface="Pretendard"/>
                <a:cs typeface="Pretendard"/>
              </a:rPr>
              <a:t>왼쪽 · 방어 없음</a:t>
            </a:r>
          </a:p>
        </p:txBody>
      </p:sp>
      <p:sp>
        <p:nvSpPr>
          <p:cNvPr id="12" name="TextBox 11"/>
          <p:cNvSpPr txBox="1"/>
          <p:nvPr/>
        </p:nvSpPr>
        <p:spPr>
          <a:xfrm>
            <a:off x="533400" y="3981450"/>
            <a:ext cx="5334000" cy="385762"/>
          </a:xfrm>
          <a:prstGeom prst="rect">
            <a:avLst/>
          </a:prstGeom>
          <a:noFill/>
        </p:spPr>
        <p:txBody>
          <a:bodyPr wrap="square" anchor="t" lIns="0" rIns="0" tIns="0" bIns="0">
            <a:spAutoFit/>
          </a:bodyPr>
          <a:lstStyle/>
          <a:p>
            <a:pPr algn="l">
              <a:lnSpc>
                <a:spcPct val="100000"/>
              </a:lnSpc>
            </a:pPr>
            <a:r>
              <a:rPr sz="3000" b="0">
                <a:solidFill>
                  <a:srgbClr val="E63312"/>
                </a:solidFill>
                <a:latin typeface="Pretendard ExtraBold"/>
                <a:ea typeface="Pretendard ExtraBold"/>
                <a:cs typeface="Pretendard ExtraBold"/>
              </a:rPr>
              <a:t>25.4 km/h</a:t>
            </a:r>
          </a:p>
        </p:txBody>
      </p:sp>
      <p:sp>
        <p:nvSpPr>
          <p:cNvPr id="13" name="TextBox 12"/>
          <p:cNvSpPr txBox="1"/>
          <p:nvPr/>
        </p:nvSpPr>
        <p:spPr>
          <a:xfrm>
            <a:off x="533400" y="4386262"/>
            <a:ext cx="5334000" cy="319088"/>
          </a:xfrm>
          <a:prstGeom prst="rect">
            <a:avLst/>
          </a:prstGeom>
          <a:noFill/>
        </p:spPr>
        <p:txBody>
          <a:bodyPr wrap="square" anchor="t" lIns="0" rIns="0" tIns="0" bIns="0">
            <a:spAutoFit/>
          </a:bodyPr>
          <a:lstStyle/>
          <a:p>
            <a:pPr algn="l">
              <a:lnSpc>
                <a:spcPct val="130000"/>
              </a:lnSpc>
            </a:pPr>
            <a:r>
              <a:rPr sz="950" b="0">
                <a:solidFill>
                  <a:srgbClr val="767676"/>
                </a:solidFill>
                <a:latin typeface="Pretendard"/>
                <a:ea typeface="Pretendard"/>
                <a:cs typeface="Pretendard"/>
              </a:rPr>
              <a:t>15.0 s · 12.0 s 에 차선을 이탈해 제어를 잃었다</a:t>
            </a:r>
          </a:p>
        </p:txBody>
      </p:sp>
      <p:sp>
        <p:nvSpPr>
          <p:cNvPr id="14" name="TextBox 13"/>
          <p:cNvSpPr txBox="1"/>
          <p:nvPr/>
        </p:nvSpPr>
        <p:spPr>
          <a:xfrm>
            <a:off x="533400" y="4743450"/>
            <a:ext cx="5334000" cy="381000"/>
          </a:xfrm>
          <a:prstGeom prst="rect">
            <a:avLst/>
          </a:prstGeom>
          <a:noFill/>
        </p:spPr>
        <p:txBody>
          <a:bodyPr wrap="square" anchor="t" lIns="0" rIns="0" tIns="0" bIns="0">
            <a:spAutoFit/>
          </a:bodyPr>
          <a:lstStyle/>
          <a:p>
            <a:pPr algn="l">
              <a:lnSpc>
                <a:spcPct val="145000"/>
              </a:lnSpc>
            </a:pPr>
            <a:r>
              <a:rPr sz="1000" b="0">
                <a:solidFill>
                  <a:srgbClr val="4D4D4D"/>
                </a:solidFill>
                <a:latin typeface="Pretendard"/>
                <a:ea typeface="Pretendard"/>
                <a:cs typeface="Pretendard"/>
              </a:rPr>
              <a:t>차체가 진행 방향과 어긋난 채 차로를 가로질러 미끄러지는 중이다. 뒤따르던 차량이 그대로 접근하고 있다.</a:t>
            </a:r>
          </a:p>
        </p:txBody>
      </p:sp>
      <p:sp>
        <p:nvSpPr>
          <p:cNvPr id="15" name="TextBox 14"/>
          <p:cNvSpPr txBox="1"/>
          <p:nvPr/>
        </p:nvSpPr>
        <p:spPr>
          <a:xfrm>
            <a:off x="6324600" y="3752850"/>
            <a:ext cx="5334000" cy="162878"/>
          </a:xfrm>
          <a:prstGeom prst="rect">
            <a:avLst/>
          </a:prstGeom>
          <a:noFill/>
        </p:spPr>
        <p:txBody>
          <a:bodyPr wrap="square" anchor="t" lIns="0" rIns="0" tIns="0" bIns="0">
            <a:spAutoFit/>
          </a:bodyPr>
          <a:lstStyle/>
          <a:p>
            <a:pPr algn="l">
              <a:lnSpc>
                <a:spcPct val="100000"/>
              </a:lnSpc>
            </a:pPr>
            <a:r>
              <a:rPr sz="950" b="1" spc="80">
                <a:solidFill>
                  <a:srgbClr val="00AAD2"/>
                </a:solidFill>
                <a:latin typeface="Pretendard"/>
                <a:ea typeface="Pretendard"/>
                <a:cs typeface="Pretendard"/>
              </a:rPr>
              <a:t>오른쪽 · STM32N6 RTOS 2차 방어</a:t>
            </a:r>
          </a:p>
        </p:txBody>
      </p:sp>
      <p:sp>
        <p:nvSpPr>
          <p:cNvPr id="16" name="TextBox 15"/>
          <p:cNvSpPr txBox="1"/>
          <p:nvPr/>
        </p:nvSpPr>
        <p:spPr>
          <a:xfrm>
            <a:off x="6324600" y="3981450"/>
            <a:ext cx="5334000" cy="385762"/>
          </a:xfrm>
          <a:prstGeom prst="rect">
            <a:avLst/>
          </a:prstGeom>
          <a:noFill/>
        </p:spPr>
        <p:txBody>
          <a:bodyPr wrap="square" anchor="t" lIns="0" rIns="0" tIns="0" bIns="0">
            <a:spAutoFit/>
          </a:bodyPr>
          <a:lstStyle/>
          <a:p>
            <a:pPr algn="l">
              <a:lnSpc>
                <a:spcPct val="100000"/>
              </a:lnSpc>
            </a:pPr>
            <a:r>
              <a:rPr sz="3000" b="0">
                <a:solidFill>
                  <a:srgbClr val="00AAD2"/>
                </a:solidFill>
                <a:latin typeface="Pretendard ExtraBold"/>
                <a:ea typeface="Pretendard ExtraBold"/>
                <a:cs typeface="Pretendard ExtraBold"/>
              </a:rPr>
              <a:t>0.0 km/h</a:t>
            </a:r>
          </a:p>
        </p:txBody>
      </p:sp>
      <p:sp>
        <p:nvSpPr>
          <p:cNvPr id="17" name="TextBox 16"/>
          <p:cNvSpPr txBox="1"/>
          <p:nvPr/>
        </p:nvSpPr>
        <p:spPr>
          <a:xfrm>
            <a:off x="6324600" y="4386262"/>
            <a:ext cx="5334000" cy="319088"/>
          </a:xfrm>
          <a:prstGeom prst="rect">
            <a:avLst/>
          </a:prstGeom>
          <a:noFill/>
        </p:spPr>
        <p:txBody>
          <a:bodyPr wrap="square" anchor="t" lIns="0" rIns="0" tIns="0" bIns="0">
            <a:spAutoFit/>
          </a:bodyPr>
          <a:lstStyle/>
          <a:p>
            <a:pPr algn="l">
              <a:lnSpc>
                <a:spcPct val="130000"/>
              </a:lnSpc>
            </a:pPr>
            <a:r>
              <a:rPr sz="950" b="0">
                <a:solidFill>
                  <a:srgbClr val="767676"/>
                </a:solidFill>
                <a:latin typeface="Pretendard"/>
                <a:ea typeface="Pretendard"/>
                <a:cs typeface="Pretendard"/>
              </a:rPr>
              <a:t>13.2 s · IMU SLIP (lat_acc) a_y −0.36 g, yaw −0.28 → STOPPED</a:t>
            </a:r>
          </a:p>
        </p:txBody>
      </p:sp>
      <p:sp>
        <p:nvSpPr>
          <p:cNvPr id="18" name="TextBox 17"/>
          <p:cNvSpPr txBox="1"/>
          <p:nvPr/>
        </p:nvSpPr>
        <p:spPr>
          <a:xfrm>
            <a:off x="6324600" y="4743450"/>
            <a:ext cx="5334000" cy="381000"/>
          </a:xfrm>
          <a:prstGeom prst="rect">
            <a:avLst/>
          </a:prstGeom>
          <a:noFill/>
        </p:spPr>
        <p:txBody>
          <a:bodyPr wrap="square" anchor="t" lIns="0" rIns="0" tIns="0" bIns="0">
            <a:spAutoFit/>
          </a:bodyPr>
          <a:lstStyle/>
          <a:p>
            <a:pPr algn="l">
              <a:lnSpc>
                <a:spcPct val="145000"/>
              </a:lnSpc>
            </a:pPr>
            <a:r>
              <a:rPr sz="1000" b="0">
                <a:solidFill>
                  <a:srgbClr val="4D4D4D"/>
                </a:solidFill>
                <a:latin typeface="Pretendard"/>
                <a:ea typeface="Pretendard"/>
                <a:cs typeface="Pretendard"/>
              </a:rPr>
              <a:t>차선 안에서, 빙판을 벗어난 지점에 정지했다. 미끄러짐 확정부터 정지까지 보드가 제동·조향을 냈다.</a:t>
            </a:r>
          </a:p>
        </p:txBody>
      </p:sp>
      <p:sp>
        <p:nvSpPr>
          <p:cNvPr id="19" name="TextBox 18"/>
          <p:cNvSpPr txBox="1"/>
          <p:nvPr/>
        </p:nvSpPr>
        <p:spPr>
          <a:xfrm>
            <a:off x="533400" y="5181600"/>
            <a:ext cx="11125200" cy="162878"/>
          </a:xfrm>
          <a:prstGeom prst="rect">
            <a:avLst/>
          </a:prstGeom>
          <a:noFill/>
        </p:spPr>
        <p:txBody>
          <a:bodyPr wrap="square" anchor="t" lIns="0" rIns="0" tIns="0" bIns="0">
            <a:spAutoFit/>
          </a:bodyPr>
          <a:lstStyle/>
          <a:p>
            <a:pPr algn="l">
              <a:lnSpc>
                <a:spcPct val="100000"/>
              </a:lnSpc>
            </a:pPr>
            <a:r>
              <a:rPr sz="950" b="1" spc="80">
                <a:solidFill>
                  <a:srgbClr val="002C5F"/>
                </a:solidFill>
                <a:latin typeface="Pretendard"/>
                <a:ea typeface="Pretendard"/>
                <a:cs typeface="Pretendard"/>
              </a:rPr>
              <a:t>날씨 4종에서 같은 비교 — 각 쌍의 마지막 장면 (왼쪽 방어 없음 · 오른쪽 STM32N6 RTOS 2차 방어)</a:t>
            </a:r>
          </a:p>
        </p:txBody>
      </p:sp>
      <p:pic>
        <p:nvPicPr>
          <p:cNvPr id="20" name="Picture 19" descr="c_clearnoon.jpg"/>
          <p:cNvPicPr>
            <a:picLocks noChangeAspect="1"/>
          </p:cNvPicPr>
          <p:nvPr/>
        </p:nvPicPr>
        <p:blipFill>
          <a:blip r:embed="rId5"/>
          <a:stretch>
            <a:fillRect/>
          </a:stretch>
        </p:blipFill>
        <p:spPr>
          <a:xfrm>
            <a:off x="1962150" y="5410200"/>
            <a:ext cx="1981200" cy="800100"/>
          </a:xfrm>
          <a:prstGeom prst="rect">
            <a:avLst/>
          </a:prstGeom>
        </p:spPr>
      </p:pic>
      <p:sp>
        <p:nvSpPr>
          <p:cNvPr id="21" name="Rectangle 20"/>
          <p:cNvSpPr/>
          <p:nvPr/>
        </p:nvSpPr>
        <p:spPr>
          <a:xfrm>
            <a:off x="1962150" y="6000750"/>
            <a:ext cx="819150" cy="209550"/>
          </a:xfrm>
          <a:prstGeom prst="rect">
            <a:avLst/>
          </a:prstGeom>
          <a:solidFill>
            <a:srgbClr val="002C5F">
              <a:alpha val="85000"/>
            </a:srgbClr>
          </a:solidFill>
          <a:ln>
            <a:noFill/>
          </a:ln>
          <a:effectLst/>
        </p:spPr>
        <p:txBody>
          <a:bodyPr rtlCol="0" anchor="ctr"/>
          <a:lstStyle/>
          <a:p/>
        </p:txBody>
      </p:sp>
      <p:sp>
        <p:nvSpPr>
          <p:cNvPr id="22" name="TextBox 21"/>
          <p:cNvSpPr txBox="1"/>
          <p:nvPr/>
        </p:nvSpPr>
        <p:spPr>
          <a:xfrm>
            <a:off x="2038350" y="6000750"/>
            <a:ext cx="742950" cy="209550"/>
          </a:xfrm>
          <a:prstGeom prst="rect">
            <a:avLst/>
          </a:prstGeom>
          <a:noFill/>
        </p:spPr>
        <p:txBody>
          <a:bodyPr wrap="square" anchor="ctr" lIns="0" rIns="0" tIns="0" bIns="0">
            <a:spAutoFit/>
          </a:bodyPr>
          <a:lstStyle/>
          <a:p>
            <a:pPr algn="l">
              <a:lnSpc>
                <a:spcPct val="140000"/>
              </a:lnSpc>
            </a:pPr>
            <a:r>
              <a:rPr sz="850" b="1">
                <a:solidFill>
                  <a:srgbClr val="FFFFFF"/>
                </a:solidFill>
                <a:latin typeface="Pretendard"/>
                <a:ea typeface="Pretendard"/>
                <a:cs typeface="Pretendard"/>
              </a:rPr>
              <a:t>맑은 낮</a:t>
            </a:r>
          </a:p>
        </p:txBody>
      </p:sp>
      <p:pic>
        <p:nvPicPr>
          <p:cNvPr id="23" name="Picture 22" descr="c_clearnight.jpg"/>
          <p:cNvPicPr>
            <a:picLocks noChangeAspect="1"/>
          </p:cNvPicPr>
          <p:nvPr/>
        </p:nvPicPr>
        <p:blipFill>
          <a:blip r:embed="rId6"/>
          <a:stretch>
            <a:fillRect/>
          </a:stretch>
        </p:blipFill>
        <p:spPr>
          <a:xfrm>
            <a:off x="4057650" y="5410200"/>
            <a:ext cx="1981200" cy="800100"/>
          </a:xfrm>
          <a:prstGeom prst="rect">
            <a:avLst/>
          </a:prstGeom>
        </p:spPr>
      </p:pic>
      <p:sp>
        <p:nvSpPr>
          <p:cNvPr id="24" name="Rectangle 23"/>
          <p:cNvSpPr/>
          <p:nvPr/>
        </p:nvSpPr>
        <p:spPr>
          <a:xfrm>
            <a:off x="4057650" y="6000750"/>
            <a:ext cx="819150" cy="209550"/>
          </a:xfrm>
          <a:prstGeom prst="rect">
            <a:avLst/>
          </a:prstGeom>
          <a:solidFill>
            <a:srgbClr val="002C5F">
              <a:alpha val="85000"/>
            </a:srgbClr>
          </a:solidFill>
          <a:ln>
            <a:noFill/>
          </a:ln>
          <a:effectLst/>
        </p:spPr>
        <p:txBody>
          <a:bodyPr rtlCol="0" anchor="ctr"/>
          <a:lstStyle/>
          <a:p/>
        </p:txBody>
      </p:sp>
      <p:sp>
        <p:nvSpPr>
          <p:cNvPr id="25" name="TextBox 24"/>
          <p:cNvSpPr txBox="1"/>
          <p:nvPr/>
        </p:nvSpPr>
        <p:spPr>
          <a:xfrm>
            <a:off x="4133850" y="6000750"/>
            <a:ext cx="742950" cy="209550"/>
          </a:xfrm>
          <a:prstGeom prst="rect">
            <a:avLst/>
          </a:prstGeom>
          <a:noFill/>
        </p:spPr>
        <p:txBody>
          <a:bodyPr wrap="square" anchor="ctr" lIns="0" rIns="0" tIns="0" bIns="0">
            <a:spAutoFit/>
          </a:bodyPr>
          <a:lstStyle/>
          <a:p>
            <a:pPr algn="l">
              <a:lnSpc>
                <a:spcPct val="140000"/>
              </a:lnSpc>
            </a:pPr>
            <a:r>
              <a:rPr sz="850" b="1">
                <a:solidFill>
                  <a:srgbClr val="FFFFFF"/>
                </a:solidFill>
                <a:latin typeface="Pretendard"/>
                <a:ea typeface="Pretendard"/>
                <a:cs typeface="Pretendard"/>
              </a:rPr>
              <a:t>맑은 밤</a:t>
            </a:r>
          </a:p>
        </p:txBody>
      </p:sp>
      <p:pic>
        <p:nvPicPr>
          <p:cNvPr id="26" name="Picture 25" descr="c_wetnoon.jpg"/>
          <p:cNvPicPr>
            <a:picLocks noChangeAspect="1"/>
          </p:cNvPicPr>
          <p:nvPr/>
        </p:nvPicPr>
        <p:blipFill>
          <a:blip r:embed="rId7"/>
          <a:stretch>
            <a:fillRect/>
          </a:stretch>
        </p:blipFill>
        <p:spPr>
          <a:xfrm>
            <a:off x="6153150" y="5410200"/>
            <a:ext cx="1981200" cy="800100"/>
          </a:xfrm>
          <a:prstGeom prst="rect">
            <a:avLst/>
          </a:prstGeom>
        </p:spPr>
      </p:pic>
      <p:sp>
        <p:nvSpPr>
          <p:cNvPr id="27" name="Rectangle 26"/>
          <p:cNvSpPr/>
          <p:nvPr/>
        </p:nvSpPr>
        <p:spPr>
          <a:xfrm>
            <a:off x="6153150" y="6000750"/>
            <a:ext cx="819150" cy="209550"/>
          </a:xfrm>
          <a:prstGeom prst="rect">
            <a:avLst/>
          </a:prstGeom>
          <a:solidFill>
            <a:srgbClr val="002C5F">
              <a:alpha val="85000"/>
            </a:srgbClr>
          </a:solidFill>
          <a:ln>
            <a:noFill/>
          </a:ln>
          <a:effectLst/>
        </p:spPr>
        <p:txBody>
          <a:bodyPr rtlCol="0" anchor="ctr"/>
          <a:lstStyle/>
          <a:p/>
        </p:txBody>
      </p:sp>
      <p:sp>
        <p:nvSpPr>
          <p:cNvPr id="28" name="TextBox 27"/>
          <p:cNvSpPr txBox="1"/>
          <p:nvPr/>
        </p:nvSpPr>
        <p:spPr>
          <a:xfrm>
            <a:off x="6229350" y="6000750"/>
            <a:ext cx="742950" cy="209550"/>
          </a:xfrm>
          <a:prstGeom prst="rect">
            <a:avLst/>
          </a:prstGeom>
          <a:noFill/>
        </p:spPr>
        <p:txBody>
          <a:bodyPr wrap="square" anchor="ctr" lIns="0" rIns="0" tIns="0" bIns="0">
            <a:spAutoFit/>
          </a:bodyPr>
          <a:lstStyle/>
          <a:p>
            <a:pPr algn="l">
              <a:lnSpc>
                <a:spcPct val="140000"/>
              </a:lnSpc>
            </a:pPr>
            <a:r>
              <a:rPr sz="850" b="1">
                <a:solidFill>
                  <a:srgbClr val="FFFFFF"/>
                </a:solidFill>
                <a:latin typeface="Pretendard"/>
                <a:ea typeface="Pretendard"/>
                <a:cs typeface="Pretendard"/>
              </a:rPr>
              <a:t>젖은 노면</a:t>
            </a:r>
          </a:p>
        </p:txBody>
      </p:sp>
      <p:pic>
        <p:nvPicPr>
          <p:cNvPr id="29" name="Picture 28" descr="c_snow.jpg"/>
          <p:cNvPicPr>
            <a:picLocks noChangeAspect="1"/>
          </p:cNvPicPr>
          <p:nvPr/>
        </p:nvPicPr>
        <p:blipFill>
          <a:blip r:embed="rId8"/>
          <a:stretch>
            <a:fillRect/>
          </a:stretch>
        </p:blipFill>
        <p:spPr>
          <a:xfrm>
            <a:off x="8248650" y="5410200"/>
            <a:ext cx="1981200" cy="800100"/>
          </a:xfrm>
          <a:prstGeom prst="rect">
            <a:avLst/>
          </a:prstGeom>
        </p:spPr>
      </p:pic>
      <p:sp>
        <p:nvSpPr>
          <p:cNvPr id="30" name="Rectangle 29"/>
          <p:cNvSpPr/>
          <p:nvPr/>
        </p:nvSpPr>
        <p:spPr>
          <a:xfrm>
            <a:off x="8248650" y="6000750"/>
            <a:ext cx="819150" cy="209550"/>
          </a:xfrm>
          <a:prstGeom prst="rect">
            <a:avLst/>
          </a:prstGeom>
          <a:solidFill>
            <a:srgbClr val="002C5F">
              <a:alpha val="85000"/>
            </a:srgbClr>
          </a:solidFill>
          <a:ln>
            <a:noFill/>
          </a:ln>
          <a:effectLst/>
        </p:spPr>
        <p:txBody>
          <a:bodyPr rtlCol="0" anchor="ctr"/>
          <a:lstStyle/>
          <a:p/>
        </p:txBody>
      </p:sp>
      <p:sp>
        <p:nvSpPr>
          <p:cNvPr id="31" name="TextBox 30"/>
          <p:cNvSpPr txBox="1"/>
          <p:nvPr/>
        </p:nvSpPr>
        <p:spPr>
          <a:xfrm>
            <a:off x="8324850" y="6000750"/>
            <a:ext cx="742950" cy="209550"/>
          </a:xfrm>
          <a:prstGeom prst="rect">
            <a:avLst/>
          </a:prstGeom>
          <a:noFill/>
        </p:spPr>
        <p:txBody>
          <a:bodyPr wrap="square" anchor="ctr" lIns="0" rIns="0" tIns="0" bIns="0">
            <a:spAutoFit/>
          </a:bodyPr>
          <a:lstStyle/>
          <a:p>
            <a:pPr algn="l">
              <a:lnSpc>
                <a:spcPct val="140000"/>
              </a:lnSpc>
            </a:pPr>
            <a:r>
              <a:rPr sz="850" b="1">
                <a:solidFill>
                  <a:srgbClr val="FFFFFF"/>
                </a:solidFill>
                <a:latin typeface="Pretendard"/>
                <a:ea typeface="Pretendard"/>
                <a:cs typeface="Pretendard"/>
              </a:rPr>
              <a:t>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endCondLst>
                    <p:cond evt="onStopAudio" delay="0">
                      <p:tn val="2"/>
                    </p:cond>
                  </p:endCondLst>
                </p:cTn>
                <p:tgtEl>
                  <p:spTgt spid="9"/>
                </p:tgtEl>
              </p:cMediaNode>
            </p:video>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3400" y="323850"/>
            <a:ext cx="5715000" cy="162878"/>
          </a:xfrm>
          <a:prstGeom prst="rect">
            <a:avLst/>
          </a:prstGeom>
          <a:noFill/>
        </p:spPr>
        <p:txBody>
          <a:bodyPr wrap="square" anchor="t" lIns="0" rIns="0" tIns="0" bIns="0">
            <a:spAutoFit/>
          </a:bodyPr>
          <a:lstStyle/>
          <a:p>
            <a:pPr algn="l">
              <a:lnSpc>
                <a:spcPct val="100000"/>
              </a:lnSpc>
            </a:pPr>
            <a:r>
              <a:rPr sz="950" b="1" spc="80">
                <a:solidFill>
                  <a:srgbClr val="E63312"/>
                </a:solidFill>
                <a:latin typeface="Pretendard"/>
                <a:ea typeface="Pretendard"/>
                <a:cs typeface="Pretendard"/>
              </a:rPr>
              <a:t>2차 방어</a:t>
            </a:r>
          </a:p>
        </p:txBody>
      </p:sp>
      <p:sp>
        <p:nvSpPr>
          <p:cNvPr id="3" name="TextBox 2"/>
          <p:cNvSpPr txBox="1"/>
          <p:nvPr/>
        </p:nvSpPr>
        <p:spPr>
          <a:xfrm>
            <a:off x="9753600" y="314325"/>
            <a:ext cx="1905000" cy="152400"/>
          </a:xfrm>
          <a:prstGeom prst="rect">
            <a:avLst/>
          </a:prstGeom>
          <a:noFill/>
        </p:spPr>
        <p:txBody>
          <a:bodyPr wrap="square" anchor="t" lIns="0" rIns="0" tIns="0" bIns="0">
            <a:spAutoFit/>
          </a:bodyPr>
          <a:lstStyle/>
          <a:p>
            <a:pPr algn="r">
              <a:lnSpc>
                <a:spcPct val="140000"/>
              </a:lnSpc>
            </a:pPr>
            <a:r>
              <a:rPr sz="900" b="0">
                <a:solidFill>
                  <a:srgbClr val="A6A6A6"/>
                </a:solidFill>
                <a:latin typeface="Pretendard"/>
                <a:ea typeface="Pretendard"/>
                <a:cs typeface="Pretendard"/>
              </a:rPr>
              <a:t>15 / 20</a:t>
            </a:r>
          </a:p>
        </p:txBody>
      </p:sp>
      <p:sp>
        <p:nvSpPr>
          <p:cNvPr id="4" name="TextBox 3"/>
          <p:cNvSpPr txBox="1"/>
          <p:nvPr/>
        </p:nvSpPr>
        <p:spPr>
          <a:xfrm>
            <a:off x="533400" y="495300"/>
            <a:ext cx="11125200" cy="381000"/>
          </a:xfrm>
          <a:prstGeom prst="rect">
            <a:avLst/>
          </a:prstGeom>
          <a:noFill/>
        </p:spPr>
        <p:txBody>
          <a:bodyPr wrap="square" anchor="t" lIns="0" rIns="0" tIns="0" bIns="0">
            <a:spAutoFit/>
          </a:bodyPr>
          <a:lstStyle/>
          <a:p>
            <a:pPr algn="l">
              <a:lnSpc>
                <a:spcPct val="100000"/>
              </a:lnSpc>
            </a:pPr>
            <a:r>
              <a:rPr sz="2400" b="0">
                <a:solidFill>
                  <a:srgbClr val="1C1B1B"/>
                </a:solidFill>
                <a:latin typeface="Pretendard ExtraBold"/>
                <a:ea typeface="Pretendard ExtraBold"/>
                <a:cs typeface="Pretendard ExtraBold"/>
              </a:rPr>
              <a:t>2차 방어 확장 — '어떻게 밟나'가 아니라 '언제 밟나'</a:t>
            </a:r>
          </a:p>
        </p:txBody>
      </p:sp>
      <p:sp>
        <p:nvSpPr>
          <p:cNvPr id="5" name="TextBox 4"/>
          <p:cNvSpPr txBox="1"/>
          <p:nvPr/>
        </p:nvSpPr>
        <p:spPr>
          <a:xfrm>
            <a:off x="533400" y="895350"/>
            <a:ext cx="11125200" cy="209550"/>
          </a:xfrm>
          <a:prstGeom prst="rect">
            <a:avLst/>
          </a:prstGeom>
          <a:noFill/>
        </p:spPr>
        <p:txBody>
          <a:bodyPr wrap="square" anchor="t" lIns="0" rIns="0" tIns="0" bIns="0">
            <a:spAutoFit/>
          </a:bodyPr>
          <a:lstStyle/>
          <a:p>
            <a:pPr algn="l">
              <a:lnSpc>
                <a:spcPct val="120000"/>
              </a:lnSpc>
            </a:pPr>
            <a:r>
              <a:rPr sz="1150" b="0">
                <a:solidFill>
                  <a:srgbClr val="4D4D4D"/>
                </a:solidFill>
                <a:latin typeface="Pretendard"/>
                <a:ea typeface="Pretendard"/>
                <a:cs typeface="Pretendard"/>
              </a:rPr>
              <a:t>미끄러진 뒤의 제어를 더 다듬는 실험을 먼저 했다. 결과를 정한 것은 제어가 아니라 제동을 시작한 시점이었다.</a:t>
            </a:r>
          </a:p>
        </p:txBody>
      </p:sp>
      <p:sp>
        <p:nvSpPr>
          <p:cNvPr id="6" name="TextBox 5"/>
          <p:cNvSpPr txBox="1"/>
          <p:nvPr/>
        </p:nvSpPr>
        <p:spPr>
          <a:xfrm>
            <a:off x="533400" y="6286500"/>
            <a:ext cx="11125200" cy="304800"/>
          </a:xfrm>
          <a:prstGeom prst="rect">
            <a:avLst/>
          </a:prstGeom>
          <a:noFill/>
        </p:spPr>
        <p:txBody>
          <a:bodyPr wrap="square" anchor="t" lIns="0" rIns="0" tIns="0" bIns="0">
            <a:spAutoFit/>
          </a:bodyPr>
          <a:lstStyle/>
          <a:p>
            <a:pPr algn="l">
              <a:lnSpc>
                <a:spcPct val="130000"/>
              </a:lnSpc>
            </a:pPr>
            <a:r>
              <a:rPr sz="850" b="0">
                <a:solidFill>
                  <a:srgbClr val="767676"/>
                </a:solidFill>
                <a:latin typeface="Pretendard"/>
                <a:ea typeface="Pretendard"/>
                <a:cs typeface="Pretendard"/>
              </a:rPr>
              <a:t>근거: sw/docs/evidence/18_마찰별_게인스케줄링.md · 19_안전전용RTOS_연구계획.md. CARLA 0.9.16 시뮬레이션 결과다.</a:t>
            </a:r>
          </a:p>
        </p:txBody>
      </p:sp>
      <p:sp>
        <p:nvSpPr>
          <p:cNvPr id="7" name="TextBox 6"/>
          <p:cNvSpPr txBox="1"/>
          <p:nvPr/>
        </p:nvSpPr>
        <p:spPr>
          <a:xfrm>
            <a:off x="533400" y="6648450"/>
            <a:ext cx="7620000" cy="133350"/>
          </a:xfrm>
          <a:prstGeom prst="rect">
            <a:avLst/>
          </a:prstGeom>
          <a:noFill/>
        </p:spPr>
        <p:txBody>
          <a:bodyPr wrap="square" anchor="t" lIns="0" rIns="0" tIns="0" bIns="0">
            <a:spAutoFit/>
          </a:bodyPr>
          <a:lstStyle/>
          <a:p>
            <a:pPr algn="l">
              <a:lnSpc>
                <a:spcPct val="140000"/>
              </a:lnSpc>
            </a:pPr>
            <a:r>
              <a:rPr sz="800" b="0">
                <a:solidFill>
                  <a:srgbClr val="A6A6A6"/>
                </a:solidFill>
                <a:latin typeface="Pretendard"/>
                <a:ea typeface="Pretendard"/>
                <a:cs typeface="Pretendard"/>
              </a:rPr>
              <a:t>팀 ARTS · 제24회 임베디드SW경진대회 자동차/모빌리티(현대자동차) · github.com/gkgk0119gmail-arch/2026ESWContest_mobility_ARTS</a:t>
            </a:r>
          </a:p>
        </p:txBody>
      </p:sp>
      <p:sp>
        <p:nvSpPr>
          <p:cNvPr id="8" name="TextBox 7"/>
          <p:cNvSpPr txBox="1"/>
          <p:nvPr/>
        </p:nvSpPr>
        <p:spPr>
          <a:xfrm>
            <a:off x="10134600" y="6638925"/>
            <a:ext cx="1524000" cy="133350"/>
          </a:xfrm>
          <a:prstGeom prst="rect">
            <a:avLst/>
          </a:prstGeom>
          <a:noFill/>
        </p:spPr>
        <p:txBody>
          <a:bodyPr wrap="square" anchor="t" lIns="0" rIns="0" tIns="0" bIns="0">
            <a:spAutoFit/>
          </a:bodyPr>
          <a:lstStyle/>
          <a:p>
            <a:pPr algn="r">
              <a:lnSpc>
                <a:spcPct val="140000"/>
              </a:lnSpc>
            </a:pPr>
            <a:r>
              <a:rPr sz="900" b="1">
                <a:solidFill>
                  <a:srgbClr val="002C5F"/>
                </a:solidFill>
                <a:latin typeface="Pretendard"/>
                <a:ea typeface="Pretendard"/>
                <a:cs typeface="Pretendard"/>
              </a:rPr>
              <a:t>IcePredict</a:t>
            </a:r>
          </a:p>
        </p:txBody>
      </p:sp>
      <p:pic>
        <p:nvPicPr>
          <p:cNvPr id="9" name="Picture 8" descr="gs_curve_impact.png"/>
          <p:cNvPicPr>
            <a:picLocks noChangeAspect="1"/>
          </p:cNvPicPr>
          <p:nvPr/>
        </p:nvPicPr>
        <p:blipFill>
          <a:blip r:embed="rId2"/>
          <a:stretch>
            <a:fillRect/>
          </a:stretch>
        </p:blipFill>
        <p:spPr>
          <a:xfrm>
            <a:off x="1193800" y="1219200"/>
            <a:ext cx="4394200" cy="1647825"/>
          </a:xfrm>
          <a:prstGeom prst="rect">
            <a:avLst/>
          </a:prstGeom>
        </p:spPr>
      </p:pic>
      <p:sp>
        <p:nvSpPr>
          <p:cNvPr id="10" name="TextBox 9"/>
          <p:cNvSpPr txBox="1"/>
          <p:nvPr/>
        </p:nvSpPr>
        <p:spPr>
          <a:xfrm>
            <a:off x="533400" y="2914650"/>
            <a:ext cx="5715000" cy="171450"/>
          </a:xfrm>
          <a:prstGeom prst="rect">
            <a:avLst/>
          </a:prstGeom>
          <a:noFill/>
        </p:spPr>
        <p:txBody>
          <a:bodyPr wrap="square" anchor="t" lIns="0" rIns="0" tIns="0" bIns="0">
            <a:spAutoFit/>
          </a:bodyPr>
          <a:lstStyle/>
          <a:p>
            <a:pPr algn="l">
              <a:lnSpc>
                <a:spcPct val="130000"/>
              </a:lnSpc>
            </a:pPr>
            <a:r>
              <a:rPr sz="900" b="0">
                <a:solidFill>
                  <a:srgbClr val="767676"/>
                </a:solidFill>
                <a:latin typeface="Pretendard"/>
                <a:ea typeface="Pretendard"/>
                <a:cs typeface="Pretendard"/>
              </a:rPr>
              <a:t>① 곡선 빙판 — 마찰별 제어표 후보 78개가 고정 게인과 충돌 직전 속도 중앙값 0.2 km/h 안</a:t>
            </a:r>
          </a:p>
        </p:txBody>
      </p:sp>
      <p:pic>
        <p:nvPicPr>
          <p:cNvPr id="11" name="Picture 10" descr="si_noevade.png"/>
          <p:cNvPicPr>
            <a:picLocks noChangeAspect="1"/>
          </p:cNvPicPr>
          <p:nvPr/>
        </p:nvPicPr>
        <p:blipFill>
          <a:blip r:embed="rId3"/>
          <a:stretch>
            <a:fillRect/>
          </a:stretch>
        </p:blipFill>
        <p:spPr>
          <a:xfrm>
            <a:off x="1413510" y="3181350"/>
            <a:ext cx="3954780" cy="1647825"/>
          </a:xfrm>
          <a:prstGeom prst="rect">
            <a:avLst/>
          </a:prstGeom>
        </p:spPr>
      </p:pic>
      <p:sp>
        <p:nvSpPr>
          <p:cNvPr id="12" name="TextBox 11"/>
          <p:cNvSpPr txBox="1"/>
          <p:nvPr/>
        </p:nvSpPr>
        <p:spPr>
          <a:xfrm>
            <a:off x="533400" y="4876800"/>
            <a:ext cx="5715000" cy="171450"/>
          </a:xfrm>
          <a:prstGeom prst="rect">
            <a:avLst/>
          </a:prstGeom>
          <a:noFill/>
        </p:spPr>
        <p:txBody>
          <a:bodyPr wrap="square" anchor="t" lIns="0" rIns="0" tIns="0" bIns="0">
            <a:spAutoFit/>
          </a:bodyPr>
          <a:lstStyle/>
          <a:p>
            <a:pPr algn="l">
              <a:lnSpc>
                <a:spcPct val="130000"/>
              </a:lnSpc>
            </a:pPr>
            <a:r>
              <a:rPr sz="900" b="0">
                <a:solidFill>
                  <a:srgbClr val="767676"/>
                </a:solidFill>
                <a:latin typeface="Pretendard"/>
                <a:ea typeface="Pretendard"/>
                <a:cs typeface="Pretendard"/>
              </a:rPr>
              <a:t>② 직선 빙판 위 정지 차량 — 판단 방식을 바꿔도, 2차 방어를 꺼도 결과가 같다. 운전자 제동 시점이 정했다</a:t>
            </a:r>
          </a:p>
        </p:txBody>
      </p:sp>
      <p:sp>
        <p:nvSpPr>
          <p:cNvPr id="13" name="Rectangle 12"/>
          <p:cNvSpPr/>
          <p:nvPr/>
        </p:nvSpPr>
        <p:spPr>
          <a:xfrm>
            <a:off x="6515100" y="1219200"/>
            <a:ext cx="5143500" cy="1600200"/>
          </a:xfrm>
          <a:prstGeom prst="rect">
            <a:avLst/>
          </a:prstGeom>
          <a:solidFill>
            <a:srgbClr val="F6F3F2"/>
          </a:solidFill>
          <a:ln>
            <a:noFill/>
          </a:ln>
          <a:effectLst/>
        </p:spPr>
        <p:txBody>
          <a:bodyPr rtlCol="0" anchor="ctr"/>
          <a:lstStyle/>
          <a:p/>
        </p:txBody>
      </p:sp>
      <p:sp>
        <p:nvSpPr>
          <p:cNvPr id="14" name="TextBox 13"/>
          <p:cNvSpPr txBox="1"/>
          <p:nvPr/>
        </p:nvSpPr>
        <p:spPr>
          <a:xfrm>
            <a:off x="6667500" y="1371600"/>
            <a:ext cx="4838700" cy="208121"/>
          </a:xfrm>
          <a:prstGeom prst="rect">
            <a:avLst/>
          </a:prstGeom>
          <a:noFill/>
        </p:spPr>
        <p:txBody>
          <a:bodyPr wrap="square" anchor="t" lIns="0" rIns="0" tIns="0" bIns="0">
            <a:spAutoFit/>
          </a:bodyPr>
          <a:lstStyle/>
          <a:p>
            <a:pPr algn="l">
              <a:lnSpc>
                <a:spcPct val="100000"/>
              </a:lnSpc>
            </a:pPr>
            <a:r>
              <a:rPr sz="1150" b="1">
                <a:solidFill>
                  <a:srgbClr val="E63312"/>
                </a:solidFill>
                <a:latin typeface="Pretendard"/>
                <a:ea typeface="Pretendard"/>
                <a:cs typeface="Pretendard"/>
              </a:rPr>
              <a:t>찾은 것</a:t>
            </a:r>
          </a:p>
        </p:txBody>
      </p:sp>
      <p:sp>
        <p:nvSpPr>
          <p:cNvPr id="15" name="TextBox 14"/>
          <p:cNvSpPr txBox="1"/>
          <p:nvPr/>
        </p:nvSpPr>
        <p:spPr>
          <a:xfrm>
            <a:off x="6667500" y="1617821"/>
            <a:ext cx="4838700" cy="1049179"/>
          </a:xfrm>
          <a:prstGeom prst="rect">
            <a:avLst/>
          </a:prstGeom>
          <a:noFill/>
        </p:spPr>
        <p:txBody>
          <a:bodyPr wrap="square" anchor="t" lIns="0" rIns="0" tIns="0" bIns="0">
            <a:spAutoFit/>
          </a:bodyPr>
          <a:lstStyle/>
          <a:p>
            <a:pPr algn="l">
              <a:lnSpc>
                <a:spcPct val="145000"/>
              </a:lnSpc>
              <a:spcAft>
                <a:spcPts val="400"/>
              </a:spcAft>
            </a:pPr>
            <a:r>
              <a:rPr sz="950" b="0">
                <a:solidFill>
                  <a:srgbClr val="4D4D4D"/>
                </a:solidFill>
                <a:latin typeface="Pretendard"/>
                <a:ea typeface="Pretendard"/>
                <a:cs typeface="Pretendard"/>
              </a:rPr>
              <a:t>· 빙판에서는 누가 밟든 감속이 마찰 한계(μg)에서 막힌다. 펄스 제동은 실차에서 ABS 가 이미 하는 일이다.</a:t>
            </a:r>
          </a:p>
          <a:p>
            <a:pPr algn="l">
              <a:lnSpc>
                <a:spcPct val="145000"/>
              </a:lnSpc>
              <a:spcAft>
                <a:spcPts val="400"/>
              </a:spcAft>
            </a:pPr>
            <a:r>
              <a:rPr sz="950" b="0">
                <a:solidFill>
                  <a:srgbClr val="4D4D4D"/>
                </a:solidFill>
                <a:latin typeface="Pretendard"/>
                <a:ea typeface="Pretendard"/>
                <a:cs typeface="Pretendard"/>
              </a:rPr>
              <a:t>· 그래서 '브레이크를 어떻게 밟나'를 다듬어도 이길 여지가 없었다. 60 km/h 에서 9 s 전에 밟으면 전부 충돌, 13 s 전이면 섰다.</a:t>
            </a:r>
          </a:p>
          <a:p>
            <a:pPr algn="l">
              <a:lnSpc>
                <a:spcPct val="145000"/>
              </a:lnSpc>
              <a:spcAft>
                <a:spcPts val="400"/>
              </a:spcAft>
            </a:pPr>
            <a:r>
              <a:rPr sz="950" b="0">
                <a:solidFill>
                  <a:srgbClr val="4D4D4D"/>
                </a:solidFill>
                <a:latin typeface="Pretendard"/>
                <a:ea typeface="Pretendard"/>
                <a:cs typeface="Pretendard"/>
              </a:rPr>
              <a:t>· 바꿀 수 있는 것은 </a:t>
            </a:r>
            <a:r>
              <a:rPr sz="950" b="1">
                <a:solidFill>
                  <a:srgbClr val="4D4D4D"/>
                </a:solidFill>
                <a:latin typeface="Pretendard"/>
                <a:ea typeface="Pretendard"/>
                <a:cs typeface="Pretendard"/>
              </a:rPr>
              <a:t>언제부터 밟기 시작하느냐</a:t>
            </a:r>
            <a:r>
              <a:rPr sz="950" b="0">
                <a:solidFill>
                  <a:srgbClr val="4D4D4D"/>
                </a:solidFill>
                <a:latin typeface="Pretendard"/>
                <a:ea typeface="Pretendard"/>
                <a:cs typeface="Pretendard"/>
              </a:rPr>
              <a:t>다.</a:t>
            </a:r>
          </a:p>
        </p:txBody>
      </p:sp>
      <p:graphicFrame>
        <p:nvGraphicFramePr>
          <p:cNvPr id="16" name="Table 15"/>
          <p:cNvGraphicFramePr>
            <a:graphicFrameLocks noGrp="1"/>
          </p:cNvGraphicFramePr>
          <p:nvPr/>
        </p:nvGraphicFramePr>
        <p:xfrm>
          <a:off x="6515100" y="2952750"/>
          <a:ext cx="5143500" cy="1657350"/>
        </p:xfrm>
        <a:graphic>
          <a:graphicData uri="http://schemas.openxmlformats.org/drawingml/2006/table">
            <a:tbl>
              <a:tblPr>
                <a:tableStyleId>{2D5ABB26-0587-4C30-8999-92F81FD0307C}</a:tableStyleId>
              </a:tblPr>
              <a:tblGrid>
                <a:gridCol w="1151530"/>
                <a:gridCol w="1995985"/>
                <a:gridCol w="1995985"/>
              </a:tblGrid>
              <a:tr h="209550">
                <a:tc>
                  <a:txBody>
                    <a:bodyPr wrap="square"/>
                    <a:lstStyle/>
                    <a:p>
                      <a:pPr>
                        <a:lnSpc>
                          <a:spcPct val="122000"/>
                        </a:lnSpc>
                      </a:pPr>
                      <a:r>
                        <a:rPr sz="850" b="1">
                          <a:solidFill>
                            <a:srgbClr val="002C5F"/>
                          </a:solidFill>
                          <a:latin typeface="Pretendard"/>
                          <a:ea typeface="Pretendard"/>
                          <a:cs typeface="Pretendard"/>
                        </a:rPr>
                        <a:t> </a:t>
                      </a:r>
                      <a:endParaRPr sz="85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c>
                  <a:txBody>
                    <a:bodyPr wrap="square"/>
                    <a:lstStyle/>
                    <a:p>
                      <a:pPr>
                        <a:lnSpc>
                          <a:spcPct val="122000"/>
                        </a:lnSpc>
                      </a:pPr>
                      <a:r>
                        <a:rPr sz="850" b="1">
                          <a:solidFill>
                            <a:srgbClr val="002C5F"/>
                          </a:solidFill>
                          <a:latin typeface="Pretendard"/>
                          <a:ea typeface="Pretendard"/>
                          <a:cs typeface="Pretendard"/>
                        </a:rPr>
                        <a:t>하는 일</a:t>
                      </a:r>
                      <a:endParaRPr sz="85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c>
                  <a:txBody>
                    <a:bodyPr wrap="square"/>
                    <a:lstStyle/>
                    <a:p>
                      <a:pPr>
                        <a:lnSpc>
                          <a:spcPct val="122000"/>
                        </a:lnSpc>
                      </a:pPr>
                      <a:r>
                        <a:rPr sz="850" b="1">
                          <a:solidFill>
                            <a:srgbClr val="002C5F"/>
                          </a:solidFill>
                          <a:latin typeface="Pretendard"/>
                          <a:ea typeface="Pretendard"/>
                          <a:cs typeface="Pretendard"/>
                        </a:rPr>
                        <a:t>못 하는 것</a:t>
                      </a:r>
                      <a:endParaRPr sz="85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r>
              <a:tr h="361950">
                <a:tc>
                  <a:txBody>
                    <a:bodyPr wrap="square"/>
                    <a:lstStyle/>
                    <a:p>
                      <a:pPr>
                        <a:lnSpc>
                          <a:spcPct val="122000"/>
                        </a:lnSpc>
                      </a:pPr>
                      <a:r>
                        <a:rPr sz="900" b="1">
                          <a:solidFill>
                            <a:srgbClr val="002C5F"/>
                          </a:solidFill>
                          <a:latin typeface="Pretendard"/>
                          <a:ea typeface="Pretendard"/>
                          <a:cs typeface="Pretendard"/>
                        </a:rPr>
                        <a:t>ABS · ESC</a:t>
                      </a:r>
                      <a:endParaRPr sz="9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00" b="0">
                          <a:solidFill>
                            <a:srgbClr val="1C1B1B"/>
                          </a:solidFill>
                          <a:latin typeface="Pretendard"/>
                          <a:ea typeface="Pretendard"/>
                          <a:cs typeface="Pretendard"/>
                        </a:rPr>
                        <a:t>미끄러지는 바퀴를 잡고 차체 회전을 막는다</a:t>
                      </a:r>
                      <a:endParaRPr sz="9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00" b="0">
                          <a:solidFill>
                            <a:srgbClr val="1C1B1B"/>
                          </a:solidFill>
                          <a:latin typeface="Pretendard"/>
                          <a:ea typeface="Pretendard"/>
                          <a:cs typeface="Pretendard"/>
                        </a:rPr>
                        <a:t>마찰을 다른 장치에 알리지 않는다</a:t>
                      </a:r>
                      <a:endParaRPr sz="9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361950">
                <a:tc>
                  <a:txBody>
                    <a:bodyPr wrap="square"/>
                    <a:lstStyle/>
                    <a:p>
                      <a:pPr>
                        <a:lnSpc>
                          <a:spcPct val="122000"/>
                        </a:lnSpc>
                      </a:pPr>
                      <a:r>
                        <a:rPr sz="900" b="1">
                          <a:solidFill>
                            <a:srgbClr val="002C5F"/>
                          </a:solidFill>
                          <a:latin typeface="Pretendard"/>
                          <a:ea typeface="Pretendard"/>
                          <a:cs typeface="Pretendard"/>
                        </a:rPr>
                        <a:t>긴급제동 · 간격 유지</a:t>
                      </a:r>
                      <a:endParaRPr sz="9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00" b="0">
                          <a:solidFill>
                            <a:srgbClr val="1C1B1B"/>
                          </a:solidFill>
                          <a:latin typeface="Pretendard"/>
                          <a:ea typeface="Pretendard"/>
                          <a:cs typeface="Pretendard"/>
                        </a:rPr>
                        <a:t>앞차 거리로 제동 시점을 정한다</a:t>
                      </a:r>
                      <a:endParaRPr sz="9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00" b="0">
                          <a:solidFill>
                            <a:srgbClr val="1C1B1B"/>
                          </a:solidFill>
                          <a:latin typeface="Pretendard"/>
                          <a:ea typeface="Pretendard"/>
                          <a:cs typeface="Pretendard"/>
                        </a:rPr>
                        <a:t>마찰을 모르면 마른 노면 기준이라 빙판에서 늦다</a:t>
                      </a:r>
                      <a:endParaRPr sz="9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361950">
                <a:tc>
                  <a:txBody>
                    <a:bodyPr wrap="square"/>
                    <a:lstStyle/>
                    <a:p>
                      <a:pPr>
                        <a:lnSpc>
                          <a:spcPct val="122000"/>
                        </a:lnSpc>
                      </a:pPr>
                      <a:r>
                        <a:rPr sz="900" b="1">
                          <a:solidFill>
                            <a:srgbClr val="002C5F"/>
                          </a:solidFill>
                          <a:latin typeface="Pretendard"/>
                          <a:ea typeface="Pretendard"/>
                          <a:cs typeface="Pretendard"/>
                        </a:rPr>
                        <a:t>노면 마찰 추정 (일부 양산차)</a:t>
                      </a:r>
                      <a:endParaRPr sz="9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00" b="0">
                          <a:solidFill>
                            <a:srgbClr val="1C1B1B"/>
                          </a:solidFill>
                          <a:latin typeface="Pretendard"/>
                          <a:ea typeface="Pretendard"/>
                          <a:cs typeface="Pretendard"/>
                        </a:rPr>
                        <a:t>바퀴 신호로 미끄러움을 추정해 경고·공유</a:t>
                      </a:r>
                      <a:endParaRPr sz="9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00" b="0">
                          <a:solidFill>
                            <a:srgbClr val="1C1B1B"/>
                          </a:solidFill>
                          <a:latin typeface="Pretendard"/>
                          <a:ea typeface="Pretendard"/>
                          <a:cs typeface="Pretendard"/>
                        </a:rPr>
                        <a:t>제동 시점까지 바로 잇는 경우는 드물다</a:t>
                      </a:r>
                      <a:endParaRPr sz="9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361950">
                <a:tc>
                  <a:txBody>
                    <a:bodyPr wrap="square"/>
                    <a:lstStyle/>
                    <a:p>
                      <a:pPr>
                        <a:lnSpc>
                          <a:spcPct val="122000"/>
                        </a:lnSpc>
                      </a:pPr>
                      <a:r>
                        <a:rPr sz="900" b="1">
                          <a:solidFill>
                            <a:srgbClr val="002C5F"/>
                          </a:solidFill>
                          <a:latin typeface="Pretendard"/>
                          <a:ea typeface="Pretendard"/>
                          <a:cs typeface="Pretendard"/>
                        </a:rPr>
                        <a:t>IcePredict 2차 방어</a:t>
                      </a:r>
                      <a:endParaRPr sz="9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00" b="1">
                          <a:solidFill>
                            <a:srgbClr val="1C1B1B"/>
                          </a:solidFill>
                          <a:latin typeface="Pretendard"/>
                          <a:ea typeface="Pretendard"/>
                          <a:cs typeface="Pretendard"/>
                        </a:rPr>
                        <a:t>마찰을 직접 재서 제동 시작 시점을 노면에 맞춘다</a:t>
                      </a:r>
                      <a:endParaRPr sz="9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00" b="0">
                          <a:solidFill>
                            <a:srgbClr val="1C1B1B"/>
                          </a:solidFill>
                          <a:latin typeface="Pretendard"/>
                          <a:ea typeface="Pretendard"/>
                          <a:cs typeface="Pretendard"/>
                        </a:rPr>
                        <a:t>탭을 운전자가 느낀다 (다음 쪽)</a:t>
                      </a:r>
                      <a:endParaRPr sz="9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3400" y="323850"/>
            <a:ext cx="5715000" cy="162878"/>
          </a:xfrm>
          <a:prstGeom prst="rect">
            <a:avLst/>
          </a:prstGeom>
          <a:noFill/>
        </p:spPr>
        <p:txBody>
          <a:bodyPr wrap="square" anchor="t" lIns="0" rIns="0" tIns="0" bIns="0">
            <a:spAutoFit/>
          </a:bodyPr>
          <a:lstStyle/>
          <a:p>
            <a:pPr algn="l">
              <a:lnSpc>
                <a:spcPct val="100000"/>
              </a:lnSpc>
            </a:pPr>
            <a:r>
              <a:rPr sz="950" b="1" spc="80">
                <a:solidFill>
                  <a:srgbClr val="E63312"/>
                </a:solidFill>
                <a:latin typeface="Pretendard"/>
                <a:ea typeface="Pretendard"/>
                <a:cs typeface="Pretendard"/>
              </a:rPr>
              <a:t>2차 방어</a:t>
            </a:r>
          </a:p>
        </p:txBody>
      </p:sp>
      <p:sp>
        <p:nvSpPr>
          <p:cNvPr id="3" name="TextBox 2"/>
          <p:cNvSpPr txBox="1"/>
          <p:nvPr/>
        </p:nvSpPr>
        <p:spPr>
          <a:xfrm>
            <a:off x="9753600" y="314325"/>
            <a:ext cx="1905000" cy="152400"/>
          </a:xfrm>
          <a:prstGeom prst="rect">
            <a:avLst/>
          </a:prstGeom>
          <a:noFill/>
        </p:spPr>
        <p:txBody>
          <a:bodyPr wrap="square" anchor="t" lIns="0" rIns="0" tIns="0" bIns="0">
            <a:spAutoFit/>
          </a:bodyPr>
          <a:lstStyle/>
          <a:p>
            <a:pPr algn="r">
              <a:lnSpc>
                <a:spcPct val="140000"/>
              </a:lnSpc>
            </a:pPr>
            <a:r>
              <a:rPr sz="900" b="0">
                <a:solidFill>
                  <a:srgbClr val="A6A6A6"/>
                </a:solidFill>
                <a:latin typeface="Pretendard"/>
                <a:ea typeface="Pretendard"/>
                <a:cs typeface="Pretendard"/>
              </a:rPr>
              <a:t>16 / 20</a:t>
            </a:r>
          </a:p>
        </p:txBody>
      </p:sp>
      <p:sp>
        <p:nvSpPr>
          <p:cNvPr id="4" name="TextBox 3"/>
          <p:cNvSpPr txBox="1"/>
          <p:nvPr/>
        </p:nvSpPr>
        <p:spPr>
          <a:xfrm>
            <a:off x="533400" y="495300"/>
            <a:ext cx="11125200" cy="381000"/>
          </a:xfrm>
          <a:prstGeom prst="rect">
            <a:avLst/>
          </a:prstGeom>
          <a:noFill/>
        </p:spPr>
        <p:txBody>
          <a:bodyPr wrap="square" anchor="t" lIns="0" rIns="0" tIns="0" bIns="0">
            <a:spAutoFit/>
          </a:bodyPr>
          <a:lstStyle/>
          <a:p>
            <a:pPr algn="l">
              <a:lnSpc>
                <a:spcPct val="100000"/>
              </a:lnSpc>
            </a:pPr>
            <a:r>
              <a:rPr sz="2400" b="0">
                <a:solidFill>
                  <a:srgbClr val="1C1B1B"/>
                </a:solidFill>
                <a:latin typeface="Pretendard ExtraBold"/>
                <a:ea typeface="Pretendard ExtraBold"/>
                <a:cs typeface="Pretendard ExtraBold"/>
              </a:rPr>
              <a:t>노면 확인 탭과 마찰 인식 제동 시점 (SLIP_ENVELOPE)</a:t>
            </a:r>
          </a:p>
        </p:txBody>
      </p:sp>
      <p:sp>
        <p:nvSpPr>
          <p:cNvPr id="5" name="TextBox 4"/>
          <p:cNvSpPr txBox="1"/>
          <p:nvPr/>
        </p:nvSpPr>
        <p:spPr>
          <a:xfrm>
            <a:off x="533400" y="895350"/>
            <a:ext cx="11125200" cy="209550"/>
          </a:xfrm>
          <a:prstGeom prst="rect">
            <a:avLst/>
          </a:prstGeom>
          <a:noFill/>
        </p:spPr>
        <p:txBody>
          <a:bodyPr wrap="square" anchor="t" lIns="0" rIns="0" tIns="0" bIns="0">
            <a:spAutoFit/>
          </a:bodyPr>
          <a:lstStyle/>
          <a:p>
            <a:pPr algn="l">
              <a:lnSpc>
                <a:spcPct val="120000"/>
              </a:lnSpc>
            </a:pPr>
            <a:r>
              <a:rPr sz="1150" b="0">
                <a:solidFill>
                  <a:srgbClr val="4D4D4D"/>
                </a:solidFill>
                <a:latin typeface="Pretendard"/>
                <a:ea typeface="Pretendard"/>
                <a:cs typeface="Pretendard"/>
              </a:rPr>
              <a:t>빙판은 살짝만 밟아도 감속이 거기서 막힌다. 그 막힌 값이 곧 노면 마찰이다. 무거운 계산은 CARLA 에서 미리 끝내고 보드는 표만 본다.</a:t>
            </a:r>
          </a:p>
        </p:txBody>
      </p:sp>
      <p:sp>
        <p:nvSpPr>
          <p:cNvPr id="6" name="TextBox 5"/>
          <p:cNvSpPr txBox="1"/>
          <p:nvPr/>
        </p:nvSpPr>
        <p:spPr>
          <a:xfrm>
            <a:off x="533400" y="6286500"/>
            <a:ext cx="11125200" cy="304800"/>
          </a:xfrm>
          <a:prstGeom prst="rect">
            <a:avLst/>
          </a:prstGeom>
          <a:noFill/>
        </p:spPr>
        <p:txBody>
          <a:bodyPr wrap="square" anchor="t" lIns="0" rIns="0" tIns="0" bIns="0">
            <a:spAutoFit/>
          </a:bodyPr>
          <a:lstStyle/>
          <a:p>
            <a:pPr algn="l">
              <a:lnSpc>
                <a:spcPct val="130000"/>
              </a:lnSpc>
            </a:pPr>
            <a:r>
              <a:rPr sz="850" b="0">
                <a:solidFill>
                  <a:srgbClr val="767676"/>
                </a:solidFill>
                <a:latin typeface="Pretendard"/>
                <a:ea typeface="Pretendard"/>
                <a:cs typeface="Pretendard"/>
              </a:rPr>
              <a:t>플래그 SLIP_ENVELOPE(기본 0)를 끄면 출력이 작업 전과 비트 단위로 같다. 단위 시험 11개 · C = 파이썬 = 파이 격리 코어 출력 일치. 근거: 20_마찰인식_제동시점.md</a:t>
            </a:r>
          </a:p>
        </p:txBody>
      </p:sp>
      <p:sp>
        <p:nvSpPr>
          <p:cNvPr id="7" name="TextBox 6"/>
          <p:cNvSpPr txBox="1"/>
          <p:nvPr/>
        </p:nvSpPr>
        <p:spPr>
          <a:xfrm>
            <a:off x="533400" y="6648450"/>
            <a:ext cx="7620000" cy="133350"/>
          </a:xfrm>
          <a:prstGeom prst="rect">
            <a:avLst/>
          </a:prstGeom>
          <a:noFill/>
        </p:spPr>
        <p:txBody>
          <a:bodyPr wrap="square" anchor="t" lIns="0" rIns="0" tIns="0" bIns="0">
            <a:spAutoFit/>
          </a:bodyPr>
          <a:lstStyle/>
          <a:p>
            <a:pPr algn="l">
              <a:lnSpc>
                <a:spcPct val="140000"/>
              </a:lnSpc>
            </a:pPr>
            <a:r>
              <a:rPr sz="800" b="0">
                <a:solidFill>
                  <a:srgbClr val="A6A6A6"/>
                </a:solidFill>
                <a:latin typeface="Pretendard"/>
                <a:ea typeface="Pretendard"/>
                <a:cs typeface="Pretendard"/>
              </a:rPr>
              <a:t>팀 ARTS · 제24회 임베디드SW경진대회 자동차/모빌리티(현대자동차) · github.com/gkgk0119gmail-arch/2026ESWContest_mobility_ARTS</a:t>
            </a:r>
          </a:p>
        </p:txBody>
      </p:sp>
      <p:sp>
        <p:nvSpPr>
          <p:cNvPr id="8" name="TextBox 7"/>
          <p:cNvSpPr txBox="1"/>
          <p:nvPr/>
        </p:nvSpPr>
        <p:spPr>
          <a:xfrm>
            <a:off x="10134600" y="6638925"/>
            <a:ext cx="1524000" cy="133350"/>
          </a:xfrm>
          <a:prstGeom prst="rect">
            <a:avLst/>
          </a:prstGeom>
          <a:noFill/>
        </p:spPr>
        <p:txBody>
          <a:bodyPr wrap="square" anchor="t" lIns="0" rIns="0" tIns="0" bIns="0">
            <a:spAutoFit/>
          </a:bodyPr>
          <a:lstStyle/>
          <a:p>
            <a:pPr algn="r">
              <a:lnSpc>
                <a:spcPct val="140000"/>
              </a:lnSpc>
            </a:pPr>
            <a:r>
              <a:rPr sz="900" b="1">
                <a:solidFill>
                  <a:srgbClr val="002C5F"/>
                </a:solidFill>
                <a:latin typeface="Pretendard"/>
                <a:ea typeface="Pretendard"/>
                <a:cs typeface="Pretendard"/>
              </a:rPr>
              <a:t>IcePredict</a:t>
            </a:r>
          </a:p>
        </p:txBody>
      </p:sp>
      <p:pic>
        <p:nvPicPr>
          <p:cNvPr id="9" name="Picture 8" descr="env_table.png"/>
          <p:cNvPicPr>
            <a:picLocks noChangeAspect="1"/>
          </p:cNvPicPr>
          <p:nvPr/>
        </p:nvPicPr>
        <p:blipFill>
          <a:blip r:embed="rId2"/>
          <a:stretch>
            <a:fillRect/>
          </a:stretch>
        </p:blipFill>
        <p:spPr>
          <a:xfrm>
            <a:off x="722435" y="1219200"/>
            <a:ext cx="4955931" cy="2543175"/>
          </a:xfrm>
          <a:prstGeom prst="rect">
            <a:avLst/>
          </a:prstGeom>
        </p:spPr>
      </p:pic>
      <p:sp>
        <p:nvSpPr>
          <p:cNvPr id="10" name="TextBox 9"/>
          <p:cNvSpPr txBox="1"/>
          <p:nvPr/>
        </p:nvSpPr>
        <p:spPr>
          <a:xfrm>
            <a:off x="533400" y="3810000"/>
            <a:ext cx="5334000" cy="171450"/>
          </a:xfrm>
          <a:prstGeom prst="rect">
            <a:avLst/>
          </a:prstGeom>
          <a:noFill/>
        </p:spPr>
        <p:txBody>
          <a:bodyPr wrap="square" anchor="t" lIns="0" rIns="0" tIns="0" bIns="0">
            <a:spAutoFit/>
          </a:bodyPr>
          <a:lstStyle/>
          <a:p>
            <a:pPr algn="l">
              <a:lnSpc>
                <a:spcPct val="130000"/>
              </a:lnSpc>
            </a:pPr>
            <a:r>
              <a:rPr sz="900" b="0">
                <a:solidFill>
                  <a:srgbClr val="767676"/>
                </a:solidFill>
                <a:latin typeface="Pretendard"/>
                <a:ea typeface="Pretendard"/>
                <a:cs typeface="Pretendard"/>
              </a:rPr>
              <a:t>CARLA 실측 감속으로 계산한 '제동을 시작해야 하는 거리' — 60 km/h 마른 노면 38 m, 블랙아이스 105 m</a:t>
            </a:r>
          </a:p>
        </p:txBody>
      </p:sp>
      <p:pic>
        <p:nvPicPr>
          <p:cNvPr id="11" name="Picture 10" descr="env_probe_timeline.png"/>
          <p:cNvPicPr>
            <a:picLocks noChangeAspect="1"/>
          </p:cNvPicPr>
          <p:nvPr/>
        </p:nvPicPr>
        <p:blipFill>
          <a:blip r:embed="rId3"/>
          <a:stretch>
            <a:fillRect/>
          </a:stretch>
        </p:blipFill>
        <p:spPr>
          <a:xfrm>
            <a:off x="779089" y="4076700"/>
            <a:ext cx="4842622" cy="1914525"/>
          </a:xfrm>
          <a:prstGeom prst="rect">
            <a:avLst/>
          </a:prstGeom>
        </p:spPr>
      </p:pic>
      <p:sp>
        <p:nvSpPr>
          <p:cNvPr id="12" name="TextBox 11"/>
          <p:cNvSpPr txBox="1"/>
          <p:nvPr/>
        </p:nvSpPr>
        <p:spPr>
          <a:xfrm>
            <a:off x="533400" y="6038850"/>
            <a:ext cx="5334000" cy="171450"/>
          </a:xfrm>
          <a:prstGeom prst="rect">
            <a:avLst/>
          </a:prstGeom>
          <a:noFill/>
        </p:spPr>
        <p:txBody>
          <a:bodyPr wrap="square" anchor="t" lIns="0" rIns="0" tIns="0" bIns="0">
            <a:spAutoFit/>
          </a:bodyPr>
          <a:lstStyle/>
          <a:p>
            <a:pPr algn="l">
              <a:lnSpc>
                <a:spcPct val="130000"/>
              </a:lnSpc>
            </a:pPr>
            <a:r>
              <a:rPr sz="900" b="0">
                <a:solidFill>
                  <a:srgbClr val="767676"/>
                </a:solidFill>
                <a:latin typeface="Pretendard"/>
                <a:ea typeface="Pretendard"/>
                <a:cs typeface="Pretendard"/>
              </a:rPr>
              <a:t>대표 주행 — 결빙 취약 구간 첫 탭은 마른 노면 '이상 없음', 다음 탭이 빙판 μ 0.15</a:t>
            </a:r>
          </a:p>
        </p:txBody>
      </p:sp>
      <p:sp>
        <p:nvSpPr>
          <p:cNvPr id="13" name="Rectangle 12"/>
          <p:cNvSpPr/>
          <p:nvPr/>
        </p:nvSpPr>
        <p:spPr>
          <a:xfrm>
            <a:off x="6134100" y="1219200"/>
            <a:ext cx="5524500" cy="1600200"/>
          </a:xfrm>
          <a:prstGeom prst="rect">
            <a:avLst/>
          </a:prstGeom>
          <a:solidFill>
            <a:srgbClr val="F6F3F2"/>
          </a:solidFill>
          <a:ln>
            <a:noFill/>
          </a:ln>
          <a:effectLst/>
        </p:spPr>
        <p:txBody>
          <a:bodyPr rtlCol="0" anchor="ctr"/>
          <a:lstStyle/>
          <a:p/>
        </p:txBody>
      </p:sp>
      <p:sp>
        <p:nvSpPr>
          <p:cNvPr id="14" name="TextBox 13"/>
          <p:cNvSpPr txBox="1"/>
          <p:nvPr/>
        </p:nvSpPr>
        <p:spPr>
          <a:xfrm>
            <a:off x="6286500" y="1333500"/>
            <a:ext cx="419100" cy="285750"/>
          </a:xfrm>
          <a:prstGeom prst="rect">
            <a:avLst/>
          </a:prstGeom>
          <a:noFill/>
        </p:spPr>
        <p:txBody>
          <a:bodyPr wrap="none" anchor="t" lIns="0" rIns="0" tIns="0" bIns="0">
            <a:spAutoFit/>
          </a:bodyPr>
          <a:lstStyle/>
          <a:p>
            <a:pPr algn="l">
              <a:lnSpc>
                <a:spcPct val="100000"/>
              </a:lnSpc>
            </a:pPr>
            <a:r>
              <a:rPr sz="2000" b="0">
                <a:solidFill>
                  <a:srgbClr val="E63312"/>
                </a:solidFill>
                <a:latin typeface="Pretendard ExtraBold"/>
                <a:ea typeface="Pretendard ExtraBold"/>
                <a:cs typeface="Pretendard ExtraBold"/>
              </a:rPr>
              <a:t>01</a:t>
            </a:r>
          </a:p>
        </p:txBody>
      </p:sp>
      <p:sp>
        <p:nvSpPr>
          <p:cNvPr id="15" name="TextBox 14"/>
          <p:cNvSpPr txBox="1"/>
          <p:nvPr/>
        </p:nvSpPr>
        <p:spPr>
          <a:xfrm>
            <a:off x="6686550" y="1362075"/>
            <a:ext cx="4819650" cy="209550"/>
          </a:xfrm>
          <a:prstGeom prst="rect">
            <a:avLst/>
          </a:prstGeom>
          <a:noFill/>
        </p:spPr>
        <p:txBody>
          <a:bodyPr wrap="square" anchor="t" lIns="0" rIns="0" tIns="0" bIns="0">
            <a:spAutoFit/>
          </a:bodyPr>
          <a:lstStyle/>
          <a:p>
            <a:pPr algn="l">
              <a:lnSpc>
                <a:spcPct val="100000"/>
              </a:lnSpc>
            </a:pPr>
            <a:r>
              <a:rPr sz="1100" b="1">
                <a:solidFill>
                  <a:srgbClr val="1C1B1B"/>
                </a:solidFill>
                <a:latin typeface="Pretendard"/>
                <a:ea typeface="Pretendard"/>
                <a:cs typeface="Pretendard"/>
              </a:rPr>
              <a:t>언제 확인하나</a:t>
            </a:r>
          </a:p>
        </p:txBody>
      </p:sp>
      <p:sp>
        <p:nvSpPr>
          <p:cNvPr id="16" name="TextBox 15"/>
          <p:cNvSpPr txBox="1"/>
          <p:nvPr/>
        </p:nvSpPr>
        <p:spPr>
          <a:xfrm>
            <a:off x="6686550" y="1600200"/>
            <a:ext cx="4819650" cy="1162050"/>
          </a:xfrm>
          <a:prstGeom prst="rect">
            <a:avLst/>
          </a:prstGeom>
          <a:noFill/>
        </p:spPr>
        <p:txBody>
          <a:bodyPr wrap="square" anchor="t" lIns="0" rIns="0" tIns="0" bIns="0">
            <a:spAutoFit/>
          </a:bodyPr>
          <a:lstStyle/>
          <a:p>
            <a:pPr algn="l">
              <a:lnSpc>
                <a:spcPct val="140000"/>
              </a:lnSpc>
            </a:pPr>
            <a:r>
              <a:rPr sz="930" b="0">
                <a:solidFill>
                  <a:srgbClr val="4D4D4D"/>
                </a:solidFill>
                <a:latin typeface="Pretendard"/>
                <a:ea typeface="Pretendard"/>
                <a:cs typeface="Pretendard"/>
              </a:rPr>
              <a:t>① 1차 카메라 위험도가 회색 구간(0.3 ~ 0.6)에 0.2 s → 카메라가 본 지점(19 m 앞)에 도착했을 때</a:t>
            </a:r>
            <a:br/>
            <a:r>
              <a:rPr sz="930" b="0">
                <a:solidFill>
                  <a:srgbClr val="4D4D4D"/>
                </a:solidFill>
                <a:latin typeface="Pretendard"/>
                <a:ea typeface="Pretendard"/>
                <a:cs typeface="Pretendard"/>
              </a:rPr>
              <a:t>② 영하 근처(3 °C 이하) 결빙 취약 구간 안 → 2.5 s 마다 최대 3번, 빙판을 찾으면 멈춤</a:t>
            </a:r>
            <a:br/>
            <a:r>
              <a:rPr sz="930" b="0">
                <a:solidFill>
                  <a:srgbClr val="4D4D4D"/>
                </a:solidFill>
                <a:latin typeface="Pretendard"/>
                <a:ea typeface="Pretendard"/>
                <a:cs typeface="Pretendard"/>
              </a:rPr>
              <a:t>안전 조건: 30 km/h 이상 · 직진 · 운전자 제동 없음 · 앞차 여유</a:t>
            </a:r>
          </a:p>
        </p:txBody>
      </p:sp>
      <p:sp>
        <p:nvSpPr>
          <p:cNvPr id="17" name="Rectangle 16"/>
          <p:cNvSpPr/>
          <p:nvPr/>
        </p:nvSpPr>
        <p:spPr>
          <a:xfrm>
            <a:off x="6134100" y="2914650"/>
            <a:ext cx="5524500" cy="1600200"/>
          </a:xfrm>
          <a:prstGeom prst="rect">
            <a:avLst/>
          </a:prstGeom>
          <a:solidFill>
            <a:srgbClr val="F6F3F2"/>
          </a:solidFill>
          <a:ln>
            <a:noFill/>
          </a:ln>
          <a:effectLst/>
        </p:spPr>
        <p:txBody>
          <a:bodyPr rtlCol="0" anchor="ctr"/>
          <a:lstStyle/>
          <a:p/>
        </p:txBody>
      </p:sp>
      <p:sp>
        <p:nvSpPr>
          <p:cNvPr id="18" name="TextBox 17"/>
          <p:cNvSpPr txBox="1"/>
          <p:nvPr/>
        </p:nvSpPr>
        <p:spPr>
          <a:xfrm>
            <a:off x="6286500" y="3028950"/>
            <a:ext cx="419100" cy="285750"/>
          </a:xfrm>
          <a:prstGeom prst="rect">
            <a:avLst/>
          </a:prstGeom>
          <a:noFill/>
        </p:spPr>
        <p:txBody>
          <a:bodyPr wrap="none" anchor="t" lIns="0" rIns="0" tIns="0" bIns="0">
            <a:spAutoFit/>
          </a:bodyPr>
          <a:lstStyle/>
          <a:p>
            <a:pPr algn="l">
              <a:lnSpc>
                <a:spcPct val="100000"/>
              </a:lnSpc>
            </a:pPr>
            <a:r>
              <a:rPr sz="2000" b="0">
                <a:solidFill>
                  <a:srgbClr val="E63312"/>
                </a:solidFill>
                <a:latin typeface="Pretendard ExtraBold"/>
                <a:ea typeface="Pretendard ExtraBold"/>
                <a:cs typeface="Pretendard ExtraBold"/>
              </a:rPr>
              <a:t>02</a:t>
            </a:r>
          </a:p>
        </p:txBody>
      </p:sp>
      <p:sp>
        <p:nvSpPr>
          <p:cNvPr id="19" name="TextBox 18"/>
          <p:cNvSpPr txBox="1"/>
          <p:nvPr/>
        </p:nvSpPr>
        <p:spPr>
          <a:xfrm>
            <a:off x="6686550" y="3057525"/>
            <a:ext cx="4819650" cy="209550"/>
          </a:xfrm>
          <a:prstGeom prst="rect">
            <a:avLst/>
          </a:prstGeom>
          <a:noFill/>
        </p:spPr>
        <p:txBody>
          <a:bodyPr wrap="square" anchor="t" lIns="0" rIns="0" tIns="0" bIns="0">
            <a:spAutoFit/>
          </a:bodyPr>
          <a:lstStyle/>
          <a:p>
            <a:pPr algn="l">
              <a:lnSpc>
                <a:spcPct val="100000"/>
              </a:lnSpc>
            </a:pPr>
            <a:r>
              <a:rPr sz="1100" b="1">
                <a:solidFill>
                  <a:srgbClr val="1C1B1B"/>
                </a:solidFill>
                <a:latin typeface="Pretendard"/>
                <a:ea typeface="Pretendard"/>
                <a:cs typeface="Pretendard"/>
              </a:rPr>
              <a:t>노면 확인 탭</a:t>
            </a:r>
          </a:p>
        </p:txBody>
      </p:sp>
      <p:sp>
        <p:nvSpPr>
          <p:cNvPr id="20" name="TextBox 19"/>
          <p:cNvSpPr txBox="1"/>
          <p:nvPr/>
        </p:nvSpPr>
        <p:spPr>
          <a:xfrm>
            <a:off x="6686550" y="3295650"/>
            <a:ext cx="4819650" cy="1162050"/>
          </a:xfrm>
          <a:prstGeom prst="rect">
            <a:avLst/>
          </a:prstGeom>
          <a:noFill/>
        </p:spPr>
        <p:txBody>
          <a:bodyPr wrap="square" anchor="t" lIns="0" rIns="0" tIns="0" bIns="0">
            <a:spAutoFit/>
          </a:bodyPr>
          <a:lstStyle/>
          <a:p>
            <a:pPr algn="l">
              <a:lnSpc>
                <a:spcPct val="140000"/>
              </a:lnSpc>
            </a:pPr>
            <a:r>
              <a:rPr sz="930" b="0">
                <a:solidFill>
                  <a:srgbClr val="4D4D4D"/>
                </a:solidFill>
                <a:latin typeface="Pretendard"/>
                <a:ea typeface="Pretendard"/>
                <a:cs typeface="Pretendard"/>
              </a:rPr>
              <a:t>가속 페달을 0.2 s 떼고 브레이크 0.3 을 0.4 s. 마지막 0.25 s 평균 감속을 표로 되돌려 μ 를 잰다.</a:t>
            </a:r>
            <a:br/>
            <a:r>
              <a:rPr sz="930" b="0">
                <a:solidFill>
                  <a:srgbClr val="4D4D4D"/>
                </a:solidFill>
                <a:latin typeface="Pretendard"/>
                <a:ea typeface="Pretendard"/>
                <a:cs typeface="Pretendard"/>
              </a:rPr>
              <a:t>마른 노면이면 60 ms 만에 끝낸다 (속도 손실 13 → 5 km/h). 측정이 이상하면 한 번 다시 잰다</a:t>
            </a:r>
          </a:p>
        </p:txBody>
      </p:sp>
      <p:sp>
        <p:nvSpPr>
          <p:cNvPr id="21" name="Rectangle 20"/>
          <p:cNvSpPr/>
          <p:nvPr/>
        </p:nvSpPr>
        <p:spPr>
          <a:xfrm>
            <a:off x="6134100" y="4610100"/>
            <a:ext cx="5524500" cy="1600200"/>
          </a:xfrm>
          <a:prstGeom prst="rect">
            <a:avLst/>
          </a:prstGeom>
          <a:solidFill>
            <a:srgbClr val="F6F3F2"/>
          </a:solidFill>
          <a:ln>
            <a:noFill/>
          </a:ln>
          <a:effectLst/>
        </p:spPr>
        <p:txBody>
          <a:bodyPr rtlCol="0" anchor="ctr"/>
          <a:lstStyle/>
          <a:p/>
        </p:txBody>
      </p:sp>
      <p:sp>
        <p:nvSpPr>
          <p:cNvPr id="22" name="TextBox 21"/>
          <p:cNvSpPr txBox="1"/>
          <p:nvPr/>
        </p:nvSpPr>
        <p:spPr>
          <a:xfrm>
            <a:off x="6286500" y="4724400"/>
            <a:ext cx="419100" cy="285750"/>
          </a:xfrm>
          <a:prstGeom prst="rect">
            <a:avLst/>
          </a:prstGeom>
          <a:noFill/>
        </p:spPr>
        <p:txBody>
          <a:bodyPr wrap="none" anchor="t" lIns="0" rIns="0" tIns="0" bIns="0">
            <a:spAutoFit/>
          </a:bodyPr>
          <a:lstStyle/>
          <a:p>
            <a:pPr algn="l">
              <a:lnSpc>
                <a:spcPct val="100000"/>
              </a:lnSpc>
            </a:pPr>
            <a:r>
              <a:rPr sz="2000" b="0">
                <a:solidFill>
                  <a:srgbClr val="E63312"/>
                </a:solidFill>
                <a:latin typeface="Pretendard ExtraBold"/>
                <a:ea typeface="Pretendard ExtraBold"/>
                <a:cs typeface="Pretendard ExtraBold"/>
              </a:rPr>
              <a:t>03</a:t>
            </a:r>
          </a:p>
        </p:txBody>
      </p:sp>
      <p:sp>
        <p:nvSpPr>
          <p:cNvPr id="23" name="TextBox 22"/>
          <p:cNvSpPr txBox="1"/>
          <p:nvPr/>
        </p:nvSpPr>
        <p:spPr>
          <a:xfrm>
            <a:off x="6686550" y="4752975"/>
            <a:ext cx="4819650" cy="209550"/>
          </a:xfrm>
          <a:prstGeom prst="rect">
            <a:avLst/>
          </a:prstGeom>
          <a:noFill/>
        </p:spPr>
        <p:txBody>
          <a:bodyPr wrap="square" anchor="t" lIns="0" rIns="0" tIns="0" bIns="0">
            <a:spAutoFit/>
          </a:bodyPr>
          <a:lstStyle/>
          <a:p>
            <a:pPr algn="l">
              <a:lnSpc>
                <a:spcPct val="100000"/>
              </a:lnSpc>
            </a:pPr>
            <a:r>
              <a:rPr sz="1100" b="1">
                <a:solidFill>
                  <a:srgbClr val="1C1B1B"/>
                </a:solidFill>
                <a:latin typeface="Pretendard"/>
                <a:ea typeface="Pretendard"/>
                <a:cs typeface="Pretendard"/>
              </a:rPr>
              <a:t>20 ms 마다 판단</a:t>
            </a:r>
          </a:p>
        </p:txBody>
      </p:sp>
      <p:sp>
        <p:nvSpPr>
          <p:cNvPr id="24" name="TextBox 23"/>
          <p:cNvSpPr txBox="1"/>
          <p:nvPr/>
        </p:nvSpPr>
        <p:spPr>
          <a:xfrm>
            <a:off x="6686550" y="4991100"/>
            <a:ext cx="4819650" cy="1162050"/>
          </a:xfrm>
          <a:prstGeom prst="rect">
            <a:avLst/>
          </a:prstGeom>
          <a:noFill/>
        </p:spPr>
        <p:txBody>
          <a:bodyPr wrap="square" anchor="t" lIns="0" rIns="0" tIns="0" bIns="0">
            <a:spAutoFit/>
          </a:bodyPr>
          <a:lstStyle/>
          <a:p>
            <a:pPr algn="l">
              <a:lnSpc>
                <a:spcPct val="140000"/>
              </a:lnSpc>
            </a:pPr>
            <a:r>
              <a:rPr sz="930" b="0">
                <a:solidFill>
                  <a:srgbClr val="4D4D4D"/>
                </a:solidFill>
                <a:latin typeface="Pretendard"/>
                <a:ea typeface="Pretendard"/>
                <a:cs typeface="Pretendard"/>
              </a:rPr>
              <a:t>정지 거리 = 0.3 s × v + v² / (2 × 0.9 × 실측 감속) + 4 m 를 앞 물체 거리와 비교해</a:t>
            </a:r>
            <a:br/>
            <a:r>
              <a:rPr sz="930" b="0">
                <a:solidFill>
                  <a:srgbClr val="4D4D4D"/>
                </a:solidFill>
                <a:latin typeface="Pretendard"/>
                <a:ea typeface="Pretendard"/>
                <a:cs typeface="Pretendard"/>
              </a:rPr>
              <a:t>순항 · 가속 금지 · 예비 제동 · 전력 제동 · 정지 유지 중 하나. 예비 제동은 남은 거리에 맞춰 서는 감속을 실측 감속으로 따라간다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3400" y="323850"/>
            <a:ext cx="5715000" cy="162878"/>
          </a:xfrm>
          <a:prstGeom prst="rect">
            <a:avLst/>
          </a:prstGeom>
          <a:noFill/>
        </p:spPr>
        <p:txBody>
          <a:bodyPr wrap="square" anchor="t" lIns="0" rIns="0" tIns="0" bIns="0">
            <a:spAutoFit/>
          </a:bodyPr>
          <a:lstStyle/>
          <a:p>
            <a:pPr algn="l">
              <a:lnSpc>
                <a:spcPct val="100000"/>
              </a:lnSpc>
            </a:pPr>
            <a:r>
              <a:rPr sz="950" b="1" spc="80">
                <a:solidFill>
                  <a:srgbClr val="002C5F"/>
                </a:solidFill>
                <a:latin typeface="Pretendard"/>
                <a:ea typeface="Pretendard"/>
                <a:cs typeface="Pretendard"/>
              </a:rPr>
              <a:t>검증</a:t>
            </a:r>
          </a:p>
        </p:txBody>
      </p:sp>
      <p:sp>
        <p:nvSpPr>
          <p:cNvPr id="3" name="TextBox 2"/>
          <p:cNvSpPr txBox="1"/>
          <p:nvPr/>
        </p:nvSpPr>
        <p:spPr>
          <a:xfrm>
            <a:off x="9753600" y="314325"/>
            <a:ext cx="1905000" cy="152400"/>
          </a:xfrm>
          <a:prstGeom prst="rect">
            <a:avLst/>
          </a:prstGeom>
          <a:noFill/>
        </p:spPr>
        <p:txBody>
          <a:bodyPr wrap="square" anchor="t" lIns="0" rIns="0" tIns="0" bIns="0">
            <a:spAutoFit/>
          </a:bodyPr>
          <a:lstStyle/>
          <a:p>
            <a:pPr algn="r">
              <a:lnSpc>
                <a:spcPct val="140000"/>
              </a:lnSpc>
            </a:pPr>
            <a:r>
              <a:rPr sz="900" b="0">
                <a:solidFill>
                  <a:srgbClr val="A6A6A6"/>
                </a:solidFill>
                <a:latin typeface="Pretendard"/>
                <a:ea typeface="Pretendard"/>
                <a:cs typeface="Pretendard"/>
              </a:rPr>
              <a:t>17 / 20</a:t>
            </a:r>
          </a:p>
        </p:txBody>
      </p:sp>
      <p:sp>
        <p:nvSpPr>
          <p:cNvPr id="4" name="TextBox 3"/>
          <p:cNvSpPr txBox="1"/>
          <p:nvPr/>
        </p:nvSpPr>
        <p:spPr>
          <a:xfrm>
            <a:off x="533400" y="495300"/>
            <a:ext cx="11125200" cy="381000"/>
          </a:xfrm>
          <a:prstGeom prst="rect">
            <a:avLst/>
          </a:prstGeom>
          <a:noFill/>
        </p:spPr>
        <p:txBody>
          <a:bodyPr wrap="square" anchor="t" lIns="0" rIns="0" tIns="0" bIns="0">
            <a:spAutoFit/>
          </a:bodyPr>
          <a:lstStyle/>
          <a:p>
            <a:pPr algn="l">
              <a:lnSpc>
                <a:spcPct val="100000"/>
              </a:lnSpc>
            </a:pPr>
            <a:r>
              <a:rPr sz="2400" b="0">
                <a:solidFill>
                  <a:srgbClr val="1C1B1B"/>
                </a:solidFill>
                <a:latin typeface="Pretendard ExtraBold"/>
                <a:ea typeface="Pretendard ExtraBold"/>
                <a:cs typeface="Pretendard ExtraBold"/>
              </a:rPr>
              <a:t>CARLA 비교 — 같은 C 코드, 마찰만 다르다 · 정지 2 / 9 → 8 / 9</a:t>
            </a:r>
          </a:p>
        </p:txBody>
      </p:sp>
      <p:sp>
        <p:nvSpPr>
          <p:cNvPr id="5" name="TextBox 4"/>
          <p:cNvSpPr txBox="1"/>
          <p:nvPr/>
        </p:nvSpPr>
        <p:spPr>
          <a:xfrm>
            <a:off x="533400" y="895350"/>
            <a:ext cx="11125200" cy="209550"/>
          </a:xfrm>
          <a:prstGeom prst="rect">
            <a:avLst/>
          </a:prstGeom>
          <a:noFill/>
        </p:spPr>
        <p:txBody>
          <a:bodyPr wrap="square" anchor="t" lIns="0" rIns="0" tIns="0" bIns="0">
            <a:spAutoFit/>
          </a:bodyPr>
          <a:lstStyle/>
          <a:p>
            <a:pPr algn="l">
              <a:lnSpc>
                <a:spcPct val="120000"/>
              </a:lnSpc>
            </a:pPr>
            <a:r>
              <a:rPr sz="1150" b="0">
                <a:solidFill>
                  <a:srgbClr val="4D4D4D"/>
                </a:solidFill>
                <a:latin typeface="Pretendard"/>
                <a:ea typeface="Pretendard"/>
                <a:cs typeface="Pretendard"/>
              </a:rPr>
              <a:t>간격 유지 크루즈(ACC) 주행 중 빙판 위 정지 차량. 비교 대상은 마른 노면 μ 를 가정하고, 2차 방어는 탭으로 잰 μ 를 쓴다.</a:t>
            </a:r>
          </a:p>
        </p:txBody>
      </p:sp>
      <p:sp>
        <p:nvSpPr>
          <p:cNvPr id="6" name="TextBox 5"/>
          <p:cNvSpPr txBox="1"/>
          <p:nvPr/>
        </p:nvSpPr>
        <p:spPr>
          <a:xfrm>
            <a:off x="533400" y="6286500"/>
            <a:ext cx="11125200" cy="304800"/>
          </a:xfrm>
          <a:prstGeom prst="rect">
            <a:avLst/>
          </a:prstGeom>
          <a:noFill/>
        </p:spPr>
        <p:txBody>
          <a:bodyPr wrap="square" anchor="t" lIns="0" rIns="0" tIns="0" bIns="0">
            <a:spAutoFit/>
          </a:bodyPr>
          <a:lstStyle/>
          <a:p>
            <a:pPr algn="l">
              <a:lnSpc>
                <a:spcPct val="130000"/>
              </a:lnSpc>
            </a:pPr>
            <a:r>
              <a:rPr sz="850" b="0">
                <a:solidFill>
                  <a:srgbClr val="767676"/>
                </a:solidFill>
                <a:latin typeface="Pretendard"/>
                <a:ea typeface="Pretendard"/>
                <a:cs typeface="Pretendard"/>
              </a:rPr>
              <a:t>CARLA 결함 — 마찰 트리거 안에 다른 차가 있으면 자차가 트리거 밖에서도 그 마찰을 받는다. 정지 차량을 트리거 밖에 두고 모든 실험을 다시 했고, 주행마다 출발 가속으로 마른 출발을 확인했다.</a:t>
            </a:r>
          </a:p>
        </p:txBody>
      </p:sp>
      <p:sp>
        <p:nvSpPr>
          <p:cNvPr id="7" name="TextBox 6"/>
          <p:cNvSpPr txBox="1"/>
          <p:nvPr/>
        </p:nvSpPr>
        <p:spPr>
          <a:xfrm>
            <a:off x="533400" y="6648450"/>
            <a:ext cx="7620000" cy="133350"/>
          </a:xfrm>
          <a:prstGeom prst="rect">
            <a:avLst/>
          </a:prstGeom>
          <a:noFill/>
        </p:spPr>
        <p:txBody>
          <a:bodyPr wrap="square" anchor="t" lIns="0" rIns="0" tIns="0" bIns="0">
            <a:spAutoFit/>
          </a:bodyPr>
          <a:lstStyle/>
          <a:p>
            <a:pPr algn="l">
              <a:lnSpc>
                <a:spcPct val="140000"/>
              </a:lnSpc>
            </a:pPr>
            <a:r>
              <a:rPr sz="800" b="0">
                <a:solidFill>
                  <a:srgbClr val="A6A6A6"/>
                </a:solidFill>
                <a:latin typeface="Pretendard"/>
                <a:ea typeface="Pretendard"/>
                <a:cs typeface="Pretendard"/>
              </a:rPr>
              <a:t>팀 ARTS · 제24회 임베디드SW경진대회 자동차/모빌리티(현대자동차) · github.com/gkgk0119gmail-arch/2026ESWContest_mobility_ARTS</a:t>
            </a:r>
          </a:p>
        </p:txBody>
      </p:sp>
      <p:sp>
        <p:nvSpPr>
          <p:cNvPr id="8" name="TextBox 7"/>
          <p:cNvSpPr txBox="1"/>
          <p:nvPr/>
        </p:nvSpPr>
        <p:spPr>
          <a:xfrm>
            <a:off x="10134600" y="6638925"/>
            <a:ext cx="1524000" cy="133350"/>
          </a:xfrm>
          <a:prstGeom prst="rect">
            <a:avLst/>
          </a:prstGeom>
          <a:noFill/>
        </p:spPr>
        <p:txBody>
          <a:bodyPr wrap="square" anchor="t" lIns="0" rIns="0" tIns="0" bIns="0">
            <a:spAutoFit/>
          </a:bodyPr>
          <a:lstStyle/>
          <a:p>
            <a:pPr algn="r">
              <a:lnSpc>
                <a:spcPct val="140000"/>
              </a:lnSpc>
            </a:pPr>
            <a:r>
              <a:rPr sz="900" b="1">
                <a:solidFill>
                  <a:srgbClr val="002C5F"/>
                </a:solidFill>
                <a:latin typeface="Pretendard"/>
                <a:ea typeface="Pretendard"/>
                <a:cs typeface="Pretendard"/>
              </a:rPr>
              <a:t>IcePredict</a:t>
            </a:r>
          </a:p>
        </p:txBody>
      </p:sp>
      <p:pic>
        <p:nvPicPr>
          <p:cNvPr id="9" name="v_envelope.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33400" y="1219200"/>
            <a:ext cx="3619500" cy="3057525"/>
          </a:xfrm>
          <a:prstGeom prst="rect">
            <a:avLst/>
          </a:prstGeom>
        </p:spPr>
      </p:pic>
      <p:sp>
        <p:nvSpPr>
          <p:cNvPr id="10" name="TextBox 9"/>
          <p:cNvSpPr txBox="1"/>
          <p:nvPr/>
        </p:nvSpPr>
        <p:spPr>
          <a:xfrm>
            <a:off x="533400" y="4314825"/>
            <a:ext cx="3619500" cy="266700"/>
          </a:xfrm>
          <a:prstGeom prst="rect">
            <a:avLst/>
          </a:prstGeom>
          <a:noFill/>
        </p:spPr>
        <p:txBody>
          <a:bodyPr wrap="square" anchor="t" lIns="0" rIns="0" tIns="0" bIns="0">
            <a:spAutoFit/>
          </a:bodyPr>
          <a:lstStyle/>
          <a:p>
            <a:pPr algn="l">
              <a:lnSpc>
                <a:spcPct val="130000"/>
              </a:lnSpc>
            </a:pPr>
            <a:r>
              <a:rPr sz="800" b="0">
                <a:solidFill>
                  <a:srgbClr val="A6A6A6"/>
                </a:solidFill>
                <a:latin typeface="Pretendard"/>
                <a:ea typeface="Pretendard"/>
                <a:cs typeface="Pretendard"/>
              </a:rPr>
              <a:t>▶ 발표 모드 자동 재생 · 위: 마른 노면 기준 → 30 km/h 충돌 · 아래: 탭으로 마찰 측정 → 4.1 m 앞 정지</a:t>
            </a:r>
          </a:p>
        </p:txBody>
      </p:sp>
      <p:pic>
        <p:nvPicPr>
          <p:cNvPr id="11" name="Picture 10" descr="env_sweep.png"/>
          <p:cNvPicPr>
            <a:picLocks noChangeAspect="1"/>
          </p:cNvPicPr>
          <p:nvPr/>
        </p:nvPicPr>
        <p:blipFill>
          <a:blip r:embed="rId5"/>
          <a:stretch>
            <a:fillRect/>
          </a:stretch>
        </p:blipFill>
        <p:spPr>
          <a:xfrm>
            <a:off x="5209910" y="1219200"/>
            <a:ext cx="5620279" cy="2352675"/>
          </a:xfrm>
          <a:prstGeom prst="rect">
            <a:avLst/>
          </a:prstGeom>
        </p:spPr>
      </p:pic>
      <p:sp>
        <p:nvSpPr>
          <p:cNvPr id="12" name="TextBox 11"/>
          <p:cNvSpPr txBox="1"/>
          <p:nvPr/>
        </p:nvSpPr>
        <p:spPr>
          <a:xfrm>
            <a:off x="4381500" y="3619500"/>
            <a:ext cx="7277100" cy="152400"/>
          </a:xfrm>
          <a:prstGeom prst="rect">
            <a:avLst/>
          </a:prstGeom>
          <a:noFill/>
        </p:spPr>
        <p:txBody>
          <a:bodyPr wrap="square" anchor="t" lIns="0" rIns="0" tIns="0" bIns="0">
            <a:spAutoFit/>
          </a:bodyPr>
          <a:lstStyle/>
          <a:p>
            <a:pPr algn="l">
              <a:lnSpc>
                <a:spcPct val="130000"/>
              </a:lnSpc>
            </a:pPr>
            <a:r>
              <a:rPr sz="900" b="0">
                <a:solidFill>
                  <a:srgbClr val="767676"/>
                </a:solidFill>
                <a:latin typeface="Pretendard"/>
                <a:ea typeface="Pretendard"/>
                <a:cs typeface="Pretendard"/>
              </a:rPr>
              <a:t>마찰 3종 × 속도 3종 — 충돌 직전 속도 (0 = 정지)</a:t>
            </a:r>
          </a:p>
        </p:txBody>
      </p:sp>
      <p:sp>
        <p:nvSpPr>
          <p:cNvPr id="13" name="TextBox 12"/>
          <p:cNvSpPr txBox="1"/>
          <p:nvPr/>
        </p:nvSpPr>
        <p:spPr>
          <a:xfrm>
            <a:off x="4381500" y="3905250"/>
            <a:ext cx="2336800" cy="360045"/>
          </a:xfrm>
          <a:prstGeom prst="rect">
            <a:avLst/>
          </a:prstGeom>
          <a:noFill/>
        </p:spPr>
        <p:txBody>
          <a:bodyPr wrap="square" anchor="t" lIns="0" rIns="0" tIns="0" bIns="0">
            <a:spAutoFit/>
          </a:bodyPr>
          <a:lstStyle/>
          <a:p>
            <a:pPr algn="l">
              <a:lnSpc>
                <a:spcPct val="100000"/>
              </a:lnSpc>
            </a:pPr>
            <a:r>
              <a:rPr sz="2800" b="0">
                <a:solidFill>
                  <a:srgbClr val="E63312"/>
                </a:solidFill>
                <a:latin typeface="Pretendard ExtraBold"/>
                <a:ea typeface="Pretendard ExtraBold"/>
                <a:cs typeface="Pretendard ExtraBold"/>
              </a:rPr>
              <a:t>2 / 9</a:t>
            </a:r>
          </a:p>
        </p:txBody>
      </p:sp>
      <p:sp>
        <p:nvSpPr>
          <p:cNvPr id="14" name="TextBox 13"/>
          <p:cNvSpPr txBox="1"/>
          <p:nvPr/>
        </p:nvSpPr>
        <p:spPr>
          <a:xfrm>
            <a:off x="4381500" y="4284345"/>
            <a:ext cx="2336800" cy="363855"/>
          </a:xfrm>
          <a:prstGeom prst="rect">
            <a:avLst/>
          </a:prstGeom>
          <a:noFill/>
        </p:spPr>
        <p:txBody>
          <a:bodyPr wrap="square" anchor="t" lIns="0" rIns="0" tIns="0" bIns="0">
            <a:spAutoFit/>
          </a:bodyPr>
          <a:lstStyle/>
          <a:p>
            <a:pPr algn="l">
              <a:lnSpc>
                <a:spcPct val="130000"/>
              </a:lnSpc>
            </a:pPr>
            <a:r>
              <a:rPr sz="950" b="0">
                <a:solidFill>
                  <a:srgbClr val="767676"/>
                </a:solidFill>
                <a:latin typeface="Pretendard"/>
                <a:ea typeface="Pretendard"/>
                <a:cs typeface="Pretendard"/>
              </a:rPr>
              <a:t>마른 노면 기준 정지</a:t>
            </a:r>
            <a:br/>
            <a:r>
              <a:rPr sz="950" b="0">
                <a:solidFill>
                  <a:srgbClr val="767676"/>
                </a:solidFill>
                <a:latin typeface="Pretendard"/>
                <a:ea typeface="Pretendard"/>
                <a:cs typeface="Pretendard"/>
              </a:rPr>
              <a:t>나머지 7회 8 ~ 61 km/h 충돌</a:t>
            </a:r>
          </a:p>
        </p:txBody>
      </p:sp>
      <p:sp>
        <p:nvSpPr>
          <p:cNvPr id="15" name="TextBox 14"/>
          <p:cNvSpPr txBox="1"/>
          <p:nvPr/>
        </p:nvSpPr>
        <p:spPr>
          <a:xfrm>
            <a:off x="6851650" y="3905250"/>
            <a:ext cx="2336800" cy="360045"/>
          </a:xfrm>
          <a:prstGeom prst="rect">
            <a:avLst/>
          </a:prstGeom>
          <a:noFill/>
        </p:spPr>
        <p:txBody>
          <a:bodyPr wrap="square" anchor="t" lIns="0" rIns="0" tIns="0" bIns="0">
            <a:spAutoFit/>
          </a:bodyPr>
          <a:lstStyle/>
          <a:p>
            <a:pPr algn="l">
              <a:lnSpc>
                <a:spcPct val="100000"/>
              </a:lnSpc>
            </a:pPr>
            <a:r>
              <a:rPr sz="2800" b="0">
                <a:solidFill>
                  <a:srgbClr val="00AAD2"/>
                </a:solidFill>
                <a:latin typeface="Pretendard ExtraBold"/>
                <a:ea typeface="Pretendard ExtraBold"/>
                <a:cs typeface="Pretendard ExtraBold"/>
              </a:rPr>
              <a:t>8 / 9</a:t>
            </a:r>
          </a:p>
        </p:txBody>
      </p:sp>
      <p:sp>
        <p:nvSpPr>
          <p:cNvPr id="16" name="TextBox 15"/>
          <p:cNvSpPr txBox="1"/>
          <p:nvPr/>
        </p:nvSpPr>
        <p:spPr>
          <a:xfrm>
            <a:off x="6851650" y="4284345"/>
            <a:ext cx="2336800" cy="363855"/>
          </a:xfrm>
          <a:prstGeom prst="rect">
            <a:avLst/>
          </a:prstGeom>
          <a:noFill/>
        </p:spPr>
        <p:txBody>
          <a:bodyPr wrap="square" anchor="t" lIns="0" rIns="0" tIns="0" bIns="0">
            <a:spAutoFit/>
          </a:bodyPr>
          <a:lstStyle/>
          <a:p>
            <a:pPr algn="l">
              <a:lnSpc>
                <a:spcPct val="130000"/>
              </a:lnSpc>
            </a:pPr>
            <a:r>
              <a:rPr sz="950" b="0">
                <a:solidFill>
                  <a:srgbClr val="767676"/>
                </a:solidFill>
                <a:latin typeface="Pretendard"/>
                <a:ea typeface="Pretendard"/>
                <a:cs typeface="Pretendard"/>
              </a:rPr>
              <a:t>마찰 인식 정지 — 7회 4.1 ~ 4.2 m 앞</a:t>
            </a:r>
            <a:br/>
            <a:r>
              <a:rPr sz="950" b="0">
                <a:solidFill>
                  <a:srgbClr val="767676"/>
                </a:solidFill>
                <a:latin typeface="Pretendard"/>
                <a:ea typeface="Pretendard"/>
                <a:cs typeface="Pretendard"/>
              </a:rPr>
              <a:t>(목표 여유 4 m)</a:t>
            </a:r>
          </a:p>
        </p:txBody>
      </p:sp>
      <p:sp>
        <p:nvSpPr>
          <p:cNvPr id="17" name="TextBox 16"/>
          <p:cNvSpPr txBox="1"/>
          <p:nvPr/>
        </p:nvSpPr>
        <p:spPr>
          <a:xfrm>
            <a:off x="9321800" y="3905250"/>
            <a:ext cx="2336800" cy="360045"/>
          </a:xfrm>
          <a:prstGeom prst="rect">
            <a:avLst/>
          </a:prstGeom>
          <a:noFill/>
        </p:spPr>
        <p:txBody>
          <a:bodyPr wrap="square" anchor="t" lIns="0" rIns="0" tIns="0" bIns="0">
            <a:spAutoFit/>
          </a:bodyPr>
          <a:lstStyle/>
          <a:p>
            <a:pPr algn="l">
              <a:lnSpc>
                <a:spcPct val="100000"/>
              </a:lnSpc>
            </a:pPr>
            <a:r>
              <a:rPr sz="2800" b="0">
                <a:solidFill>
                  <a:srgbClr val="002C5F"/>
                </a:solidFill>
                <a:latin typeface="Pretendard ExtraBold"/>
                <a:ea typeface="Pretendard ExtraBold"/>
                <a:cs typeface="Pretendard ExtraBold"/>
              </a:rPr>
              <a:t>295 m</a:t>
            </a:r>
          </a:p>
        </p:txBody>
      </p:sp>
      <p:sp>
        <p:nvSpPr>
          <p:cNvPr id="18" name="TextBox 17"/>
          <p:cNvSpPr txBox="1"/>
          <p:nvPr/>
        </p:nvSpPr>
        <p:spPr>
          <a:xfrm>
            <a:off x="9321800" y="4284345"/>
            <a:ext cx="2336800" cy="363855"/>
          </a:xfrm>
          <a:prstGeom prst="rect">
            <a:avLst/>
          </a:prstGeom>
          <a:noFill/>
        </p:spPr>
        <p:txBody>
          <a:bodyPr wrap="square" anchor="t" lIns="0" rIns="0" tIns="0" bIns="0">
            <a:spAutoFit/>
          </a:bodyPr>
          <a:lstStyle/>
          <a:p>
            <a:pPr algn="l">
              <a:lnSpc>
                <a:spcPct val="130000"/>
              </a:lnSpc>
            </a:pPr>
            <a:r>
              <a:rPr sz="950" b="0">
                <a:solidFill>
                  <a:srgbClr val="767676"/>
                </a:solidFill>
                <a:latin typeface="Pretendard"/>
                <a:ea typeface="Pretendard"/>
                <a:cs typeface="Pretendard"/>
              </a:rPr>
              <a:t>마찰 인식이 충돌한 1회 (μ 0.10 · 80 km/h)</a:t>
            </a:r>
            <a:br/>
            <a:r>
              <a:rPr sz="950" b="0">
                <a:solidFill>
                  <a:srgbClr val="767676"/>
                </a:solidFill>
                <a:latin typeface="Pretendard"/>
                <a:ea typeface="Pretendard"/>
                <a:cs typeface="Pretendard"/>
              </a:rPr>
              <a:t>필요 거리 &gt; 150 m — 물리적으로 불가</a:t>
            </a:r>
          </a:p>
        </p:txBody>
      </p:sp>
      <p:graphicFrame>
        <p:nvGraphicFramePr>
          <p:cNvPr id="19" name="Table 18"/>
          <p:cNvGraphicFramePr>
            <a:graphicFrameLocks noGrp="1"/>
          </p:cNvGraphicFramePr>
          <p:nvPr/>
        </p:nvGraphicFramePr>
        <p:xfrm>
          <a:off x="4381500" y="4819650"/>
          <a:ext cx="7277100" cy="895350"/>
        </p:xfrm>
        <a:graphic>
          <a:graphicData uri="http://schemas.openxmlformats.org/drawingml/2006/table">
            <a:tbl>
              <a:tblPr>
                <a:tableStyleId>{2D5ABB26-0587-4C30-8999-92F81FD0307C}</a:tableStyleId>
              </a:tblPr>
              <a:tblGrid>
                <a:gridCol w="3493008"/>
                <a:gridCol w="3784092"/>
              </a:tblGrid>
              <a:tr h="209550">
                <a:tc>
                  <a:txBody>
                    <a:bodyPr wrap="square"/>
                    <a:lstStyle/>
                    <a:p>
                      <a:pPr>
                        <a:lnSpc>
                          <a:spcPct val="122000"/>
                        </a:lnSpc>
                      </a:pPr>
                      <a:r>
                        <a:rPr sz="850" b="1">
                          <a:solidFill>
                            <a:srgbClr val="002C5F"/>
                          </a:solidFill>
                          <a:latin typeface="Pretendard"/>
                          <a:ea typeface="Pretendard"/>
                          <a:cs typeface="Pretendard"/>
                        </a:rPr>
                        <a:t>탭 판단 시험 (1차 모델이 실제로 판정)</a:t>
                      </a:r>
                      <a:endParaRPr sz="85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c>
                  <a:txBody>
                    <a:bodyPr wrap="square"/>
                    <a:lstStyle/>
                    <a:p>
                      <a:pPr>
                        <a:lnSpc>
                          <a:spcPct val="122000"/>
                        </a:lnSpc>
                      </a:pPr>
                      <a:r>
                        <a:rPr sz="850" b="1">
                          <a:solidFill>
                            <a:srgbClr val="002C5F"/>
                          </a:solidFill>
                          <a:latin typeface="Pretendard"/>
                          <a:ea typeface="Pretendard"/>
                          <a:cs typeface="Pretendard"/>
                        </a:rPr>
                        <a:t>결과</a:t>
                      </a:r>
                      <a:endParaRPr sz="85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r>
              <a:tr h="228600">
                <a:tc>
                  <a:txBody>
                    <a:bodyPr wrap="square"/>
                    <a:lstStyle/>
                    <a:p>
                      <a:pPr>
                        <a:lnSpc>
                          <a:spcPct val="122000"/>
                        </a:lnSpc>
                      </a:pPr>
                      <a:r>
                        <a:rPr sz="900" b="1">
                          <a:solidFill>
                            <a:srgbClr val="002C5F"/>
                          </a:solidFill>
                          <a:latin typeface="Pretendard"/>
                          <a:ea typeface="Pretendard"/>
                          <a:cs typeface="Pretendard"/>
                        </a:rPr>
                        <a:t>빙판 + 결빙 취약 구간 · 맑은 낮 · 밤 · 젖은 날씨</a:t>
                      </a:r>
                      <a:endParaRPr sz="9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00" b="0">
                          <a:solidFill>
                            <a:srgbClr val="1C1B1B"/>
                          </a:solidFill>
                          <a:latin typeface="Pretendard"/>
                          <a:ea typeface="Pretendard"/>
                          <a:cs typeface="Pretendard"/>
                        </a:rPr>
                        <a:t>3 / 3 정지 — 첫 탭 마른 노면, 다음 탭에서 빙판</a:t>
                      </a:r>
                      <a:endParaRPr sz="9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28600">
                <a:tc>
                  <a:txBody>
                    <a:bodyPr wrap="square"/>
                    <a:lstStyle/>
                    <a:p>
                      <a:pPr>
                        <a:lnSpc>
                          <a:spcPct val="122000"/>
                        </a:lnSpc>
                      </a:pPr>
                      <a:r>
                        <a:rPr sz="900" b="1">
                          <a:solidFill>
                            <a:srgbClr val="002C5F"/>
                          </a:solidFill>
                          <a:latin typeface="Pretendard"/>
                          <a:ea typeface="Pretendard"/>
                          <a:cs typeface="Pretendard"/>
                        </a:rPr>
                        <a:t>빙판 · 구간 정보 없음</a:t>
                      </a:r>
                      <a:endParaRPr sz="9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00" b="0">
                          <a:solidFill>
                            <a:srgbClr val="1C1B1B"/>
                          </a:solidFill>
                          <a:latin typeface="Pretendard"/>
                          <a:ea typeface="Pretendard"/>
                          <a:cs typeface="Pretendard"/>
                        </a:rPr>
                        <a:t>카메라가 놓쳐 탭 없음 → 30 km/h 충돌</a:t>
                      </a:r>
                      <a:endParaRPr sz="9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28600">
                <a:tc>
                  <a:txBody>
                    <a:bodyPr wrap="square"/>
                    <a:lstStyle/>
                    <a:p>
                      <a:pPr>
                        <a:lnSpc>
                          <a:spcPct val="122000"/>
                        </a:lnSpc>
                      </a:pPr>
                      <a:r>
                        <a:rPr sz="900" b="1">
                          <a:solidFill>
                            <a:srgbClr val="002C5F"/>
                          </a:solidFill>
                          <a:latin typeface="Pretendard"/>
                          <a:ea typeface="Pretendard"/>
                          <a:cs typeface="Pretendard"/>
                        </a:rPr>
                        <a:t>빙판 없음 · 구간 안 · 영하</a:t>
                      </a:r>
                      <a:endParaRPr sz="9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00" b="0">
                          <a:solidFill>
                            <a:srgbClr val="1C1B1B"/>
                          </a:solidFill>
                          <a:latin typeface="Pretendard"/>
                          <a:ea typeface="Pretendard"/>
                          <a:cs typeface="Pretendard"/>
                        </a:rPr>
                        <a:t>탭 3번 모두 '이상 없음' — 잘못된 제동 0</a:t>
                      </a:r>
                      <a:endParaRPr sz="90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endCondLst>
                    <p:cond evt="onStopAudio" delay="0">
                      <p:tn val="2"/>
                    </p:cond>
                  </p:endCondLst>
                </p:cTn>
                <p:tgtEl>
                  <p:spTgt spid="9"/>
                </p:tgtEl>
              </p:cMediaNode>
            </p:video>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3400" y="323850"/>
            <a:ext cx="5715000" cy="162878"/>
          </a:xfrm>
          <a:prstGeom prst="rect">
            <a:avLst/>
          </a:prstGeom>
          <a:noFill/>
        </p:spPr>
        <p:txBody>
          <a:bodyPr wrap="square" anchor="t" lIns="0" rIns="0" tIns="0" bIns="0">
            <a:spAutoFit/>
          </a:bodyPr>
          <a:lstStyle/>
          <a:p>
            <a:pPr algn="l">
              <a:lnSpc>
                <a:spcPct val="100000"/>
              </a:lnSpc>
            </a:pPr>
            <a:r>
              <a:rPr sz="950" b="1" spc="80">
                <a:solidFill>
                  <a:srgbClr val="E63312"/>
                </a:solidFill>
                <a:latin typeface="Pretendard"/>
                <a:ea typeface="Pretendard"/>
                <a:cs typeface="Pretendard"/>
              </a:rPr>
              <a:t>2차 방어</a:t>
            </a:r>
          </a:p>
        </p:txBody>
      </p:sp>
      <p:sp>
        <p:nvSpPr>
          <p:cNvPr id="3" name="TextBox 2"/>
          <p:cNvSpPr txBox="1"/>
          <p:nvPr/>
        </p:nvSpPr>
        <p:spPr>
          <a:xfrm>
            <a:off x="9753600" y="314325"/>
            <a:ext cx="1905000" cy="152400"/>
          </a:xfrm>
          <a:prstGeom prst="rect">
            <a:avLst/>
          </a:prstGeom>
          <a:noFill/>
        </p:spPr>
        <p:txBody>
          <a:bodyPr wrap="square" anchor="t" lIns="0" rIns="0" tIns="0" bIns="0">
            <a:spAutoFit/>
          </a:bodyPr>
          <a:lstStyle/>
          <a:p>
            <a:pPr algn="r">
              <a:lnSpc>
                <a:spcPct val="140000"/>
              </a:lnSpc>
            </a:pPr>
            <a:r>
              <a:rPr sz="900" b="0">
                <a:solidFill>
                  <a:srgbClr val="A6A6A6"/>
                </a:solidFill>
                <a:latin typeface="Pretendard"/>
                <a:ea typeface="Pretendard"/>
                <a:cs typeface="Pretendard"/>
              </a:rPr>
              <a:t>18 / 20</a:t>
            </a:r>
          </a:p>
        </p:txBody>
      </p:sp>
      <p:sp>
        <p:nvSpPr>
          <p:cNvPr id="4" name="TextBox 3"/>
          <p:cNvSpPr txBox="1"/>
          <p:nvPr/>
        </p:nvSpPr>
        <p:spPr>
          <a:xfrm>
            <a:off x="533400" y="495300"/>
            <a:ext cx="11125200" cy="381000"/>
          </a:xfrm>
          <a:prstGeom prst="rect">
            <a:avLst/>
          </a:prstGeom>
          <a:noFill/>
        </p:spPr>
        <p:txBody>
          <a:bodyPr wrap="square" anchor="t" lIns="0" rIns="0" tIns="0" bIns="0">
            <a:spAutoFit/>
          </a:bodyPr>
          <a:lstStyle/>
          <a:p>
            <a:pPr algn="l">
              <a:lnSpc>
                <a:spcPct val="100000"/>
              </a:lnSpc>
            </a:pPr>
            <a:r>
              <a:rPr sz="2400" b="0">
                <a:solidFill>
                  <a:srgbClr val="1C1B1B"/>
                </a:solidFill>
                <a:latin typeface="Pretendard ExtraBold"/>
                <a:ea typeface="Pretendard ExtraBold"/>
                <a:cs typeface="Pretendard ExtraBold"/>
              </a:rPr>
              <a:t>안전 전용 RTOS — 메인 컴퓨터(리눅스)가 멈춰도 2차 방어는 산다</a:t>
            </a:r>
          </a:p>
        </p:txBody>
      </p:sp>
      <p:sp>
        <p:nvSpPr>
          <p:cNvPr id="5" name="TextBox 4"/>
          <p:cNvSpPr txBox="1"/>
          <p:nvPr/>
        </p:nvSpPr>
        <p:spPr>
          <a:xfrm>
            <a:off x="533400" y="895350"/>
            <a:ext cx="11125200" cy="209550"/>
          </a:xfrm>
          <a:prstGeom prst="rect">
            <a:avLst/>
          </a:prstGeom>
          <a:noFill/>
        </p:spPr>
        <p:txBody>
          <a:bodyPr wrap="square" anchor="t" lIns="0" rIns="0" tIns="0" bIns="0">
            <a:spAutoFit/>
          </a:bodyPr>
          <a:lstStyle/>
          <a:p>
            <a:pPr algn="l">
              <a:lnSpc>
                <a:spcPct val="120000"/>
              </a:lnSpc>
            </a:pPr>
            <a:r>
              <a:rPr sz="1150" b="0">
                <a:solidFill>
                  <a:srgbClr val="4D4D4D"/>
                </a:solidFill>
                <a:latin typeface="Pretendard"/>
                <a:ea typeface="Pretendard"/>
                <a:cs typeface="Pretendard"/>
              </a:rPr>
              <a:t>STM32 의 몫은 '더 좋은 제어'가 아니라 고장 격리다. 그 값은 2차 방어가 결과를 바꾸는 장면에서 보인다.</a:t>
            </a:r>
          </a:p>
        </p:txBody>
      </p:sp>
      <p:sp>
        <p:nvSpPr>
          <p:cNvPr id="6" name="TextBox 5"/>
          <p:cNvSpPr txBox="1"/>
          <p:nvPr/>
        </p:nvSpPr>
        <p:spPr>
          <a:xfrm>
            <a:off x="533400" y="6286500"/>
            <a:ext cx="11125200" cy="304800"/>
          </a:xfrm>
          <a:prstGeom prst="rect">
            <a:avLst/>
          </a:prstGeom>
          <a:noFill/>
        </p:spPr>
        <p:txBody>
          <a:bodyPr wrap="square" anchor="t" lIns="0" rIns="0" tIns="0" bIns="0">
            <a:spAutoFit/>
          </a:bodyPr>
          <a:lstStyle/>
          <a:p>
            <a:pPr algn="l">
              <a:lnSpc>
                <a:spcPct val="130000"/>
              </a:lnSpc>
            </a:pPr>
            <a:r>
              <a:rPr sz="850" b="0">
                <a:solidFill>
                  <a:srgbClr val="767676"/>
                </a:solidFill>
                <a:latin typeface="Pretendard"/>
                <a:ea typeface="Pretendard"/>
                <a:cs typeface="Pretendard"/>
              </a:rPr>
              <a:t>STM32N6 보드가 없어 같은 C 코드를 라즈베리파이 5 격리 코어(코어 3 · SCHED_FIFO · mlockall)에서 돌려 측정했다. 리눅스 커널 자체가 멈추면 같이 멈춘다 — 실차 설계는 별도 MCU 다.</a:t>
            </a:r>
          </a:p>
        </p:txBody>
      </p:sp>
      <p:sp>
        <p:nvSpPr>
          <p:cNvPr id="7" name="TextBox 6"/>
          <p:cNvSpPr txBox="1"/>
          <p:nvPr/>
        </p:nvSpPr>
        <p:spPr>
          <a:xfrm>
            <a:off x="533400" y="6648450"/>
            <a:ext cx="7620000" cy="133350"/>
          </a:xfrm>
          <a:prstGeom prst="rect">
            <a:avLst/>
          </a:prstGeom>
          <a:noFill/>
        </p:spPr>
        <p:txBody>
          <a:bodyPr wrap="square" anchor="t" lIns="0" rIns="0" tIns="0" bIns="0">
            <a:spAutoFit/>
          </a:bodyPr>
          <a:lstStyle/>
          <a:p>
            <a:pPr algn="l">
              <a:lnSpc>
                <a:spcPct val="140000"/>
              </a:lnSpc>
            </a:pPr>
            <a:r>
              <a:rPr sz="800" b="0">
                <a:solidFill>
                  <a:srgbClr val="A6A6A6"/>
                </a:solidFill>
                <a:latin typeface="Pretendard"/>
                <a:ea typeface="Pretendard"/>
                <a:cs typeface="Pretendard"/>
              </a:rPr>
              <a:t>팀 ARTS · 제24회 임베디드SW경진대회 자동차/모빌리티(현대자동차) · github.com/gkgk0119gmail-arch/2026ESWContest_mobility_ARTS</a:t>
            </a:r>
          </a:p>
        </p:txBody>
      </p:sp>
      <p:sp>
        <p:nvSpPr>
          <p:cNvPr id="8" name="TextBox 7"/>
          <p:cNvSpPr txBox="1"/>
          <p:nvPr/>
        </p:nvSpPr>
        <p:spPr>
          <a:xfrm>
            <a:off x="10134600" y="6638925"/>
            <a:ext cx="1524000" cy="133350"/>
          </a:xfrm>
          <a:prstGeom prst="rect">
            <a:avLst/>
          </a:prstGeom>
          <a:noFill/>
        </p:spPr>
        <p:txBody>
          <a:bodyPr wrap="square" anchor="t" lIns="0" rIns="0" tIns="0" bIns="0">
            <a:spAutoFit/>
          </a:bodyPr>
          <a:lstStyle/>
          <a:p>
            <a:pPr algn="r">
              <a:lnSpc>
                <a:spcPct val="140000"/>
              </a:lnSpc>
            </a:pPr>
            <a:r>
              <a:rPr sz="900" b="1">
                <a:solidFill>
                  <a:srgbClr val="002C5F"/>
                </a:solidFill>
                <a:latin typeface="Pretendard"/>
                <a:ea typeface="Pretendard"/>
                <a:cs typeface="Pretendard"/>
              </a:rPr>
              <a:t>IcePredict</a:t>
            </a:r>
          </a:p>
        </p:txBody>
      </p:sp>
      <p:pic>
        <p:nvPicPr>
          <p:cNvPr id="9" name="Picture 8" descr="si_fault.png"/>
          <p:cNvPicPr>
            <a:picLocks noChangeAspect="1"/>
          </p:cNvPicPr>
          <p:nvPr/>
        </p:nvPicPr>
        <p:blipFill>
          <a:blip r:embed="rId2"/>
          <a:stretch>
            <a:fillRect/>
          </a:stretch>
        </p:blipFill>
        <p:spPr>
          <a:xfrm>
            <a:off x="587291" y="1219200"/>
            <a:ext cx="5797717" cy="2447925"/>
          </a:xfrm>
          <a:prstGeom prst="rect">
            <a:avLst/>
          </a:prstGeom>
        </p:spPr>
      </p:pic>
      <p:sp>
        <p:nvSpPr>
          <p:cNvPr id="10" name="TextBox 9"/>
          <p:cNvSpPr txBox="1"/>
          <p:nvPr/>
        </p:nvSpPr>
        <p:spPr>
          <a:xfrm>
            <a:off x="533400" y="3714750"/>
            <a:ext cx="5905500" cy="171450"/>
          </a:xfrm>
          <a:prstGeom prst="rect">
            <a:avLst/>
          </a:prstGeom>
          <a:noFill/>
        </p:spPr>
        <p:txBody>
          <a:bodyPr wrap="square" anchor="t" lIns="0" rIns="0" tIns="0" bIns="0">
            <a:spAutoFit/>
          </a:bodyPr>
          <a:lstStyle/>
          <a:p>
            <a:pPr algn="l">
              <a:lnSpc>
                <a:spcPct val="130000"/>
              </a:lnSpc>
            </a:pPr>
            <a:r>
              <a:rPr sz="900" b="0">
                <a:solidFill>
                  <a:srgbClr val="767676"/>
                </a:solidFill>
                <a:latin typeface="Pretendard"/>
                <a:ea typeface="Pretendard"/>
                <a:cs typeface="Pretendard"/>
              </a:rPr>
              <a:t>곡선 빙판에서 파이를 죽였다 — 2차 방어가 파이에 있으면 방어 없음과 같고, STM32 에 있으면 고장 없음과 같다</a:t>
            </a:r>
          </a:p>
        </p:txBody>
      </p:sp>
      <p:sp>
        <p:nvSpPr>
          <p:cNvPr id="11" name="TextBox 10"/>
          <p:cNvSpPr txBox="1"/>
          <p:nvPr/>
        </p:nvSpPr>
        <p:spPr>
          <a:xfrm>
            <a:off x="533400" y="4019550"/>
            <a:ext cx="1866900" cy="334328"/>
          </a:xfrm>
          <a:prstGeom prst="rect">
            <a:avLst/>
          </a:prstGeom>
          <a:noFill/>
        </p:spPr>
        <p:txBody>
          <a:bodyPr wrap="square" anchor="t" lIns="0" rIns="0" tIns="0" bIns="0">
            <a:spAutoFit/>
          </a:bodyPr>
          <a:lstStyle/>
          <a:p>
            <a:pPr algn="l">
              <a:lnSpc>
                <a:spcPct val="100000"/>
              </a:lnSpc>
            </a:pPr>
            <a:r>
              <a:rPr sz="2600" b="0">
                <a:solidFill>
                  <a:srgbClr val="E63312"/>
                </a:solidFill>
                <a:latin typeface="Pretendard ExtraBold"/>
                <a:ea typeface="Pretendard ExtraBold"/>
                <a:cs typeface="Pretendard ExtraBold"/>
              </a:rPr>
              <a:t>53.1 km/h</a:t>
            </a:r>
          </a:p>
        </p:txBody>
      </p:sp>
      <p:sp>
        <p:nvSpPr>
          <p:cNvPr id="12" name="TextBox 11"/>
          <p:cNvSpPr txBox="1"/>
          <p:nvPr/>
        </p:nvSpPr>
        <p:spPr>
          <a:xfrm>
            <a:off x="533400" y="4372928"/>
            <a:ext cx="1866900" cy="408622"/>
          </a:xfrm>
          <a:prstGeom prst="rect">
            <a:avLst/>
          </a:prstGeom>
          <a:noFill/>
        </p:spPr>
        <p:txBody>
          <a:bodyPr wrap="square" anchor="t" lIns="0" rIns="0" tIns="0" bIns="0">
            <a:spAutoFit/>
          </a:bodyPr>
          <a:lstStyle/>
          <a:p>
            <a:pPr algn="l">
              <a:lnSpc>
                <a:spcPct val="130000"/>
              </a:lnSpc>
            </a:pPr>
            <a:r>
              <a:rPr sz="950" b="0">
                <a:solidFill>
                  <a:srgbClr val="767676"/>
                </a:solidFill>
                <a:latin typeface="Pretendard"/>
                <a:ea typeface="Pretendard"/>
                <a:cs typeface="Pretendard"/>
              </a:rPr>
              <a:t>2차 방어가 파이 · 파이 정지</a:t>
            </a:r>
            <a:br/>
            <a:r>
              <a:rPr sz="950" b="0">
                <a:solidFill>
                  <a:srgbClr val="767676"/>
                </a:solidFill>
                <a:latin typeface="Pretendard"/>
                <a:ea typeface="Pretendard"/>
                <a:cs typeface="Pretendard"/>
              </a:rPr>
              <a:t>= 방어 없음 53.1</a:t>
            </a:r>
          </a:p>
        </p:txBody>
      </p:sp>
      <p:sp>
        <p:nvSpPr>
          <p:cNvPr id="13" name="TextBox 12"/>
          <p:cNvSpPr txBox="1"/>
          <p:nvPr/>
        </p:nvSpPr>
        <p:spPr>
          <a:xfrm>
            <a:off x="2552700" y="4019550"/>
            <a:ext cx="1866900" cy="334328"/>
          </a:xfrm>
          <a:prstGeom prst="rect">
            <a:avLst/>
          </a:prstGeom>
          <a:noFill/>
        </p:spPr>
        <p:txBody>
          <a:bodyPr wrap="square" anchor="t" lIns="0" rIns="0" tIns="0" bIns="0">
            <a:spAutoFit/>
          </a:bodyPr>
          <a:lstStyle/>
          <a:p>
            <a:pPr algn="l">
              <a:lnSpc>
                <a:spcPct val="100000"/>
              </a:lnSpc>
            </a:pPr>
            <a:r>
              <a:rPr sz="2600" b="0">
                <a:solidFill>
                  <a:srgbClr val="00AAD2"/>
                </a:solidFill>
                <a:latin typeface="Pretendard ExtraBold"/>
                <a:ea typeface="Pretendard ExtraBold"/>
                <a:cs typeface="Pretendard ExtraBold"/>
              </a:rPr>
              <a:t>39.4 km/h</a:t>
            </a:r>
          </a:p>
        </p:txBody>
      </p:sp>
      <p:sp>
        <p:nvSpPr>
          <p:cNvPr id="14" name="TextBox 13"/>
          <p:cNvSpPr txBox="1"/>
          <p:nvPr/>
        </p:nvSpPr>
        <p:spPr>
          <a:xfrm>
            <a:off x="2552700" y="4372928"/>
            <a:ext cx="1866900" cy="408622"/>
          </a:xfrm>
          <a:prstGeom prst="rect">
            <a:avLst/>
          </a:prstGeom>
          <a:noFill/>
        </p:spPr>
        <p:txBody>
          <a:bodyPr wrap="square" anchor="t" lIns="0" rIns="0" tIns="0" bIns="0">
            <a:spAutoFit/>
          </a:bodyPr>
          <a:lstStyle/>
          <a:p>
            <a:pPr algn="l">
              <a:lnSpc>
                <a:spcPct val="130000"/>
              </a:lnSpc>
            </a:pPr>
            <a:r>
              <a:rPr sz="950" b="0">
                <a:solidFill>
                  <a:srgbClr val="767676"/>
                </a:solidFill>
                <a:latin typeface="Pretendard"/>
                <a:ea typeface="Pretendard"/>
                <a:cs typeface="Pretendard"/>
              </a:rPr>
              <a:t>2차 방어가 안전 전용 RTOS · 파이 정지</a:t>
            </a:r>
            <a:br/>
            <a:r>
              <a:rPr sz="950" b="0">
                <a:solidFill>
                  <a:srgbClr val="767676"/>
                </a:solidFill>
                <a:latin typeface="Pretendard"/>
                <a:ea typeface="Pretendard"/>
                <a:cs typeface="Pretendard"/>
              </a:rPr>
              <a:t>≈ 고장 없음 38.9 (μ 0.12 · 60 km/h)</a:t>
            </a:r>
          </a:p>
        </p:txBody>
      </p:sp>
      <p:sp>
        <p:nvSpPr>
          <p:cNvPr id="15" name="TextBox 14"/>
          <p:cNvSpPr txBox="1"/>
          <p:nvPr/>
        </p:nvSpPr>
        <p:spPr>
          <a:xfrm>
            <a:off x="4572000" y="4019550"/>
            <a:ext cx="1866900" cy="334328"/>
          </a:xfrm>
          <a:prstGeom prst="rect">
            <a:avLst/>
          </a:prstGeom>
          <a:noFill/>
        </p:spPr>
        <p:txBody>
          <a:bodyPr wrap="square" anchor="t" lIns="0" rIns="0" tIns="0" bIns="0">
            <a:spAutoFit/>
          </a:bodyPr>
          <a:lstStyle/>
          <a:p>
            <a:pPr algn="l">
              <a:lnSpc>
                <a:spcPct val="100000"/>
              </a:lnSpc>
            </a:pPr>
            <a:r>
              <a:rPr sz="2600" b="0">
                <a:solidFill>
                  <a:srgbClr val="002C5F"/>
                </a:solidFill>
                <a:latin typeface="Pretendard ExtraBold"/>
                <a:ea typeface="Pretendard ExtraBold"/>
                <a:cs typeface="Pretendard ExtraBold"/>
              </a:rPr>
              <a:t>0.12 s</a:t>
            </a:r>
          </a:p>
        </p:txBody>
      </p:sp>
      <p:sp>
        <p:nvSpPr>
          <p:cNvPr id="16" name="TextBox 15"/>
          <p:cNvSpPr txBox="1"/>
          <p:nvPr/>
        </p:nvSpPr>
        <p:spPr>
          <a:xfrm>
            <a:off x="4572000" y="4372928"/>
            <a:ext cx="1866900" cy="408622"/>
          </a:xfrm>
          <a:prstGeom prst="rect">
            <a:avLst/>
          </a:prstGeom>
          <a:noFill/>
        </p:spPr>
        <p:txBody>
          <a:bodyPr wrap="square" anchor="t" lIns="0" rIns="0" tIns="0" bIns="0">
            <a:spAutoFit/>
          </a:bodyPr>
          <a:lstStyle/>
          <a:p>
            <a:pPr algn="l">
              <a:lnSpc>
                <a:spcPct val="130000"/>
              </a:lnSpc>
            </a:pPr>
            <a:r>
              <a:rPr sz="950" b="0">
                <a:solidFill>
                  <a:srgbClr val="767676"/>
                </a:solidFill>
                <a:latin typeface="Pretendard"/>
                <a:ea typeface="Pretendard"/>
                <a:cs typeface="Pretendard"/>
              </a:rPr>
              <a:t>파이 심장박동 끊김 감지 →</a:t>
            </a:r>
            <a:br/>
            <a:r>
              <a:rPr sz="950" b="0">
                <a:solidFill>
                  <a:srgbClr val="767676"/>
                </a:solidFill>
                <a:latin typeface="Pretendard"/>
                <a:ea typeface="Pretendard"/>
                <a:cs typeface="Pretendard"/>
              </a:rPr>
              <a:t>축소 모드 (카메라·지도 입력 버림)</a:t>
            </a:r>
          </a:p>
        </p:txBody>
      </p:sp>
      <p:graphicFrame>
        <p:nvGraphicFramePr>
          <p:cNvPr id="17" name="Table 16"/>
          <p:cNvGraphicFramePr>
            <a:graphicFrameLocks noGrp="1"/>
          </p:cNvGraphicFramePr>
          <p:nvPr/>
        </p:nvGraphicFramePr>
        <p:xfrm>
          <a:off x="533400" y="4933950"/>
          <a:ext cx="5905501" cy="895350"/>
        </p:xfrm>
        <a:graphic>
          <a:graphicData uri="http://schemas.openxmlformats.org/drawingml/2006/table">
            <a:tbl>
              <a:tblPr>
                <a:tableStyleId>{2D5ABB26-0587-4C30-8999-92F81FD0307C}</a:tableStyleId>
              </a:tblPr>
              <a:tblGrid>
                <a:gridCol w="2741839"/>
                <a:gridCol w="1054554"/>
                <a:gridCol w="1054554"/>
                <a:gridCol w="1054554"/>
              </a:tblGrid>
              <a:tr h="209550">
                <a:tc>
                  <a:txBody>
                    <a:bodyPr wrap="square"/>
                    <a:lstStyle/>
                    <a:p>
                      <a:pPr>
                        <a:lnSpc>
                          <a:spcPct val="122000"/>
                        </a:lnSpc>
                      </a:pPr>
                      <a:r>
                        <a:rPr sz="900" b="1">
                          <a:solidFill>
                            <a:srgbClr val="002C5F"/>
                          </a:solidFill>
                          <a:latin typeface="Pretendard"/>
                          <a:ea typeface="Pretendard"/>
                          <a:cs typeface="Pretendard"/>
                        </a:rPr>
                        <a:t>전 코어 부하 · 20 ms × 6,000회</a:t>
                      </a:r>
                      <a:endParaRPr sz="90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c>
                  <a:txBody>
                    <a:bodyPr wrap="square"/>
                    <a:lstStyle/>
                    <a:p>
                      <a:pPr>
                        <a:lnSpc>
                          <a:spcPct val="122000"/>
                        </a:lnSpc>
                      </a:pPr>
                      <a:r>
                        <a:rPr sz="900" b="1">
                          <a:solidFill>
                            <a:srgbClr val="002C5F"/>
                          </a:solidFill>
                          <a:latin typeface="Pretendard"/>
                          <a:ea typeface="Pretendard"/>
                          <a:cs typeface="Pretendard"/>
                        </a:rPr>
                        <a:t>평균 지연</a:t>
                      </a:r>
                      <a:endParaRPr sz="90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c>
                  <a:txBody>
                    <a:bodyPr wrap="square"/>
                    <a:lstStyle/>
                    <a:p>
                      <a:pPr>
                        <a:lnSpc>
                          <a:spcPct val="122000"/>
                        </a:lnSpc>
                      </a:pPr>
                      <a:r>
                        <a:rPr sz="900" b="1">
                          <a:solidFill>
                            <a:srgbClr val="002C5F"/>
                          </a:solidFill>
                          <a:latin typeface="Pretendard"/>
                          <a:ea typeface="Pretendard"/>
                          <a:cs typeface="Pretendard"/>
                        </a:rPr>
                        <a:t>최악 지연</a:t>
                      </a:r>
                      <a:endParaRPr sz="90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c>
                  <a:txBody>
                    <a:bodyPr wrap="square"/>
                    <a:lstStyle/>
                    <a:p>
                      <a:pPr>
                        <a:lnSpc>
                          <a:spcPct val="122000"/>
                        </a:lnSpc>
                      </a:pPr>
                      <a:r>
                        <a:rPr sz="900" b="1">
                          <a:solidFill>
                            <a:srgbClr val="002C5F"/>
                          </a:solidFill>
                          <a:latin typeface="Pretendard"/>
                          <a:ea typeface="Pretendard"/>
                          <a:cs typeface="Pretendard"/>
                        </a:rPr>
                        <a:t>마감 놓침</a:t>
                      </a:r>
                      <a:endParaRPr sz="900"/>
                    </a:p>
                  </a:txBody>
                  <a:tcPr marL="76200" marR="57150" marT="28575" marB="28575" anchor="ctr">
                    <a:lnL w="9525" cap="flat" cmpd="sng" algn="ctr">
                      <a:noFill/>
                    </a:lnL>
                    <a:lnR w="9525" cap="flat" cmpd="sng" algn="ctr">
                      <a:noFill/>
                    </a:lnR>
                    <a:lnT w="9525" cap="flat" cmpd="sng" algn="ctr">
                      <a:noFill/>
                    </a:lnT>
                    <a:lnB w="15875" cap="flat" cmpd="sng" algn="ctr">
                      <a:solidFill>
                        <a:srgbClr val="002C5F"/>
                      </a:solidFill>
                      <a:prstDash val="solid"/>
                    </a:lnB>
                    <a:noFill/>
                  </a:tcPr>
                </a:tc>
              </a:tr>
              <a:tr h="228600">
                <a:tc>
                  <a:txBody>
                    <a:bodyPr wrap="square"/>
                    <a:lstStyle/>
                    <a:p>
                      <a:pPr>
                        <a:lnSpc>
                          <a:spcPct val="122000"/>
                        </a:lnSpc>
                      </a:pPr>
                      <a:r>
                        <a:rPr sz="950" b="1">
                          <a:solidFill>
                            <a:srgbClr val="002C5F"/>
                          </a:solidFill>
                          <a:latin typeface="Pretendard"/>
                          <a:ea typeface="Pretendard"/>
                          <a:cs typeface="Pretendard"/>
                        </a:rPr>
                        <a:t>일반 프로그램</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2.6 ms</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1">
                          <a:solidFill>
                            <a:srgbClr val="E63312"/>
                          </a:solidFill>
                          <a:latin typeface="Pretendard"/>
                          <a:ea typeface="Pretendard"/>
                          <a:cs typeface="Pretendard"/>
                        </a:rPr>
                        <a:t>206 ms</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1">
                          <a:solidFill>
                            <a:srgbClr val="E63312"/>
                          </a:solidFill>
                          <a:latin typeface="Pretendard"/>
                          <a:ea typeface="Pretendard"/>
                          <a:cs typeface="Pretendard"/>
                        </a:rPr>
                        <a:t>211</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28600">
                <a:tc>
                  <a:txBody>
                    <a:bodyPr wrap="square"/>
                    <a:lstStyle/>
                    <a:p>
                      <a:pPr>
                        <a:lnSpc>
                          <a:spcPct val="122000"/>
                        </a:lnSpc>
                      </a:pPr>
                      <a:r>
                        <a:rPr sz="950" b="1">
                          <a:solidFill>
                            <a:srgbClr val="002C5F"/>
                          </a:solidFill>
                          <a:latin typeface="Pretendard"/>
                          <a:ea typeface="Pretendard"/>
                          <a:cs typeface="Pretendard"/>
                        </a:rPr>
                        <a:t>실시간 우선순위 + 코어 고정</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0.04 ms</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0.23 ms</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0</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r h="228600">
                <a:tc>
                  <a:txBody>
                    <a:bodyPr wrap="square"/>
                    <a:lstStyle/>
                    <a:p>
                      <a:pPr>
                        <a:lnSpc>
                          <a:spcPct val="122000"/>
                        </a:lnSpc>
                      </a:pPr>
                      <a:r>
                        <a:rPr sz="950" b="1">
                          <a:solidFill>
                            <a:srgbClr val="002C5F"/>
                          </a:solidFill>
                          <a:latin typeface="Pretendard"/>
                          <a:ea typeface="Pretendard"/>
                          <a:cs typeface="Pretendard"/>
                        </a:rPr>
                        <a:t>파이 격리 코어 (RTOS 대체)</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0">
                          <a:solidFill>
                            <a:srgbClr val="1C1B1B"/>
                          </a:solidFill>
                          <a:latin typeface="Pretendard"/>
                          <a:ea typeface="Pretendard"/>
                          <a:cs typeface="Pretendard"/>
                        </a:rPr>
                        <a:t>0.018 ms</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1">
                          <a:solidFill>
                            <a:srgbClr val="1E8A4C"/>
                          </a:solidFill>
                          <a:latin typeface="Pretendard"/>
                          <a:ea typeface="Pretendard"/>
                          <a:cs typeface="Pretendard"/>
                        </a:rPr>
                        <a:t>0.06 ms</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c>
                  <a:txBody>
                    <a:bodyPr wrap="square"/>
                    <a:lstStyle/>
                    <a:p>
                      <a:pPr>
                        <a:lnSpc>
                          <a:spcPct val="122000"/>
                        </a:lnSpc>
                      </a:pPr>
                      <a:r>
                        <a:rPr sz="950" b="1">
                          <a:solidFill>
                            <a:srgbClr val="1E8A4C"/>
                          </a:solidFill>
                          <a:latin typeface="Pretendard"/>
                          <a:ea typeface="Pretendard"/>
                          <a:cs typeface="Pretendard"/>
                        </a:rPr>
                        <a:t>0</a:t>
                      </a:r>
                      <a:endParaRPr sz="950"/>
                    </a:p>
                  </a:txBody>
                  <a:tcPr marL="76200" marR="57150" marT="28575" marB="28575" anchor="ctr">
                    <a:lnL w="9525" cap="flat" cmpd="sng" algn="ctr">
                      <a:noFill/>
                    </a:lnL>
                    <a:lnR w="9525" cap="flat" cmpd="sng" algn="ctr">
                      <a:noFill/>
                    </a:lnR>
                    <a:lnT w="9525" cap="flat" cmpd="sng" algn="ctr">
                      <a:noFill/>
                    </a:lnT>
                    <a:lnB w="9525" cap="flat" cmpd="sng" algn="ctr">
                      <a:solidFill>
                        <a:srgbClr val="E0DCD8"/>
                      </a:solidFill>
                      <a:prstDash val="solid"/>
                    </a:lnB>
                    <a:noFill/>
                  </a:tcPr>
                </a:tc>
              </a:tr>
            </a:tbl>
          </a:graphicData>
        </a:graphic>
      </p:graphicFrame>
      <p:pic>
        <p:nvPicPr>
          <p:cNvPr id="18" name="v_island.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6667500" y="1219200"/>
            <a:ext cx="4991100" cy="2809875"/>
          </a:xfrm>
          <a:prstGeom prst="rect">
            <a:avLst/>
          </a:prstGeom>
        </p:spPr>
      </p:pic>
      <p:sp>
        <p:nvSpPr>
          <p:cNvPr id="19" name="TextBox 18"/>
          <p:cNvSpPr txBox="1"/>
          <p:nvPr/>
        </p:nvSpPr>
        <p:spPr>
          <a:xfrm>
            <a:off x="6667500" y="4067175"/>
            <a:ext cx="4991100" cy="266700"/>
          </a:xfrm>
          <a:prstGeom prst="rect">
            <a:avLst/>
          </a:prstGeom>
          <a:noFill/>
        </p:spPr>
        <p:txBody>
          <a:bodyPr wrap="square" anchor="t" lIns="0" rIns="0" tIns="0" bIns="0">
            <a:spAutoFit/>
          </a:bodyPr>
          <a:lstStyle/>
          <a:p>
            <a:pPr algn="l">
              <a:lnSpc>
                <a:spcPct val="130000"/>
              </a:lnSpc>
            </a:pPr>
            <a:r>
              <a:rPr sz="850" b="0">
                <a:solidFill>
                  <a:srgbClr val="767676"/>
                </a:solidFill>
                <a:latin typeface="Pretendard"/>
                <a:ea typeface="Pretendard"/>
                <a:cs typeface="Pretendard"/>
              </a:rPr>
              <a:t>▶ 빙판을 확인한 직후 파이 메인 프로그램을 실제로 강제 종료(SIGKILL) — 격리 코어의 2차 방어가 혼자 4.1 m 앞에 세운다</a:t>
            </a:r>
          </a:p>
        </p:txBody>
      </p:sp>
      <p:sp>
        <p:nvSpPr>
          <p:cNvPr id="20" name="Rectangle 19"/>
          <p:cNvSpPr/>
          <p:nvPr/>
        </p:nvSpPr>
        <p:spPr>
          <a:xfrm>
            <a:off x="6667500" y="4448175"/>
            <a:ext cx="4991100" cy="1762125"/>
          </a:xfrm>
          <a:prstGeom prst="rect">
            <a:avLst/>
          </a:prstGeom>
          <a:solidFill>
            <a:srgbClr val="F6F3F2"/>
          </a:solidFill>
          <a:ln>
            <a:noFill/>
          </a:ln>
          <a:effectLst/>
        </p:spPr>
        <p:txBody>
          <a:bodyPr rtlCol="0" anchor="ctr"/>
          <a:lstStyle/>
          <a:p/>
        </p:txBody>
      </p:sp>
      <p:sp>
        <p:nvSpPr>
          <p:cNvPr id="21" name="TextBox 20"/>
          <p:cNvSpPr txBox="1"/>
          <p:nvPr/>
        </p:nvSpPr>
        <p:spPr>
          <a:xfrm>
            <a:off x="6819900" y="4600575"/>
            <a:ext cx="4686300" cy="208121"/>
          </a:xfrm>
          <a:prstGeom prst="rect">
            <a:avLst/>
          </a:prstGeom>
          <a:noFill/>
        </p:spPr>
        <p:txBody>
          <a:bodyPr wrap="square" anchor="t" lIns="0" rIns="0" tIns="0" bIns="0">
            <a:spAutoFit/>
          </a:bodyPr>
          <a:lstStyle/>
          <a:p>
            <a:pPr algn="l">
              <a:lnSpc>
                <a:spcPct val="100000"/>
              </a:lnSpc>
            </a:pPr>
            <a:r>
              <a:rPr sz="1150" b="1">
                <a:solidFill>
                  <a:srgbClr val="002C5F"/>
                </a:solidFill>
                <a:latin typeface="Pretendard"/>
                <a:ea typeface="Pretendard"/>
                <a:cs typeface="Pretendard"/>
              </a:rPr>
              <a:t>판단이 일어나는 곳</a:t>
            </a:r>
          </a:p>
        </p:txBody>
      </p:sp>
      <p:sp>
        <p:nvSpPr>
          <p:cNvPr id="22" name="TextBox 21"/>
          <p:cNvSpPr txBox="1"/>
          <p:nvPr/>
        </p:nvSpPr>
        <p:spPr>
          <a:xfrm>
            <a:off x="6819900" y="4846796"/>
            <a:ext cx="4686300" cy="1211104"/>
          </a:xfrm>
          <a:prstGeom prst="rect">
            <a:avLst/>
          </a:prstGeom>
          <a:noFill/>
        </p:spPr>
        <p:txBody>
          <a:bodyPr wrap="square" anchor="t" lIns="0" rIns="0" tIns="0" bIns="0">
            <a:spAutoFit/>
          </a:bodyPr>
          <a:lstStyle/>
          <a:p>
            <a:pPr algn="l">
              <a:lnSpc>
                <a:spcPct val="145000"/>
              </a:lnSpc>
              <a:spcAft>
                <a:spcPts val="400"/>
              </a:spcAft>
            </a:pPr>
            <a:r>
              <a:rPr sz="930" b="0">
                <a:solidFill>
                  <a:srgbClr val="4D4D4D"/>
                </a:solidFill>
                <a:latin typeface="Pretendard"/>
                <a:ea typeface="Pretendard"/>
                <a:cs typeface="Pretendard"/>
              </a:rPr>
              <a:t>· 데스크톱(CARLA·Moza)이 IMU·거리를 보내고, 파이 격리 코어가 20 ms 마다 탭·정지 거리·제동을 답한다.</a:t>
            </a:r>
          </a:p>
          <a:p>
            <a:pPr algn="l">
              <a:lnSpc>
                <a:spcPct val="145000"/>
              </a:lnSpc>
              <a:spcAft>
                <a:spcPts val="400"/>
              </a:spcAft>
            </a:pPr>
            <a:r>
              <a:rPr sz="930" b="0">
                <a:solidFill>
                  <a:srgbClr val="4D4D4D"/>
                </a:solidFill>
                <a:latin typeface="Pretendard"/>
                <a:ea typeface="Pretendard"/>
                <a:cs typeface="Pretendard"/>
              </a:rPr>
              <a:t>· 캠퍼스 와이파이 왕복 중앙 4.8 ms · 99 % 9.4 ms. 0.2 s 까지의 무응답은 마지막 명령을 유지한다.</a:t>
            </a:r>
          </a:p>
          <a:p>
            <a:pPr algn="l">
              <a:lnSpc>
                <a:spcPct val="145000"/>
              </a:lnSpc>
              <a:spcAft>
                <a:spcPts val="400"/>
              </a:spcAft>
            </a:pPr>
            <a:r>
              <a:rPr sz="930" b="0">
                <a:solidFill>
                  <a:srgbClr val="4D4D4D"/>
                </a:solidFill>
                <a:latin typeface="Pretendard"/>
                <a:ea typeface="Pretendard"/>
                <a:cs typeface="Pretendard"/>
              </a:rPr>
              <a:t>· 격리 코어의 판단 = 보드 C 코드 = 파이썬 참조 (900 샘플 비트 동일).</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endCondLst>
                    <p:cond evt="onStopAudio" delay="0">
                      <p:tn val="2"/>
                    </p:cond>
                  </p:endCondLst>
                </p:cTn>
                <p:tgtEl>
                  <p:spTgt spid="18"/>
                </p:tgtEl>
              </p:cMediaNode>
            </p:video>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3400" y="323850"/>
            <a:ext cx="5715000" cy="162878"/>
          </a:xfrm>
          <a:prstGeom prst="rect">
            <a:avLst/>
          </a:prstGeom>
          <a:noFill/>
        </p:spPr>
        <p:txBody>
          <a:bodyPr wrap="square" anchor="t" lIns="0" rIns="0" tIns="0" bIns="0">
            <a:spAutoFit/>
          </a:bodyPr>
          <a:lstStyle/>
          <a:p>
            <a:pPr algn="l">
              <a:lnSpc>
                <a:spcPct val="100000"/>
              </a:lnSpc>
            </a:pPr>
            <a:r>
              <a:rPr sz="950" b="1" spc="80">
                <a:solidFill>
                  <a:srgbClr val="002C5F"/>
                </a:solidFill>
                <a:latin typeface="Pretendard"/>
                <a:ea typeface="Pretendard"/>
                <a:cs typeface="Pretendard"/>
              </a:rPr>
              <a:t>한계</a:t>
            </a:r>
          </a:p>
        </p:txBody>
      </p:sp>
      <p:sp>
        <p:nvSpPr>
          <p:cNvPr id="3" name="TextBox 2"/>
          <p:cNvSpPr txBox="1"/>
          <p:nvPr/>
        </p:nvSpPr>
        <p:spPr>
          <a:xfrm>
            <a:off x="9753600" y="314325"/>
            <a:ext cx="1905000" cy="152400"/>
          </a:xfrm>
          <a:prstGeom prst="rect">
            <a:avLst/>
          </a:prstGeom>
          <a:noFill/>
        </p:spPr>
        <p:txBody>
          <a:bodyPr wrap="square" anchor="t" lIns="0" rIns="0" tIns="0" bIns="0">
            <a:spAutoFit/>
          </a:bodyPr>
          <a:lstStyle/>
          <a:p>
            <a:pPr algn="r">
              <a:lnSpc>
                <a:spcPct val="140000"/>
              </a:lnSpc>
            </a:pPr>
            <a:r>
              <a:rPr sz="900" b="0">
                <a:solidFill>
                  <a:srgbClr val="A6A6A6"/>
                </a:solidFill>
                <a:latin typeface="Pretendard"/>
                <a:ea typeface="Pretendard"/>
                <a:cs typeface="Pretendard"/>
              </a:rPr>
              <a:t>19 / 20</a:t>
            </a:r>
          </a:p>
        </p:txBody>
      </p:sp>
      <p:sp>
        <p:nvSpPr>
          <p:cNvPr id="4" name="TextBox 3"/>
          <p:cNvSpPr txBox="1"/>
          <p:nvPr/>
        </p:nvSpPr>
        <p:spPr>
          <a:xfrm>
            <a:off x="533400" y="495300"/>
            <a:ext cx="11125200" cy="381000"/>
          </a:xfrm>
          <a:prstGeom prst="rect">
            <a:avLst/>
          </a:prstGeom>
          <a:noFill/>
        </p:spPr>
        <p:txBody>
          <a:bodyPr wrap="square" anchor="t" lIns="0" rIns="0" tIns="0" bIns="0">
            <a:spAutoFit/>
          </a:bodyPr>
          <a:lstStyle/>
          <a:p>
            <a:pPr algn="l">
              <a:lnSpc>
                <a:spcPct val="100000"/>
              </a:lnSpc>
            </a:pPr>
            <a:r>
              <a:rPr sz="2400" b="0">
                <a:solidFill>
                  <a:srgbClr val="1C1B1B"/>
                </a:solidFill>
                <a:latin typeface="Pretendard ExtraBold"/>
                <a:ea typeface="Pretendard ExtraBold"/>
                <a:cs typeface="Pretendard ExtraBold"/>
              </a:rPr>
              <a:t>한계와 실패 사례 — 숨기지 않고 남긴 것</a:t>
            </a:r>
          </a:p>
        </p:txBody>
      </p:sp>
      <p:sp>
        <p:nvSpPr>
          <p:cNvPr id="5" name="TextBox 4"/>
          <p:cNvSpPr txBox="1"/>
          <p:nvPr/>
        </p:nvSpPr>
        <p:spPr>
          <a:xfrm>
            <a:off x="533400" y="6648450"/>
            <a:ext cx="7620000" cy="133350"/>
          </a:xfrm>
          <a:prstGeom prst="rect">
            <a:avLst/>
          </a:prstGeom>
          <a:noFill/>
        </p:spPr>
        <p:txBody>
          <a:bodyPr wrap="square" anchor="t" lIns="0" rIns="0" tIns="0" bIns="0">
            <a:spAutoFit/>
          </a:bodyPr>
          <a:lstStyle/>
          <a:p>
            <a:pPr algn="l">
              <a:lnSpc>
                <a:spcPct val="140000"/>
              </a:lnSpc>
            </a:pPr>
            <a:r>
              <a:rPr sz="800" b="0">
                <a:solidFill>
                  <a:srgbClr val="A6A6A6"/>
                </a:solidFill>
                <a:latin typeface="Pretendard"/>
                <a:ea typeface="Pretendard"/>
                <a:cs typeface="Pretendard"/>
              </a:rPr>
              <a:t>팀 ARTS · 제24회 임베디드SW경진대회 자동차/모빌리티(현대자동차) · github.com/gkgk0119gmail-arch/2026ESWContest_mobility_ARTS</a:t>
            </a:r>
          </a:p>
        </p:txBody>
      </p:sp>
      <p:sp>
        <p:nvSpPr>
          <p:cNvPr id="6" name="TextBox 5"/>
          <p:cNvSpPr txBox="1"/>
          <p:nvPr/>
        </p:nvSpPr>
        <p:spPr>
          <a:xfrm>
            <a:off x="10134600" y="6638925"/>
            <a:ext cx="1524000" cy="133350"/>
          </a:xfrm>
          <a:prstGeom prst="rect">
            <a:avLst/>
          </a:prstGeom>
          <a:noFill/>
        </p:spPr>
        <p:txBody>
          <a:bodyPr wrap="square" anchor="t" lIns="0" rIns="0" tIns="0" bIns="0">
            <a:spAutoFit/>
          </a:bodyPr>
          <a:lstStyle/>
          <a:p>
            <a:pPr algn="r">
              <a:lnSpc>
                <a:spcPct val="140000"/>
              </a:lnSpc>
            </a:pPr>
            <a:r>
              <a:rPr sz="900" b="1">
                <a:solidFill>
                  <a:srgbClr val="002C5F"/>
                </a:solidFill>
                <a:latin typeface="Pretendard"/>
                <a:ea typeface="Pretendard"/>
                <a:cs typeface="Pretendard"/>
              </a:rPr>
              <a:t>IcePredict</a:t>
            </a:r>
          </a:p>
        </p:txBody>
      </p:sp>
      <p:pic>
        <p:nvPicPr>
          <p:cNvPr id="7" name="Picture 6" descr="image.jpg"/>
          <p:cNvPicPr>
            <a:picLocks noChangeAspect="1"/>
          </p:cNvPicPr>
          <p:nvPr/>
        </p:nvPicPr>
        <p:blipFill>
          <a:blip r:embed="rId2"/>
          <a:stretch>
            <a:fillRect/>
          </a:stretch>
        </p:blipFill>
        <p:spPr>
          <a:xfrm>
            <a:off x="533400" y="1028700"/>
            <a:ext cx="2695575" cy="1514475"/>
          </a:xfrm>
          <a:prstGeom prst="rect">
            <a:avLst/>
          </a:prstGeom>
        </p:spPr>
      </p:pic>
      <p:sp>
        <p:nvSpPr>
          <p:cNvPr id="8" name="TextBox 7"/>
          <p:cNvSpPr txBox="1"/>
          <p:nvPr/>
        </p:nvSpPr>
        <p:spPr>
          <a:xfrm>
            <a:off x="533400" y="2657475"/>
            <a:ext cx="419100" cy="285750"/>
          </a:xfrm>
          <a:prstGeom prst="rect">
            <a:avLst/>
          </a:prstGeom>
          <a:noFill/>
        </p:spPr>
        <p:txBody>
          <a:bodyPr wrap="none" anchor="t" lIns="0" rIns="0" tIns="0" bIns="0">
            <a:spAutoFit/>
          </a:bodyPr>
          <a:lstStyle/>
          <a:p>
            <a:pPr algn="l">
              <a:lnSpc>
                <a:spcPct val="100000"/>
              </a:lnSpc>
            </a:pPr>
            <a:r>
              <a:rPr sz="2000" b="0">
                <a:solidFill>
                  <a:srgbClr val="E63312"/>
                </a:solidFill>
                <a:latin typeface="Pretendard ExtraBold"/>
                <a:ea typeface="Pretendard ExtraBold"/>
                <a:cs typeface="Pretendard ExtraBold"/>
              </a:rPr>
              <a:t>01</a:t>
            </a:r>
          </a:p>
        </p:txBody>
      </p:sp>
      <p:sp>
        <p:nvSpPr>
          <p:cNvPr id="9" name="TextBox 8"/>
          <p:cNvSpPr txBox="1"/>
          <p:nvPr/>
        </p:nvSpPr>
        <p:spPr>
          <a:xfrm>
            <a:off x="952500" y="2686050"/>
            <a:ext cx="2276475" cy="228600"/>
          </a:xfrm>
          <a:prstGeom prst="rect">
            <a:avLst/>
          </a:prstGeom>
          <a:noFill/>
        </p:spPr>
        <p:txBody>
          <a:bodyPr wrap="square" anchor="t" lIns="0" rIns="0" tIns="0" bIns="0">
            <a:spAutoFit/>
          </a:bodyPr>
          <a:lstStyle/>
          <a:p>
            <a:pPr algn="l">
              <a:lnSpc>
                <a:spcPct val="100000"/>
              </a:lnSpc>
            </a:pPr>
            <a:r>
              <a:rPr sz="1150" b="1">
                <a:solidFill>
                  <a:srgbClr val="1C1B1B"/>
                </a:solidFill>
                <a:latin typeface="Pretendard"/>
                <a:ea typeface="Pretendard"/>
                <a:cs typeface="Pretendard"/>
              </a:rPr>
              <a:t>경보 거리는 기하 문제다</a:t>
            </a:r>
          </a:p>
        </p:txBody>
      </p:sp>
      <p:sp>
        <p:nvSpPr>
          <p:cNvPr id="10" name="TextBox 9"/>
          <p:cNvSpPr txBox="1"/>
          <p:nvPr/>
        </p:nvSpPr>
        <p:spPr>
          <a:xfrm>
            <a:off x="533400" y="3000375"/>
            <a:ext cx="2695575" cy="857250"/>
          </a:xfrm>
          <a:prstGeom prst="rect">
            <a:avLst/>
          </a:prstGeom>
          <a:noFill/>
        </p:spPr>
        <p:txBody>
          <a:bodyPr wrap="square" anchor="t" lIns="0" rIns="0" tIns="0" bIns="0">
            <a:spAutoFit/>
          </a:bodyPr>
          <a:lstStyle/>
          <a:p>
            <a:pPr algn="l">
              <a:lnSpc>
                <a:spcPct val="145000"/>
              </a:lnSpc>
            </a:pPr>
            <a:r>
              <a:rPr sz="950" b="0">
                <a:solidFill>
                  <a:srgbClr val="4D4D4D"/>
                </a:solidFill>
                <a:latin typeface="Pretendard"/>
                <a:ea typeface="Pretendard"/>
                <a:cs typeface="Pretendard"/>
              </a:rPr>
              <a:t>모델이 요구하는 최소 80 px 과 ROI 해상도 91 px 이 경보 거리를 정한다. 알고리즘이 아니라 해상도를 올리는 것이 먼저다.</a:t>
            </a:r>
          </a:p>
        </p:txBody>
      </p:sp>
      <p:pic>
        <p:nvPicPr>
          <p:cNvPr id="11" name="v_limit60_cam.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3343275" y="1028700"/>
            <a:ext cx="2695575" cy="1514475"/>
          </a:xfrm>
          <a:prstGeom prst="rect">
            <a:avLst/>
          </a:prstGeom>
        </p:spPr>
      </p:pic>
      <p:sp>
        <p:nvSpPr>
          <p:cNvPr id="12" name="TextBox 11"/>
          <p:cNvSpPr txBox="1"/>
          <p:nvPr/>
        </p:nvSpPr>
        <p:spPr>
          <a:xfrm>
            <a:off x="3343275" y="2657475"/>
            <a:ext cx="419100" cy="285750"/>
          </a:xfrm>
          <a:prstGeom prst="rect">
            <a:avLst/>
          </a:prstGeom>
          <a:noFill/>
        </p:spPr>
        <p:txBody>
          <a:bodyPr wrap="none" anchor="t" lIns="0" rIns="0" tIns="0" bIns="0">
            <a:spAutoFit/>
          </a:bodyPr>
          <a:lstStyle/>
          <a:p>
            <a:pPr algn="l">
              <a:lnSpc>
                <a:spcPct val="100000"/>
              </a:lnSpc>
            </a:pPr>
            <a:r>
              <a:rPr sz="2000" b="0">
                <a:solidFill>
                  <a:srgbClr val="E63312"/>
                </a:solidFill>
                <a:latin typeface="Pretendard ExtraBold"/>
                <a:ea typeface="Pretendard ExtraBold"/>
                <a:cs typeface="Pretendard ExtraBold"/>
              </a:rPr>
              <a:t>02</a:t>
            </a:r>
          </a:p>
        </p:txBody>
      </p:sp>
      <p:sp>
        <p:nvSpPr>
          <p:cNvPr id="13" name="TextBox 12"/>
          <p:cNvSpPr txBox="1"/>
          <p:nvPr/>
        </p:nvSpPr>
        <p:spPr>
          <a:xfrm>
            <a:off x="3762375" y="2686050"/>
            <a:ext cx="2276475" cy="228600"/>
          </a:xfrm>
          <a:prstGeom prst="rect">
            <a:avLst/>
          </a:prstGeom>
          <a:noFill/>
        </p:spPr>
        <p:txBody>
          <a:bodyPr wrap="square" anchor="t" lIns="0" rIns="0" tIns="0" bIns="0">
            <a:spAutoFit/>
          </a:bodyPr>
          <a:lstStyle/>
          <a:p>
            <a:pPr algn="l">
              <a:lnSpc>
                <a:spcPct val="100000"/>
              </a:lnSpc>
            </a:pPr>
            <a:r>
              <a:rPr sz="1150" b="1">
                <a:solidFill>
                  <a:srgbClr val="1C1B1B"/>
                </a:solidFill>
                <a:latin typeface="Pretendard"/>
                <a:ea typeface="Pretendard"/>
                <a:cs typeface="Pretendard"/>
              </a:rPr>
              <a:t>2차는 예방이 아니다</a:t>
            </a:r>
          </a:p>
        </p:txBody>
      </p:sp>
      <p:sp>
        <p:nvSpPr>
          <p:cNvPr id="14" name="TextBox 13"/>
          <p:cNvSpPr txBox="1"/>
          <p:nvPr/>
        </p:nvSpPr>
        <p:spPr>
          <a:xfrm>
            <a:off x="3343275" y="3000375"/>
            <a:ext cx="2695575" cy="857250"/>
          </a:xfrm>
          <a:prstGeom prst="rect">
            <a:avLst/>
          </a:prstGeom>
          <a:noFill/>
        </p:spPr>
        <p:txBody>
          <a:bodyPr wrap="square" anchor="t" lIns="0" rIns="0" tIns="0" bIns="0">
            <a:spAutoFit/>
          </a:bodyPr>
          <a:lstStyle/>
          <a:p>
            <a:pPr algn="l">
              <a:lnSpc>
                <a:spcPct val="145000"/>
              </a:lnSpc>
            </a:pPr>
            <a:r>
              <a:rPr sz="950" b="0">
                <a:solidFill>
                  <a:srgbClr val="4D4D4D"/>
                </a:solidFill>
                <a:latin typeface="Pretendard"/>
                <a:ea typeface="Pretendard"/>
                <a:cs typeface="Pretendard"/>
              </a:rPr>
              <a:t>60 km/h. 1차가 경고했지만 제동이 늦어 진입했고, 2차가 0.26 s 만에 개입했는데도 39.2 km/h 로 앞차와 충돌했다.</a:t>
            </a:r>
          </a:p>
        </p:txBody>
      </p:sp>
      <p:pic>
        <p:nvPicPr>
          <p:cNvPr id="15" name="Picture 14" descr="image.jpg"/>
          <p:cNvPicPr>
            <a:picLocks noChangeAspect="1"/>
          </p:cNvPicPr>
          <p:nvPr/>
        </p:nvPicPr>
        <p:blipFill>
          <a:blip r:embed="rId6"/>
          <a:stretch>
            <a:fillRect/>
          </a:stretch>
        </p:blipFill>
        <p:spPr>
          <a:xfrm>
            <a:off x="6153150" y="1028700"/>
            <a:ext cx="2695575" cy="1514475"/>
          </a:xfrm>
          <a:prstGeom prst="rect">
            <a:avLst/>
          </a:prstGeom>
        </p:spPr>
      </p:pic>
      <p:sp>
        <p:nvSpPr>
          <p:cNvPr id="16" name="TextBox 15"/>
          <p:cNvSpPr txBox="1"/>
          <p:nvPr/>
        </p:nvSpPr>
        <p:spPr>
          <a:xfrm>
            <a:off x="6153150" y="2657475"/>
            <a:ext cx="419100" cy="285750"/>
          </a:xfrm>
          <a:prstGeom prst="rect">
            <a:avLst/>
          </a:prstGeom>
          <a:noFill/>
        </p:spPr>
        <p:txBody>
          <a:bodyPr wrap="none" anchor="t" lIns="0" rIns="0" tIns="0" bIns="0">
            <a:spAutoFit/>
          </a:bodyPr>
          <a:lstStyle/>
          <a:p>
            <a:pPr algn="l">
              <a:lnSpc>
                <a:spcPct val="100000"/>
              </a:lnSpc>
            </a:pPr>
            <a:r>
              <a:rPr sz="2000" b="0">
                <a:solidFill>
                  <a:srgbClr val="E63312"/>
                </a:solidFill>
                <a:latin typeface="Pretendard ExtraBold"/>
                <a:ea typeface="Pretendard ExtraBold"/>
                <a:cs typeface="Pretendard ExtraBold"/>
              </a:rPr>
              <a:t>03</a:t>
            </a:r>
          </a:p>
        </p:txBody>
      </p:sp>
      <p:sp>
        <p:nvSpPr>
          <p:cNvPr id="17" name="TextBox 16"/>
          <p:cNvSpPr txBox="1"/>
          <p:nvPr/>
        </p:nvSpPr>
        <p:spPr>
          <a:xfrm>
            <a:off x="6572250" y="2686050"/>
            <a:ext cx="2276475" cy="228600"/>
          </a:xfrm>
          <a:prstGeom prst="rect">
            <a:avLst/>
          </a:prstGeom>
          <a:noFill/>
        </p:spPr>
        <p:txBody>
          <a:bodyPr wrap="square" anchor="t" lIns="0" rIns="0" tIns="0" bIns="0">
            <a:spAutoFit/>
          </a:bodyPr>
          <a:lstStyle/>
          <a:p>
            <a:pPr algn="l">
              <a:lnSpc>
                <a:spcPct val="100000"/>
              </a:lnSpc>
            </a:pPr>
            <a:r>
              <a:rPr sz="1150" b="1">
                <a:solidFill>
                  <a:srgbClr val="1C1B1B"/>
                </a:solidFill>
                <a:latin typeface="Pretendard"/>
                <a:ea typeface="Pretendard"/>
                <a:cs typeface="Pretendard"/>
              </a:rPr>
              <a:t>오경보도 난다</a:t>
            </a:r>
          </a:p>
        </p:txBody>
      </p:sp>
      <p:sp>
        <p:nvSpPr>
          <p:cNvPr id="18" name="TextBox 17"/>
          <p:cNvSpPr txBox="1"/>
          <p:nvPr/>
        </p:nvSpPr>
        <p:spPr>
          <a:xfrm>
            <a:off x="6153150" y="3000375"/>
            <a:ext cx="2695575" cy="857250"/>
          </a:xfrm>
          <a:prstGeom prst="rect">
            <a:avLst/>
          </a:prstGeom>
          <a:noFill/>
        </p:spPr>
        <p:txBody>
          <a:bodyPr wrap="square" anchor="t" lIns="0" rIns="0" tIns="0" bIns="0">
            <a:spAutoFit/>
          </a:bodyPr>
          <a:lstStyle/>
          <a:p>
            <a:pPr algn="l">
              <a:lnSpc>
                <a:spcPct val="145000"/>
              </a:lnSpc>
            </a:pPr>
            <a:r>
              <a:rPr sz="950" b="0">
                <a:solidFill>
                  <a:srgbClr val="4D4D4D"/>
                </a:solidFill>
                <a:latin typeface="Pretendard"/>
                <a:ea typeface="Pretendard"/>
                <a:cs typeface="Pretendard"/>
              </a:rPr>
              <a:t>밤. 빙판이 41 m 밖(ROI 7.9~42.2 m 바깥)에 있는데 어두운 노면을 얼음으로 보아 위험도 0.52 로 경보가 났다.</a:t>
            </a:r>
          </a:p>
        </p:txBody>
      </p:sp>
      <p:pic>
        <p:nvPicPr>
          <p:cNvPr id="19" name="Picture 18" descr="image.jpg"/>
          <p:cNvPicPr>
            <a:picLocks noChangeAspect="1"/>
          </p:cNvPicPr>
          <p:nvPr/>
        </p:nvPicPr>
        <p:blipFill>
          <a:blip r:embed="rId7"/>
          <a:stretch>
            <a:fillRect/>
          </a:stretch>
        </p:blipFill>
        <p:spPr>
          <a:xfrm>
            <a:off x="8963025" y="1028700"/>
            <a:ext cx="2695575" cy="1514475"/>
          </a:xfrm>
          <a:prstGeom prst="rect">
            <a:avLst/>
          </a:prstGeom>
        </p:spPr>
      </p:pic>
      <p:sp>
        <p:nvSpPr>
          <p:cNvPr id="20" name="TextBox 19"/>
          <p:cNvSpPr txBox="1"/>
          <p:nvPr/>
        </p:nvSpPr>
        <p:spPr>
          <a:xfrm>
            <a:off x="8963025" y="2657475"/>
            <a:ext cx="419100" cy="285750"/>
          </a:xfrm>
          <a:prstGeom prst="rect">
            <a:avLst/>
          </a:prstGeom>
          <a:noFill/>
        </p:spPr>
        <p:txBody>
          <a:bodyPr wrap="none" anchor="t" lIns="0" rIns="0" tIns="0" bIns="0">
            <a:spAutoFit/>
          </a:bodyPr>
          <a:lstStyle/>
          <a:p>
            <a:pPr algn="l">
              <a:lnSpc>
                <a:spcPct val="100000"/>
              </a:lnSpc>
            </a:pPr>
            <a:r>
              <a:rPr sz="2000" b="0">
                <a:solidFill>
                  <a:srgbClr val="E63312"/>
                </a:solidFill>
                <a:latin typeface="Pretendard ExtraBold"/>
                <a:ea typeface="Pretendard ExtraBold"/>
                <a:cs typeface="Pretendard ExtraBold"/>
              </a:rPr>
              <a:t>04</a:t>
            </a:r>
          </a:p>
        </p:txBody>
      </p:sp>
      <p:sp>
        <p:nvSpPr>
          <p:cNvPr id="21" name="TextBox 20"/>
          <p:cNvSpPr txBox="1"/>
          <p:nvPr/>
        </p:nvSpPr>
        <p:spPr>
          <a:xfrm>
            <a:off x="9382125" y="2686050"/>
            <a:ext cx="2276475" cy="228600"/>
          </a:xfrm>
          <a:prstGeom prst="rect">
            <a:avLst/>
          </a:prstGeom>
          <a:noFill/>
        </p:spPr>
        <p:txBody>
          <a:bodyPr wrap="square" anchor="t" lIns="0" rIns="0" tIns="0" bIns="0">
            <a:spAutoFit/>
          </a:bodyPr>
          <a:lstStyle/>
          <a:p>
            <a:pPr algn="l">
              <a:lnSpc>
                <a:spcPct val="100000"/>
              </a:lnSpc>
            </a:pPr>
            <a:r>
              <a:rPr sz="1150" b="1">
                <a:solidFill>
                  <a:srgbClr val="1C1B1B"/>
                </a:solidFill>
                <a:latin typeface="Pretendard"/>
                <a:ea typeface="Pretendard"/>
                <a:cs typeface="Pretendard"/>
              </a:rPr>
              <a:t>질감 도메인 갭</a:t>
            </a:r>
          </a:p>
        </p:txBody>
      </p:sp>
      <p:sp>
        <p:nvSpPr>
          <p:cNvPr id="22" name="TextBox 21"/>
          <p:cNvSpPr txBox="1"/>
          <p:nvPr/>
        </p:nvSpPr>
        <p:spPr>
          <a:xfrm>
            <a:off x="8963025" y="3000375"/>
            <a:ext cx="2695575" cy="857250"/>
          </a:xfrm>
          <a:prstGeom prst="rect">
            <a:avLst/>
          </a:prstGeom>
          <a:noFill/>
        </p:spPr>
        <p:txBody>
          <a:bodyPr wrap="square" anchor="t" lIns="0" rIns="0" tIns="0" bIns="0">
            <a:spAutoFit/>
          </a:bodyPr>
          <a:lstStyle/>
          <a:p>
            <a:pPr algn="l">
              <a:lnSpc>
                <a:spcPct val="145000"/>
              </a:lnSpc>
            </a:pPr>
            <a:r>
              <a:rPr sz="950" b="0">
                <a:solidFill>
                  <a:srgbClr val="4D4D4D"/>
                </a:solidFill>
                <a:latin typeface="Pretendard"/>
                <a:ea typeface="Pretendard"/>
                <a:cs typeface="Pretendard"/>
              </a:rPr>
              <a:t>RSCD 실사진 질감을 CARLA 노면에 입히면, 같은 모델이 그 얼음에 반응하지 않는다. 재수집·재학습이 다음 과제다.</a:t>
            </a:r>
          </a:p>
        </p:txBody>
      </p:sp>
      <p:sp>
        <p:nvSpPr>
          <p:cNvPr id="23" name="Rectangle 22"/>
          <p:cNvSpPr/>
          <p:nvPr/>
        </p:nvSpPr>
        <p:spPr>
          <a:xfrm>
            <a:off x="3343275" y="2333625"/>
            <a:ext cx="1257300" cy="209550"/>
          </a:xfrm>
          <a:prstGeom prst="rect">
            <a:avLst/>
          </a:prstGeom>
          <a:solidFill>
            <a:srgbClr val="002C5F">
              <a:alpha val="85000"/>
            </a:srgbClr>
          </a:solidFill>
          <a:ln>
            <a:noFill/>
          </a:ln>
          <a:effectLst/>
        </p:spPr>
        <p:txBody>
          <a:bodyPr rtlCol="0" anchor="ctr"/>
          <a:lstStyle/>
          <a:p/>
        </p:txBody>
      </p:sp>
      <p:sp>
        <p:nvSpPr>
          <p:cNvPr id="24" name="TextBox 23"/>
          <p:cNvSpPr txBox="1"/>
          <p:nvPr/>
        </p:nvSpPr>
        <p:spPr>
          <a:xfrm>
            <a:off x="3419475" y="2333625"/>
            <a:ext cx="1181100" cy="209550"/>
          </a:xfrm>
          <a:prstGeom prst="rect">
            <a:avLst/>
          </a:prstGeom>
          <a:noFill/>
        </p:spPr>
        <p:txBody>
          <a:bodyPr wrap="square" anchor="ctr" lIns="0" rIns="0" tIns="0" bIns="0">
            <a:spAutoFit/>
          </a:bodyPr>
          <a:lstStyle/>
          <a:p>
            <a:pPr algn="l">
              <a:lnSpc>
                <a:spcPct val="140000"/>
              </a:lnSpc>
            </a:pPr>
            <a:r>
              <a:rPr sz="800" b="0">
                <a:solidFill>
                  <a:srgbClr val="FFFFFF"/>
                </a:solidFill>
                <a:latin typeface="Pretendard"/>
                <a:ea typeface="Pretendard"/>
                <a:cs typeface="Pretendard"/>
              </a:rPr>
              <a:t>▶ 발표 모드에서 자동 재생</a:t>
            </a:r>
          </a:p>
        </p:txBody>
      </p:sp>
      <p:sp>
        <p:nvSpPr>
          <p:cNvPr id="25" name="Rectangle 24"/>
          <p:cNvSpPr/>
          <p:nvPr/>
        </p:nvSpPr>
        <p:spPr>
          <a:xfrm>
            <a:off x="533400" y="4067175"/>
            <a:ext cx="11125200" cy="1219200"/>
          </a:xfrm>
          <a:prstGeom prst="rect">
            <a:avLst/>
          </a:prstGeom>
          <a:solidFill>
            <a:srgbClr val="F6F3F2"/>
          </a:solidFill>
          <a:ln>
            <a:noFill/>
          </a:ln>
          <a:effectLst/>
        </p:spPr>
        <p:txBody>
          <a:bodyPr rtlCol="0" anchor="ctr"/>
          <a:lstStyle/>
          <a:p/>
        </p:txBody>
      </p:sp>
      <p:sp>
        <p:nvSpPr>
          <p:cNvPr id="26" name="TextBox 25"/>
          <p:cNvSpPr txBox="1"/>
          <p:nvPr/>
        </p:nvSpPr>
        <p:spPr>
          <a:xfrm>
            <a:off x="685800" y="4219575"/>
            <a:ext cx="10820400" cy="208121"/>
          </a:xfrm>
          <a:prstGeom prst="rect">
            <a:avLst/>
          </a:prstGeom>
          <a:noFill/>
        </p:spPr>
        <p:txBody>
          <a:bodyPr wrap="square" anchor="t" lIns="0" rIns="0" tIns="0" bIns="0">
            <a:spAutoFit/>
          </a:bodyPr>
          <a:lstStyle/>
          <a:p>
            <a:pPr algn="l">
              <a:lnSpc>
                <a:spcPct val="100000"/>
              </a:lnSpc>
            </a:pPr>
            <a:r>
              <a:rPr sz="1150" b="1">
                <a:solidFill>
                  <a:srgbClr val="002C5F"/>
                </a:solidFill>
                <a:latin typeface="Pretendard"/>
                <a:ea typeface="Pretendard"/>
                <a:cs typeface="Pretendard"/>
              </a:rPr>
              <a:t>그 밖에 남은 것</a:t>
            </a:r>
          </a:p>
        </p:txBody>
      </p:sp>
      <p:sp>
        <p:nvSpPr>
          <p:cNvPr id="27" name="TextBox 26"/>
          <p:cNvSpPr txBox="1"/>
          <p:nvPr/>
        </p:nvSpPr>
        <p:spPr>
          <a:xfrm>
            <a:off x="685800" y="4465796"/>
            <a:ext cx="10820400" cy="668179"/>
          </a:xfrm>
          <a:prstGeom prst="rect">
            <a:avLst/>
          </a:prstGeom>
          <a:noFill/>
        </p:spPr>
        <p:txBody>
          <a:bodyPr wrap="square" anchor="t" lIns="0" rIns="0" tIns="0" bIns="0">
            <a:spAutoFit/>
          </a:bodyPr>
          <a:lstStyle/>
          <a:p>
            <a:pPr algn="l">
              <a:lnSpc>
                <a:spcPct val="145000"/>
              </a:lnSpc>
              <a:spcAft>
                <a:spcPts val="500"/>
              </a:spcAft>
            </a:pPr>
            <a:r>
              <a:rPr sz="950" b="0">
                <a:solidFill>
                  <a:srgbClr val="4D4D4D"/>
                </a:solidFill>
                <a:latin typeface="Pretendard"/>
                <a:ea typeface="Pretendard"/>
                <a:cs typeface="Pretendard"/>
              </a:rPr>
              <a:t>· Hailo-10H 교차 검증은 Dataflow Compiler 미확보로 열지 못했다. 1차는 STM32N6 Neural-ART 단독 결과다.　· D435i 실측 IMU 노이즈는 PVS 공개 데이터로 대체했다. 실물 연결 측정은 남은 과제다.</a:t>
            </a:r>
          </a:p>
          <a:p>
            <a:pPr algn="l">
              <a:lnSpc>
                <a:spcPct val="145000"/>
              </a:lnSpc>
              <a:spcAft>
                <a:spcPts val="500"/>
              </a:spcAft>
            </a:pPr>
            <a:r>
              <a:rPr sz="950" b="0">
                <a:solidFill>
                  <a:srgbClr val="4D4D4D"/>
                </a:solidFill>
                <a:latin typeface="Pretendard"/>
                <a:ea typeface="Pretendard"/>
                <a:cs typeface="Pretendard"/>
              </a:rPr>
              <a:t>· 기준선은 제어 상실 후 운전자 입력을 모형화하지 않는다. '아무 보조도 없을 때의 물리적 귀결'로 읽어야 한다.　· 젖은 노면 경보율 0.8 %는 더 낮출 여지가 있다. β(반사도 가중치)와 문턱의 재조정이 필요하다.</a:t>
            </a:r>
          </a:p>
        </p:txBody>
      </p:sp>
      <p:sp>
        <p:nvSpPr>
          <p:cNvPr id="28" name="TextBox 27"/>
          <p:cNvSpPr txBox="1"/>
          <p:nvPr/>
        </p:nvSpPr>
        <p:spPr>
          <a:xfrm>
            <a:off x="533400" y="5553075"/>
            <a:ext cx="3429000" cy="308610"/>
          </a:xfrm>
          <a:prstGeom prst="rect">
            <a:avLst/>
          </a:prstGeom>
          <a:noFill/>
        </p:spPr>
        <p:txBody>
          <a:bodyPr wrap="square" anchor="t" lIns="0" rIns="0" tIns="0" bIns="0">
            <a:spAutoFit/>
          </a:bodyPr>
          <a:lstStyle/>
          <a:p>
            <a:pPr algn="l">
              <a:lnSpc>
                <a:spcPct val="100000"/>
              </a:lnSpc>
            </a:pPr>
            <a:r>
              <a:rPr sz="2400" b="0">
                <a:solidFill>
                  <a:srgbClr val="E63312"/>
                </a:solidFill>
                <a:latin typeface="Pretendard ExtraBold"/>
                <a:ea typeface="Pretendard ExtraBold"/>
                <a:cs typeface="Pretendard ExtraBold"/>
              </a:rPr>
              <a:t>215 / 6,340</a:t>
            </a:r>
          </a:p>
        </p:txBody>
      </p:sp>
      <p:sp>
        <p:nvSpPr>
          <p:cNvPr id="29" name="TextBox 28"/>
          <p:cNvSpPr txBox="1"/>
          <p:nvPr/>
        </p:nvSpPr>
        <p:spPr>
          <a:xfrm>
            <a:off x="533400" y="5880735"/>
            <a:ext cx="3429000" cy="339090"/>
          </a:xfrm>
          <a:prstGeom prst="rect">
            <a:avLst/>
          </a:prstGeom>
          <a:noFill/>
        </p:spPr>
        <p:txBody>
          <a:bodyPr wrap="square" anchor="t" lIns="0" rIns="0" tIns="0" bIns="0">
            <a:spAutoFit/>
          </a:bodyPr>
          <a:lstStyle/>
          <a:p>
            <a:pPr algn="l">
              <a:lnSpc>
                <a:spcPct val="130000"/>
              </a:lnSpc>
            </a:pPr>
            <a:r>
              <a:rPr sz="950" b="0">
                <a:solidFill>
                  <a:srgbClr val="767676"/>
                </a:solidFill>
                <a:latin typeface="Pretendard"/>
                <a:ea typeface="Pretendard"/>
                <a:cs typeface="Pretendard"/>
              </a:rPr>
              <a:t>실사진 얼음을 문턱 아래로 놓침 (3.4 %)</a:t>
            </a:r>
          </a:p>
        </p:txBody>
      </p:sp>
      <p:sp>
        <p:nvSpPr>
          <p:cNvPr id="30" name="TextBox 29"/>
          <p:cNvSpPr txBox="1"/>
          <p:nvPr/>
        </p:nvSpPr>
        <p:spPr>
          <a:xfrm>
            <a:off x="4248150" y="5553075"/>
            <a:ext cx="3429000" cy="308610"/>
          </a:xfrm>
          <a:prstGeom prst="rect">
            <a:avLst/>
          </a:prstGeom>
          <a:noFill/>
        </p:spPr>
        <p:txBody>
          <a:bodyPr wrap="square" anchor="t" lIns="0" rIns="0" tIns="0" bIns="0">
            <a:spAutoFit/>
          </a:bodyPr>
          <a:lstStyle/>
          <a:p>
            <a:pPr algn="l">
              <a:lnSpc>
                <a:spcPct val="100000"/>
              </a:lnSpc>
            </a:pPr>
            <a:r>
              <a:rPr sz="2400" b="0">
                <a:solidFill>
                  <a:srgbClr val="E63312"/>
                </a:solidFill>
                <a:latin typeface="Pretendard ExtraBold"/>
                <a:ea typeface="Pretendard ExtraBold"/>
                <a:cs typeface="Pretendard ExtraBold"/>
              </a:rPr>
              <a:t>368 / 63,018</a:t>
            </a:r>
          </a:p>
        </p:txBody>
      </p:sp>
      <p:sp>
        <p:nvSpPr>
          <p:cNvPr id="31" name="TextBox 30"/>
          <p:cNvSpPr txBox="1"/>
          <p:nvPr/>
        </p:nvSpPr>
        <p:spPr>
          <a:xfrm>
            <a:off x="4248150" y="5880735"/>
            <a:ext cx="3429000" cy="339090"/>
          </a:xfrm>
          <a:prstGeom prst="rect">
            <a:avLst/>
          </a:prstGeom>
          <a:noFill/>
        </p:spPr>
        <p:txBody>
          <a:bodyPr wrap="square" anchor="t" lIns="0" rIns="0" tIns="0" bIns="0">
            <a:spAutoFit/>
          </a:bodyPr>
          <a:lstStyle/>
          <a:p>
            <a:pPr algn="l">
              <a:lnSpc>
                <a:spcPct val="130000"/>
              </a:lnSpc>
            </a:pPr>
            <a:r>
              <a:rPr sz="950" b="0">
                <a:solidFill>
                  <a:srgbClr val="767676"/>
                </a:solidFill>
                <a:latin typeface="Pretendard"/>
                <a:ea typeface="Pretendard"/>
                <a:cs typeface="Pretendard"/>
              </a:rPr>
              <a:t>얼음 아닌 노면에 경보 (0.6 %)</a:t>
            </a:r>
          </a:p>
        </p:txBody>
      </p:sp>
      <p:sp>
        <p:nvSpPr>
          <p:cNvPr id="32" name="TextBox 31"/>
          <p:cNvSpPr txBox="1"/>
          <p:nvPr/>
        </p:nvSpPr>
        <p:spPr>
          <a:xfrm>
            <a:off x="7962900" y="5553075"/>
            <a:ext cx="3429000" cy="308610"/>
          </a:xfrm>
          <a:prstGeom prst="rect">
            <a:avLst/>
          </a:prstGeom>
          <a:noFill/>
        </p:spPr>
        <p:txBody>
          <a:bodyPr wrap="square" anchor="t" lIns="0" rIns="0" tIns="0" bIns="0">
            <a:spAutoFit/>
          </a:bodyPr>
          <a:lstStyle/>
          <a:p>
            <a:pPr algn="l">
              <a:lnSpc>
                <a:spcPct val="100000"/>
              </a:lnSpc>
            </a:pPr>
            <a:r>
              <a:rPr sz="2400" b="0">
                <a:solidFill>
                  <a:srgbClr val="002C5F"/>
                </a:solidFill>
                <a:latin typeface="Pretendard ExtraBold"/>
                <a:ea typeface="Pretendard ExtraBold"/>
                <a:cs typeface="Pretendard ExtraBold"/>
              </a:rPr>
              <a:t>7.9 ~ 42.2 m</a:t>
            </a:r>
          </a:p>
        </p:txBody>
      </p:sp>
      <p:sp>
        <p:nvSpPr>
          <p:cNvPr id="33" name="TextBox 32"/>
          <p:cNvSpPr txBox="1"/>
          <p:nvPr/>
        </p:nvSpPr>
        <p:spPr>
          <a:xfrm>
            <a:off x="7962900" y="5880735"/>
            <a:ext cx="3429000" cy="339090"/>
          </a:xfrm>
          <a:prstGeom prst="rect">
            <a:avLst/>
          </a:prstGeom>
          <a:noFill/>
        </p:spPr>
        <p:txBody>
          <a:bodyPr wrap="square" anchor="t" lIns="0" rIns="0" tIns="0" bIns="0">
            <a:spAutoFit/>
          </a:bodyPr>
          <a:lstStyle/>
          <a:p>
            <a:pPr algn="l">
              <a:lnSpc>
                <a:spcPct val="130000"/>
              </a:lnSpc>
            </a:pPr>
            <a:r>
              <a:rPr sz="950" b="0">
                <a:solidFill>
                  <a:srgbClr val="767676"/>
                </a:solidFill>
                <a:latin typeface="Pretendard"/>
                <a:ea typeface="Pretendard"/>
                <a:cs typeface="Pretendard"/>
              </a:rPr>
              <a:t>카메라 ROI — 이 밖은 보지 못한다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endCondLst>
                    <p:cond evt="onStopAudio" delay="0">
                      <p:tn val="2"/>
                    </p:cond>
                  </p:endCondLst>
                </p:cTn>
                <p:tgtEl>
                  <p:spTgt spid="11"/>
                </p:tgtEl>
              </p:cMediaNode>
            </p:video>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3400" y="323850"/>
            <a:ext cx="5715000" cy="162878"/>
          </a:xfrm>
          <a:prstGeom prst="rect">
            <a:avLst/>
          </a:prstGeom>
          <a:noFill/>
        </p:spPr>
        <p:txBody>
          <a:bodyPr wrap="square" anchor="t" lIns="0" rIns="0" tIns="0" bIns="0">
            <a:spAutoFit/>
          </a:bodyPr>
          <a:lstStyle/>
          <a:p>
            <a:pPr algn="l">
              <a:lnSpc>
                <a:spcPct val="100000"/>
              </a:lnSpc>
            </a:pPr>
            <a:r>
              <a:rPr sz="950" b="1" spc="80">
                <a:solidFill>
                  <a:srgbClr val="002C5F"/>
                </a:solidFill>
                <a:latin typeface="Pretendard"/>
                <a:ea typeface="Pretendard"/>
                <a:cs typeface="Pretendard"/>
              </a:rPr>
              <a:t>결론</a:t>
            </a:r>
          </a:p>
        </p:txBody>
      </p:sp>
      <p:sp>
        <p:nvSpPr>
          <p:cNvPr id="3" name="TextBox 2"/>
          <p:cNvSpPr txBox="1"/>
          <p:nvPr/>
        </p:nvSpPr>
        <p:spPr>
          <a:xfrm>
            <a:off x="9753600" y="314325"/>
            <a:ext cx="1905000" cy="152400"/>
          </a:xfrm>
          <a:prstGeom prst="rect">
            <a:avLst/>
          </a:prstGeom>
          <a:noFill/>
        </p:spPr>
        <p:txBody>
          <a:bodyPr wrap="square" anchor="t" lIns="0" rIns="0" tIns="0" bIns="0">
            <a:spAutoFit/>
          </a:bodyPr>
          <a:lstStyle/>
          <a:p>
            <a:pPr algn="r">
              <a:lnSpc>
                <a:spcPct val="140000"/>
              </a:lnSpc>
            </a:pPr>
            <a:r>
              <a:rPr sz="900" b="0">
                <a:solidFill>
                  <a:srgbClr val="A6A6A6"/>
                </a:solidFill>
                <a:latin typeface="Pretendard"/>
                <a:ea typeface="Pretendard"/>
                <a:cs typeface="Pretendard"/>
              </a:rPr>
              <a:t>20 / 20</a:t>
            </a:r>
          </a:p>
        </p:txBody>
      </p:sp>
      <p:sp>
        <p:nvSpPr>
          <p:cNvPr id="4" name="TextBox 3"/>
          <p:cNvSpPr txBox="1"/>
          <p:nvPr/>
        </p:nvSpPr>
        <p:spPr>
          <a:xfrm>
            <a:off x="533400" y="495300"/>
            <a:ext cx="11125200" cy="381000"/>
          </a:xfrm>
          <a:prstGeom prst="rect">
            <a:avLst/>
          </a:prstGeom>
          <a:noFill/>
        </p:spPr>
        <p:txBody>
          <a:bodyPr wrap="square" anchor="t" lIns="0" rIns="0" tIns="0" bIns="0">
            <a:spAutoFit/>
          </a:bodyPr>
          <a:lstStyle/>
          <a:p>
            <a:pPr algn="l">
              <a:lnSpc>
                <a:spcPct val="100000"/>
              </a:lnSpc>
            </a:pPr>
            <a:r>
              <a:rPr sz="2400" b="0">
                <a:solidFill>
                  <a:srgbClr val="1C1B1B"/>
                </a:solidFill>
                <a:latin typeface="Pretendard ExtraBold"/>
                <a:ea typeface="Pretendard ExtraBold"/>
                <a:cs typeface="Pretendard ExtraBold"/>
              </a:rPr>
              <a:t>결론 · 재현성 · 향후 계획</a:t>
            </a:r>
          </a:p>
        </p:txBody>
      </p:sp>
      <p:sp>
        <p:nvSpPr>
          <p:cNvPr id="5" name="TextBox 4"/>
          <p:cNvSpPr txBox="1"/>
          <p:nvPr/>
        </p:nvSpPr>
        <p:spPr>
          <a:xfrm>
            <a:off x="533400" y="6286500"/>
            <a:ext cx="11125200" cy="304800"/>
          </a:xfrm>
          <a:prstGeom prst="rect">
            <a:avLst/>
          </a:prstGeom>
          <a:noFill/>
        </p:spPr>
        <p:txBody>
          <a:bodyPr wrap="square" anchor="t" lIns="0" rIns="0" tIns="0" bIns="0">
            <a:spAutoFit/>
          </a:bodyPr>
          <a:lstStyle/>
          <a:p>
            <a:pPr algn="l">
              <a:lnSpc>
                <a:spcPct val="130000"/>
              </a:lnSpc>
            </a:pPr>
            <a:r>
              <a:rPr sz="850" b="0">
                <a:solidFill>
                  <a:srgbClr val="767676"/>
                </a:solidFill>
                <a:latin typeface="Pretendard"/>
                <a:ea typeface="Pretendard"/>
                <a:cs typeface="Pretendard"/>
              </a:rPr>
              <a:t>팀 ARTS · 이지성 · 남윤상 · 김진찬 — 제24회 임베디드SW경진대회 자동차/모빌리티(현대자동차) 부문</a:t>
            </a:r>
          </a:p>
        </p:txBody>
      </p:sp>
      <p:sp>
        <p:nvSpPr>
          <p:cNvPr id="6" name="TextBox 5"/>
          <p:cNvSpPr txBox="1"/>
          <p:nvPr/>
        </p:nvSpPr>
        <p:spPr>
          <a:xfrm>
            <a:off x="533400" y="6648450"/>
            <a:ext cx="7620000" cy="133350"/>
          </a:xfrm>
          <a:prstGeom prst="rect">
            <a:avLst/>
          </a:prstGeom>
          <a:noFill/>
        </p:spPr>
        <p:txBody>
          <a:bodyPr wrap="square" anchor="t" lIns="0" rIns="0" tIns="0" bIns="0">
            <a:spAutoFit/>
          </a:bodyPr>
          <a:lstStyle/>
          <a:p>
            <a:pPr algn="l">
              <a:lnSpc>
                <a:spcPct val="140000"/>
              </a:lnSpc>
            </a:pPr>
            <a:r>
              <a:rPr sz="800" b="0">
                <a:solidFill>
                  <a:srgbClr val="A6A6A6"/>
                </a:solidFill>
                <a:latin typeface="Pretendard"/>
                <a:ea typeface="Pretendard"/>
                <a:cs typeface="Pretendard"/>
              </a:rPr>
              <a:t>팀 ARTS · 제24회 임베디드SW경진대회 자동차/모빌리티(현대자동차) · github.com/gkgk0119gmail-arch/2026ESWContest_mobility_ARTS</a:t>
            </a:r>
          </a:p>
        </p:txBody>
      </p:sp>
      <p:sp>
        <p:nvSpPr>
          <p:cNvPr id="7" name="TextBox 6"/>
          <p:cNvSpPr txBox="1"/>
          <p:nvPr/>
        </p:nvSpPr>
        <p:spPr>
          <a:xfrm>
            <a:off x="10134600" y="6638925"/>
            <a:ext cx="1524000" cy="133350"/>
          </a:xfrm>
          <a:prstGeom prst="rect">
            <a:avLst/>
          </a:prstGeom>
          <a:noFill/>
        </p:spPr>
        <p:txBody>
          <a:bodyPr wrap="square" anchor="t" lIns="0" rIns="0" tIns="0" bIns="0">
            <a:spAutoFit/>
          </a:bodyPr>
          <a:lstStyle/>
          <a:p>
            <a:pPr algn="r">
              <a:lnSpc>
                <a:spcPct val="140000"/>
              </a:lnSpc>
            </a:pPr>
            <a:r>
              <a:rPr sz="900" b="1">
                <a:solidFill>
                  <a:srgbClr val="002C5F"/>
                </a:solidFill>
                <a:latin typeface="Pretendard"/>
                <a:ea typeface="Pretendard"/>
                <a:cs typeface="Pretendard"/>
              </a:rPr>
              <a:t>IcePredict</a:t>
            </a:r>
          </a:p>
        </p:txBody>
      </p:sp>
      <p:sp>
        <p:nvSpPr>
          <p:cNvPr id="8" name="TextBox 7"/>
          <p:cNvSpPr txBox="1"/>
          <p:nvPr/>
        </p:nvSpPr>
        <p:spPr>
          <a:xfrm>
            <a:off x="533400" y="1028700"/>
            <a:ext cx="5334000" cy="208121"/>
          </a:xfrm>
          <a:prstGeom prst="rect">
            <a:avLst/>
          </a:prstGeom>
          <a:noFill/>
        </p:spPr>
        <p:txBody>
          <a:bodyPr wrap="square" anchor="t" lIns="0" rIns="0" tIns="0" bIns="0">
            <a:spAutoFit/>
          </a:bodyPr>
          <a:lstStyle/>
          <a:p>
            <a:pPr algn="l">
              <a:lnSpc>
                <a:spcPct val="100000"/>
              </a:lnSpc>
            </a:pPr>
            <a:r>
              <a:rPr sz="1150" b="1">
                <a:solidFill>
                  <a:srgbClr val="002C5F"/>
                </a:solidFill>
                <a:latin typeface="Pretendard"/>
                <a:ea typeface="Pretendard"/>
                <a:cs typeface="Pretendard"/>
              </a:rPr>
              <a:t>무엇을 만들었나</a:t>
            </a:r>
          </a:p>
        </p:txBody>
      </p:sp>
      <p:sp>
        <p:nvSpPr>
          <p:cNvPr id="9" name="TextBox 8"/>
          <p:cNvSpPr txBox="1"/>
          <p:nvPr/>
        </p:nvSpPr>
        <p:spPr>
          <a:xfrm>
            <a:off x="533400" y="1274921"/>
            <a:ext cx="5334000" cy="668179"/>
          </a:xfrm>
          <a:prstGeom prst="rect">
            <a:avLst/>
          </a:prstGeom>
          <a:noFill/>
        </p:spPr>
        <p:txBody>
          <a:bodyPr wrap="square" anchor="t" lIns="0" rIns="0" tIns="0" bIns="0">
            <a:spAutoFit/>
          </a:bodyPr>
          <a:lstStyle/>
          <a:p>
            <a:pPr algn="l">
              <a:lnSpc>
                <a:spcPct val="145000"/>
              </a:lnSpc>
              <a:spcAft>
                <a:spcPts val="400"/>
              </a:spcAft>
            </a:pPr>
            <a:r>
              <a:rPr sz="1000" b="0">
                <a:solidFill>
                  <a:srgbClr val="4D4D4D"/>
                </a:solidFill>
                <a:latin typeface="Pretendard"/>
                <a:ea typeface="Pretendard"/>
                <a:cs typeface="Pretendard"/>
              </a:rPr>
              <a:t>카메라 한 겹에 기대지 않는 이중 안전망을 만들었다. 1차는 빙판에 닿기 전에 세우고, 1차가 놓치면 2차가 노면 마찰을 직접 재서 제동 시점을 노면에 맞춘다(정지 2/9 → 8/9). 2차 판단은 메인 컴퓨터와 분리된 안전 전용 RTOS에서 돌아 리눅스가 멈춰도 계속된다.</a:t>
            </a:r>
          </a:p>
        </p:txBody>
      </p:sp>
      <p:sp>
        <p:nvSpPr>
          <p:cNvPr id="10" name="TextBox 9"/>
          <p:cNvSpPr txBox="1"/>
          <p:nvPr/>
        </p:nvSpPr>
        <p:spPr>
          <a:xfrm>
            <a:off x="533400" y="2076450"/>
            <a:ext cx="5334000" cy="162878"/>
          </a:xfrm>
          <a:prstGeom prst="rect">
            <a:avLst/>
          </a:prstGeom>
          <a:noFill/>
        </p:spPr>
        <p:txBody>
          <a:bodyPr wrap="square" anchor="t" lIns="0" rIns="0" tIns="0" bIns="0">
            <a:spAutoFit/>
          </a:bodyPr>
          <a:lstStyle/>
          <a:p>
            <a:pPr algn="l">
              <a:lnSpc>
                <a:spcPct val="100000"/>
              </a:lnSpc>
            </a:pPr>
            <a:r>
              <a:rPr sz="950" b="1" spc="80">
                <a:solidFill>
                  <a:srgbClr val="002C5F"/>
                </a:solidFill>
                <a:latin typeface="Pretendard"/>
                <a:ea typeface="Pretendard"/>
                <a:cs typeface="Pretendard"/>
              </a:rPr>
              <a:t>재현 — 모든 숫자는 실측에서 자동 생성된다</a:t>
            </a:r>
          </a:p>
        </p:txBody>
      </p:sp>
      <p:sp>
        <p:nvSpPr>
          <p:cNvPr id="11" name="Rectangle 10"/>
          <p:cNvSpPr/>
          <p:nvPr/>
        </p:nvSpPr>
        <p:spPr>
          <a:xfrm>
            <a:off x="533400" y="2305050"/>
            <a:ext cx="5334000" cy="876300"/>
          </a:xfrm>
          <a:prstGeom prst="rect">
            <a:avLst/>
          </a:prstGeom>
          <a:solidFill>
            <a:srgbClr val="002C5F"/>
          </a:solidFill>
          <a:ln>
            <a:noFill/>
          </a:ln>
          <a:effectLst/>
        </p:spPr>
        <p:txBody>
          <a:bodyPr rtlCol="0" anchor="ctr"/>
          <a:lstStyle/>
          <a:p/>
        </p:txBody>
      </p:sp>
      <p:sp>
        <p:nvSpPr>
          <p:cNvPr id="12" name="TextBox 11"/>
          <p:cNvSpPr txBox="1"/>
          <p:nvPr/>
        </p:nvSpPr>
        <p:spPr>
          <a:xfrm>
            <a:off x="704850" y="2419350"/>
            <a:ext cx="4991100" cy="666750"/>
          </a:xfrm>
          <a:prstGeom prst="rect">
            <a:avLst/>
          </a:prstGeom>
          <a:noFill/>
        </p:spPr>
        <p:txBody>
          <a:bodyPr wrap="square" anchor="t" lIns="0" rIns="0" tIns="0" bIns="0">
            <a:spAutoFit/>
          </a:bodyPr>
          <a:lstStyle/>
          <a:p>
            <a:pPr algn="l">
              <a:lnSpc>
                <a:spcPct val="150000"/>
              </a:lnSpc>
            </a:pPr>
            <a:r>
              <a:rPr sz="950" b="0">
                <a:solidFill>
                  <a:srgbClr val="FFFFFF"/>
                </a:solidFill>
                <a:latin typeface="Consolas"/>
                <a:ea typeface="Consolas"/>
                <a:cs typeface="Consolas"/>
              </a:rPr>
              <a:t>python3 sw/scripts/analysis/summarize_runs.py</a:t>
            </a:r>
            <a:r>
              <a:rPr sz="950" b="0">
                <a:solidFill>
                  <a:srgbClr val="FFFFFF"/>
                </a:solidFill>
                <a:latin typeface="Pretendard"/>
                <a:ea typeface="Pretendard"/>
                <a:cs typeface="Pretendard"/>
              </a:rPr>
              <a:t>   </a:t>
            </a:r>
            <a:r>
              <a:rPr sz="950" b="0">
                <a:solidFill>
                  <a:srgbClr val="AACAE6"/>
                </a:solidFill>
                <a:latin typeface="Pretendard"/>
                <a:ea typeface="Pretendard"/>
                <a:cs typeface="Pretendard"/>
              </a:rPr>
              <a:t># 집계표 재생성</a:t>
            </a:r>
          </a:p>
          <a:p>
            <a:pPr algn="l">
              <a:lnSpc>
                <a:spcPct val="150000"/>
              </a:lnSpc>
            </a:pPr>
            <a:r>
              <a:rPr sz="950" b="0">
                <a:solidFill>
                  <a:srgbClr val="FFFFFF"/>
                </a:solidFill>
                <a:latin typeface="Consolas"/>
                <a:ea typeface="Consolas"/>
                <a:cs typeface="Consolas"/>
              </a:rPr>
              <a:t>python3 -m pytest -q sw/tests</a:t>
            </a:r>
            <a:r>
              <a:rPr sz="950" b="0">
                <a:solidFill>
                  <a:srgbClr val="FFFFFF"/>
                </a:solidFill>
                <a:latin typeface="Pretendard"/>
                <a:ea typeface="Pretendard"/>
                <a:cs typeface="Pretendard"/>
              </a:rPr>
              <a:t>                     </a:t>
            </a:r>
            <a:r>
              <a:rPr sz="950" b="0">
                <a:solidFill>
                  <a:srgbClr val="AACAE6"/>
                </a:solidFill>
                <a:latin typeface="Pretendard"/>
                <a:ea typeface="Pretendard"/>
                <a:cs typeface="Pretendard"/>
              </a:rPr>
              <a:t># 단위 테스트 19개</a:t>
            </a:r>
          </a:p>
          <a:p>
            <a:pPr algn="l">
              <a:lnSpc>
                <a:spcPct val="150000"/>
              </a:lnSpc>
            </a:pPr>
            <a:r>
              <a:rPr sz="950" b="0">
                <a:solidFill>
                  <a:srgbClr val="FFFFFF"/>
                </a:solidFill>
                <a:latin typeface="Consolas"/>
                <a:ea typeface="Consolas"/>
                <a:cs typeface="Consolas"/>
              </a:rPr>
              <a:t>python3 sw/fw/npu_lib/test_slip_core.py</a:t>
            </a:r>
            <a:r>
              <a:rPr sz="950" b="0">
                <a:solidFill>
                  <a:srgbClr val="FFFFFF"/>
                </a:solidFill>
                <a:latin typeface="Pretendard"/>
                <a:ea typeface="Pretendard"/>
                <a:cs typeface="Pretendard"/>
              </a:rPr>
              <a:t>            </a:t>
            </a:r>
            <a:r>
              <a:rPr sz="950" b="0">
                <a:solidFill>
                  <a:srgbClr val="AACAE6"/>
                </a:solidFill>
                <a:latin typeface="Pretendard"/>
                <a:ea typeface="Pretendard"/>
                <a:cs typeface="Pretendard"/>
              </a:rPr>
              <a:t># C 코어 ↔ 파이썬 동치</a:t>
            </a:r>
          </a:p>
        </p:txBody>
      </p:sp>
      <p:sp>
        <p:nvSpPr>
          <p:cNvPr id="13" name="TextBox 12"/>
          <p:cNvSpPr txBox="1"/>
          <p:nvPr/>
        </p:nvSpPr>
        <p:spPr>
          <a:xfrm>
            <a:off x="533400" y="3314700"/>
            <a:ext cx="1619250" cy="308610"/>
          </a:xfrm>
          <a:prstGeom prst="rect">
            <a:avLst/>
          </a:prstGeom>
          <a:noFill/>
        </p:spPr>
        <p:txBody>
          <a:bodyPr wrap="square" anchor="t" lIns="0" rIns="0" tIns="0" bIns="0">
            <a:spAutoFit/>
          </a:bodyPr>
          <a:lstStyle/>
          <a:p>
            <a:pPr algn="l">
              <a:lnSpc>
                <a:spcPct val="100000"/>
              </a:lnSpc>
            </a:pPr>
            <a:r>
              <a:rPr sz="2400" b="0">
                <a:solidFill>
                  <a:srgbClr val="002C5F"/>
                </a:solidFill>
                <a:latin typeface="Pretendard ExtraBold"/>
                <a:ea typeface="Pretendard ExtraBold"/>
                <a:cs typeface="Pretendard ExtraBold"/>
              </a:rPr>
              <a:t>23</a:t>
            </a:r>
          </a:p>
        </p:txBody>
      </p:sp>
      <p:sp>
        <p:nvSpPr>
          <p:cNvPr id="14" name="TextBox 13"/>
          <p:cNvSpPr txBox="1"/>
          <p:nvPr/>
        </p:nvSpPr>
        <p:spPr>
          <a:xfrm>
            <a:off x="533400" y="3642360"/>
            <a:ext cx="1619250" cy="243840"/>
          </a:xfrm>
          <a:prstGeom prst="rect">
            <a:avLst/>
          </a:prstGeom>
          <a:noFill/>
        </p:spPr>
        <p:txBody>
          <a:bodyPr wrap="square" anchor="t" lIns="0" rIns="0" tIns="0" bIns="0">
            <a:spAutoFit/>
          </a:bodyPr>
          <a:lstStyle/>
          <a:p>
            <a:pPr algn="l">
              <a:lnSpc>
                <a:spcPct val="130000"/>
              </a:lnSpc>
            </a:pPr>
            <a:r>
              <a:rPr sz="950" b="0">
                <a:solidFill>
                  <a:srgbClr val="767676"/>
                </a:solidFill>
                <a:latin typeface="Pretendard"/>
                <a:ea typeface="Pretendard"/>
                <a:cs typeface="Pretendard"/>
              </a:rPr>
              <a:t>근거 문서</a:t>
            </a:r>
          </a:p>
        </p:txBody>
      </p:sp>
      <p:sp>
        <p:nvSpPr>
          <p:cNvPr id="15" name="TextBox 14"/>
          <p:cNvSpPr txBox="1"/>
          <p:nvPr/>
        </p:nvSpPr>
        <p:spPr>
          <a:xfrm>
            <a:off x="2247900" y="3314700"/>
            <a:ext cx="1619250" cy="308610"/>
          </a:xfrm>
          <a:prstGeom prst="rect">
            <a:avLst/>
          </a:prstGeom>
          <a:noFill/>
        </p:spPr>
        <p:txBody>
          <a:bodyPr wrap="square" anchor="t" lIns="0" rIns="0" tIns="0" bIns="0">
            <a:spAutoFit/>
          </a:bodyPr>
          <a:lstStyle/>
          <a:p>
            <a:pPr algn="l">
              <a:lnSpc>
                <a:spcPct val="100000"/>
              </a:lnSpc>
            </a:pPr>
            <a:r>
              <a:rPr sz="2400" b="0">
                <a:solidFill>
                  <a:srgbClr val="002C5F"/>
                </a:solidFill>
                <a:latin typeface="Pretendard ExtraBold"/>
                <a:ea typeface="Pretendard ExtraBold"/>
                <a:cs typeface="Pretendard ExtraBold"/>
              </a:rPr>
              <a:t>41</a:t>
            </a:r>
          </a:p>
        </p:txBody>
      </p:sp>
      <p:sp>
        <p:nvSpPr>
          <p:cNvPr id="16" name="TextBox 15"/>
          <p:cNvSpPr txBox="1"/>
          <p:nvPr/>
        </p:nvSpPr>
        <p:spPr>
          <a:xfrm>
            <a:off x="2247900" y="3642360"/>
            <a:ext cx="1619250" cy="243840"/>
          </a:xfrm>
          <a:prstGeom prst="rect">
            <a:avLst/>
          </a:prstGeom>
          <a:noFill/>
        </p:spPr>
        <p:txBody>
          <a:bodyPr wrap="square" anchor="t" lIns="0" rIns="0" tIns="0" bIns="0">
            <a:spAutoFit/>
          </a:bodyPr>
          <a:lstStyle/>
          <a:p>
            <a:pPr algn="l">
              <a:lnSpc>
                <a:spcPct val="130000"/>
              </a:lnSpc>
            </a:pPr>
            <a:r>
              <a:rPr sz="950" b="0">
                <a:solidFill>
                  <a:srgbClr val="767676"/>
                </a:solidFill>
                <a:latin typeface="Pretendard"/>
                <a:ea typeface="Pretendard"/>
                <a:cs typeface="Pretendard"/>
              </a:rPr>
              <a:t>결과 그림</a:t>
            </a:r>
          </a:p>
        </p:txBody>
      </p:sp>
      <p:sp>
        <p:nvSpPr>
          <p:cNvPr id="17" name="TextBox 16"/>
          <p:cNvSpPr txBox="1"/>
          <p:nvPr/>
        </p:nvSpPr>
        <p:spPr>
          <a:xfrm>
            <a:off x="3962400" y="3314700"/>
            <a:ext cx="1809750" cy="308610"/>
          </a:xfrm>
          <a:prstGeom prst="rect">
            <a:avLst/>
          </a:prstGeom>
          <a:noFill/>
        </p:spPr>
        <p:txBody>
          <a:bodyPr wrap="square" anchor="t" lIns="0" rIns="0" tIns="0" bIns="0">
            <a:spAutoFit/>
          </a:bodyPr>
          <a:lstStyle/>
          <a:p>
            <a:pPr algn="l">
              <a:lnSpc>
                <a:spcPct val="100000"/>
              </a:lnSpc>
            </a:pPr>
            <a:r>
              <a:rPr sz="2400" b="0">
                <a:solidFill>
                  <a:srgbClr val="002C5F"/>
                </a:solidFill>
                <a:latin typeface="Pretendard ExtraBold"/>
                <a:ea typeface="Pretendard ExtraBold"/>
                <a:cs typeface="Pretendard ExtraBold"/>
              </a:rPr>
              <a:t>108</a:t>
            </a:r>
          </a:p>
        </p:txBody>
      </p:sp>
      <p:sp>
        <p:nvSpPr>
          <p:cNvPr id="18" name="TextBox 17"/>
          <p:cNvSpPr txBox="1"/>
          <p:nvPr/>
        </p:nvSpPr>
        <p:spPr>
          <a:xfrm>
            <a:off x="3962400" y="3642360"/>
            <a:ext cx="1809750" cy="243840"/>
          </a:xfrm>
          <a:prstGeom prst="rect">
            <a:avLst/>
          </a:prstGeom>
          <a:noFill/>
        </p:spPr>
        <p:txBody>
          <a:bodyPr wrap="square" anchor="t" lIns="0" rIns="0" tIns="0" bIns="0">
            <a:spAutoFit/>
          </a:bodyPr>
          <a:lstStyle/>
          <a:p>
            <a:pPr algn="l">
              <a:lnSpc>
                <a:spcPct val="130000"/>
              </a:lnSpc>
            </a:pPr>
            <a:r>
              <a:rPr sz="950" b="0">
                <a:solidFill>
                  <a:srgbClr val="767676"/>
                </a:solidFill>
                <a:latin typeface="Pretendard"/>
                <a:ea typeface="Pretendard"/>
                <a:cs typeface="Pretendard"/>
              </a:rPr>
              <a:t>주행 이벤트 JSON · 저장소에 함께</a:t>
            </a:r>
          </a:p>
        </p:txBody>
      </p:sp>
      <p:sp>
        <p:nvSpPr>
          <p:cNvPr id="19" name="TextBox 18"/>
          <p:cNvSpPr txBox="1"/>
          <p:nvPr/>
        </p:nvSpPr>
        <p:spPr>
          <a:xfrm>
            <a:off x="6134100" y="1028700"/>
            <a:ext cx="5524500" cy="208121"/>
          </a:xfrm>
          <a:prstGeom prst="rect">
            <a:avLst/>
          </a:prstGeom>
          <a:noFill/>
        </p:spPr>
        <p:txBody>
          <a:bodyPr wrap="square" anchor="t" lIns="0" rIns="0" tIns="0" bIns="0">
            <a:spAutoFit/>
          </a:bodyPr>
          <a:lstStyle/>
          <a:p>
            <a:pPr algn="l">
              <a:lnSpc>
                <a:spcPct val="100000"/>
              </a:lnSpc>
            </a:pPr>
            <a:r>
              <a:rPr sz="1150" b="1">
                <a:solidFill>
                  <a:srgbClr val="002C5F"/>
                </a:solidFill>
                <a:latin typeface="Pretendard"/>
                <a:ea typeface="Pretendard"/>
                <a:cs typeface="Pretendard"/>
              </a:rPr>
              <a:t>향후 계획</a:t>
            </a:r>
          </a:p>
        </p:txBody>
      </p:sp>
      <p:sp>
        <p:nvSpPr>
          <p:cNvPr id="20" name="TextBox 19"/>
          <p:cNvSpPr txBox="1"/>
          <p:nvPr/>
        </p:nvSpPr>
        <p:spPr>
          <a:xfrm>
            <a:off x="6134100" y="1274921"/>
            <a:ext cx="5524500" cy="1563529"/>
          </a:xfrm>
          <a:prstGeom prst="rect">
            <a:avLst/>
          </a:prstGeom>
          <a:noFill/>
        </p:spPr>
        <p:txBody>
          <a:bodyPr wrap="square" anchor="t" lIns="0" rIns="0" tIns="0" bIns="0">
            <a:spAutoFit/>
          </a:bodyPr>
          <a:lstStyle/>
          <a:p>
            <a:pPr algn="l">
              <a:lnSpc>
                <a:spcPct val="145000"/>
              </a:lnSpc>
              <a:spcAft>
                <a:spcPts val="300"/>
              </a:spcAft>
            </a:pPr>
            <a:r>
              <a:rPr sz="950" b="1">
                <a:solidFill>
                  <a:srgbClr val="002C5F"/>
                </a:solidFill>
                <a:latin typeface="Pretendard"/>
                <a:ea typeface="Pretendard"/>
                <a:cs typeface="Pretendard"/>
              </a:rPr>
              <a:t>1</a:t>
            </a:r>
            <a:r>
              <a:rPr sz="950" b="0">
                <a:solidFill>
                  <a:srgbClr val="4D4D4D"/>
                </a:solidFill>
                <a:latin typeface="Pretendard"/>
                <a:ea typeface="Pretendard"/>
                <a:cs typeface="Pretendard"/>
              </a:rPr>
              <a:t>  경보 거리 확대 — ROI 해상도를 올려 1차가 보는 거리를 늘린다. 2차 의존도를 낮추는 가장 직접적인 길이다</a:t>
            </a:r>
          </a:p>
          <a:p>
            <a:pPr algn="l">
              <a:lnSpc>
                <a:spcPct val="145000"/>
              </a:lnSpc>
              <a:spcAft>
                <a:spcPts val="300"/>
              </a:spcAft>
            </a:pPr>
            <a:r>
              <a:rPr sz="950" b="1">
                <a:solidFill>
                  <a:srgbClr val="002C5F"/>
                </a:solidFill>
                <a:latin typeface="Pretendard"/>
                <a:ea typeface="Pretendard"/>
                <a:cs typeface="Pretendard"/>
              </a:rPr>
              <a:t>2</a:t>
            </a:r>
            <a:r>
              <a:rPr sz="950" b="0">
                <a:solidFill>
                  <a:srgbClr val="4D4D4D"/>
                </a:solidFill>
                <a:latin typeface="Pretendard"/>
                <a:ea typeface="Pretendard"/>
                <a:cs typeface="Pretendard"/>
              </a:rPr>
              <a:t>  실사진 질감 재학습 — RSCD 질감을 CARLA 노면에 입혀 재수집하고 도메인 갭을 닫는다</a:t>
            </a:r>
          </a:p>
          <a:p>
            <a:pPr algn="l">
              <a:lnSpc>
                <a:spcPct val="145000"/>
              </a:lnSpc>
              <a:spcAft>
                <a:spcPts val="300"/>
              </a:spcAft>
            </a:pPr>
            <a:r>
              <a:rPr sz="950" b="1">
                <a:solidFill>
                  <a:srgbClr val="002C5F"/>
                </a:solidFill>
                <a:latin typeface="Pretendard"/>
                <a:ea typeface="Pretendard"/>
                <a:cs typeface="Pretendard"/>
              </a:rPr>
              <a:t>3</a:t>
            </a:r>
            <a:r>
              <a:rPr sz="950" b="0">
                <a:solidFill>
                  <a:srgbClr val="4D4D4D"/>
                </a:solidFill>
                <a:latin typeface="Pretendard"/>
                <a:ea typeface="Pretendard"/>
                <a:cs typeface="Pretendard"/>
              </a:rPr>
              <a:t>  Hailo-10H 교차 검증 — Dataflow Compiler 확보 후 동일 모델을 두 NPU 에서 비교</a:t>
            </a:r>
          </a:p>
          <a:p>
            <a:pPr algn="l">
              <a:lnSpc>
                <a:spcPct val="145000"/>
              </a:lnSpc>
              <a:spcAft>
                <a:spcPts val="300"/>
              </a:spcAft>
            </a:pPr>
            <a:r>
              <a:rPr sz="950" b="1">
                <a:solidFill>
                  <a:srgbClr val="002C5F"/>
                </a:solidFill>
                <a:latin typeface="Pretendard"/>
                <a:ea typeface="Pretendard"/>
                <a:cs typeface="Pretendard"/>
              </a:rPr>
              <a:t>4</a:t>
            </a:r>
            <a:r>
              <a:rPr sz="950" b="0">
                <a:solidFill>
                  <a:srgbClr val="4D4D4D"/>
                </a:solidFill>
                <a:latin typeface="Pretendard"/>
                <a:ea typeface="Pretendard"/>
                <a:cs typeface="Pretendard"/>
              </a:rPr>
              <a:t>  보드 실측 — 마찰 인식 제동 시점·파이 감시를 STM32N6 ThreadX 에서 다시 잰다 (이번 측정은 파이 격리 코어 대체)</a:t>
            </a:r>
          </a:p>
          <a:p>
            <a:pPr algn="l">
              <a:lnSpc>
                <a:spcPct val="145000"/>
              </a:lnSpc>
              <a:spcAft>
                <a:spcPts val="300"/>
              </a:spcAft>
            </a:pPr>
            <a:r>
              <a:rPr sz="950" b="1">
                <a:solidFill>
                  <a:srgbClr val="002C5F"/>
                </a:solidFill>
                <a:latin typeface="Pretendard"/>
                <a:ea typeface="Pretendard"/>
                <a:cs typeface="Pretendard"/>
              </a:rPr>
              <a:t>5</a:t>
            </a:r>
            <a:r>
              <a:rPr sz="950" b="0">
                <a:solidFill>
                  <a:srgbClr val="4D4D4D"/>
                </a:solidFill>
                <a:latin typeface="Pretendard"/>
                <a:ea typeface="Pretendard"/>
                <a:cs typeface="Pretendard"/>
              </a:rPr>
              <a:t>  운전자가 못 느끼는 마찰 측정 — 앞축 구동·뒷축 제동으로 차 전체 가속을 바꾸지 않고 마찰만 재는 방법</a:t>
            </a:r>
          </a:p>
        </p:txBody>
      </p:sp>
      <p:sp>
        <p:nvSpPr>
          <p:cNvPr id="21" name="Rectangle 20"/>
          <p:cNvSpPr/>
          <p:nvPr/>
        </p:nvSpPr>
        <p:spPr>
          <a:xfrm>
            <a:off x="6134100" y="2895600"/>
            <a:ext cx="5524500" cy="1047750"/>
          </a:xfrm>
          <a:prstGeom prst="rect">
            <a:avLst/>
          </a:prstGeom>
          <a:solidFill>
            <a:srgbClr val="002C5F"/>
          </a:solidFill>
          <a:ln>
            <a:noFill/>
          </a:ln>
          <a:effectLst/>
        </p:spPr>
        <p:txBody>
          <a:bodyPr rtlCol="0" anchor="ctr"/>
          <a:lstStyle/>
          <a:p/>
        </p:txBody>
      </p:sp>
      <p:sp>
        <p:nvSpPr>
          <p:cNvPr id="22" name="TextBox 21"/>
          <p:cNvSpPr txBox="1"/>
          <p:nvPr/>
        </p:nvSpPr>
        <p:spPr>
          <a:xfrm>
            <a:off x="6305550" y="2990850"/>
            <a:ext cx="5181600" cy="162878"/>
          </a:xfrm>
          <a:prstGeom prst="rect">
            <a:avLst/>
          </a:prstGeom>
          <a:noFill/>
        </p:spPr>
        <p:txBody>
          <a:bodyPr wrap="square" anchor="t" lIns="0" rIns="0" tIns="0" bIns="0">
            <a:spAutoFit/>
          </a:bodyPr>
          <a:lstStyle/>
          <a:p>
            <a:pPr algn="l">
              <a:lnSpc>
                <a:spcPct val="100000"/>
              </a:lnSpc>
            </a:pPr>
            <a:r>
              <a:rPr sz="950" b="1" spc="80">
                <a:solidFill>
                  <a:srgbClr val="AACAE6"/>
                </a:solidFill>
                <a:latin typeface="Pretendard"/>
                <a:ea typeface="Pretendard"/>
                <a:cs typeface="Pretendard"/>
              </a:rPr>
              <a:t>소스 코드</a:t>
            </a:r>
          </a:p>
        </p:txBody>
      </p:sp>
      <p:sp>
        <p:nvSpPr>
          <p:cNvPr id="23" name="TextBox 22"/>
          <p:cNvSpPr txBox="1"/>
          <p:nvPr/>
        </p:nvSpPr>
        <p:spPr>
          <a:xfrm>
            <a:off x="6305550" y="3200400"/>
            <a:ext cx="5181600" cy="285750"/>
          </a:xfrm>
          <a:prstGeom prst="rect">
            <a:avLst/>
          </a:prstGeom>
          <a:noFill/>
        </p:spPr>
        <p:txBody>
          <a:bodyPr wrap="none" anchor="t" lIns="0" rIns="0" tIns="0" bIns="0">
            <a:spAutoFit/>
          </a:bodyPr>
          <a:lstStyle/>
          <a:p>
            <a:pPr algn="l">
              <a:lnSpc>
                <a:spcPct val="100000"/>
              </a:lnSpc>
            </a:pPr>
            <a:r>
              <a:rPr sz="1200" b="1">
                <a:solidFill>
                  <a:srgbClr val="FFFFFF"/>
                </a:solidFill>
                <a:latin typeface="Pretendard"/>
                <a:ea typeface="Pretendard"/>
                <a:cs typeface="Pretendard"/>
              </a:rPr>
              <a:t>github.com/gkgk0119gmail-arch/2026ESWContest_mobility_ARTS</a:t>
            </a:r>
          </a:p>
        </p:txBody>
      </p:sp>
      <p:sp>
        <p:nvSpPr>
          <p:cNvPr id="24" name="TextBox 23"/>
          <p:cNvSpPr txBox="1"/>
          <p:nvPr/>
        </p:nvSpPr>
        <p:spPr>
          <a:xfrm>
            <a:off x="6305550" y="3524250"/>
            <a:ext cx="5181600" cy="285750"/>
          </a:xfrm>
          <a:prstGeom prst="rect">
            <a:avLst/>
          </a:prstGeom>
          <a:noFill/>
        </p:spPr>
        <p:txBody>
          <a:bodyPr wrap="square" anchor="t" lIns="0" rIns="0" tIns="0" bIns="0">
            <a:spAutoFit/>
          </a:bodyPr>
          <a:lstStyle/>
          <a:p>
            <a:pPr algn="l">
              <a:lnSpc>
                <a:spcPct val="140000"/>
              </a:lnSpc>
            </a:pPr>
            <a:r>
              <a:rPr sz="900" b="0">
                <a:solidFill>
                  <a:srgbClr val="AACAE6"/>
                </a:solidFill>
                <a:latin typeface="Pretendard"/>
                <a:ea typeface="Pretendard"/>
                <a:cs typeface="Pretendard"/>
              </a:rPr>
              <a:t>MIT 라이선스 · 영상·그림·이벤트 데이터 포함 · README 에서 바로 재생된다</a:t>
            </a:r>
          </a:p>
        </p:txBody>
      </p:sp>
      <p:pic>
        <p:nvPicPr>
          <p:cNvPr id="25" name="Picture 24" descr="image.jpg"/>
          <p:cNvPicPr>
            <a:picLocks noChangeAspect="1"/>
          </p:cNvPicPr>
          <p:nvPr/>
        </p:nvPicPr>
        <p:blipFill>
          <a:blip r:embed="rId2"/>
          <a:stretch>
            <a:fillRect/>
          </a:stretch>
        </p:blipFill>
        <p:spPr>
          <a:xfrm>
            <a:off x="533400" y="4095750"/>
            <a:ext cx="3632200" cy="1866900"/>
          </a:xfrm>
          <a:prstGeom prst="rect">
            <a:avLst/>
          </a:prstGeom>
        </p:spPr>
      </p:pic>
      <p:sp>
        <p:nvSpPr>
          <p:cNvPr id="26" name="TextBox 25"/>
          <p:cNvSpPr txBox="1"/>
          <p:nvPr/>
        </p:nvSpPr>
        <p:spPr>
          <a:xfrm>
            <a:off x="533400" y="6010275"/>
            <a:ext cx="3632200" cy="171450"/>
          </a:xfrm>
          <a:prstGeom prst="rect">
            <a:avLst/>
          </a:prstGeom>
          <a:noFill/>
        </p:spPr>
        <p:txBody>
          <a:bodyPr wrap="square" anchor="t" lIns="0" rIns="0" tIns="0" bIns="0">
            <a:spAutoFit/>
          </a:bodyPr>
          <a:lstStyle/>
          <a:p>
            <a:pPr algn="l">
              <a:lnSpc>
                <a:spcPct val="140000"/>
              </a:lnSpc>
            </a:pPr>
            <a:r>
              <a:rPr sz="900" b="0">
                <a:solidFill>
                  <a:srgbClr val="767676"/>
                </a:solidFill>
                <a:latin typeface="Pretendard"/>
                <a:ea typeface="Pretendard"/>
                <a:cs typeface="Pretendard"/>
              </a:rPr>
              <a:t>실물 보드가 실제 펌웨어를 돌린다</a:t>
            </a:r>
          </a:p>
        </p:txBody>
      </p:sp>
      <p:pic>
        <p:nvPicPr>
          <p:cNvPr id="27" name="Picture 26" descr="image.jpg"/>
          <p:cNvPicPr>
            <a:picLocks noChangeAspect="1"/>
          </p:cNvPicPr>
          <p:nvPr/>
        </p:nvPicPr>
        <p:blipFill>
          <a:blip r:embed="rId3"/>
          <a:stretch>
            <a:fillRect/>
          </a:stretch>
        </p:blipFill>
        <p:spPr>
          <a:xfrm>
            <a:off x="4279900" y="4095750"/>
            <a:ext cx="3632200" cy="1866900"/>
          </a:xfrm>
          <a:prstGeom prst="rect">
            <a:avLst/>
          </a:prstGeom>
        </p:spPr>
      </p:pic>
      <p:sp>
        <p:nvSpPr>
          <p:cNvPr id="28" name="TextBox 27"/>
          <p:cNvSpPr txBox="1"/>
          <p:nvPr/>
        </p:nvSpPr>
        <p:spPr>
          <a:xfrm>
            <a:off x="4279900" y="6010275"/>
            <a:ext cx="3632200" cy="171450"/>
          </a:xfrm>
          <a:prstGeom prst="rect">
            <a:avLst/>
          </a:prstGeom>
          <a:noFill/>
        </p:spPr>
        <p:txBody>
          <a:bodyPr wrap="square" anchor="t" lIns="0" rIns="0" tIns="0" bIns="0">
            <a:spAutoFit/>
          </a:bodyPr>
          <a:lstStyle/>
          <a:p>
            <a:pPr algn="l">
              <a:lnSpc>
                <a:spcPct val="140000"/>
              </a:lnSpc>
            </a:pPr>
            <a:r>
              <a:rPr sz="900" b="0">
                <a:solidFill>
                  <a:srgbClr val="767676"/>
                </a:solidFill>
                <a:latin typeface="Pretendard"/>
                <a:ea typeface="Pretendard"/>
                <a:cs typeface="Pretendard"/>
              </a:rPr>
              <a:t>사람이 운전해도 보드는 같은 판정을 한다</a:t>
            </a:r>
          </a:p>
        </p:txBody>
      </p:sp>
      <p:pic>
        <p:nvPicPr>
          <p:cNvPr id="29" name="Picture 28" descr="image.jpg"/>
          <p:cNvPicPr>
            <a:picLocks noChangeAspect="1"/>
          </p:cNvPicPr>
          <p:nvPr/>
        </p:nvPicPr>
        <p:blipFill>
          <a:blip r:embed="rId4"/>
          <a:stretch>
            <a:fillRect/>
          </a:stretch>
        </p:blipFill>
        <p:spPr>
          <a:xfrm>
            <a:off x="8026400" y="4095750"/>
            <a:ext cx="3632200" cy="1866900"/>
          </a:xfrm>
          <a:prstGeom prst="rect">
            <a:avLst/>
          </a:prstGeom>
        </p:spPr>
      </p:pic>
      <p:sp>
        <p:nvSpPr>
          <p:cNvPr id="30" name="TextBox 29"/>
          <p:cNvSpPr txBox="1"/>
          <p:nvPr/>
        </p:nvSpPr>
        <p:spPr>
          <a:xfrm>
            <a:off x="8026400" y="6010275"/>
            <a:ext cx="3632200" cy="171450"/>
          </a:xfrm>
          <a:prstGeom prst="rect">
            <a:avLst/>
          </a:prstGeom>
          <a:noFill/>
        </p:spPr>
        <p:txBody>
          <a:bodyPr wrap="square" anchor="t" lIns="0" rIns="0" tIns="0" bIns="0">
            <a:spAutoFit/>
          </a:bodyPr>
          <a:lstStyle/>
          <a:p>
            <a:pPr algn="l">
              <a:lnSpc>
                <a:spcPct val="140000"/>
              </a:lnSpc>
            </a:pPr>
            <a:r>
              <a:rPr sz="900" b="0">
                <a:solidFill>
                  <a:srgbClr val="767676"/>
                </a:solidFill>
                <a:latin typeface="Pretendard"/>
                <a:ea typeface="Pretendard"/>
                <a:cs typeface="Pretendard"/>
              </a:rPr>
              <a:t>CARLA 가 센서와 물리를 제공한다 — 같은 조건 비교</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