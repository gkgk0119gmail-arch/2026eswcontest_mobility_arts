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[0:00–0:20] IcePredict 입니다. 블랙아이스를 카메라로 미리 보고, 놓치면 노면을 직접 재서 제때 세우는 운전자 보조 장치입니다.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[0:20–1:10] 블랙아이스는 투명해서 카메라가 놓치는 경우가 반드시 남습니다. 실사진 얼음의 3.4 % 는 어떤 문턱으로도 못 잡았습니다. 그리고 지금 차의 긴급제동·간격 유지는 마찰을 모르면 마른 노면 기준으로 제동 시점을 잡습니다. 60 km/h 에서 마른 노면은 38 m 면 서지만 블랙아이스는 105 m 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[1:10–1:50] 그래서 두 겹으로 막습니다. 1차는 카메라로 미리 보고, 2차는 놓쳤을 때 노면을 재서 제동 시점을 고치고, 그 판단은 메인 컴퓨터와 분리된 안전 전용 RTOS에서 돕니다. 조향은 운전자 몫입니다.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[1:50–3:10] (시연 ① — venue_desktop.sh first) 실사진 69,358장을 보드에 넣어 블랙아이스 96.6 % 를 경보했고 마른 노면 오경보는 0.3 % 입니다. 지금 차가 80 km/h 로 달립니다. 화면 아래 '빙판까지 ○ m'가 150 m 이상일 때 RealSense 에 블랙아이스 사진을 비추면 — 경고, 빙판 앞 정지. (시간이 되면) 마른 노면 사진으로 한 판 더: 경고 없이 그대로 빙판에 들어가 충돌. 제동 여부는 RealSense 판정 하나로만 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[3:10–5:40] (시연 ② — venue_desktop.sh assist, D 로 OFF/ON) 카메라가 놓치면 2차 방어가 브레이크를 0.4 초 살짝 밟아 마찰을 잽니다. 빙판은 감속이 거기서 막히고 그 값이 마찰입니다. 그 마찰로 정지 거리를 다시 계산해 20 ms 마다 제동 시점을 정합니다. 먼저 말씀드립니다 — 같은 조건에서 비교하려고 회피 조향은 매번 똑같이 자동으로 넣었고, 브레이크는 제가 직접 밟습니다. 우리 시스템은 조향에 개입하지 않고 제동 시점만 바꿉니다. OFF: 빨간 선에서 밟고 피해도 빙판에서 미끄러져 충돌(연습 17 km/h). ON: 탭 → 진동·경고 → 미리 감속 → 같은 지점에서 밟고 피하면 정지(연습 34 m 앞).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[5:30–6:30] 같은 C 코드에 마찰 값만 다르게 넣은 CARLA 비교입니다. 마른 노면 기준은 9회 중 2회만 섰고, 마찰 인식은 8회 섰으며 그중 7회는 목표대로 앞차 4 m 앞이었습니다.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[6:30–8:30] (시연 ③ — ② 의 ON 주행 중 빙판 경고 뒤 K 키) 2차 판단은 안전 전용 RTOS에서 돕니다. 곡선 빙판에서 파이를 멈추면 2차가 파이에 있을 때 53 km/h, 안전 전용 RTOS에 있을 때 39 km/h 로 충돌했습니다. 지금 주행 중에 파이 메인 프로그램을 실제로 죽여 보겠습니다. 정직하게 말씀드리면, 이번 확장은 보드가 없어 같은 C 코드를 파이 격리 코어에서 돌렸습니다.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[8:30–10:00] 미리 보고, 놓치면 재서, 죽어도 판단합니다. 남은 과제는 운전자가 못 느끼게 마찰을 재는 방법과 보드 실측입니다. 소스와 근거 문서는 저장소에 모두 있습니다.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857250"/>
            <a:ext cx="47625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제24회 임베디드SW경진대회 · 모빌리티 · 결선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3500"/>
            <a:ext cx="5905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IcePredict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5905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블랙아이스를 미리 보고,</a:t>
            </a:r>
            <a:br/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놓치면 노면을 재서 제때 세운다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5334000"/>
            <a:ext cx="5334000" cy="0"/>
          </a:xfrm>
          <a:prstGeom prst="line">
            <a:avLst/>
          </a:prstGeom>
          <a:ln w="6350">
            <a:solidFill>
              <a:srgbClr val="AAC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5524500"/>
            <a:ext cx="571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 ARTS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남윤상 · 김진찬 · 이지성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67400"/>
            <a:ext cx="590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STM32N6 · ThreadX · Raspberry Pi 5 · CARLA HIL · Moza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블랙아이스는 안 보이고, 지금 차는 마른 노면 기준으로 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72250"/>
            <a:ext cx="857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IcePredict · github.com/gkgk0119gmail-arch/2026ESWContest_mobility_ARTS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9900" y="6562725"/>
            <a:ext cx="95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2 / 8</a:t>
            </a:r>
          </a:p>
        </p:txBody>
      </p:sp>
      <p:pic>
        <p:nvPicPr>
          <p:cNvPr id="6" name="Picture 5" descr="real_failure_mi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83" y="1238250"/>
            <a:ext cx="5778033" cy="2619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905250"/>
            <a:ext cx="6096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정답이 블랙아이스인 실사진 — 카메라는 '정상'으로 봤다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476750"/>
            <a:ext cx="28575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3.4 %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10150"/>
            <a:ext cx="28575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실사진 얼음 6,340장 중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어떤 문턱으로도 못 잡는 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2850" y="4476750"/>
            <a:ext cx="295275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38 → 105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2850" y="5010150"/>
            <a:ext cx="295275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60 km/h 정지에 필요한 거리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마른 노면 → 블랙아이스 (μ 0.16)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238250"/>
            <a:ext cx="4495800" cy="428625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239000" y="1390650"/>
            <a:ext cx="41910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지금 기술의 빈틈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0" y="1636871"/>
            <a:ext cx="4191000" cy="37352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30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ABS · ESC</a:t>
            </a:r>
            <a:r>
              <a:rPr sz="13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— 미끄러지는 바퀴를 잡는다. 노면 마찰을 다른 장치에 알리지 않는다.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30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긴급제동 · 간격 유지</a:t>
            </a:r>
            <a:r>
              <a:rPr sz="13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— 앞차 거리로 제동 시점을 정한다. 마찰을 모르면 마른 노면 기준이라 빙판에서 늦다.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30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카메라</a:t>
            </a:r>
            <a:r>
              <a:rPr sz="13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— 투명한 얼음은 아스팔트와 구분이 어렵다. 반드시 놓치는 경우가 남는다.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해법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이중 방어 — 1차는 미리 보고, 2차는 재서 제때 세운다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72250"/>
            <a:ext cx="857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IcePredict · github.com/gkgk0119gmail-arch/2026ESWContest_mobility_ARTS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9900" y="6562725"/>
            <a:ext cx="95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3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3505200" cy="28575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200" y="1524000"/>
            <a:ext cx="3048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1차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095500"/>
            <a:ext cx="304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카메라가 미리 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571750"/>
            <a:ext cx="3048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노면 4분류 + 반사도 + 기상 맥락 → 위험도. 빙판에 닿기 전에 경고·감속.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33500"/>
            <a:ext cx="3505200" cy="28575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0" y="1524000"/>
            <a:ext cx="3048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2차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95500"/>
            <a:ext cx="304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노면을 재서 제동 시점을 고친다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71750"/>
            <a:ext cx="3048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카메라가 애매하거나 결빙 취약 구간이면 0.4 초 '노면 확인 탭'으로 마찰을 재고, 20 ms 마다 정지 거리를 다시 계산한다.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7200" y="1333500"/>
            <a:ext cx="3505200" cy="28575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05800" y="1524000"/>
            <a:ext cx="3048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RTOS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2095500"/>
            <a:ext cx="304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메인 컴퓨터가 죽어도 산다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2571750"/>
            <a:ext cx="3048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2차 판단은 리눅스와 분리된 안전 전용 RTOS 에서 돈다. 메인 프로그램이 멈춰도 제동 판단은 계속된다.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476750"/>
            <a:ext cx="109728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조향은 운전자 몫이다. 시스템은 </a:t>
            </a:r>
            <a:r>
              <a:rPr sz="15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경고 · 가속 제한 · 제동</a:t>
            </a:r>
            <a:r>
              <a: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만 돕는다 — 자율주행이 아니라 운전자 보조 장치다.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1차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2450"/>
            <a:ext cx="88773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카메라가 빙판을 미리 본다 — 실제 도로 사진 69,358장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9772650" y="381000"/>
            <a:ext cx="1809750" cy="419100"/>
          </a:xfrm>
          <a:prstGeom prst="rect">
            <a:avLst/>
          </a:prstGeom>
          <a:solidFill>
            <a:srgbClr val="E6331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772650" y="381000"/>
            <a:ext cx="18097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▶ 시연 ① RealSense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572250"/>
            <a:ext cx="857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IcePredict · github.com/gkgk0119gmail-arch/2026ESWContest_mobility_ARTS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9900" y="6562725"/>
            <a:ext cx="95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4 / 8</a:t>
            </a:r>
          </a:p>
        </p:txBody>
      </p:sp>
      <p:pic>
        <p:nvPicPr>
          <p:cNvPr id="8" name="Picture 7" descr="demo_res_1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38250"/>
            <a:ext cx="5334000" cy="3000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295775"/>
            <a:ext cx="5334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RealSense 가 빙판 사진을 보면 CARLA 차가 빙판 앞에 선다 — 제동 여부는 RealSense 판정만으로 정한다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762500"/>
            <a:ext cx="2571750" cy="3857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빙판 앞 정지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167312"/>
            <a:ext cx="2571750" cy="547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블랙아이스 사진 → 감지 즉시 제동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(영상 7.9 m · 연습 31.6 m 앞)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1850" y="4762500"/>
            <a:ext cx="2571750" cy="3857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경고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1850" y="5167312"/>
            <a:ext cx="2571750" cy="547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마른 노면 사진 → 그대로 진행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(빙판에서 충돌)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1333500"/>
            <a:ext cx="2571750" cy="5915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96.6 %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1944052"/>
            <a:ext cx="2571750" cy="532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블랙아이스 실사진 6,340장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경보율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6850" y="1333500"/>
            <a:ext cx="2571750" cy="5915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0.3 %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6850" y="1944052"/>
            <a:ext cx="2571750" cy="532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마른 노면 19,018장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오경보율 (젖은 노면 0.8 %)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600" y="2857500"/>
            <a:ext cx="5257800" cy="247650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77000" y="3009900"/>
            <a:ext cx="49530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AAD2"/>
                </a:solidFill>
                <a:latin typeface="Pretendard"/>
                <a:ea typeface="Pretendard"/>
                <a:cs typeface="Pretendard"/>
              </a:rPr>
              <a:t>어떻게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3256121"/>
            <a:ext cx="4953000" cy="1925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시뮬레이션 화면이 아니라 실제 도로 사진을 STM32N6 보드의 NPU 에 직접 넣어 쟀다.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블랙아이스를 직접 맞히려 하지 않는다. '결빙 위험 확률 + 반사도 + 기상 맥락'으로 위험도를 올리고, 문턱(0.60)을 넘으면 경고한다.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E63312"/>
                </a:solidFill>
                <a:latin typeface="Pretendard"/>
                <a:ea typeface="Pretendard"/>
                <a:cs typeface="Pretendard"/>
              </a:rPr>
              <a:t>2차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2450"/>
            <a:ext cx="88773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놓치면 — 노면을 재서 '언제부터 서야 하나'를 다시 계산한다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772650" y="381000"/>
            <a:ext cx="1809750" cy="419100"/>
          </a:xfrm>
          <a:prstGeom prst="rect">
            <a:avLst/>
          </a:prstGeom>
          <a:solidFill>
            <a:srgbClr val="E6331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772650" y="381000"/>
            <a:ext cx="18097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▶ 시연 ② Moza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572250"/>
            <a:ext cx="857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IcePredict · github.com/gkgk0119gmail-arch/2026ESWContest_mobility_ARTS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9900" y="6562725"/>
            <a:ext cx="95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5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333500"/>
            <a:ext cx="857250" cy="571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495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노면 확인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14500"/>
            <a:ext cx="4953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카메라가 애매하거나 영하의 결빙 취약 구간이면 브레이크를 0.4 초 살짝. 빙판은 감속이 거기서 막힌다 — 그 값이 마찰이다.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762250"/>
            <a:ext cx="857250" cy="571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00350"/>
            <a:ext cx="495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표 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43250"/>
            <a:ext cx="4953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CARLA 에서 미리 잰 마찰별 감속 표로 정지 거리를 계산한다. 무거운 계산은 오프라인, 보드는 표만 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191000"/>
            <a:ext cx="857250" cy="571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9100"/>
            <a:ext cx="495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20 ms 마다 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4953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앞 물체 거리와 비교해 경고 → 가속 금지 → 예비 제동 → 전력 제동. 남은 거리에 맞춰 앞차 4 m 뒤에 선다.</a:t>
            </a:r>
          </a:p>
        </p:txBody>
      </p:sp>
      <p:pic>
        <p:nvPicPr>
          <p:cNvPr id="17" name="Picture 16" descr="env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296653"/>
            <a:ext cx="4876800" cy="25025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05600" y="3905250"/>
            <a:ext cx="4876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제동을 시작해야 하는 거리 (m) — 지금 차는 맨 아랫줄만 쓴다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705600" y="4400550"/>
          <a:ext cx="4876800" cy="9715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08521"/>
                <a:gridCol w="1020726"/>
                <a:gridCol w="1247553"/>
              </a:tblGrid>
              <a:tr h="28575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1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시연: 같은 지점(앞차 65 m)에서 브레이크 + 회피</a:t>
                      </a:r>
                      <a:endParaRPr sz="11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1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그때 속도</a:t>
                      </a:r>
                      <a:endParaRPr sz="11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1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  <a:endParaRPr sz="11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1">
                          <a:solidFill>
                            <a:srgbClr val="E6331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2차 방어 OFF — 지금 차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 km/h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1">
                          <a:solidFill>
                            <a:srgbClr val="E6331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 km/h 충돌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1">
                          <a:solidFill>
                            <a:srgbClr val="E6331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2차 방어 ON — 미리 감속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0">
                          <a:solidFill>
                            <a:srgbClr val="1C1B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 km/h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1">
                          <a:solidFill>
                            <a:srgbClr val="1E8A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 m 앞 정지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705600" y="552450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다른 것은 제동을 시작하는 지점이다.</a:t>
            </a:r>
            <a:r>
              <a:rPr sz="1200" b="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 회피 조향은 비교를 위해 매번 같게 자동, 브레이크는 사람.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같은 코드, 마찰만 다르다 — 정지 2 / 9 → 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72250"/>
            <a:ext cx="857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IcePredict · github.com/gkgk0119gmail-arch/2026ESWContest_mobility_ARTS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9900" y="6562725"/>
            <a:ext cx="95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6 / 8</a:t>
            </a:r>
          </a:p>
        </p:txBody>
      </p:sp>
      <p:pic>
        <p:nvPicPr>
          <p:cNvPr id="6" name="v_envelop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00" y="1219200"/>
            <a:ext cx="4095750" cy="3457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714875"/>
            <a:ext cx="4095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위: 마른 노면 기준 → 30 km/h 충돌 · 아래: 탭으로 마찰 측정 → 4.1 m 앞 정지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1100" y="1333500"/>
            <a:ext cx="3200400" cy="6943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>
                <a:solidFill>
                  <a:srgbClr val="E63312"/>
                </a:solidFill>
                <a:latin typeface="Pretendard ExtraBold"/>
                <a:ea typeface="Pretendard ExtraBold"/>
                <a:cs typeface="Pretendard ExtraBold"/>
              </a:rPr>
              <a:t>2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1100" y="2046922"/>
            <a:ext cx="3200400" cy="524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마른 노면 기준 — 정지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나머지 7회 충돌 (8 ~ 61 km/h)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0" y="1333500"/>
            <a:ext cx="3200400" cy="6943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8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2046922"/>
            <a:ext cx="3200400" cy="524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마찰 인식 — 정지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7회는 목표대로 앞차 4 m 앞</a:t>
            </a:r>
          </a:p>
        </p:txBody>
      </p:sp>
      <p:pic>
        <p:nvPicPr>
          <p:cNvPr id="12" name="Picture 11" descr="env_sw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052" y="2857500"/>
            <a:ext cx="6257396" cy="26193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91100" y="5524500"/>
            <a:ext cx="6591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마찰 3종 × 속도 3종 · CARLA 0.9.16 · 간격 유지 크루즈 주행 중 빙판 위 정지 차량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n val="2"/>
                    </p:cond>
                  </p:end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안전 전용 RTOS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2450"/>
            <a:ext cx="88773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메인 컴퓨터가 멈춰도 2차 방어는 산다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772650" y="381000"/>
            <a:ext cx="1809750" cy="419100"/>
          </a:xfrm>
          <a:prstGeom prst="rect">
            <a:avLst/>
          </a:prstGeom>
          <a:solidFill>
            <a:srgbClr val="E6331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772650" y="381000"/>
            <a:ext cx="18097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▶ 시연 ③ 강제 종료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572250"/>
            <a:ext cx="857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IcePredict · github.com/gkgk0119gmail-arch/2026ESWContest_mobility_ARTS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9900" y="6562725"/>
            <a:ext cx="95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7 / 8</a:t>
            </a:r>
          </a:p>
        </p:txBody>
      </p:sp>
      <p:pic>
        <p:nvPicPr>
          <p:cNvPr id="8" name="v_islan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00" y="1219200"/>
            <a:ext cx="5334000" cy="3000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257675"/>
            <a:ext cx="5334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빙판 확인 직후 파이 메인 프로그램을 실제로 강제 종료 → 격리 코어의 2차 방어가 혼자 4.1 m 앞에 세운다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76750"/>
            <a:ext cx="2762250" cy="347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AAD2"/>
                </a:solidFill>
                <a:latin typeface="Pretendard ExtraBold"/>
                <a:ea typeface="Pretendard ExtraBold"/>
                <a:cs typeface="Pretendard ExtraBold"/>
              </a:rPr>
              <a:t>53 → 39 km/h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842986"/>
            <a:ext cx="2762250" cy="681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곡선 빙판에서 파이 정지 시 충돌 속도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2차가 파이 → 2차가 안전 전용 RTOS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350" y="4476750"/>
            <a:ext cx="2381250" cy="4371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002C5F"/>
                </a:solidFill>
                <a:latin typeface="Pretendard ExtraBold"/>
                <a:ea typeface="Pretendard ExtraBold"/>
                <a:cs typeface="Pretendard ExtraBold"/>
              </a:rPr>
              <a:t>0.12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350" y="4932998"/>
            <a:ext cx="2381250" cy="5915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메인 심장박동 끊김 감지</a:t>
            </a:r>
            <a:br/>
            <a:r>
              <a:rPr sz="950" b="0">
                <a:solidFill>
                  <a:srgbClr val="767676"/>
                </a:solidFill>
                <a:latin typeface="Pretendard"/>
                <a:ea typeface="Pretendard"/>
                <a:cs typeface="Pretendard"/>
              </a:rPr>
              <a:t>→ 축소 모드로 계속 판단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29350" y="1333500"/>
          <a:ext cx="5353051" cy="10477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25637"/>
                <a:gridCol w="1163707"/>
                <a:gridCol w="1163707"/>
              </a:tblGrid>
              <a:tr h="28575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1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 코어 부하 · 20 ms × 6,000회</a:t>
                      </a:r>
                      <a:endParaRPr sz="11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1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최악 지연</a:t>
                      </a:r>
                      <a:endParaRPr sz="11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15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마감 놓침</a:t>
                      </a:r>
                      <a:endParaRPr sz="115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5875" cap="flat" cmpd="sng" algn="ctr">
                      <a:solidFill>
                        <a:srgbClr val="002C5F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 리눅스 프로그램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1">
                          <a:solidFill>
                            <a:srgbClr val="E6331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206 ms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1">
                          <a:solidFill>
                            <a:srgbClr val="E6331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211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1">
                          <a:solidFill>
                            <a:srgbClr val="002C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파이 격리 코어 (실시간 · RTOS 대체)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1">
                          <a:solidFill>
                            <a:srgbClr val="1E8A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0.06 ms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200" b="1">
                          <a:solidFill>
                            <a:srgbClr val="1E8A4C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endParaRPr sz="1200"/>
                    </a:p>
                  </a:txBody>
                  <a:tcPr marL="76200" marR="57150" marT="28575" marB="28575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0DC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229350" y="2762250"/>
            <a:ext cx="5353050" cy="276225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81750" y="2914650"/>
            <a:ext cx="504825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정직하게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3160871"/>
            <a:ext cx="5048250" cy="22112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설계는 STM32N6 + ThreadX 다. 예전에 보드에서 잰 2차 방어 최악 응답은 22.6 µs.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이번 확장은 보드가 없어 </a:t>
            </a:r>
            <a:r>
              <a:rPr sz="1200" b="1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같은 C 코드</a:t>
            </a:r>
            <a:r>
              <a:rPr sz="12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를 라즈베리파이 격리 코어에서 돌렸다. 리눅스 커널 자체가 멈추면 같이 멈춘다 — 그래서 실차는 별도 MCU 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n val="2"/>
                    </p:cond>
                  </p:end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571500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C1B1B"/>
                </a:solidFill>
                <a:latin typeface="Pretendard ExtraBold"/>
                <a:ea typeface="Pretendard ExtraBold"/>
                <a:cs typeface="Pretendard ExtraBold"/>
              </a:rPr>
              <a:t>미리 보고, 놓치면 재서, 죽어도 판단한다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572250"/>
            <a:ext cx="857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팀 ARTS · IcePredict · github.com/gkgk0119gmail-arch/2026ESWContest_mobility_ARTS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9900" y="6562725"/>
            <a:ext cx="95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8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76200" cy="819150"/>
          </a:xfrm>
          <a:prstGeom prst="rect">
            <a:avLst/>
          </a:prstGeom>
          <a:solidFill>
            <a:srgbClr val="00AAD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76300" y="1371600"/>
            <a:ext cx="4953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미리 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175260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실사진 블랙아이스 경보율 96.6 %, 마른 노면 오경보 0.3 %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381250"/>
            <a:ext cx="76200" cy="819150"/>
          </a:xfrm>
          <a:prstGeom prst="rect">
            <a:avLst/>
          </a:prstGeom>
          <a:solidFill>
            <a:srgbClr val="E6331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6300" y="2419350"/>
            <a:ext cx="4953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재서 제때 선다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8003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노면 확인 탭 + 마찰 인식 제동 시점 — CARLA 정지 2/9 → 8/9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429000"/>
            <a:ext cx="76200" cy="819150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6300" y="3467100"/>
            <a:ext cx="4953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1C1B1B"/>
                </a:solidFill>
                <a:latin typeface="Pretendard"/>
                <a:ea typeface="Pretendard"/>
                <a:cs typeface="Pretendard"/>
              </a:rPr>
              <a:t>죽어도 판단한다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84810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메인 컴퓨터가 멈춰도 2차 방어는 계속 — 충돌 53 → 39 km/h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4572000"/>
            <a:ext cx="6667500" cy="1428750"/>
          </a:xfrm>
          <a:prstGeom prst="rect">
            <a:avLst/>
          </a:prstGeom>
          <a:solidFill>
            <a:srgbClr val="F6F3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2000" y="4724400"/>
            <a:ext cx="6362700" cy="2081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남은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970621"/>
            <a:ext cx="6362700" cy="877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1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· 마찰 측정 탭을 운전자가 느낀다 — 앞축 구동·뒷축 제동으로 느끼지 않게 재는 방법이 다음 단계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1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· 결과는 CARLA 시뮬레이션 · 이번 확장의 실시간 측정은 파이 격리 코어 대체 · 1차 카메라 경보 거리는 해상도가 한계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62850" y="4572000"/>
            <a:ext cx="4019550" cy="1428750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53350" y="4705350"/>
            <a:ext cx="3638550" cy="1628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80">
                <a:solidFill>
                  <a:srgbClr val="AACAE6"/>
                </a:solidFill>
                <a:latin typeface="Pretendard"/>
                <a:ea typeface="Pretendard"/>
                <a:cs typeface="Pretendard"/>
              </a:rPr>
              <a:t>소스 코드 · 근거 문서 ·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3350" y="4953000"/>
            <a:ext cx="36385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github.com/gkgk0119gmail-arch/2026ESWContest_mobility_ARTS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