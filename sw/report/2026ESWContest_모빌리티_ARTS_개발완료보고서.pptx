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IcePredict 는 블랙아이스를 AI 로 미리 예측하고, 예측이 틀려도 RTOS 가 차량 거동으로 반드시 잡는 이중 안전망입니다. 오른쪽 사진은 Moza 휠로 사람이 CARLA 를 직접 운전하는 HIL 시연 장면입니다.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문제·해법·증명 세 줄과 숫자 네 개로 전체를 요약합니다. 실사진 블랙아이스 경보율 96.6 %, 마른 노면 오경보 0.3 %, 2차 방어 최악 응답 22.6 µs, 방어를 모두 끈 기준선은 9건 전부 제어 상실. 영상은 같은 조건에서 방어 없음(왼쪽)과 STM32N6 RTOS 2차 방어(오른쪽)의 차이입니다. 슬라이드가 열리면 자동 재생됩니다.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공개 데이터에 블랙아이스 라벨이 없고, 투명한 얼음은 비전만으로 구분이 안 됩니다. 우리 보드도 실사진 얼음 6,340장 중 215장(3.4 %)을 놓쳤습니다. 그래서 1차는 블랙아이스를 직접 맞히려 하지 않고 위험도를 올리고, 그 전략이 실패할 때를 위해 2차를 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보드(STM32N6570-DK)에 두 임계도가 공존합니다. 1차는 NPU 추론 25 ms, 2차는 ThreadX 최악 응답 22.6 µs. IMU 융합 스레드(우선순위 3)가 NPU 프레임 스레드(4)를 선점하므로 추론이 돌고 있어도 IMU 판정은 밀리지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STM32N6570-DK 와 AI 카메라 MB1854B 가 메인 보드, Raspberry Pi 5 16 GB + AI HAT+ 2 는 기상 맥락·브리지·교차 검증용 호스트(대회 필수 보드)입니다. RealSense D435i 와 RTX 5090 은 센서·렌더, NVMe SSD 와 보조배터리로 콘센트 없이 같은 구성을 돌립니다. Moza 휠·페달은 사람이 직접 CARLA 를 운전하는 경로입니다.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개발계획서 대비 세 가지를 바꿨습니다. 2차 실행 환경을 Pi 5 리눅스에서 STM32N6 + ThreadX 로 — 리눅스 최악 깨어남 지연이 5,790 µs 로 측정됐기 때문입니다. 1차 NPU 를 Hailo 단독에서 Neural-ART 주로 — Dataflow Compiler 를 확보하지 못했습니다. 검증을 실차 실측에서 HIL + 실사진 69,358장으로. 이중 안전망 구조와 1·2차 전략은 계획서 그대로입니다.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데이터셋을 먼저 고르지 않고 헤드별 정답을 먼저 정의했습니다. 1차 주 학습은 RSCD, 반사도 헤드 근거는 RoadSaW 의 실측 수막 두께, 2차 칼만 공분산은 PVS 실측 IMU. RSCD 27클래스를 정상·젖음·결빙 위험·포트홀 4클래스로 묶었습니다.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보조 데이터셋 6종의 역할입니다. RoadSaW 에는 눈·얼음이 없고 ROAD 의 클래스는 노면 종류라 결빙이 없습니다. 이 한계를 알고 반사도 근거·국내 도메인 검증·실측 IMU·폭설 점검으로 역할을 나눠 썼습니다.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MobileNetV3-Small 백본, 4클래스 로짓 + 반사도 헤드, ONNX opset 13, int8 PTQ. 표준 PTQ 로는 stem 층 활성 분포가 넓어 정확도가 떨어졌고 stem 등화와 클리핑으로 회복했습니다. Neural-ART @ 1 GHz 에서 추론 25 ms, 카메라 ROI 는 전방 7.9~42.2 m 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시뮬레이션 화면이 아니라 RSCD 실사진 69,358장을 STM32N6 에 넣어 보드에서 받은 판정입니다. 블랙아이스 경보율 96.6 %, 마른 노면 오경보 0.3 %, 젖은 노면 0.8 %. 운영 문턱 0.603 은 전량 스윕에서 절벽 구간을 찾아 정했고, 장당 판정을 남겨 두어 문턱을 바꿔 재계산할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맑은 낮 40 km/h, 마찰 0.02. 6.10 s 에 위험도 0.443 으로 1차 경보, 7.14 s 에 빙판 23.6 m 앞에서 정지. 빙판에 닿지 않았습니다. 같은 주행선에서 날씨 11종을 모두 돌려 인식·정지 14회, 경고 늦음 7회, 미인식 10회, 오경보 1회였습니다.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위험도는 분류 확률·반사도·차선 가시성의 가중합이고 기상·위치 맥락이 가중치를 바꿉니다. 쓸 수 없는 신호에 0 을 넣으면 상한이 잘리므로 분모에서 빼서 재정규화합니다. 문턱은 0.441 에서 0.603 으로 재교정해 젖은 노면 오경보를 40 % 에서 0.8 % 로 내렸고, 폭우는 강수 게이트로 분리했습니다.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IMU 50 Hz → 2상태 칼만 필터 → 자전거 모델 잔차 → 타원 밖이 3샘플(60 ms) 연속이면 미끄러짐 확정. 직사각형 규칙은 모서리에서 저속 지연이 있어 타원으로 바꿨고, 조향 지연 τ 0.06 s 를 넣어 급조향 오탐을 없앴습니다. C 코어는 파이썬 참조 구현과 같은 판정을 내리는지 매 커밋 검증합니다.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1차를 끈 상태(미인식 가정)로 38.7 km/h 진입. 7.62 s 에 STM32N6 RTOS 가 미끄러짐을 확정(진입 1.78 s 만), hard_stop 뒤 왼쪽 차로가 비어 evade_left 로 전환, 11.68 s 에 차선 안 정지. 2차 발동 62회, 진입→확정 평균 2.41 s, 확정→정지 평균 3.78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리눅스는 중앙값 69 µs 로 빠르지만 최악 5,790 µs — 20 ms 제어 주기의 29 % 를 지터 한 번이 먹습니다. ThreadX 는 49,405 표본에서 최악 22.6 µs. 안전 기능의 기준은 평균이 아니라 꼬리이고, 우선순위를 뒤집으면 스케줄 자체가 불가능해집니다.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방어를 모두 끈 기준선 9건 전부 차선을 벗어나 88~99° 가로로 미끄러졌고, 5건은 42~52 km/h 로 방호벽에 부딪혔습니다(충돌 직전 속도 — 처음 기록한 12~17 km/h 는 충격 뒤 값이었습니다). 제어 상실 후 운전자 입력은 모형화하지 않았습니다 — 비교 대상은 '우리 시스템이 개입하느냐' 이기 때문입니다. 영상은 방호벽 충돌 주행입니다.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날씨·주행선·빙판·주변 차량 8대, 차이는 2차 방어 하나. 왼쪽 방어 없음은 15.0 s 에 25.4 km/h 로 제어를 잃은 채 미끄러지는 중이고, 오른쪽 RTOS 2차 방어는 13.2 s 에 차선 안에서 정지했습니다. 맑은 낮·밤·젖은 노면·눈 4종에서 같은 비교를 만들었습니다.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날씨 11종에서 1차 경보가 난 같은 순간, 시맨틱 라이다 64채널(청록이 빙판), 카메라·2D 분할·라이다 자동 라벨. 주행 108회 이벤트 JSON 을 저장소에 올려 CARLA 도 보드도 없이 summarize_runs.py 로 집계표를 재생성할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한계 네 가지. 경보 거리는 해상도 문제(모델 최소 80 px vs ROI 91 px). 2차는 예방이 아니라 60 km/h 에서는 개입해도 39.2 km/h 로 충돌했습니다. 밤에 41 m 밖 빙판을 두고 오경보가 났고, RSCD 질감을 입힌 CARLA 노면에는 반응하지 않는 도메인 갭이 있습니다. Hailo 교차 검증과 D435i 실측 IMU 는 남은 과제입니다.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블랙아이스 라벨이 없다는 한계에서 출발해 STM32N6 한 보드 위에 이중 안전망을 올렸고, 모든 숫자는 실측에서 자동 생성됩니다. 향후 ROI 해상도 확대, 실사진 질감 재학습, Hailo-10H 교차 검증, D435i 실측 IMU. 저장소 주소는 화면과 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.jp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jpg"/><Relationship Id="rId7" Type="http://schemas.openxmlformats.org/officeDocument/2006/relationships/image" Target="../media/image19.jpg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3.jpg"/><Relationship Id="rId5" Type="http://schemas.openxmlformats.org/officeDocument/2006/relationships/image" Target="../media/image24.jpg"/><Relationship Id="rId6" Type="http://schemas.openxmlformats.org/officeDocument/2006/relationships/image" Target="../media/image25.jpg"/><Relationship Id="rId7" Type="http://schemas.openxmlformats.org/officeDocument/2006/relationships/image" Target="../media/image26.jpg"/><Relationship Id="rId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Relationship Id="rId4" Type="http://schemas.openxmlformats.org/officeDocument/2006/relationships/image" Target="../media/image29.jpg"/><Relationship Id="rId5" Type="http://schemas.openxmlformats.org/officeDocument/2006/relationships/image" Target="../media/image30.jpg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2.jpg"/><Relationship Id="rId5" Type="http://schemas.openxmlformats.org/officeDocument/2006/relationships/image" Target="../media/image33.jpg"/><Relationship Id="rId6" Type="http://schemas.openxmlformats.org/officeDocument/2006/relationships/image" Target="../media/image34.jpg"/><Relationship Id="rId7" Type="http://schemas.openxmlformats.org/officeDocument/2006/relationships/image" Target="../media/image35.jpg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38.jpg"/><Relationship Id="rId5" Type="http://schemas.openxmlformats.org/officeDocument/2006/relationships/image" Target="../media/image39.jpg"/><Relationship Id="rId6" Type="http://schemas.openxmlformats.org/officeDocument/2006/relationships/image" Target="../media/image40.jpg"/><Relationship Id="rId7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41.jpg"/><Relationship Id="rId5" Type="http://schemas.openxmlformats.org/officeDocument/2006/relationships/image" Target="../media/image42.jpg"/><Relationship Id="rId6" Type="http://schemas.openxmlformats.org/officeDocument/2006/relationships/image" Target="../media/image43.jpg"/><Relationship Id="rId7" Type="http://schemas.openxmlformats.org/officeDocument/2006/relationships/image" Target="../media/image44.jpg"/><Relationship Id="rId8" Type="http://schemas.openxmlformats.org/officeDocument/2006/relationships/image" Target="../media/image45.jpg"/><Relationship Id="rId9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microsoft.com/office/2007/relationships/media" Target="../media/media6.mp4"/><Relationship Id="rId4" Type="http://schemas.openxmlformats.org/officeDocument/2006/relationships/video" Target="../media/media6.mp4"/><Relationship Id="rId5" Type="http://schemas.openxmlformats.org/officeDocument/2006/relationships/image" Target="../media/image47.jpg"/><Relationship Id="rId6" Type="http://schemas.openxmlformats.org/officeDocument/2006/relationships/image" Target="../media/image48.jpg"/><Relationship Id="rI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microsoft.com/office/2007/relationships/media" Target="../media/media7.mp4"/><Relationship Id="rId4" Type="http://schemas.openxmlformats.org/officeDocument/2006/relationships/video" Target="../media/media7.mp4"/><Relationship Id="rId5" Type="http://schemas.openxmlformats.org/officeDocument/2006/relationships/image" Target="../media/image49.jpg"/><Relationship Id="rId6" Type="http://schemas.openxmlformats.org/officeDocument/2006/relationships/image" Target="../media/image50.jpg"/><Relationship Id="rId7" Type="http://schemas.openxmlformats.org/officeDocument/2006/relationships/image" Target="../media/image51.jpg"/><Relationship Id="rId8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jpg"/><Relationship Id="rId4" Type="http://schemas.openxmlformats.org/officeDocument/2006/relationships/image" Target="../media/image54.jpg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02C5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58000" y="6324600"/>
            <a:ext cx="5334000" cy="533400"/>
          </a:xfrm>
          <a:prstGeom prst="rect">
            <a:avLst/>
          </a:prstGeom>
          <a:solidFill>
            <a:srgbClr val="002C5F">
              <a:alpha val="82000"/>
            </a:srgbClr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029450" y="6400800"/>
            <a:ext cx="5029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Moza 휠·페달로 사람이 CARLA 를 직접 운전하는 HIL 시연. 운전자가 바뀌어도 보드는 같은 판정을 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23900"/>
            <a:ext cx="47625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AACAE6"/>
                </a:solidFill>
                <a:latin typeface="Pretendard"/>
                <a:ea typeface="Pretendard"/>
                <a:cs typeface="Pretendard"/>
              </a:rPr>
              <a:t>개발완료보고서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19200"/>
            <a:ext cx="59055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IcePredict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14550"/>
            <a:ext cx="59055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예측과 RTOS 반응의</a:t>
            </a:r>
            <a:br/>
            <a:r>
              <a:rPr sz="2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이중 안전망 블랙아이스 대응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7050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AACAE6"/>
                </a:solidFill>
                <a:latin typeface="Pretendard"/>
                <a:ea typeface="Pretendard"/>
                <a:cs typeface="Pretendard"/>
              </a:rPr>
              <a:t>AI가 노면을 미리 보고, 못 보더라도 RTOS가 차량 거동으로 확실히 잡는다.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5219700"/>
            <a:ext cx="5334000" cy="0"/>
          </a:xfrm>
          <a:prstGeom prst="line">
            <a:avLst/>
          </a:prstGeom>
          <a:ln w="6350">
            <a:solidFill>
              <a:srgbClr val="AAC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5391150"/>
            <a:ext cx="5715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제24회 임베디드SW경진대회 · 자동차/모빌리티 부문 (현대자동차)</a:t>
            </a:r>
          </a:p>
          <a:p>
            <a:pPr algn="l">
              <a:lnSpc>
                <a:spcPct val="145000"/>
              </a:lnSpc>
            </a:pPr>
            <a:r>
              <a:rPr sz="1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팀 ARTS</a:t>
            </a:r>
            <a:r>
              <a:rPr sz="1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· 이지성 · 남윤상 · 김진찬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000750"/>
            <a:ext cx="590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AACAE6"/>
                </a:solidFill>
                <a:latin typeface="Pretendard"/>
                <a:ea typeface="Pretendard"/>
                <a:cs typeface="Pretendard"/>
              </a:rPr>
              <a:t>STM32N6570-DK · Neural-ART NPU · ThreadX · Raspberry Pi 5 + AI HAT+ 2 · CARLA HIL</a:t>
            </a:r>
          </a:p>
          <a:p>
            <a:pPr algn="l">
              <a:lnSpc>
                <a:spcPct val="145000"/>
              </a:lnSpc>
            </a:pPr>
            <a:r>
              <a:rPr sz="900" b="0">
                <a:solidFill>
                  <a:srgbClr val="AACAE6"/>
                </a:solidFill>
                <a:latin typeface="Pretendard"/>
                <a:ea typeface="Pretendard"/>
                <a:cs typeface="Pretendard"/>
              </a:rPr>
              <a:t>github.com/gkgk0119gmail-arch/2026ESWContest_mobility_ARTS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23850"/>
            <a:ext cx="57150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600" y="314325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02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1125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C1B1B"/>
                </a:solidFill>
                <a:latin typeface="Pretendard ExtraBold"/>
                <a:ea typeface="Pretendard ExtraBold"/>
                <a:cs typeface="Pretendard ExtraBold"/>
              </a:rPr>
              <a:t>한 장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95350"/>
            <a:ext cx="111252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AI가 노면을 미리 보고, 못 보더라도 RTOS가 차량 거동으로 확실히 잡는다.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648450"/>
            <a:ext cx="762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팀 ARTS · 제24회 임베디드SW경진대회 자동차/모빌리티(현대자동차) · github.com/gkgk0119gmail-arch/2026ESWContest_mobility_ARTS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34600" y="6638925"/>
            <a:ext cx="1524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IcePredict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3505200" cy="2081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465421"/>
            <a:ext cx="3505200" cy="706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블랙아이스는 공개 데이터에 라벨이 없다. 투명한 얼음은 아스팔트와 시각적으로 구분되지 않는다. 카메라 한 겹으로는 반드시 놓치는 경우가 남는다.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219200"/>
            <a:ext cx="3505200" cy="2081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해법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465421"/>
            <a:ext cx="3505200" cy="706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예측과 반응을 한 보드에 두 겹으로 올렸다. 1차는 NPU 비전이 빙판에 닿기 전에 세우고, 1차가 놓치면 2차가 IMU 거동으로 미끄러짐을 확정해 받는다.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3400" y="1219200"/>
            <a:ext cx="3505200" cy="2081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증명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3400" y="1465421"/>
            <a:ext cx="3505200" cy="706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실물 STM32N6 보드가 실제 펌웨어를 돌리고 CARLA 가 센서·물리를 제공하는 HIL 로 주행 108회, 실사진 69,358장을 보드에 직접 넣어 측정했다.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2286000"/>
            <a:ext cx="11125200" cy="990600"/>
          </a:xfrm>
          <a:prstGeom prst="rect">
            <a:avLst/>
          </a:prstGeom>
          <a:solidFill>
            <a:srgbClr val="002C5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2000" y="2419350"/>
            <a:ext cx="24955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96.1%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2876550"/>
            <a:ext cx="24955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AACAE6"/>
                </a:solidFill>
                <a:latin typeface="Pretendard"/>
                <a:ea typeface="Pretendard"/>
                <a:cs typeface="Pretendard"/>
              </a:rPr>
              <a:t>실사진 블랙아이스 6,340장 정답률</a:t>
            </a:r>
            <a:br/>
            <a:r>
              <a:rPr sz="900" b="0">
                <a:solidFill>
                  <a:srgbClr val="AACAE6"/>
                </a:solidFill>
                <a:latin typeface="Pretendard"/>
                <a:ea typeface="Pretendard"/>
                <a:cs typeface="Pretendard"/>
              </a:rPr>
              <a:t>경보율 96.6 %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3300" y="2419350"/>
            <a:ext cx="24955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0.3%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3300" y="2876550"/>
            <a:ext cx="24955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AACAE6"/>
                </a:solidFill>
                <a:latin typeface="Pretendard"/>
                <a:ea typeface="Pretendard"/>
                <a:cs typeface="Pretendard"/>
              </a:rPr>
              <a:t>마른 노면 19,018장 오경보율</a:t>
            </a:r>
            <a:br/>
            <a:r>
              <a:rPr sz="900" b="0">
                <a:solidFill>
                  <a:srgbClr val="AACAE6"/>
                </a:solidFill>
                <a:latin typeface="Pretendard"/>
                <a:ea typeface="Pretendard"/>
                <a:cs typeface="Pretendard"/>
              </a:rPr>
              <a:t>젖은 노면 0.8 %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600" y="2419350"/>
            <a:ext cx="24955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22.6 µs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600" y="2876550"/>
            <a:ext cx="24955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AACAE6"/>
                </a:solidFill>
                <a:latin typeface="Pretendard"/>
                <a:ea typeface="Pretendard"/>
                <a:cs typeface="Pretendard"/>
              </a:rPr>
              <a:t>2차 방어 최악 응답</a:t>
            </a:r>
            <a:br/>
            <a:r>
              <a:rPr sz="900" b="0">
                <a:solidFill>
                  <a:srgbClr val="AACAE6"/>
                </a:solidFill>
                <a:latin typeface="Pretendard"/>
                <a:ea typeface="Pretendard"/>
                <a:cs typeface="Pretendard"/>
              </a:rPr>
              <a:t>리눅스는 5,790 µs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5900" y="2419350"/>
            <a:ext cx="24955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9/9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5900" y="2876550"/>
            <a:ext cx="24955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AACAE6"/>
                </a:solidFill>
                <a:latin typeface="Pretendard"/>
                <a:ea typeface="Pretendard"/>
                <a:cs typeface="Pretendard"/>
              </a:rPr>
              <a:t>방어를 모두 끈 기준선</a:t>
            </a:r>
            <a:br/>
            <a:r>
              <a:rPr sz="900" b="0">
                <a:solidFill>
                  <a:srgbClr val="AACAE6"/>
                </a:solidFill>
                <a:latin typeface="Pretendard"/>
                <a:ea typeface="Pretendard"/>
                <a:cs typeface="Pretendard"/>
              </a:rPr>
              <a:t>전부 제어 상실</a:t>
            </a:r>
          </a:p>
        </p:txBody>
      </p:sp>
      <p:pic>
        <p:nvPicPr>
          <p:cNvPr id="23" name="v_compare_bev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33400" y="3409950"/>
            <a:ext cx="7239000" cy="29241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3400" y="6372225"/>
            <a:ext cx="7239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▶ 발표 모드에서 자동 재생 · 조감 비교 16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409950"/>
            <a:ext cx="3657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같은 빙판 · 같은 속도</a:t>
            </a:r>
            <a:br/>
            <a:r>
              <a:rPr sz="130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같은 주변 차량 8대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3905250"/>
            <a:ext cx="1714500" cy="282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E63312"/>
                </a:solidFill>
                <a:latin typeface="Pretendard ExtraBold"/>
                <a:ea typeface="Pretendard ExtraBold"/>
                <a:cs typeface="Pretendard ExtraBold"/>
              </a:rPr>
              <a:t>25.4 km/h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207192"/>
            <a:ext cx="1714500" cy="364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왼쪽 · 방어 없음</a:t>
            </a:r>
            <a:br/>
            <a:r>
              <a:rPr sz="8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제어를 잃고 차로를 가로질러 미끄러진다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67900" y="3905250"/>
            <a:ext cx="1714500" cy="282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AAD2"/>
                </a:solidFill>
                <a:latin typeface="Pretendard ExtraBold"/>
                <a:ea typeface="Pretendard ExtraBold"/>
                <a:cs typeface="Pretendard ExtraBold"/>
              </a:rPr>
              <a:t>0.0 km/h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67900" y="4207192"/>
            <a:ext cx="1714500" cy="364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오른쪽 · STM32N6 RTOS 2차 방어</a:t>
            </a:r>
            <a:br/>
            <a:r>
              <a:rPr sz="8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차선 안에서 정지했다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4705350"/>
            <a:ext cx="36576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실물 STM32N6 보드가 ThreadX 위에서 IMU 거동으로 미끄러짐을 확정하고 제동·조향을 내린다. 차이는 2차 방어 하나뿐이다.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n val="2"/>
                    </p:cond>
                  </p:end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23850"/>
            <a:ext cx="57150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600" y="314325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03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1125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C1B1B"/>
                </a:solidFill>
                <a:latin typeface="Pretendard ExtraBold"/>
                <a:ea typeface="Pretendard ExtraBold"/>
                <a:cs typeface="Pretendard ExtraBold"/>
              </a:rPr>
              <a:t>왜 블랙아이스는 비전만으로 풀리지 않는가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286500"/>
            <a:ext cx="11125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약점을 숨기지 않고, 이중 안전망 구조의 '존재 이유'를 데이터로 뒷받침한다 — 개발계획서에 적었던 방침을 그대로 지켰다.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648450"/>
            <a:ext cx="762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팀 ARTS · 제24회 임베디드SW경진대회 자동차/모빌리티(현대자동차) · github.com/gkgk0119gmail-arch/2026ESWContest_mobility_ARTS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34600" y="6638925"/>
            <a:ext cx="1524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IcePredict</a:t>
            </a:r>
          </a:p>
        </p:txBody>
      </p:sp>
      <p:pic>
        <p:nvPicPr>
          <p:cNvPr id="8" name="Picture 7" descr="real_failure_mi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028700"/>
            <a:ext cx="7239000" cy="3286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4371975"/>
            <a:ext cx="72390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우리 보드가 실제로 놓친 실사진 — 전부 정답이 블랙아이스인데 '정상'으로 판정했다. 위험도 0.01~0.04 라 운영 문턱(0.603)은 물론 어떤 문턱으로도 잡히지 않는다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4848225"/>
            <a:ext cx="2286000" cy="3857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E63312"/>
                </a:solidFill>
                <a:latin typeface="Pretendard ExtraBold"/>
                <a:ea typeface="Pretendard ExtraBold"/>
                <a:cs typeface="Pretendard ExtraBold"/>
              </a:rPr>
              <a:t>3.4 %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5253038"/>
            <a:ext cx="2286000" cy="452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실사진 얼음 6,340장 중 215장이</a:t>
            </a:r>
            <a:br/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어떤 문턱으로도 잡히지 않는다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9900" y="4848225"/>
            <a:ext cx="2286000" cy="3857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002C5F"/>
                </a:solidFill>
                <a:latin typeface="Pretendard ExtraBold"/>
                <a:ea typeface="Pretendard ExtraBold"/>
                <a:cs typeface="Pretendard ExtraBold"/>
              </a:rPr>
              <a:t>0 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9900" y="5253038"/>
            <a:ext cx="2286000" cy="452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공개 데이터셋의 '블랙아이스' 라벨</a:t>
            </a:r>
            <a:br/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RSCD ice 57,262장도 다져진 눈·서리에 가깝다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848225"/>
            <a:ext cx="2286000" cy="3857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00AAD2"/>
                </a:solidFill>
                <a:latin typeface="Pretendard ExtraBold"/>
                <a:ea typeface="Pretendard ExtraBold"/>
                <a:cs typeface="Pretendard ExtraBold"/>
              </a:rPr>
              <a:t>2 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5253038"/>
            <a:ext cx="2286000" cy="452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그래서 예측(AI)과 반응(RTOS)을</a:t>
            </a:r>
            <a:br/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한 보드에 두 겹으로 올렸다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7200" y="1028700"/>
            <a:ext cx="3581400" cy="2081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라벨이 없다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7200" y="1274921"/>
            <a:ext cx="3581400" cy="972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공개 데이터셋에 '블랙아이스' 라벨이 없다. RSCD 의 ice 57,262장도 다져진 눈·서리에 가까운 '얼음 노면'일 뿐, 투명한 블랙아이스를 따로 구분하지 않는다.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7200" y="2381250"/>
            <a:ext cx="3581400" cy="2081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원래 어려운 문제다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7200" y="2627471"/>
            <a:ext cx="3581400" cy="972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투명·검은 얼음이 아스팔트와 시각적으로 구분되지 않는다는 것은 업계 통설이다. 우리 모델도 마찬가지로, 실사진 얼음 6,340장 중 215장(3.4 %)이 문턱 아래에 남는다.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77200" y="3810000"/>
            <a:ext cx="3581400" cy="1676400"/>
          </a:xfrm>
          <a:prstGeom prst="rect">
            <a:avLst/>
          </a:prstGeom>
          <a:solidFill>
            <a:srgbClr val="F6F3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0" y="3962400"/>
            <a:ext cx="3276600" cy="2081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그래서 내린 결론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208621"/>
            <a:ext cx="3276600" cy="11253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1차는 블랙아이스를 직접 맞히려 하지 않는다. '결빙 위험 노면 확률 + 반사도 이상 + 기상 맥락'으로 위험도를 올린다. 그리고 그 전략이 실패할 때를 위해 2차가 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23850"/>
            <a:ext cx="57150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600" y="314325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04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1125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C1B1B"/>
                </a:solidFill>
                <a:latin typeface="Pretendard ExtraBold"/>
                <a:ea typeface="Pretendard ExtraBold"/>
                <a:cs typeface="Pretendard ExtraBold"/>
              </a:rPr>
              <a:t>이중 안전망 — 예측(AI)과 반응(RTOS)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286500"/>
            <a:ext cx="11125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ThreadX 우선순위는 IMU 융합 스레드가 3, NPU 프레임 스레드가 4다. 25 ms짜리 추론이 돌고 있어도 IMU 판정이 선점한다 — 혼합 임계도(mixed-criticality) AI ECU 구조.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648450"/>
            <a:ext cx="762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팀 ARTS · 제24회 임베디드SW경진대회 자동차/모빌리티(현대자동차) · github.com/gkgk0119gmail-arch/2026ESWContest_mobility_ARTS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34600" y="6638925"/>
            <a:ext cx="1524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IcePredict</a:t>
            </a:r>
          </a:p>
        </p:txBody>
      </p:sp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028700"/>
            <a:ext cx="6858000" cy="31146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0" y="1085850"/>
            <a:ext cx="2857500" cy="3857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00AAD2"/>
                </a:solidFill>
                <a:latin typeface="Pretendard ExtraBold"/>
                <a:ea typeface="Pretendard ExtraBold"/>
                <a:cs typeface="Pretendard ExtraBold"/>
              </a:rPr>
              <a:t>25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490662"/>
            <a:ext cx="2857500" cy="471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1차 방어 · STM32N6 Neural-ART NPU</a:t>
            </a:r>
            <a:br/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노면 4분류 + 반사도 추론 한 프레임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171700"/>
            <a:ext cx="2857500" cy="3857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E63312"/>
                </a:solidFill>
                <a:latin typeface="Pretendard ExtraBold"/>
                <a:ea typeface="Pretendard ExtraBold"/>
                <a:cs typeface="Pretendard ExtraBold"/>
              </a:rPr>
              <a:t>22.6 µs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576512"/>
            <a:ext cx="2857500" cy="471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2차 방어 · ThreadX 최악 응답</a:t>
            </a:r>
            <a:br/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IMU 샘플 → 미끄러짐 판정 → 제어 출력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57550"/>
            <a:ext cx="2857500" cy="3857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002C5F"/>
                </a:solidFill>
                <a:latin typeface="Pretendard ExtraBold"/>
                <a:ea typeface="Pretendard ExtraBold"/>
                <a:cs typeface="Pretendard ExtraBold"/>
              </a:rPr>
              <a:t>3 ›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662362"/>
            <a:ext cx="2857500" cy="6429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ThreadX 우선순위 — IMU 융합 3, NPU 프레임 4</a:t>
            </a:r>
            <a:br/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추론이 돌고 있어도 IMU 판정이 선점한다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33400" y="4352925"/>
          <a:ext cx="11125200" cy="141922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83532"/>
                <a:gridCol w="4970834"/>
                <a:gridCol w="4970834"/>
              </a:tblGrid>
              <a:tr h="2286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AAD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1차 방어 · 예측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AA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E6331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2차 방어 · 반응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E63312"/>
                      </a:solidFill>
                      <a:prstDash val="solid"/>
                    </a:lnB>
                    <a:noFill/>
                  </a:tcPr>
                </a:tc>
              </a:tr>
              <a:tr h="238125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센서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전방 카메라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IMU (횡가속 · yaw rate · 종가속)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38125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판단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노면 4분류 + 반사도 + 기상 맥락 → 위험도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칼만 필터 + 자전거 모델 잔차 → 미끄러짐 확정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38125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시점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빙판에 닿기 전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미끄러지기 시작한 뒤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38125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성격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똑똑하지만 틀릴 수 있다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단순하지만 제때 반드시 실행된다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38125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STM32N6 NPU · 25 ms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STM32N6 + ThreadX · 최악 22.6 µs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23850"/>
            <a:ext cx="57150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600" y="314325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05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1125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C1B1B"/>
                </a:solidFill>
                <a:latin typeface="Pretendard ExtraBold"/>
                <a:ea typeface="Pretendard ExtraBold"/>
                <a:cs typeface="Pretendard ExtraBold"/>
              </a:rPr>
              <a:t>하드웨어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648450"/>
            <a:ext cx="762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팀 ARTS · 제24회 임베디드SW경진대회 자동차/모빌리티(현대자동차) · github.com/gkgk0119gmail-arch/2026ESWContest_mobility_ARTS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34600" y="6638925"/>
            <a:ext cx="1524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IcePredict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028700"/>
            <a:ext cx="4000500" cy="3143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4229100"/>
            <a:ext cx="40005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STM32N6570-DK</a:t>
            </a: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 + AI 카메라 MB1854B — 왼쪽은 보조배터리, 위는 NVMe SSD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028700"/>
            <a:ext cx="2247900" cy="3143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8200" y="4229100"/>
            <a:ext cx="22479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Raspberry Pi 5 16 GB + AI HAT+ 2</a:t>
            </a:r>
            <a:br/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KKSB 케이스 · 액티브 쿨러</a:t>
            </a:r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1028700"/>
            <a:ext cx="2247900" cy="3143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10400" y="4229100"/>
            <a:ext cx="22479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RealSense D435i</a:t>
            </a: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 (RGB·뎁스·IMU)</a:t>
            </a:r>
            <a:br/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NVMe 1 TB SSD 외장</a:t>
            </a:r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1028700"/>
            <a:ext cx="2247900" cy="3143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72600" y="4229100"/>
            <a:ext cx="22479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Moza 휠 · 페달</a:t>
            </a: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 — 사람이 직접</a:t>
            </a:r>
            <a:br/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CARLA 를 운전하는 경로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33400" y="4648200"/>
          <a:ext cx="11125201" cy="15621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61621"/>
                <a:gridCol w="3899555"/>
                <a:gridCol w="5964025"/>
              </a:tblGrid>
              <a:tr h="2286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  <a:endParaRPr sz="9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정식 명칭</a:t>
                      </a:r>
                      <a:endParaRPr sz="9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역할</a:t>
                      </a:r>
                      <a:endParaRPr sz="9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메인 보드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STM32N6570-DK (MB1939-N6570-C02 + MB1860B)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1차 NPU 추론(Neural-ART @ 1 GHz) + 2차 ThreadX 실시간 판정·제어. 두 임계도가 한 보드에 공존한다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카메라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ST AI Camera module MB1854B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1차 방어 입력. 보드에 직결되어 NPU 로 바로 들어간다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호스트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Raspberry Pi 5 16 GB + AI HAT+ 2 (Hailo-10H)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기상 맥락 생성, ZMQ 브리지, 교차 검증용 NPU (대회 필수 보드)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저장·전원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NVMe 1 TB SSD 외장 · 보조배터리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데이터셋·주행 로그 적재 / 콘센트 없이 같은 구성을 돌리기 위한 것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센서·렌더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Intel RealSense D435i · RTX 5090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실측 IMU 노이즈 확보 / CARLA 0.9.16 물리·센서 제공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23850"/>
            <a:ext cx="57150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600" y="314325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06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1125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C1B1B"/>
                </a:solidFill>
                <a:latin typeface="Pretendard ExtraBold"/>
                <a:ea typeface="Pretendard ExtraBold"/>
                <a:cs typeface="Pretendard ExtraBold"/>
              </a:rPr>
              <a:t>개발계획서 대비 변경점과 그 이유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648450"/>
            <a:ext cx="762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팀 ARTS · 제24회 임베디드SW경진대회 자동차/모빌리티(현대자동차) · github.com/gkgk0119gmail-arch/2026ESWContest_mobility_ARTS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34600" y="6638925"/>
            <a:ext cx="1524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IcePredict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3400" y="1028700"/>
          <a:ext cx="11125200" cy="2362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89314"/>
                <a:gridCol w="1801223"/>
                <a:gridCol w="2225040"/>
                <a:gridCol w="5509623"/>
              </a:tblGrid>
              <a:tr h="2286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  <a:endParaRPr sz="9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개발계획서(6월)</a:t>
                      </a:r>
                      <a:endParaRPr sz="9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실제 구현</a:t>
                      </a:r>
                      <a:endParaRPr sz="9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바꾼 이유</a:t>
                      </a:r>
                      <a:endParaRPr sz="9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2차 방어 실행 환경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Pi 5 + 리눅스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STM32N6 + ThreadX RTOS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리눅스 최악 깨어남 지연이 </a:t>
                      </a:r>
                      <a:r>
                        <a:rPr sz="950" b="1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5,790 µs</a:t>
                      </a: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로 측정됐다. 제어 주기 20 ms의 29 %를 한 번의 지터가 먹는다. 평균이 아니라 꼬리가 안전 기능의 기준이다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1차 NPU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Hailo-10H 단독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Neural-ART(N6) 주</a:t>
                      </a: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 · Hailo 교차검증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Hailo Dataflow Compiler 를 확보하지 못해 int8 변환 경로를 열지 못했다. 1·2차를 한 보드에 올리는 편이 선점 구조를 증명하기에도 맞다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검증 방법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1/5 차량 저마찰 노면 실측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HIL</a:t>
                      </a: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 (실물 보드 + CARLA) + 실사진 69,358장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실물 빙판을 재현 가능하게 만들기 어렵다. 대신 펌웨어는 실물 보드에서 그대로 돌리고, 비전 성능은 시뮬 화면이 아닌 실제 도로 사진으로 측정했다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노면 클래스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정상 / 젖음 / 결빙 위험 / 포트홀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동일 (유지)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RSCD 27클래스 → 4클래스 매핑을 계획대로 적용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8" name="Picture 7" descr="rtos_latenc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224" y="3562350"/>
            <a:ext cx="3274002" cy="18954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5505450"/>
            <a:ext cx="32956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1번 변경의 근거 — 같은 연산의 지연 분포. 리눅스는 꼬리가 길다</a:t>
            </a:r>
          </a:p>
        </p:txBody>
      </p:sp>
      <p:pic>
        <p:nvPicPr>
          <p:cNvPr id="10" name="Picture 9" descr="schedule_invert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9978" y="3562350"/>
            <a:ext cx="5069294" cy="18954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81450" y="5505450"/>
            <a:ext cx="50863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2번 변경의 근거 — 우선순위를 뒤집으면 NPU 추론(25 ms)이 IMU 주기(20 ms)를 막는다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20200" y="3562350"/>
            <a:ext cx="2438400" cy="2190750"/>
          </a:xfrm>
          <a:prstGeom prst="rect">
            <a:avLst/>
          </a:prstGeom>
          <a:solidFill>
            <a:srgbClr val="F6F3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72600" y="3714750"/>
            <a:ext cx="2133600" cy="2081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바뀌지 않은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3960971"/>
            <a:ext cx="2133600" cy="16397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이중 안전망이라는 구조와, '블랙아이스를 직접 맞히지 않고 위험도를 올린다'는 1차 전략, '노면 라벨과 무관하게 차량 거동으로 확정한다'는 2차 전략은 계획서 그대로다. 바뀐 것은 전부 그 구조를 더 확실히 증명하기 위한 수단이다.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23850"/>
            <a:ext cx="57150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600" y="314325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07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1125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C1B1B"/>
                </a:solidFill>
                <a:latin typeface="Pretendard ExtraBold"/>
                <a:ea typeface="Pretendard ExtraBold"/>
                <a:cs typeface="Pretendard ExtraBold"/>
              </a:rPr>
              <a:t>데이터 전략 — 모델 헤드별 정답을 먼저 정의했다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95350"/>
            <a:ext cx="111252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데이터셋을 먼저 고르지 않았다. 각 헤드가 무엇을 정답으로 배워야 하는지를 정의한 뒤 거기에 맞는 공개 데이터셋을 매핑했다.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286500"/>
            <a:ext cx="11125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데이터셋 그림은 각 공개 데이터셋의 논문·공식 사이트에서 가져온 설명 목적의 인용이며, 라이선스는 저장소 NOTICE 에 명시했다.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648450"/>
            <a:ext cx="762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팀 ARTS · 제24회 임베디드SW경진대회 자동차/모빌리티(현대자동차) · github.com/gkgk0119gmail-arch/2026ESWContest_mobility_ARTS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34600" y="6638925"/>
            <a:ext cx="1524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IcePredict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3400" y="1219200"/>
          <a:ext cx="5715000" cy="1828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25078"/>
                <a:gridCol w="2232422"/>
                <a:gridCol w="1250156"/>
                <a:gridCol w="1607344"/>
              </a:tblGrid>
              <a:tr h="2286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방어</a:t>
                      </a:r>
                      <a:endParaRPr sz="9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필요한 정답(label)</a:t>
                      </a:r>
                      <a:endParaRPr sz="9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데이터셋</a:t>
                      </a:r>
                      <a:endParaRPr sz="9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활용</a:t>
                      </a:r>
                      <a:endParaRPr sz="9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1차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건조 / 젖음 / 눈 / 결빙 클래스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RSCD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 학습 (사전학습)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1차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실측 수막 두께 (센서 GT)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RoadSaW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반사도 헤드 근거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1차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눈 · 비 · 안개 + 조도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Hub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국내 도로 도메인 검증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2차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실측 6축 IMU + 노면 라벨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PVS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칼만 공분산 설정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2차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RGB-IMU 동기화 · 악조건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ROAD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비교 기준선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보조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실제 폭설 주행 씬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CADC · WADS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야간 · 악천후 점검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보조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자동 라벨 (차선 가시성)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CARLA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합성 데이터 생성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77000" y="1219200"/>
            <a:ext cx="5181600" cy="1828800"/>
          </a:xfrm>
          <a:prstGeom prst="rect">
            <a:avLst/>
          </a:prstGeom>
          <a:solidFill>
            <a:srgbClr val="F6F3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629400" y="1371600"/>
            <a:ext cx="4876800" cy="2081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RSCD 27클래스 → 우리 4클래스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617821"/>
            <a:ext cx="4876800" cy="1277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950" b="1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정상</a:t>
            </a: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 ← 건조 (dry)　　</a:t>
            </a:r>
            <a:r>
              <a:rPr sz="950" b="1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젖음</a:t>
            </a: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 ← 젖음 · 물 고임 (wet · water)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950" b="1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결빙 위험</a:t>
            </a: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 ← 결빙 · 녹은 눈 (ice · melted snow)　　</a:t>
            </a:r>
            <a:r>
              <a:rPr sz="950" b="1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포트홀</a:t>
            </a: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 ← 요철 '심함' 라벨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약 100만 장(공개 서브셋 37만 장) · 27클래스 = 마찰 6 × 재질 4 × 요철 3 · 베이징 약 700 km 실도로 주행(2022) · 240×360 패치라 NPU 입력 크기에 맞는다 · 눈·얼음은 결빙 57,262 · 녹은 눈 64,263 · 신설 76,730장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3400" y="3200400"/>
            <a:ext cx="3632200" cy="2762250"/>
          </a:xfrm>
          <a:prstGeom prst="rect">
            <a:avLst/>
          </a:prstGeom>
          <a:solidFill>
            <a:srgbClr val="F6F3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4" name="Picture 13" descr="ds_rscd_class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4055884"/>
            <a:ext cx="3441700" cy="105128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3400" y="6010275"/>
            <a:ext cx="36322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RSCD 클래스별 샘플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9900" y="3200400"/>
            <a:ext cx="3632200" cy="2762250"/>
          </a:xfrm>
          <a:prstGeom prst="rect">
            <a:avLst/>
          </a:prstGeom>
          <a:solidFill>
            <a:srgbClr val="F6F3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" name="Picture 16" descr="ds_rscd_pat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5150" y="3603953"/>
            <a:ext cx="3441700" cy="19551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79900" y="6010275"/>
            <a:ext cx="36322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주행 영상에서 노면 영역만 잘라 패치로 쓴다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26400" y="3200400"/>
            <a:ext cx="3632200" cy="2762250"/>
          </a:xfrm>
          <a:prstGeom prst="rect">
            <a:avLst/>
          </a:prstGeom>
          <a:solidFill>
            <a:srgbClr val="F6F3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0" name="Picture 19" descr="ds_rscd_camer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650" y="4136330"/>
            <a:ext cx="3441700" cy="89039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026400" y="6010275"/>
            <a:ext cx="36322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차량 전방 카메라 — 20~80 km/h 주행 촬영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23850"/>
            <a:ext cx="57150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600" y="314325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08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1125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C1B1B"/>
                </a:solidFill>
                <a:latin typeface="Pretendard ExtraBold"/>
                <a:ea typeface="Pretendard ExtraBold"/>
                <a:cs typeface="Pretendard ExtraBold"/>
              </a:rPr>
              <a:t>반사도 · 국내 도로 · 실측 IMU · 폭설 — 보조 데이터셋 6종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286500"/>
            <a:ext cx="11125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⚠ RoadSaW 에는 눈·얼음이 없고, ROAD 의 클래스는 노면 종류(아스팔트/블록/비포장)라 결빙이 없다. 한계를 알고 역할을 나눠 썼다.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648450"/>
            <a:ext cx="762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팀 ARTS · 제24회 임베디드SW경진대회 자동차/모빌리티(현대자동차) · github.com/gkgk0119gmail-arch/2026ESWContest_mobility_ARTS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34600" y="6638925"/>
            <a:ext cx="1524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IcePredict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1028700"/>
            <a:ext cx="3632200" cy="2085975"/>
          </a:xfrm>
          <a:prstGeom prst="rect">
            <a:avLst/>
          </a:prstGeom>
          <a:solidFill>
            <a:srgbClr val="F6F3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9" name="Picture 8" descr="ds_roadsa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345802"/>
            <a:ext cx="3441700" cy="14517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3171825"/>
            <a:ext cx="3632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RoadSaW</a:t>
            </a: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 12클래스 = 노면 3종 × 젖음 4단계. MARWIS 로 수막 두께 실측 → 반사도 회귀의 근거. 패치 약 72만 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900" y="1028700"/>
            <a:ext cx="3632200" cy="2085975"/>
          </a:xfrm>
          <a:prstGeom prst="rect">
            <a:avLst/>
          </a:prstGeom>
          <a:solidFill>
            <a:srgbClr val="F6F3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2" name="Picture 11" descr="ds_aihu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815" y="1123950"/>
            <a:ext cx="1994369" cy="18954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79900" y="3171825"/>
            <a:ext cx="3632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AI Hub</a:t>
            </a: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 승용 자율주행차 악천후(71626). 카메라·라이다·레이더 + 2D 분할 라벨 + 3D 박스 — 우리 라벨 형식의 본보기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6400" y="1028700"/>
            <a:ext cx="3632200" cy="2085975"/>
          </a:xfrm>
          <a:prstGeom prst="rect">
            <a:avLst/>
          </a:prstGeom>
          <a:solidFill>
            <a:srgbClr val="F6F3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" name="Picture 14" descr="ds_pv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5130" y="1123950"/>
            <a:ext cx="2374741" cy="18954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26400" y="3171825"/>
            <a:ext cx="3632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PVS</a:t>
            </a: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 MPU-9250 IMU 100 Hz 를 대시보드·서스펜션 3곳에. 9세트 = 차량 3 × 운전자 3 × 경로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3400" y="3686175"/>
            <a:ext cx="3632200" cy="2085975"/>
          </a:xfrm>
          <a:prstGeom prst="rect">
            <a:avLst/>
          </a:prstGeom>
          <a:solidFill>
            <a:srgbClr val="F6F3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8" name="Picture 17" descr="ds_roa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873" y="3781425"/>
            <a:ext cx="3075254" cy="18954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33400" y="5829300"/>
            <a:ext cx="3632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ROAD</a:t>
            </a: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 카메라 30 fps + IMU 5개 400 Hz 동기, 약 115만 프레임. 야간·폭우·먼지 악조건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9900" y="3686175"/>
            <a:ext cx="3632200" cy="2085975"/>
          </a:xfrm>
          <a:prstGeom prst="rect">
            <a:avLst/>
          </a:prstGeom>
          <a:solidFill>
            <a:srgbClr val="F6F3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1" name="Picture 20" descr="ds_cadc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5150" y="4347447"/>
            <a:ext cx="3441700" cy="76343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279900" y="5829300"/>
            <a:ext cx="3632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CADC</a:t>
            </a: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 눈길 실주행 5.6만 장 · 라이다 7천 스윕 · 75개 장면 (캐나다 워털루)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26400" y="3686175"/>
            <a:ext cx="3632200" cy="2085975"/>
          </a:xfrm>
          <a:prstGeom prst="rect">
            <a:avLst/>
          </a:prstGeom>
          <a:solidFill>
            <a:srgbClr val="F6F3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4" name="Picture 23" descr="ds_wads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1650" y="3978246"/>
            <a:ext cx="3441700" cy="150183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026400" y="5829300"/>
            <a:ext cx="3632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WADS</a:t>
            </a: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 미시간 폭설 라이다. '내리는 눈 / 쌓인 눈'을 포인트별 라벨(36억 점)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23850"/>
            <a:ext cx="57150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00AAD2"/>
                </a:solidFill>
                <a:latin typeface="Pretendard"/>
                <a:ea typeface="Pretendard"/>
                <a:cs typeface="Pretendard"/>
              </a:rPr>
              <a:t>1차 방어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600" y="314325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09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1125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C1B1B"/>
                </a:solidFill>
                <a:latin typeface="Pretendard ExtraBold"/>
                <a:ea typeface="Pretendard ExtraBold"/>
                <a:cs typeface="Pretendard ExtraBold"/>
              </a:rPr>
              <a:t>모델과 int8 배포 — RoadNet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648450"/>
            <a:ext cx="762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팀 ARTS · 제24회 임베디드SW경진대회 자동차/모빌리티(현대자동차) · github.com/gkgk0119gmail-arch/2026ESWContest_mobility_ARTS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34600" y="6638925"/>
            <a:ext cx="1524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IcePredict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3400" y="1028700"/>
          <a:ext cx="5334000" cy="26098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03684"/>
                <a:gridCol w="3930316"/>
              </a:tblGrid>
              <a:tr h="2286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  <a:endParaRPr sz="9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값</a:t>
                      </a:r>
                      <a:endParaRPr sz="9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</a:tr>
              <a:tr h="238125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백본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MobileNetV3-Small (ImageNet 사전학습)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38125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1×3×224×224 NCHW, int8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38125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출력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4클래스 로짓 + 반사도 헤드 (576→64→1)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38125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내보내기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ONNX opset 13, 고정 배치 1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38125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양자화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int8 PTQ (QDQ), 가중치 채널별 · 활성 대칭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38125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 양자화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scale 0.018658448, zero-point −14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38125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출력 양자화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scale 0.029451849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38125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프레임당 전송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150,528 B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38125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NPU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Neural-ART @ 1 GHz · 추론 </a:t>
                      </a:r>
                      <a:r>
                        <a:rPr sz="950" b="1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 ms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38125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카메라 ROI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차량 전방 </a:t>
                      </a:r>
                      <a:r>
                        <a:rPr sz="950" b="1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7.9 ~ 42.2 m</a:t>
                      </a: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 (FOV 60°, 피치 −12°)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790950"/>
            <a:ext cx="5334000" cy="2324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6162675"/>
            <a:ext cx="5334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이 모델이 실제로 돌아가는 보드 — STM32N6570-DK 위의 AI 카메라 MB1854B 가 NPU 입력을 바로 공급한다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4100" y="1028700"/>
            <a:ext cx="5524500" cy="2081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AAD2"/>
                </a:solidFill>
                <a:latin typeface="Pretendard"/>
                <a:ea typeface="Pretendard"/>
                <a:cs typeface="Pretendard"/>
              </a:rPr>
              <a:t>반사도 헤드를 따로 둔 이유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4100" y="1274921"/>
            <a:ext cx="5524500" cy="11825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블랙아이스의 단서는 '무슨 노면인가'보다 '빛을 어떻게 되돌리는가'에 가깝다. 분류 로짓 하나로는 젖음과 결빙이 섞인다. RoadSaW 의 실측 수막 두께를 정답으로 반사도를 회귀로 따로 배우게 하고, 융합 단계에서 분류 확률과 더한다.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4100" y="2552700"/>
            <a:ext cx="5524500" cy="2081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AAD2"/>
                </a:solidFill>
                <a:latin typeface="Pretendard"/>
                <a:ea typeface="Pretendard"/>
                <a:cs typeface="Pretendard"/>
              </a:rPr>
              <a:t>양자화에서 겪은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4100" y="2798921"/>
            <a:ext cx="5524500" cy="11825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표준 PTQ 로는 stem 층의 활성 분포가 넓어 int8 에서 정확도가 떨어졌다. stem 등화(equalization)와 클리핑을 적용해 회복했고, QDQ 그래프를 u8→i8 로 다시 쓰는 변환을 거쳐 Neural-ART 가 받는 형태로 맞췄다.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4100" y="4171950"/>
            <a:ext cx="55245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배포 경로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34100" y="4419600"/>
            <a:ext cx="1309688" cy="1943100"/>
          </a:xfrm>
          <a:prstGeom prst="rect">
            <a:avLst/>
          </a:prstGeom>
          <a:solidFill>
            <a:srgbClr val="F6F3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48400" y="4533900"/>
            <a:ext cx="1081088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00AAD2"/>
                </a:solidFill>
                <a:latin typeface="Pretendard ExtraBold"/>
                <a:ea typeface="Pretendard ExtraBold"/>
                <a:cs typeface="Pretendard ExtraBold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4857750"/>
            <a:ext cx="1081088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1C1B1B"/>
                </a:solidFill>
                <a:latin typeface="Pretendard"/>
                <a:ea typeface="Pretendard"/>
                <a:cs typeface="Pretendard"/>
              </a:rPr>
              <a:t>학습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5086350"/>
            <a:ext cx="1081088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PyTorch · RSCD 패치</a:t>
            </a:r>
            <a:br/>
            <a:r>
              <a:rPr sz="9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MobileNetV3-Small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39038" y="4419600"/>
            <a:ext cx="1309688" cy="1943100"/>
          </a:xfrm>
          <a:prstGeom prst="rect">
            <a:avLst/>
          </a:prstGeom>
          <a:solidFill>
            <a:srgbClr val="F6F3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53338" y="4533900"/>
            <a:ext cx="1081088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00AAD2"/>
                </a:solidFill>
                <a:latin typeface="Pretendard ExtraBold"/>
                <a:ea typeface="Pretendard ExtraBold"/>
                <a:cs typeface="Pretendard ExtraBol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338" y="4857750"/>
            <a:ext cx="1081088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1C1B1B"/>
                </a:solidFill>
                <a:latin typeface="Pretendard"/>
                <a:ea typeface="Pretendard"/>
                <a:cs typeface="Pretendard"/>
              </a:rPr>
              <a:t>내보내기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3338" y="5086350"/>
            <a:ext cx="1081088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ONNX opset 13</a:t>
            </a:r>
            <a:br/>
            <a:r>
              <a:rPr sz="9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고정 배치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43975" y="4419600"/>
            <a:ext cx="1309688" cy="1943100"/>
          </a:xfrm>
          <a:prstGeom prst="rect">
            <a:avLst/>
          </a:prstGeom>
          <a:solidFill>
            <a:srgbClr val="F6F3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058275" y="4533900"/>
            <a:ext cx="1081088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00AAD2"/>
                </a:solidFill>
                <a:latin typeface="Pretendard ExtraBold"/>
                <a:ea typeface="Pretendard ExtraBold"/>
                <a:cs typeface="Pretendard ExtraBold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8275" y="4857750"/>
            <a:ext cx="1081088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1C1B1B"/>
                </a:solidFill>
                <a:latin typeface="Pretendard"/>
                <a:ea typeface="Pretendard"/>
                <a:cs typeface="Pretendard"/>
              </a:rPr>
              <a:t>양자화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8275" y="5086350"/>
            <a:ext cx="1081088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int8 PTQ (QDQ)</a:t>
            </a:r>
            <a:br/>
            <a:r>
              <a:rPr sz="9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stem 등화 + 클리핑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48912" y="4419600"/>
            <a:ext cx="1309688" cy="1943100"/>
          </a:xfrm>
          <a:prstGeom prst="rect">
            <a:avLst/>
          </a:prstGeom>
          <a:solidFill>
            <a:srgbClr val="F6F3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463212" y="4533900"/>
            <a:ext cx="1081088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00AAD2"/>
                </a:solidFill>
                <a:latin typeface="Pretendard ExtraBold"/>
                <a:ea typeface="Pretendard ExtraBold"/>
                <a:cs typeface="Pretendard ExtraBol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63212" y="4857750"/>
            <a:ext cx="1081088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1C1B1B"/>
                </a:solidFill>
                <a:latin typeface="Pretendard"/>
                <a:ea typeface="Pretendard"/>
                <a:cs typeface="Pretendard"/>
              </a:rPr>
              <a:t>보드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63212" y="5086350"/>
            <a:ext cx="1081088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u8→i8 변환</a:t>
            </a:r>
            <a:br/>
            <a:r>
              <a:rPr sz="9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Neural-ART @ 1 GHz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23850"/>
            <a:ext cx="57150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00AAD2"/>
                </a:solidFill>
                <a:latin typeface="Pretendard"/>
                <a:ea typeface="Pretendard"/>
                <a:cs typeface="Pretendard"/>
              </a:rPr>
              <a:t>1차 방어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600" y="314325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10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1125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C1B1B"/>
                </a:solidFill>
                <a:latin typeface="Pretendard ExtraBold"/>
                <a:ea typeface="Pretendard ExtraBold"/>
                <a:cs typeface="Pretendard ExtraBold"/>
              </a:rPr>
              <a:t>성능 — 실제 도로 사진 69,358장을 보드에 직접 넣었다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95350"/>
            <a:ext cx="111252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시뮬레이션 화면이 아니다. RSCD 실사진을 STM32N6 에 그대로 넣고 추론·융합을 전부 보드에서 돌려 받은 판정이다.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286500"/>
            <a:ext cx="11125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경보율은 보드의 alarm 플래그가 아니라 risk ≥ 문턱으로 계산했다. 보드 융합기의 히스테리시스(켜짐 0.441 / 꺼짐 0.341)는 연속 영상의 깜빡임을 막지만, 서로 무관한 낱장 사진을 이어 넣으면 앞 사진 상태가 넘어와 경보율이 부풀려지기 때문이다.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648450"/>
            <a:ext cx="762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팀 ARTS · 제24회 임베디드SW경진대회 자동차/모빌리티(현대자동차) · github.com/gkgk0119gmail-arch/2026ESWContest_mobility_ARTS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34600" y="6638925"/>
            <a:ext cx="1524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IcePredict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3400" y="1219200"/>
          <a:ext cx="5334000" cy="1295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93520"/>
                <a:gridCol w="1066800"/>
                <a:gridCol w="1066800"/>
                <a:gridCol w="1706880"/>
              </a:tblGrid>
              <a:tr h="2286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실제 노면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장수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정답률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경보율 (문턱 0.603)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블랙아이스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6,340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1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96.1 %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1">
                          <a:solidFill>
                            <a:srgbClr val="E6331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96.6 %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마른 노면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19,018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80.7 %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1">
                          <a:solidFill>
                            <a:srgbClr val="1E8A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0.3 %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젖은 노면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34,440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84.6 %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1">
                          <a:solidFill>
                            <a:srgbClr val="1E8A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0.8 %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포트홀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9,560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90.2 %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1">
                          <a:solidFill>
                            <a:srgbClr val="1E8A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0.3 %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3400" y="2686050"/>
            <a:ext cx="1714500" cy="3600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3312"/>
                </a:solidFill>
                <a:latin typeface="Pretendard ExtraBold"/>
                <a:ea typeface="Pretendard ExtraBold"/>
                <a:cs typeface="Pretendard ExtraBold"/>
              </a:rPr>
              <a:t>96.6 %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3065145"/>
            <a:ext cx="1714500" cy="3829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블랙아이스 6,340장</a:t>
            </a:r>
            <a:br/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경보율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3150" y="2686050"/>
            <a:ext cx="1714500" cy="3600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002C5F"/>
                </a:solidFill>
                <a:latin typeface="Pretendard ExtraBold"/>
                <a:ea typeface="Pretendard ExtraBold"/>
                <a:cs typeface="Pretendard ExtraBold"/>
              </a:rPr>
              <a:t>0.3 %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43150" y="3065145"/>
            <a:ext cx="1714500" cy="3829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마른 노면 19,018장</a:t>
            </a:r>
            <a:br/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오경보율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2900" y="2686050"/>
            <a:ext cx="1714500" cy="3600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002C5F"/>
                </a:solidFill>
                <a:latin typeface="Pretendard ExtraBold"/>
                <a:ea typeface="Pretendard ExtraBold"/>
                <a:cs typeface="Pretendard ExtraBold"/>
              </a:rPr>
              <a:t>0.8 %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2900" y="3065145"/>
            <a:ext cx="1714500" cy="3829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젖은 노면 34,440장</a:t>
            </a:r>
            <a:br/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오경보율</a:t>
            </a:r>
          </a:p>
        </p:txBody>
      </p:sp>
      <p:pic>
        <p:nvPicPr>
          <p:cNvPr id="16" name="Picture 15" descr="real_confu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130" y="3600450"/>
            <a:ext cx="2850539" cy="23907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3400" y="6038850"/>
            <a:ext cx="5334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혼동 행렬 (행 = 실제, 열 = 보드 판정)</a:t>
            </a:r>
          </a:p>
        </p:txBody>
      </p:sp>
      <p:pic>
        <p:nvPicPr>
          <p:cNvPr id="18" name="Picture 17" descr="real_threshol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989" y="1219200"/>
            <a:ext cx="4780722" cy="2971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34100" y="4238625"/>
            <a:ext cx="5524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운영 문턱 결정 — 69,358장 전량 스윕. 절벽 구간을 찾아 0.603 으로 정했다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34100" y="4562475"/>
            <a:ext cx="5524500" cy="1647825"/>
          </a:xfrm>
          <a:prstGeom prst="rect">
            <a:avLst/>
          </a:prstGeom>
          <a:solidFill>
            <a:srgbClr val="F6F3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86500" y="4714875"/>
            <a:ext cx="5219700" cy="2081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AAD2"/>
                </a:solidFill>
                <a:latin typeface="Pretendard"/>
                <a:ea typeface="Pretendard"/>
                <a:cs typeface="Pretendard"/>
              </a:rPr>
              <a:t>이 숫자가 왜 믿을 만한가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0" y="4961096"/>
            <a:ext cx="5219700" cy="10968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표본이 보드 바깥에서 만들어진 것이 아니다. 실사진을 STM32N6 에 그대로 넣어 추론·융합을 보드에서 돌리고, 돌아온 판정을 그대로 셌다.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장당 판정을 </a:t>
            </a:r>
            <a:r>
              <a:rPr sz="950" b="0">
                <a:solidFill>
                  <a:srgbClr val="4D4D4D"/>
                </a:solidFill>
                <a:latin typeface="Consolas"/>
                <a:ea typeface="Consolas"/>
                <a:cs typeface="Consolas"/>
              </a:rPr>
              <a:t>logs/rscd_board_samples.jsonl</a:t>
            </a: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 에 남겨 두어, 문턱을 바꿔 다시 계산할 때 보드를 다시 돌릴 필요가 없다.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23850"/>
            <a:ext cx="57150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00AAD2"/>
                </a:solidFill>
                <a:latin typeface="Pretendard"/>
                <a:ea typeface="Pretendard"/>
                <a:cs typeface="Pretendard"/>
              </a:rPr>
              <a:t>1차 방어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600" y="314325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11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1125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C1B1B"/>
                </a:solidFill>
                <a:latin typeface="Pretendard ExtraBold"/>
                <a:ea typeface="Pretendard ExtraBold"/>
                <a:cs typeface="Pretendard ExtraBold"/>
              </a:rPr>
              <a:t>동작 — 카메라가 보고 빙판 앞에서 선다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95350"/>
            <a:ext cx="111252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CARLA Town04 · 맑은 낮 · 40 km/h · 마찰 0.02 · 1차 방어 ON (보드 NPU 추론 + 융합)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286500"/>
            <a:ext cx="11125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같은 주행선에서 날씨 11종(맑음·흐림·젖은 노면·보슬비·폭우·해질녘·밤·비 오는 밤·눈 등)을 모두 돌렸다. 인식·정지 14회 · 경고 늦음 7회 · 미인식 10회 · 오경보 1회.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648450"/>
            <a:ext cx="762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팀 ARTS · 제24회 임베디드SW경진대회 자동차/모빌리티(현대자동차) · github.com/gkgk0119gmail-arch/2026ESWContest_mobility_ARTS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34600" y="6638925"/>
            <a:ext cx="1524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IcePredict</a:t>
            </a:r>
          </a:p>
        </p:txBody>
      </p:sp>
      <p:pic>
        <p:nvPicPr>
          <p:cNvPr id="9" name="v_primary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33400" y="1219200"/>
            <a:ext cx="8077200" cy="3028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4286250"/>
            <a:ext cx="80772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▶ 발표 모드에서 자동 재생 · 왼쪽 전방 카메라(NPU 입력) · 오른쪽 조감</a:t>
            </a:r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533900"/>
            <a:ext cx="2609850" cy="14668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33400" y="4533900"/>
            <a:ext cx="285750" cy="190500"/>
          </a:xfrm>
          <a:prstGeom prst="rect">
            <a:avLst/>
          </a:prstGeom>
          <a:solidFill>
            <a:srgbClr val="00AAD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33400" y="4543425"/>
            <a:ext cx="28575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7075" y="4533900"/>
            <a:ext cx="2609850" cy="146685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267075" y="4533900"/>
            <a:ext cx="285750" cy="190500"/>
          </a:xfrm>
          <a:prstGeom prst="rect">
            <a:avLst/>
          </a:prstGeom>
          <a:solidFill>
            <a:srgbClr val="00AAD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267075" y="4543425"/>
            <a:ext cx="28575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0750" y="4533900"/>
            <a:ext cx="2609850" cy="146685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000750" y="4533900"/>
            <a:ext cx="285750" cy="190500"/>
          </a:xfrm>
          <a:prstGeom prst="rect">
            <a:avLst/>
          </a:prstGeom>
          <a:solidFill>
            <a:srgbClr val="00AAD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00750" y="4543425"/>
            <a:ext cx="28575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63000" y="1219200"/>
            <a:ext cx="2895600" cy="4991100"/>
          </a:xfrm>
          <a:prstGeom prst="rect">
            <a:avLst/>
          </a:prstGeom>
          <a:solidFill>
            <a:srgbClr val="F6F3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934450" y="1390650"/>
            <a:ext cx="419100" cy="285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00AAD2"/>
                </a:solidFill>
                <a:latin typeface="Pretendard ExtraBold"/>
                <a:ea typeface="Pretendard ExtraBold"/>
                <a:cs typeface="Pretendard ExtraBold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5450" y="1419225"/>
            <a:ext cx="21717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1B1B"/>
                </a:solidFill>
                <a:latin typeface="Pretendard"/>
                <a:ea typeface="Pretendard"/>
                <a:cs typeface="Pretendard"/>
              </a:rPr>
              <a:t>접근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5450" y="1638300"/>
            <a:ext cx="21717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40 km/h 주행. 왼쪽은 전방 카메라(모델 입력), 오른쪽은 조감.</a:t>
            </a:r>
            <a:br/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위험도 0.00 · </a:t>
            </a:r>
            <a:r>
              <a:rPr sz="950" b="1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DRIVE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4450" y="2940050"/>
            <a:ext cx="419100" cy="285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00AAD2"/>
                </a:solidFill>
                <a:latin typeface="Pretendard ExtraBold"/>
                <a:ea typeface="Pretendard ExtraBold"/>
                <a:cs typeface="Pretendard ExtraBold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5450" y="2968625"/>
            <a:ext cx="21717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1B1B"/>
                </a:solidFill>
                <a:latin typeface="Pretendard"/>
                <a:ea typeface="Pretendard"/>
                <a:cs typeface="Pretendard"/>
              </a:rPr>
              <a:t>1차 경보 </a:t>
            </a:r>
            <a:r>
              <a:rPr sz="1100" b="1">
                <a:solidFill>
                  <a:srgbClr val="00AAD2"/>
                </a:solidFill>
                <a:latin typeface="Pretendard"/>
                <a:ea typeface="Pretendard"/>
                <a:cs typeface="Pretendard"/>
              </a:rPr>
              <a:t>6.10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5450" y="3187700"/>
            <a:ext cx="21717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위험도 0.443 → 문턱 돌파. 빙판 가장자리까지 11.4 m.</a:t>
            </a:r>
            <a:br/>
            <a:r>
              <a:rPr sz="950" b="1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PRIMARY WARNING · BRAKE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4450" y="4489450"/>
            <a:ext cx="419100" cy="285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00AAD2"/>
                </a:solidFill>
                <a:latin typeface="Pretendard ExtraBold"/>
                <a:ea typeface="Pretendard ExtraBold"/>
                <a:cs typeface="Pretendard ExtraBold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5450" y="4518025"/>
            <a:ext cx="21717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1B1B"/>
                </a:solidFill>
                <a:latin typeface="Pretendard"/>
                <a:ea typeface="Pretendard"/>
                <a:cs typeface="Pretendard"/>
              </a:rPr>
              <a:t>정지 </a:t>
            </a:r>
            <a:r>
              <a:rPr sz="1100" b="1">
                <a:solidFill>
                  <a:srgbClr val="00AAD2"/>
                </a:solidFill>
                <a:latin typeface="Pretendard"/>
                <a:ea typeface="Pretendard"/>
                <a:cs typeface="Pretendard"/>
              </a:rPr>
              <a:t>7.14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5450" y="4737100"/>
            <a:ext cx="21717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빙판 23.6 m 앞에서 멈췄다.</a:t>
            </a:r>
            <a:br/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빙판에 닿지 않았다 — </a:t>
            </a:r>
            <a:r>
              <a:rPr sz="950" b="1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예방에 성공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n val="2"/>
                    </p:cond>
                  </p:end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23850"/>
            <a:ext cx="57150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00AAD2"/>
                </a:solidFill>
                <a:latin typeface="Pretendard"/>
                <a:ea typeface="Pretendard"/>
                <a:cs typeface="Pretendard"/>
              </a:rPr>
              <a:t>1차 방어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600" y="314325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12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1125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C1B1B"/>
                </a:solidFill>
                <a:latin typeface="Pretendard ExtraBold"/>
                <a:ea typeface="Pretendard ExtraBold"/>
                <a:cs typeface="Pretendard ExtraBold"/>
              </a:rPr>
              <a:t>위험도 융합 — 기상·위치 맥락으로 가중치를 바꾼다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286500"/>
            <a:ext cx="11125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운영 문턱 0.603 — 손으로 고른 값이 아니라 실사진 전량 스윕에서 결정했고, logs/rscd_board_samples.jsonl 로 문턱을 바꿔 재계산할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648450"/>
            <a:ext cx="762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팀 ARTS · 제24회 임베디드SW경진대회 자동차/모빌리티(현대자동차) · github.com/gkgk0119gmail-arch/2026ESWContest_mobility_ARTS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34600" y="6638925"/>
            <a:ext cx="1524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IcePredict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1028700"/>
            <a:ext cx="11125200" cy="533400"/>
          </a:xfrm>
          <a:prstGeom prst="rect">
            <a:avLst/>
          </a:prstGeom>
          <a:solidFill>
            <a:srgbClr val="002C5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33400" y="1028700"/>
            <a:ext cx="111252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risk  =  </a:t>
            </a:r>
            <a:r>
              <a:rPr sz="17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α</a:t>
            </a:r>
            <a:r>
              <a:rPr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· p_ice   +   </a:t>
            </a:r>
            <a:r>
              <a:rPr sz="17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β</a:t>
            </a:r>
            <a:r>
              <a:rPr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· 반사도   +   </a:t>
            </a:r>
            <a:r>
              <a:rPr sz="17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γ</a:t>
            </a:r>
            <a:r>
              <a:rPr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· (1 − 차선 가시성)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3400" y="1714500"/>
          <a:ext cx="5333999" cy="10287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56692"/>
                <a:gridCol w="1025769"/>
                <a:gridCol w="1025769"/>
                <a:gridCol w="1025769"/>
              </a:tblGrid>
              <a:tr h="2286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기상 · 위치 맥락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α (분류)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β (반사도)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γ (차선)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교량 · 새벽 등 결빙 위험 높음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0.35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1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0.45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0.20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일반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1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0.50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0.30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0.20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저위험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1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0.55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0.15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0.30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34100" y="1714500"/>
            <a:ext cx="5524500" cy="2081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AAD2"/>
                </a:solidFill>
                <a:latin typeface="Pretendard"/>
                <a:ea typeface="Pretendard"/>
                <a:cs typeface="Pretendard"/>
              </a:rPr>
              <a:t>설계에서 고친 두 가지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4100" y="1960721"/>
            <a:ext cx="5524500" cy="1353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950" b="1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① 재정규화.</a:t>
            </a: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 쓸 수 없는 신호에 0을 넣으면 안 된다. 0은 중립값이 아니라 최솟값이라 위험도 상한이 잘린다. 그래서 쓸 수 없는 신호는 분모에서 빼고 남은 신호로 다시 정규화한다.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950" b="1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② 문턱 재교정.</a:t>
            </a: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 초기 0.441 에서는 젖은 노면 오경보가 40 %였다. 실사진 69,358장 스윕으로 절벽 구간을 찾아 0.603 으로 올렸고 오경보가 0.8 %로 내려갔다. 폭우는 강수 게이트로 따로 분리했다.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2971800"/>
            <a:ext cx="57150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맥락 계층이 보는 입력 — 같은 빙판 · 같은 주행선, 날씨만 바꿨다</a:t>
            </a:r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219450"/>
            <a:ext cx="2695575" cy="299085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33400" y="5962650"/>
            <a:ext cx="1066800" cy="247650"/>
          </a:xfrm>
          <a:prstGeom prst="rect">
            <a:avLst/>
          </a:prstGeom>
          <a:solidFill>
            <a:srgbClr val="002C5F">
              <a:alpha val="85000"/>
            </a:srgbClr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8650" y="5962650"/>
            <a:ext cx="97155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맑은 낮</a:t>
            </a:r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275" y="3219450"/>
            <a:ext cx="2695575" cy="299085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343275" y="5962650"/>
            <a:ext cx="1066800" cy="247650"/>
          </a:xfrm>
          <a:prstGeom prst="rect">
            <a:avLst/>
          </a:prstGeom>
          <a:solidFill>
            <a:srgbClr val="002C5F">
              <a:alpha val="85000"/>
            </a:srgbClr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438525" y="5962650"/>
            <a:ext cx="97155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 오는 밤</a:t>
            </a:r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150" y="3219450"/>
            <a:ext cx="2695575" cy="299085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153150" y="5962650"/>
            <a:ext cx="1066800" cy="247650"/>
          </a:xfrm>
          <a:prstGeom prst="rect">
            <a:avLst/>
          </a:prstGeom>
          <a:solidFill>
            <a:srgbClr val="002C5F">
              <a:alpha val="85000"/>
            </a:srgbClr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48400" y="5962650"/>
            <a:ext cx="97155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눈</a:t>
            </a:r>
          </a:p>
        </p:txBody>
      </p:sp>
      <p:pic>
        <p:nvPicPr>
          <p:cNvPr id="23" name="Picture 22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3025" y="3219450"/>
            <a:ext cx="2695575" cy="299085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963025" y="5962650"/>
            <a:ext cx="1066800" cy="247650"/>
          </a:xfrm>
          <a:prstGeom prst="rect">
            <a:avLst/>
          </a:prstGeom>
          <a:solidFill>
            <a:srgbClr val="002C5F">
              <a:alpha val="85000"/>
            </a:srgbClr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058275" y="5962650"/>
            <a:ext cx="97155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폭우 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23850"/>
            <a:ext cx="57150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E63312"/>
                </a:solidFill>
                <a:latin typeface="Pretendard"/>
                <a:ea typeface="Pretendard"/>
                <a:cs typeface="Pretendard"/>
              </a:rPr>
              <a:t>2차 방어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600" y="314325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13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1125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C1B1B"/>
                </a:solidFill>
                <a:latin typeface="Pretendard ExtraBold"/>
                <a:ea typeface="Pretendard ExtraBold"/>
                <a:cs typeface="Pretendard ExtraBold"/>
              </a:rPr>
              <a:t>원리 — 칼만 필터 + 자전거 모델 잔차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286500"/>
            <a:ext cx="11125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C 코어(sw/fw/npu_lib/slip_core.h)는 HAL·OS 비의존이라 호스트에서도 컴파일된다. 파이썬 참조 구현과 같은 판정을 내리는지 매 커밋 검증한다.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648450"/>
            <a:ext cx="762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팀 ARTS · 제24회 임베디드SW경진대회 자동차/모빌리티(현대자동차) · github.com/gkgk0119gmail-arch/2026ESWContest_mobility_ARTS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34600" y="6638925"/>
            <a:ext cx="1524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IcePredict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1028700"/>
            <a:ext cx="6477000" cy="1638300"/>
          </a:xfrm>
          <a:prstGeom prst="rect">
            <a:avLst/>
          </a:prstGeom>
          <a:solidFill>
            <a:srgbClr val="F6F3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181100"/>
            <a:ext cx="6172200" cy="2081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63312"/>
                </a:solidFill>
                <a:latin typeface="Pretendard"/>
                <a:ea typeface="Pretendard"/>
                <a:cs typeface="Pretendard"/>
              </a:rPr>
              <a:t>판단 절차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27321"/>
            <a:ext cx="6172200" cy="1087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300"/>
              </a:spcAft>
            </a:pPr>
            <a:r>
              <a:rPr sz="950" b="1">
                <a:solidFill>
                  <a:srgbClr val="E63312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  IMU 50 Hz 에서 횡가속 a_y · yaw rate · 종가속을 받는다</a:t>
            </a:r>
          </a:p>
          <a:p>
            <a:pPr algn="l">
              <a:lnSpc>
                <a:spcPct val="145000"/>
              </a:lnSpc>
              <a:spcAft>
                <a:spcPts val="300"/>
              </a:spcAft>
            </a:pPr>
            <a:r>
              <a:rPr sz="950" b="1">
                <a:solidFill>
                  <a:srgbClr val="E63312"/>
                </a:solidFill>
                <a:latin typeface="Pretendard"/>
                <a:ea typeface="Pretendard"/>
                <a:cs typeface="Pretendard"/>
              </a:rPr>
              <a:t>2</a:t>
            </a: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  2상태 칼만 필터(값 · 변화율)로 잡음을 거른다 — Q = 2000/3000, R = 0.16/0.0005</a:t>
            </a:r>
          </a:p>
          <a:p>
            <a:pPr algn="l">
              <a:lnSpc>
                <a:spcPct val="145000"/>
              </a:lnSpc>
              <a:spcAft>
                <a:spcPts val="300"/>
              </a:spcAft>
            </a:pPr>
            <a:r>
              <a:rPr sz="950" b="1">
                <a:solidFill>
                  <a:srgbClr val="E63312"/>
                </a:solidFill>
                <a:latin typeface="Pretendard"/>
                <a:ea typeface="Pretendard"/>
                <a:cs typeface="Pretendard"/>
              </a:rPr>
              <a:t>3</a:t>
            </a: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  자전거 모델로 '이 속도·이 조향이면 나와야 할 yaw rate'를 계산한다 (고속 언더스티어 보정 1/(1+(v/v_ch)²), v_ch = 17 m/s)</a:t>
            </a:r>
          </a:p>
          <a:p>
            <a:pPr algn="l">
              <a:lnSpc>
                <a:spcPct val="145000"/>
              </a:lnSpc>
              <a:spcAft>
                <a:spcPts val="300"/>
              </a:spcAft>
            </a:pPr>
            <a:r>
              <a:rPr sz="950" b="1">
                <a:solidFill>
                  <a:srgbClr val="E63312"/>
                </a:solidFill>
                <a:latin typeface="Pretendard"/>
                <a:ea typeface="Pretendard"/>
                <a:cs typeface="Pretendard"/>
              </a:rPr>
              <a:t>4</a:t>
            </a: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  실측과 모델의 잔차가 </a:t>
            </a:r>
            <a:r>
              <a:rPr sz="950" b="1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타원 밖</a:t>
            </a: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이면 미끄러짐 — 3샘플(60 ms) 연속이면 확정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33400" y="2800350"/>
          <a:ext cx="6477000" cy="17716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33475"/>
                <a:gridCol w="2105025"/>
                <a:gridCol w="3238500"/>
              </a:tblGrid>
              <a:tr h="2286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  <a:endParaRPr sz="9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값</a:t>
                      </a:r>
                      <a:endParaRPr sz="9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왜 이 값인가</a:t>
                      </a:r>
                      <a:endParaRPr sz="9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</a:tr>
              <a:tr h="257175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축거 L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2.7 m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자전거 모델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57175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조향 지연 τ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0.06 s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급조향 시 '모델이 즉답한다'는 가정이 오탐을 만들었다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57175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횡가속 임계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0.30 g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57175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yaw 오차 임계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0.35 rad/s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57175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판정 규칙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타원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직사각형은 모서리에서 저속 지연이 생겼다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57175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저마찰 트리거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제동 ≥ 0.3 이 0.3 s 지속 + 감속 &lt; 1.2 m/s²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필터 지연 구간의 오탐 방지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33400" y="4953000"/>
            <a:ext cx="2000250" cy="308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E63312"/>
                </a:solidFill>
                <a:latin typeface="Pretendard ExtraBold"/>
                <a:ea typeface="Pretendard ExtraBold"/>
                <a:cs typeface="Pretendard ExtraBold"/>
              </a:rPr>
              <a:t>50 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5280660"/>
            <a:ext cx="2000250" cy="3390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IMU 입력 주기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150" y="4953000"/>
            <a:ext cx="2000250" cy="308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E63312"/>
                </a:solidFill>
                <a:latin typeface="Pretendard ExtraBold"/>
                <a:ea typeface="Pretendard ExtraBold"/>
                <a:cs typeface="Pretendard ExtraBold"/>
              </a:rPr>
              <a:t>60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150" y="5280660"/>
            <a:ext cx="2000250" cy="3390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3샘플 연속이어야 확정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4900" y="4953000"/>
            <a:ext cx="2000250" cy="308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E63312"/>
                </a:solidFill>
                <a:latin typeface="Pretendard ExtraBold"/>
                <a:ea typeface="Pretendard ExtraBold"/>
                <a:cs typeface="Pretendard ExtraBold"/>
              </a:rPr>
              <a:t>22.6 µs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4900" y="5280660"/>
            <a:ext cx="2000250" cy="3390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샘플 → 판정 → 제어, 최악</a:t>
            </a:r>
          </a:p>
        </p:txBody>
      </p:sp>
      <p:pic>
        <p:nvPicPr>
          <p:cNvPr id="18" name="Picture 17" descr="rule_bound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100" y="1599646"/>
            <a:ext cx="4381500" cy="366823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277100" y="5886450"/>
            <a:ext cx="43815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판정 경계 — 직사각형(점선) 대 타원(실선). 모서리에 걸리던 저속 구간이 타원에서 사라진다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23850"/>
            <a:ext cx="57150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E63312"/>
                </a:solidFill>
                <a:latin typeface="Pretendard"/>
                <a:ea typeface="Pretendard"/>
                <a:cs typeface="Pretendard"/>
              </a:rPr>
              <a:t>2차 방어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600" y="314325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14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1125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C1B1B"/>
                </a:solidFill>
                <a:latin typeface="Pretendard ExtraBold"/>
                <a:ea typeface="Pretendard ExtraBold"/>
                <a:cs typeface="Pretendard ExtraBold"/>
              </a:rPr>
              <a:t>동작 — 카메라가 놓쳐도 보드가 받는다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95350"/>
            <a:ext cx="111252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CARLA Town04 · 맑은 낮 · 40 km/h · 마찰 0.08 · 1차 방어 OFF · 2차 판정 주체 = STM32N6 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286500"/>
            <a:ext cx="11125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2차 방어 발동 62회(보드 판정 53 · 호스트 9). 진입→확정 평균 2.41 s, 확정→정지 평균 3.78 s. 비상 제어 모드 분포 — 차선유지 29 · 정지 37 · 최대제동 20 · 우회피 11 · 좌회피 11.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648450"/>
            <a:ext cx="762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팀 ARTS · 제24회 임베디드SW경진대회 자동차/모빌리티(현대자동차) · github.com/gkgk0119gmail-arch/2026ESWContest_mobility_ARTS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34600" y="6638925"/>
            <a:ext cx="1524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IcePredict</a:t>
            </a:r>
          </a:p>
        </p:txBody>
      </p:sp>
      <p:pic>
        <p:nvPicPr>
          <p:cNvPr id="9" name="v_secondary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33400" y="1219200"/>
            <a:ext cx="8077200" cy="3028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4286250"/>
            <a:ext cx="80772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▶ 발표 모드에서 자동 재생 · 왼쪽 전방 카메라(NPU 입력) · 오른쪽 조감</a:t>
            </a:r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533900"/>
            <a:ext cx="2609850" cy="14668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33400" y="4533900"/>
            <a:ext cx="285750" cy="190500"/>
          </a:xfrm>
          <a:prstGeom prst="rect">
            <a:avLst/>
          </a:prstGeom>
          <a:solidFill>
            <a:srgbClr val="E6331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33400" y="4543425"/>
            <a:ext cx="28575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7075" y="4533900"/>
            <a:ext cx="2609850" cy="146685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267075" y="4533900"/>
            <a:ext cx="285750" cy="190500"/>
          </a:xfrm>
          <a:prstGeom prst="rect">
            <a:avLst/>
          </a:prstGeom>
          <a:solidFill>
            <a:srgbClr val="E6331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267075" y="4543425"/>
            <a:ext cx="28575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0750" y="4533900"/>
            <a:ext cx="2609850" cy="146685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000750" y="4533900"/>
            <a:ext cx="285750" cy="190500"/>
          </a:xfrm>
          <a:prstGeom prst="rect">
            <a:avLst/>
          </a:prstGeom>
          <a:solidFill>
            <a:srgbClr val="E6331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00750" y="4543425"/>
            <a:ext cx="28575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63000" y="1219200"/>
            <a:ext cx="2895600" cy="4991100"/>
          </a:xfrm>
          <a:prstGeom prst="rect">
            <a:avLst/>
          </a:prstGeom>
          <a:solidFill>
            <a:srgbClr val="F6F3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934450" y="1390650"/>
            <a:ext cx="419100" cy="285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E63312"/>
                </a:solidFill>
                <a:latin typeface="Pretendard ExtraBold"/>
                <a:ea typeface="Pretendard ExtraBold"/>
                <a:cs typeface="Pretendard ExtraBold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5450" y="1419225"/>
            <a:ext cx="21717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1B1B"/>
                </a:solidFill>
                <a:latin typeface="Pretendard"/>
                <a:ea typeface="Pretendard"/>
                <a:cs typeface="Pretendard"/>
              </a:rPr>
              <a:t>빙판 진입 </a:t>
            </a:r>
            <a:r>
              <a:rPr sz="1100" b="1">
                <a:solidFill>
                  <a:srgbClr val="E63312"/>
                </a:solidFill>
                <a:latin typeface="Pretendard"/>
                <a:ea typeface="Pretendard"/>
                <a:cs typeface="Pretendard"/>
              </a:rPr>
              <a:t>5.84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5450" y="1638300"/>
            <a:ext cx="21717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1차를 끈 상태(미인식 가정). 38.7 km/h 로 그대로 들어간다. 왼쪽은 전방 카메라, 오른쪽은 조감(차선 위치). 주변 차량 8대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4450" y="2940050"/>
            <a:ext cx="419100" cy="285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E63312"/>
                </a:solidFill>
                <a:latin typeface="Pretendard ExtraBold"/>
                <a:ea typeface="Pretendard ExtraBold"/>
                <a:cs typeface="Pretendard ExtraBold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5450" y="2968625"/>
            <a:ext cx="21717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1B1B"/>
                </a:solidFill>
                <a:latin typeface="Pretendard"/>
                <a:ea typeface="Pretendard"/>
                <a:cs typeface="Pretendard"/>
              </a:rPr>
              <a:t>미끄러짐 확정 </a:t>
            </a:r>
            <a:r>
              <a:rPr sz="1100" b="1">
                <a:solidFill>
                  <a:srgbClr val="E63312"/>
                </a:solidFill>
                <a:latin typeface="Pretendard"/>
                <a:ea typeface="Pretendard"/>
                <a:cs typeface="Pretendard"/>
              </a:rPr>
              <a:t>7.62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5450" y="3187700"/>
            <a:ext cx="21717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1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STM32N6 RTOS</a:t>
            </a: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 가 판정. a_y = −0.364 g, yaw 오차 −0.282</a:t>
            </a:r>
            <a:br/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진입 1.78 s 만에 확정 → </a:t>
            </a:r>
            <a:r>
              <a:rPr sz="950" b="1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hard_stop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4450" y="4489450"/>
            <a:ext cx="419100" cy="285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E63312"/>
                </a:solidFill>
                <a:latin typeface="Pretendard ExtraBold"/>
                <a:ea typeface="Pretendard ExtraBold"/>
                <a:cs typeface="Pretendard ExtraBold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5450" y="4518025"/>
            <a:ext cx="21717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1B1B"/>
                </a:solidFill>
                <a:latin typeface="Pretendard"/>
                <a:ea typeface="Pretendard"/>
                <a:cs typeface="Pretendard"/>
              </a:rPr>
              <a:t>차선 유지하며 정지 </a:t>
            </a:r>
            <a:r>
              <a:rPr sz="1100" b="1">
                <a:solidFill>
                  <a:srgbClr val="E63312"/>
                </a:solidFill>
                <a:latin typeface="Pretendard"/>
                <a:ea typeface="Pretendard"/>
                <a:cs typeface="Pretendard"/>
              </a:rPr>
              <a:t>11.68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5450" y="4737100"/>
            <a:ext cx="21717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왼쪽 차로가 비어(gap 999 m) evade_left 로 전환 후 정지.</a:t>
            </a:r>
            <a:br/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차선 안에서 멈췄다 — 가로 미끄러짐도 충돌도 없다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n val="2"/>
                    </p:cond>
                  </p:end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23850"/>
            <a:ext cx="57150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E63312"/>
                </a:solidFill>
                <a:latin typeface="Pretendard"/>
                <a:ea typeface="Pretendard"/>
                <a:cs typeface="Pretendard"/>
              </a:rPr>
              <a:t>2차 방어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600" y="314325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15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1125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C1B1B"/>
                </a:solidFill>
                <a:latin typeface="Pretendard ExtraBold"/>
                <a:ea typeface="Pretendard ExtraBold"/>
                <a:cs typeface="Pretendard ExtraBold"/>
              </a:rPr>
              <a:t>왜 리눅스가 아니라 RTOS 인가 — 평균이 아니라 꼬리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95350"/>
            <a:ext cx="111252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같은 연산을 Pi 5 리눅스가 평균 146배 빠르게 한다. 그런데도 RTOS 보드를 쓴다. 안전 기능의 기준은 평균이 아니라 최악이기 때문이다.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286500"/>
            <a:ext cx="11125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우선순위를 뒤집으면(NPU가 IMU보다 높으면) 25 ms 추론이 20 ms 주기를 막아 스케줄 자체가 불가능해진다 — 근거: sw/docs/evidence/10_스케줄가능성_분석.md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648450"/>
            <a:ext cx="762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팀 ARTS · 제24회 임베디드SW경진대회 자동차/모빌리티(현대자동차) · github.com/gkgk0119gmail-arch/2026ESWContest_mobility_ARTS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34600" y="6638925"/>
            <a:ext cx="1524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IcePredict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3400" y="1219200"/>
          <a:ext cx="5334000" cy="10287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86000"/>
                <a:gridCol w="952500"/>
                <a:gridCol w="952500"/>
                <a:gridCol w="1143000"/>
              </a:tblGrid>
              <a:tr h="2286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플랫폼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표본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중앙값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최악</a:t>
                      </a:r>
                      <a:endParaRPr sz="9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Pi 5 + Linux · 유휴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20,000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69 µs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1">
                          <a:solidFill>
                            <a:srgbClr val="E6331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5,790 µs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Pi 5 + Linux · 부하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20,000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68 µs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1">
                          <a:solidFill>
                            <a:srgbClr val="E6331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5,429 µs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STM32N6 + ThreadX (응답 전체)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49,405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12.4 µs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b="1">
                          <a:solidFill>
                            <a:srgbClr val="1E8A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22.6 µs</a:t>
                      </a:r>
                      <a:endParaRPr sz="10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3400" y="2419350"/>
            <a:ext cx="1714500" cy="334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E63312"/>
                </a:solidFill>
                <a:latin typeface="Pretendard ExtraBold"/>
                <a:ea typeface="Pretendard ExtraBold"/>
                <a:cs typeface="Pretendard ExtraBold"/>
              </a:rPr>
              <a:t>5,790 µs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2772728"/>
            <a:ext cx="1714500" cy="4467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Pi 5 리눅스</a:t>
            </a:r>
            <a:br/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최악 깨어남 지연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3150" y="2419350"/>
            <a:ext cx="1714500" cy="334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00AAD2"/>
                </a:solidFill>
                <a:latin typeface="Pretendard ExtraBold"/>
                <a:ea typeface="Pretendard ExtraBold"/>
                <a:cs typeface="Pretendard ExtraBold"/>
              </a:rPr>
              <a:t>22.6 µs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43150" y="2772728"/>
            <a:ext cx="1714500" cy="4467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STM32N6 + ThreadX</a:t>
            </a:r>
            <a:br/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최악 응답 전체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2900" y="2419350"/>
            <a:ext cx="1714500" cy="334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002C5F"/>
                </a:solidFill>
                <a:latin typeface="Pretendard ExtraBold"/>
                <a:ea typeface="Pretendard ExtraBold"/>
                <a:cs typeface="Pretendard ExtraBold"/>
              </a:rPr>
              <a:t>29 %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2900" y="2772728"/>
            <a:ext cx="1714500" cy="4467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20 ms 제어 주기 중</a:t>
            </a:r>
            <a:br/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지터 한 번이 먹는 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3409950"/>
            <a:ext cx="5334000" cy="1428750"/>
          </a:xfrm>
          <a:prstGeom prst="rect">
            <a:avLst/>
          </a:prstGeom>
          <a:solidFill>
            <a:srgbClr val="F6F3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3562350"/>
            <a:ext cx="5029200" cy="2081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63312"/>
                </a:solidFill>
                <a:latin typeface="Pretendard"/>
                <a:ea typeface="Pretendard"/>
                <a:cs typeface="Pretendard"/>
              </a:rPr>
              <a:t>이것이 왜 치명적인가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08571"/>
            <a:ext cx="5029200" cy="8777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제어 주기는 20 ms 다. 리눅스의 최악 지터 5,790 µs 는 한 주기의 29 %를 한 번에 먹는다. 40 km/h 에서 5.8 ms 는 6.4 cm 지만, 미끄러짐이 시작된 뒤의 제어 루프에서는 그 한 번이 차선 유지와 제어 상실을 가른다.</a:t>
            </a:r>
          </a:p>
        </p:txBody>
      </p:sp>
      <p:pic>
        <p:nvPicPr>
          <p:cNvPr id="19" name="Picture 18" descr="latency_cd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592" y="1219200"/>
            <a:ext cx="4125516" cy="22002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34100" y="3467100"/>
            <a:ext cx="5524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지연 분포 CDF — 리눅스는 꼬리가 길다</a:t>
            </a:r>
          </a:p>
        </p:txBody>
      </p:sp>
      <p:pic>
        <p:nvPicPr>
          <p:cNvPr id="21" name="Picture 20" descr="schedule_rt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100" y="3858246"/>
            <a:ext cx="5524500" cy="206568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34100" y="6038850"/>
            <a:ext cx="5524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RM 스케줄 — IMU(우선순위 3)가 NPU(4)를 선점한다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23850"/>
            <a:ext cx="57150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600" y="314325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16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1125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C1B1B"/>
                </a:solidFill>
                <a:latin typeface="Pretendard ExtraBold"/>
                <a:ea typeface="Pretendard ExtraBold"/>
                <a:cs typeface="Pretendard ExtraBold"/>
              </a:rPr>
              <a:t>방어가 없으면 — 기준선 9건 전부 제어를 잃었다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95350"/>
            <a:ext cx="111252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1차·2차를 모두 끈 채 같은 빙판·같은 속도·같은 주행선으로 들어갔다.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286500"/>
            <a:ext cx="11125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'스핀'은 차선 대비 방향 오차가 86°를 넘은 순간으로 정의했다. 실측값은 −88.4°에서 −99.2° 사이로, 차체가 역방향을 본 것이 아니라 차로를 가로질러 돌아간 상태다. 주행별 이벤트는 sw/docs/data/events/events_*_nodefense*.json 에 그대로 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648450"/>
            <a:ext cx="762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팀 ARTS · 제24회 임베디드SW경진대회 자동차/모빌리티(현대자동차) · github.com/gkgk0119gmail-arch/2026ESWContest_mobility_ARTS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34600" y="6638925"/>
            <a:ext cx="1524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IcePredict</a:t>
            </a:r>
          </a:p>
        </p:txBody>
      </p:sp>
      <p:pic>
        <p:nvPicPr>
          <p:cNvPr id="9" name="v_nodefens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33400" y="1219200"/>
            <a:ext cx="609600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3552825"/>
            <a:ext cx="6096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▶ 방호벽 충돌 주행 — 11.42 s 이탈 → 12.22 s 에 −98° → 12.32 s 에 42 km/h 로 벽에 충돌 (화면 글씨 12 km/h 는 충격 뒤 속도). 발표 모드에서 자동 재생</a:t>
            </a:r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924300"/>
            <a:ext cx="2990850" cy="16859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5657850"/>
            <a:ext cx="299085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차선 이탈 → 가로 미끄러짐 — 12.02 s 이탈(횡오프셋 −1.45 m, 방향 오차 −41°) → 14.82 s 에 −99°. 차로를 가로질러 90° 가까이 돌아 있다</a:t>
            </a:r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8550" y="3924300"/>
            <a:ext cx="2990850" cy="16859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38550" y="5657850"/>
            <a:ext cx="299085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방호벽 충돌 순간의 전방 카메라 — 화면이 방호벽으로 가득 찼다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6100" y="1219200"/>
            <a:ext cx="2190750" cy="3600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3312"/>
                </a:solidFill>
                <a:latin typeface="Pretendard ExtraBold"/>
                <a:ea typeface="Pretendard ExtraBold"/>
                <a:cs typeface="Pretendard ExtraBold"/>
              </a:rPr>
              <a:t>9 /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6100" y="1598295"/>
            <a:ext cx="2190750" cy="3829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전부 차선을 벗어났고, 차체가 진행</a:t>
            </a:r>
            <a:br/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방향과 88~99° 어긋난 채 미끄러졌다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7350" y="1219200"/>
            <a:ext cx="2190750" cy="3600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3312"/>
                </a:solidFill>
                <a:latin typeface="Pretendard ExtraBold"/>
                <a:ea typeface="Pretendard ExtraBold"/>
                <a:cs typeface="Pretendard ExtraBold"/>
              </a:rPr>
              <a:t>5 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7350" y="1598295"/>
            <a:ext cx="2190750" cy="3829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42~52 km/h 로 방호벽에 부딪혔다 (충돌 직전).</a:t>
            </a:r>
            <a:br/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주변 차량이 있던 4건은 충돌 전에 미끄러짐으로 끝났다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96100" y="2343150"/>
            <a:ext cx="4762500" cy="2381250"/>
          </a:xfrm>
          <a:prstGeom prst="rect">
            <a:avLst/>
          </a:prstGeom>
          <a:solidFill>
            <a:srgbClr val="F6F3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48500" y="2495550"/>
            <a:ext cx="4457700" cy="2081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기준선의 가정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8500" y="2741771"/>
            <a:ext cx="4457700" cy="18302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제어를 잃은 뒤에는 운전자 입력을 모형화하지 않는다. 비교 대상은 '우리 시스템이 개입하느냐'이지 '운전자가 얼마나 잘 대처하느냐'가 아니기 때문이다.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그래서 차선 이탈이 확정되면 자율주행을 떼고 관성에 맡기며, 정지하거나 충돌하거나 4초가 지나면 주행을 끝낸다.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실제 운전자는 제동을 시도하므로, 기준선의 결과는 '아무 보조도 없을 때의 물리적 귀결'로 읽어야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n val="2"/>
                    </p:cond>
                  </p:end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23850"/>
            <a:ext cx="57150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600" y="314325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17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1125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C1B1B"/>
                </a:solidFill>
                <a:latin typeface="Pretendard ExtraBold"/>
                <a:ea typeface="Pretendard ExtraBold"/>
                <a:cs typeface="Pretendard ExtraBold"/>
              </a:rPr>
              <a:t>같은 조건 직접 비교 — 방어 없음 vs STM32N6 RTOS 2차 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95350"/>
            <a:ext cx="111252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같은 날씨 · 같은 주행선 · 같은 빙판 · 같은 주변 차량 8대. 차이는 2차 방어 하나뿐이다.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286500"/>
            <a:ext cx="11125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날씨 4종(맑은 낮 · 밤 · 젖은 노면 · 눈)에서 같은 비교를 만들었다. 전체 영상은 저장소 sw/media/ 와 logs/carla_demo/정리/G_비교_방어없음_vs_RTOS/ 에 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648450"/>
            <a:ext cx="762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팀 ARTS · 제24회 임베디드SW경진대회 자동차/모빌리티(현대자동차) · github.com/gkgk0119gmail-arch/2026ESWContest_mobility_ARTS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34600" y="6638925"/>
            <a:ext cx="1524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IcePredict</a:t>
            </a:r>
          </a:p>
        </p:txBody>
      </p:sp>
      <p:pic>
        <p:nvPicPr>
          <p:cNvPr id="9" name="v_compar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33400" y="1219200"/>
            <a:ext cx="11125200" cy="2247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3505200"/>
            <a:ext cx="111252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▶ 발표 모드에서 자동 재생 · 각각 전방 카메라(NPU 입력) + 조감 · 16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3752850"/>
            <a:ext cx="53340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E63312"/>
                </a:solidFill>
                <a:latin typeface="Pretendard"/>
                <a:ea typeface="Pretendard"/>
                <a:cs typeface="Pretendard"/>
              </a:rPr>
              <a:t>왼쪽 · 방어 없음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3981450"/>
            <a:ext cx="5334000" cy="3857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E63312"/>
                </a:solidFill>
                <a:latin typeface="Pretendard ExtraBold"/>
                <a:ea typeface="Pretendard ExtraBold"/>
                <a:cs typeface="Pretendard ExtraBold"/>
              </a:rPr>
              <a:t>25.4 km/h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4386262"/>
            <a:ext cx="5334000" cy="319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15.0 s · 12.0 s 에 차선을 이탈해 제어를 잃었다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4743450"/>
            <a:ext cx="5334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차체가 진행 방향과 어긋난 채 차로를 가로질러 미끄러지는 중이다. 뒤따르던 차량이 그대로 접근하고 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600" y="3752850"/>
            <a:ext cx="53340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00AAD2"/>
                </a:solidFill>
                <a:latin typeface="Pretendard"/>
                <a:ea typeface="Pretendard"/>
                <a:cs typeface="Pretendard"/>
              </a:rPr>
              <a:t>오른쪽 · STM32N6 RTOS 2차 방어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600" y="3981450"/>
            <a:ext cx="5334000" cy="3857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00AAD2"/>
                </a:solidFill>
                <a:latin typeface="Pretendard ExtraBold"/>
                <a:ea typeface="Pretendard ExtraBold"/>
                <a:cs typeface="Pretendard ExtraBold"/>
              </a:rPr>
              <a:t>0.0 km/h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600" y="4386262"/>
            <a:ext cx="5334000" cy="319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13.2 s · IMU SLIP (lat_acc) a_y −0.36 g, yaw −0.28 → STOPPED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600" y="4743450"/>
            <a:ext cx="5334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차선 안에서, 빙판을 벗어난 지점에 정지했다. 미끄러짐 확정부터 정지까지 보드가 제동·조향을 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5181600"/>
            <a:ext cx="111252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날씨 4종에서 같은 비교 — 각 쌍의 마지막 장면 (왼쪽 방어 없음 · 오른쪽 STM32N6 RTOS 2차 방어)</a:t>
            </a:r>
          </a:p>
        </p:txBody>
      </p:sp>
      <p:pic>
        <p:nvPicPr>
          <p:cNvPr id="20" name="Picture 19" descr="c_clearnoo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2150" y="5410200"/>
            <a:ext cx="1981200" cy="8001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962150" y="6000750"/>
            <a:ext cx="819150" cy="209550"/>
          </a:xfrm>
          <a:prstGeom prst="rect">
            <a:avLst/>
          </a:prstGeom>
          <a:solidFill>
            <a:srgbClr val="002C5F">
              <a:alpha val="85000"/>
            </a:srgbClr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038350" y="6000750"/>
            <a:ext cx="74295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맑은 낮</a:t>
            </a:r>
          </a:p>
        </p:txBody>
      </p:sp>
      <p:pic>
        <p:nvPicPr>
          <p:cNvPr id="23" name="Picture 22" descr="c_clearnigh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7650" y="5410200"/>
            <a:ext cx="1981200" cy="8001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057650" y="6000750"/>
            <a:ext cx="819150" cy="209550"/>
          </a:xfrm>
          <a:prstGeom prst="rect">
            <a:avLst/>
          </a:prstGeom>
          <a:solidFill>
            <a:srgbClr val="002C5F">
              <a:alpha val="85000"/>
            </a:srgbClr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133850" y="6000750"/>
            <a:ext cx="74295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맑은 밤</a:t>
            </a:r>
          </a:p>
        </p:txBody>
      </p:sp>
      <p:pic>
        <p:nvPicPr>
          <p:cNvPr id="26" name="Picture 25" descr="c_wetnoon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150" y="5410200"/>
            <a:ext cx="1981200" cy="8001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153150" y="6000750"/>
            <a:ext cx="819150" cy="209550"/>
          </a:xfrm>
          <a:prstGeom prst="rect">
            <a:avLst/>
          </a:prstGeom>
          <a:solidFill>
            <a:srgbClr val="002C5F">
              <a:alpha val="85000"/>
            </a:srgbClr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229350" y="6000750"/>
            <a:ext cx="74295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젖은 노면</a:t>
            </a:r>
          </a:p>
        </p:txBody>
      </p:sp>
      <p:pic>
        <p:nvPicPr>
          <p:cNvPr id="29" name="Picture 28" descr="c_snow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8650" y="5410200"/>
            <a:ext cx="1981200" cy="80010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8248650" y="6000750"/>
            <a:ext cx="819150" cy="209550"/>
          </a:xfrm>
          <a:prstGeom prst="rect">
            <a:avLst/>
          </a:prstGeom>
          <a:solidFill>
            <a:srgbClr val="002C5F">
              <a:alpha val="85000"/>
            </a:srgbClr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324850" y="6000750"/>
            <a:ext cx="74295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n val="2"/>
                    </p:cond>
                  </p:end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23850"/>
            <a:ext cx="57150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600" y="314325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18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1125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C1B1B"/>
                </a:solidFill>
                <a:latin typeface="Pretendard ExtraBold"/>
                <a:ea typeface="Pretendard ExtraBold"/>
                <a:cs typeface="Pretendard ExtraBold"/>
              </a:rPr>
              <a:t>센서 시각화와 자동 라벨 — 무엇을 보고 판단했는지 남긴다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286500"/>
            <a:ext cx="11125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주행 108회 전체의 이벤트 JSON 을 저장소에 함께 올렸다. CARLA 도 보드도 없이 sw/scripts/analysis/summarize_runs.py 만으로 집계표를 재생성할 수 있다 — 손으로 적은 숫자가 아니라는 증명이다.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648450"/>
            <a:ext cx="762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팀 ARTS · 제24회 임베디드SW경진대회 자동차/모빌리티(현대자동차) · github.com/gkgk0119gmail-arch/2026ESWContest_mobility_ARTS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34600" y="6638925"/>
            <a:ext cx="1524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IcePredict</a:t>
            </a:r>
          </a:p>
        </p:txBody>
      </p:sp>
      <p:pic>
        <p:nvPicPr>
          <p:cNvPr id="8" name="Picture 7" descr="weather_1차_카메라경고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028700"/>
            <a:ext cx="6096000" cy="3162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4248150"/>
            <a:ext cx="60960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날씨 11종에서 1차 경보가 난 같은 순간 — 맑음 · 흐림 · 젖은 노면 · 보슬비 · 폭우 · 해질녘 · 밤 · 비 오는 밤 · 눈. 같은 주행선, 같은 빙판에서 날씨만 바꿔 돌렸다</a:t>
            </a:r>
          </a:p>
        </p:txBody>
      </p:sp>
      <p:pic>
        <p:nvPicPr>
          <p:cNvPr id="10" name="v_lidar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181850" y="1028700"/>
            <a:ext cx="4191000" cy="3143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96100" y="4229100"/>
            <a:ext cx="47625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▶ 시맨틱 라이다 64채널 — 청록이 빙판 구간, 초록 상자가 차량 3D 박스. 발표 모드에서 자동 재생</a:t>
            </a:r>
          </a:p>
        </p:txBody>
      </p:sp>
      <p:pic>
        <p:nvPicPr>
          <p:cNvPr id="12" name="Picture 11" descr="triplet_rscdtex_visual_0032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667250"/>
            <a:ext cx="5762625" cy="15430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24625" y="4667250"/>
            <a:ext cx="5133975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카메라 · 2D 분할 라벨 · 라이다 — 도로/차선/빙판/차량 라벨을 자동 생성한다 (AI Hub 형식 참고)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5105400"/>
            <a:ext cx="1619250" cy="308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002C5F"/>
                </a:solidFill>
                <a:latin typeface="Pretendard ExtraBold"/>
                <a:ea typeface="Pretendard ExtraBold"/>
                <a:cs typeface="Pretendard ExtraBold"/>
              </a:rPr>
              <a:t>108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5433060"/>
            <a:ext cx="161925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주행 이벤트 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9125" y="5105400"/>
            <a:ext cx="1619250" cy="308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002C5F"/>
                </a:solidFill>
                <a:latin typeface="Pretendard ExtraBold"/>
                <a:ea typeface="Pretendard ExtraBold"/>
                <a:cs typeface="Pretendard ExtraBold"/>
              </a:rPr>
              <a:t>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9125" y="5433060"/>
            <a:ext cx="161925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근거 문서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53625" y="5105400"/>
            <a:ext cx="1619250" cy="308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002C5F"/>
                </a:solidFill>
                <a:latin typeface="Pretendard ExtraBold"/>
                <a:ea typeface="Pretendard ExtraBold"/>
                <a:cs typeface="Pretendard ExtraBold"/>
              </a:rPr>
              <a:t>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53625" y="5433060"/>
            <a:ext cx="161925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결과 그림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n val="2"/>
                    </p:cond>
                  </p:end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23850"/>
            <a:ext cx="57150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600" y="314325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19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1125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C1B1B"/>
                </a:solidFill>
                <a:latin typeface="Pretendard ExtraBold"/>
                <a:ea typeface="Pretendard ExtraBold"/>
                <a:cs typeface="Pretendard ExtraBold"/>
              </a:rPr>
              <a:t>한계와 실패 사례 — 숨기지 않고 남긴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648450"/>
            <a:ext cx="762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팀 ARTS · 제24회 임베디드SW경진대회 자동차/모빌리티(현대자동차) · github.com/gkgk0119gmail-arch/2026ESWContest_mobility_ARTS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34600" y="6638925"/>
            <a:ext cx="1524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IcePredict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028700"/>
            <a:ext cx="2695575" cy="15144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2657475"/>
            <a:ext cx="419100" cy="285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E63312"/>
                </a:solidFill>
                <a:latin typeface="Pretendard ExtraBold"/>
                <a:ea typeface="Pretendard ExtraBold"/>
                <a:cs typeface="Pretendard Extra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2686050"/>
            <a:ext cx="22764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C1B1B"/>
                </a:solidFill>
                <a:latin typeface="Pretendard"/>
                <a:ea typeface="Pretendard"/>
                <a:cs typeface="Pretendard"/>
              </a:rPr>
              <a:t>경보 거리는 기하 문제다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3000375"/>
            <a:ext cx="2695575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모델이 요구하는 최소 80 px 과 ROI 해상도 91 px 이 경보 거리를 정한다. 알고리즘이 아니라 해상도를 올리는 것이 먼저다.</a:t>
            </a:r>
          </a:p>
        </p:txBody>
      </p:sp>
      <p:pic>
        <p:nvPicPr>
          <p:cNvPr id="11" name="v_limit60_cam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343275" y="1028700"/>
            <a:ext cx="2695575" cy="15144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43275" y="2657475"/>
            <a:ext cx="419100" cy="285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E63312"/>
                </a:solidFill>
                <a:latin typeface="Pretendard ExtraBold"/>
                <a:ea typeface="Pretendard ExtraBold"/>
                <a:cs typeface="Pretendard Extra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2375" y="2686050"/>
            <a:ext cx="22764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C1B1B"/>
                </a:solidFill>
                <a:latin typeface="Pretendard"/>
                <a:ea typeface="Pretendard"/>
                <a:cs typeface="Pretendard"/>
              </a:rPr>
              <a:t>2차는 예방이 아니다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3275" y="3000375"/>
            <a:ext cx="2695575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60 km/h. 1차가 경고했지만 제동이 늦어 진입했고, 2차가 0.26 s 만에 개입했는데도 39.2 km/h 로 앞차와 충돌했다.</a:t>
            </a:r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150" y="1028700"/>
            <a:ext cx="2695575" cy="15144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53150" y="2657475"/>
            <a:ext cx="419100" cy="285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E63312"/>
                </a:solidFill>
                <a:latin typeface="Pretendard ExtraBold"/>
                <a:ea typeface="Pretendard ExtraBold"/>
                <a:cs typeface="Pretendard Extra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2250" y="2686050"/>
            <a:ext cx="22764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C1B1B"/>
                </a:solidFill>
                <a:latin typeface="Pretendard"/>
                <a:ea typeface="Pretendard"/>
                <a:cs typeface="Pretendard"/>
              </a:rPr>
              <a:t>오경보도 난다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150" y="3000375"/>
            <a:ext cx="2695575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밤. 빙판이 41 m 밖(ROI 7.9~42.2 m 바깥)에 있는데 어두운 노면을 얼음으로 보아 위험도 0.52 로 경보가 났다.</a:t>
            </a:r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3025" y="1028700"/>
            <a:ext cx="2695575" cy="15144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963025" y="2657475"/>
            <a:ext cx="419100" cy="285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E63312"/>
                </a:solidFill>
                <a:latin typeface="Pretendard ExtraBold"/>
                <a:ea typeface="Pretendard ExtraBold"/>
                <a:cs typeface="Pretendard ExtraBol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2125" y="2686050"/>
            <a:ext cx="22764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C1B1B"/>
                </a:solidFill>
                <a:latin typeface="Pretendard"/>
                <a:ea typeface="Pretendard"/>
                <a:cs typeface="Pretendard"/>
              </a:rPr>
              <a:t>질감 도메인 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3025" y="3000375"/>
            <a:ext cx="2695575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RSCD 실사진 질감을 CARLA 노면에 입히면, 같은 모델이 그 얼음에 반응하지 않는다. 재수집·재학습이 다음 과제다.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43275" y="2333625"/>
            <a:ext cx="1257300" cy="209550"/>
          </a:xfrm>
          <a:prstGeom prst="rect">
            <a:avLst/>
          </a:prstGeom>
          <a:solidFill>
            <a:srgbClr val="002C5F">
              <a:alpha val="85000"/>
            </a:srgbClr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419475" y="2333625"/>
            <a:ext cx="11811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▶ 발표 모드에서 자동 재생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3400" y="4067175"/>
            <a:ext cx="11125200" cy="1219200"/>
          </a:xfrm>
          <a:prstGeom prst="rect">
            <a:avLst/>
          </a:prstGeom>
          <a:solidFill>
            <a:srgbClr val="F6F3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5800" y="4219575"/>
            <a:ext cx="10820400" cy="2081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그 밖에 남은 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465796"/>
            <a:ext cx="10820400" cy="6681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· Hailo-10H 교차 검증은 Dataflow Compiler 미확보로 열지 못했다. 1차는 STM32N6 Neural-ART 단독 결과다.　· D435i 실측 IMU 노이즈는 PVS 공개 데이터로 대체했다. 실물 연결 측정은 남은 과제다.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· 기준선은 제어 상실 후 운전자 입력을 모형화하지 않는다. '아무 보조도 없을 때의 물리적 귀결'로 읽어야 한다.　· 젖은 노면 경보율 0.8 %는 더 낮출 여지가 있다. β(반사도 가중치)와 문턱의 재조정이 필요하다.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5553075"/>
            <a:ext cx="3429000" cy="308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E63312"/>
                </a:solidFill>
                <a:latin typeface="Pretendard ExtraBold"/>
                <a:ea typeface="Pretendard ExtraBold"/>
                <a:cs typeface="Pretendard ExtraBold"/>
              </a:rPr>
              <a:t>215 / 6,340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5880735"/>
            <a:ext cx="3429000" cy="3390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실사진 얼음을 문턱 아래로 놓침 (3.4 %)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48150" y="5553075"/>
            <a:ext cx="3429000" cy="308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E63312"/>
                </a:solidFill>
                <a:latin typeface="Pretendard ExtraBold"/>
                <a:ea typeface="Pretendard ExtraBold"/>
                <a:cs typeface="Pretendard ExtraBold"/>
              </a:rPr>
              <a:t>368 / 63,018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48150" y="5880735"/>
            <a:ext cx="3429000" cy="3390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얼음 아닌 노면에 경보 (0.6 %)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62900" y="5553075"/>
            <a:ext cx="3429000" cy="308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002C5F"/>
                </a:solidFill>
                <a:latin typeface="Pretendard ExtraBold"/>
                <a:ea typeface="Pretendard ExtraBold"/>
                <a:cs typeface="Pretendard ExtraBold"/>
              </a:rPr>
              <a:t>7.9 ~ 42.2 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62900" y="5880735"/>
            <a:ext cx="3429000" cy="3390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카메라 ROI — 이 밖은 보지 못한다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n val="2"/>
                    </p:cond>
                  </p:end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23850"/>
            <a:ext cx="57150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600" y="314325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20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1125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C1B1B"/>
                </a:solidFill>
                <a:latin typeface="Pretendard ExtraBold"/>
                <a:ea typeface="Pretendard ExtraBold"/>
                <a:cs typeface="Pretendard ExtraBold"/>
              </a:rPr>
              <a:t>결론 · 재현성 · 향후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286500"/>
            <a:ext cx="11125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팀 ARTS · 이지성 · 남윤상 · 김진찬 — 제24회 임베디드SW경진대회 자동차/모빌리티(현대자동차) 부문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648450"/>
            <a:ext cx="762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팀 ARTS · 제24회 임베디드SW경진대회 자동차/모빌리티(현대자동차) · github.com/gkgk0119gmail-arch/2026ESWContest_mobility_ARTS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34600" y="6638925"/>
            <a:ext cx="1524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IcePredict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028700"/>
            <a:ext cx="5334000" cy="2081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무엇을 만들었나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274921"/>
            <a:ext cx="5334000" cy="6681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블랙아이스 라벨이 없다는 데이터의 한계에서 출발해, 카메라 한 겹에 기대지 않는 이중 안전망을 STM32N6 한 보드 위에 올렸다. 1차는 빙판에 닿기 전에 세우고, 1차가 틀려도 2차가 최악 22.6 µs 안에 반드시 받는다.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2076450"/>
            <a:ext cx="53340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재현 — 모든 숫자는 실측에서 자동 생성된다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2305050"/>
            <a:ext cx="5334000" cy="876300"/>
          </a:xfrm>
          <a:prstGeom prst="rect">
            <a:avLst/>
          </a:prstGeom>
          <a:solidFill>
            <a:srgbClr val="002C5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04850" y="2419350"/>
            <a:ext cx="49911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python3 sw/scripts/analysis/summarize_runs.py</a:t>
            </a:r>
            <a:r>
              <a:rPr sz="9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  </a:t>
            </a:r>
            <a:r>
              <a:rPr sz="950" b="0">
                <a:solidFill>
                  <a:srgbClr val="AACAE6"/>
                </a:solidFill>
                <a:latin typeface="Pretendard"/>
                <a:ea typeface="Pretendard"/>
                <a:cs typeface="Pretendard"/>
              </a:rPr>
              <a:t># 집계표 재생성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python3 -m pytest -q sw/tests</a:t>
            </a:r>
            <a:r>
              <a:rPr sz="9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                    </a:t>
            </a:r>
            <a:r>
              <a:rPr sz="950" b="0">
                <a:solidFill>
                  <a:srgbClr val="AACAE6"/>
                </a:solidFill>
                <a:latin typeface="Pretendard"/>
                <a:ea typeface="Pretendard"/>
                <a:cs typeface="Pretendard"/>
              </a:rPr>
              <a:t># 단위 테스트 19개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python3 sw/fw/npu_lib/test_slip_core.py</a:t>
            </a:r>
            <a:r>
              <a:rPr sz="9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           </a:t>
            </a:r>
            <a:r>
              <a:rPr sz="950" b="0">
                <a:solidFill>
                  <a:srgbClr val="AACAE6"/>
                </a:solidFill>
                <a:latin typeface="Pretendard"/>
                <a:ea typeface="Pretendard"/>
                <a:cs typeface="Pretendard"/>
              </a:rPr>
              <a:t># C 코어 ↔ 파이썬 동치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3314700"/>
            <a:ext cx="1619250" cy="308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002C5F"/>
                </a:solidFill>
                <a:latin typeface="Pretendard ExtraBold"/>
                <a:ea typeface="Pretendard ExtraBold"/>
                <a:cs typeface="Pretendard ExtraBold"/>
              </a:rPr>
              <a:t>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3642360"/>
            <a:ext cx="161925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근거 문서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7900" y="3314700"/>
            <a:ext cx="1619250" cy="308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002C5F"/>
                </a:solidFill>
                <a:latin typeface="Pretendard ExtraBold"/>
                <a:ea typeface="Pretendard ExtraBold"/>
                <a:cs typeface="Pretendard ExtraBold"/>
              </a:rPr>
              <a:t>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7900" y="3642360"/>
            <a:ext cx="161925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결과 그림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2400" y="3314700"/>
            <a:ext cx="1809750" cy="308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002C5F"/>
                </a:solidFill>
                <a:latin typeface="Pretendard ExtraBold"/>
                <a:ea typeface="Pretendard ExtraBold"/>
                <a:cs typeface="Pretendard ExtraBold"/>
              </a:rPr>
              <a:t>108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2400" y="3642360"/>
            <a:ext cx="180975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주행 이벤트 JSON · 저장소에 함께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4100" y="1028700"/>
            <a:ext cx="5524500" cy="2081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향후 계획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34100" y="1274921"/>
            <a:ext cx="5524500" cy="15635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300"/>
              </a:spcAft>
            </a:pPr>
            <a:r>
              <a:rPr sz="95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  경보 거리 확대 — ROI 해상도를 올려 1차가 보는 거리를 늘린다. 2차 의존도를 낮추는 가장 직접적인 길이다</a:t>
            </a:r>
          </a:p>
          <a:p>
            <a:pPr algn="l">
              <a:lnSpc>
                <a:spcPct val="145000"/>
              </a:lnSpc>
              <a:spcAft>
                <a:spcPts val="300"/>
              </a:spcAft>
            </a:pPr>
            <a:r>
              <a:rPr sz="95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2</a:t>
            </a: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  실사진 질감 재학습 — RSCD 질감을 CARLA 노면에 입혀 재수집하고 도메인 갭을 닫는다</a:t>
            </a:r>
          </a:p>
          <a:p>
            <a:pPr algn="l">
              <a:lnSpc>
                <a:spcPct val="145000"/>
              </a:lnSpc>
              <a:spcAft>
                <a:spcPts val="300"/>
              </a:spcAft>
            </a:pPr>
            <a:r>
              <a:rPr sz="95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3</a:t>
            </a: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  Hailo-10H 교차 검증 — Dataflow Compiler 확보 후 동일 모델을 두 NPU 에서 비교</a:t>
            </a:r>
          </a:p>
          <a:p>
            <a:pPr algn="l">
              <a:lnSpc>
                <a:spcPct val="145000"/>
              </a:lnSpc>
              <a:spcAft>
                <a:spcPts val="300"/>
              </a:spcAft>
            </a:pPr>
            <a:r>
              <a:rPr sz="95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4</a:t>
            </a: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  D435i 실측 IMU — 실물 노이즈로 칼만 공분산을 재조정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34100" y="2895600"/>
            <a:ext cx="5524500" cy="1047750"/>
          </a:xfrm>
          <a:prstGeom prst="rect">
            <a:avLst/>
          </a:prstGeom>
          <a:solidFill>
            <a:srgbClr val="002C5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05550" y="2990850"/>
            <a:ext cx="51816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AACAE6"/>
                </a:solidFill>
                <a:latin typeface="Pretendard"/>
                <a:ea typeface="Pretendard"/>
                <a:cs typeface="Pretendard"/>
              </a:rPr>
              <a:t>소스 코드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5550" y="3200400"/>
            <a:ext cx="5181600" cy="285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github.com/gkgk0119gmail-arch/2026ESWContest_mobility_ARTS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5550" y="3524250"/>
            <a:ext cx="51816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AACAE6"/>
                </a:solidFill>
                <a:latin typeface="Pretendard"/>
                <a:ea typeface="Pretendard"/>
                <a:cs typeface="Pretendard"/>
              </a:rPr>
              <a:t>MIT 라이선스 · 영상·그림·이벤트 데이터 포함 · README 에서 바로 재생된다</a:t>
            </a:r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095750"/>
            <a:ext cx="3632200" cy="18669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33400" y="6010275"/>
            <a:ext cx="36322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실물 보드가 실제 펌웨어를 돌린다</a:t>
            </a:r>
          </a:p>
        </p:txBody>
      </p:sp>
      <p:pic>
        <p:nvPicPr>
          <p:cNvPr id="27" name="Picture 2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900" y="4095750"/>
            <a:ext cx="3632200" cy="18669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279900" y="6010275"/>
            <a:ext cx="36322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사람이 운전해도 보드는 같은 판정을 한다</a:t>
            </a:r>
          </a:p>
        </p:txBody>
      </p:sp>
      <p:pic>
        <p:nvPicPr>
          <p:cNvPr id="29" name="Picture 28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4095750"/>
            <a:ext cx="3632200" cy="18669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026400" y="6010275"/>
            <a:ext cx="36322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CARLA 가 센서와 물리를 제공한다 — 같은 조건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