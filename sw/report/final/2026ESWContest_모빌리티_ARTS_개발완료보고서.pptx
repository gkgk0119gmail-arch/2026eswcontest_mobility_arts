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6" r:id="rId17"/>
    <p:sldId id="257" r:id="rId3"/>
    <p:sldId id="258" r:id="rId4"/>
    <p:sldId id="259" r:id="rId5"/>
    <p:sldId id="267" r:id="rId18"/>
    <p:sldId id="268" r:id="rId19"/>
    <p:sldId id="269" r:id="rId20"/>
    <p:sldId id="271" r:id="rId22"/>
    <p:sldId id="260" r:id="rId6"/>
    <p:sldId id="261" r:id="rId7"/>
    <p:sldId id="262" r:id="rId8"/>
    <p:sldId id="270" r:id="rId21"/>
    <p:sldId id="263" r:id="rId9"/>
    <p:sldId id="272" r:id="rId23"/>
    <p:sldId id="273" r:id="rId24"/>
    <p:sldId id="274" r:id="rId25"/>
    <p:sldId id="264" r:id="rId10"/>
    <p:sldId id="275" r:id="rId26"/>
    <p:sldId id="276" r:id="rId27"/>
    <p:sldId id="277" r:id="rId28"/>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92"/>
    <p:restoredTop sz="94610"/>
  </p:normalViewPr>
  <p:slideViewPr>
    <p:cSldViewPr snapToGrid="0" snapToObjects="1">
      <p:cViewPr varScale="1">
        <p:scale>
          <a:sx n="121" d="100"/>
          <a:sy n="121" d="100"/>
        </p:scale>
        <p:origin x="2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17924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팀 ARTS입니다. 이제 곧 첫눈이 옵니다. 연말이고, 눈이 오면 다들 기분이 좋아지죠. 그런데 같은 눈이 도로 위에서는 전혀 다른 얘기가 됩니다. 저희 작품 IcePredict는 AI 예측과 RTOS 반응, 두 겹의 안전망으로 블랙아이스에 대응합니다.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눈은 카메라에도 라이다에도 잘 보입니다. 화면은 공개된 폭설 주행 데이터, 캐나다의 CADC와 미시간의 WADS입니다. 그런데 정말 무서운 건 눈이 녹았다 다시 얼어붙은 얇은 얼음, 블랙아이스입니다. 투명해서 마른 도로처럼 보이고, 공개 데이터에도 블랙아이스 라벨은 없습니다. 결빙·서리 노면 사고의 치사율은 전체 평균의 1.6배이고, 5년간 199명이 숨졌습니다.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두 겹으로 만들었습니다. 위쪽 파란 줄, 1차 방어는 카메라로 노면을 미리 보고 빙판에 닿기 전에 경보하고 감속합니다. 아래쪽 빨간 줄, 2차 방어는 1차가 놓쳤을 때 IMU로 실제 미끄러짐을 확정하고 비상 제어에 들어갑니다. 1차는 똑똑하지만 틀릴 수 있고, 2차는 단순하지만 제때 반드시 실행됩니다. 둘 다 STM32N6 보드 한 장에서 돌고, 2차가 1차를 선점합니다.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핵심은 STM32N6570-DK 한 보드가 1차 NPU 추론과 2차 ThreadX 판정을 모두 맡는다는 점입니다. 대회 필수 보드인 Raspberry Pi 5와 AI HAT+ 2는 기상 맥락 생성과 통신을 맡습니다. 오른쪽처럼 휠과 페달로 사람이 직접 운전해도, 보드는 카메라와 IMU 신호만 보고 같은 판정을 내립니다.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1차 방어입니다. 전방 카메라 영상을 보드의 NPU에서 25 ms에 추론해, 결빙 확률과 반사도, 차선 가시성을 합친 위험도를 냅니다. 영상처럼 위험도가 문턱을 넘으면 빙판에 닿기 전에 경보하고 멈춥니다. 성능은 시뮬레이션이 아니라 실제 도로 사진 69,358장을 보드에 넣어 쟀습니다. 얼음 사진 경보율 96.6%, 마른 노면 오경보 0.3%입니다.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그래도 카메라는 얼음 사진의 3.4%를 끝내 놓칩니다. 그래서 2차 방어는 노면이 아니라 차의 움직임을 봅니다. 왼쪽 그림처럼 기구학 자전거 모델은 타이어가 미끄러지지 않고 바퀴가 가리키는 대로 간다고 가정합니다. 그래서 조향각과 속도만으로 차가 얼마나 돌아야 하는지 계산할 수 있습니다. 그런데 빙판에서는 오른쪽 그림처럼 타이어가 미끄러지면서 기대와 다르게 움직입니다. IMU로 잰 실제 움직임과 기대값의 차이, 잔차가 60 ms 동안 타원 경계를 넘으면 미끄러짐으로 확정합니다. 칼만 필터는 IMU 잡음을 거르는 데만 씁니다. 노면 라벨이 필요 없습니다.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이번에는 카메라가 놓친 상황입니다. 1차 방어를 끄고 마찰 0.08의 빙판에 들어갑니다. 오른쪽은 같은 순간의 시맨틱 라이다로, 청록색이 빙판 구간입니다. 판정에는 쓰지 않는 시각화용 화면입니다. 진입 1.78초 뒤 보드가 미끄러짐을 확정합니다. 확정하면 보드가 빙판 위 정지 거리를 계산해서, 앞차 전에 설 수 있으면 차선을 지키며 서고, 못 서면 비어 있는 옆 차로로 피합니다. 바퀴가 잠기지 않게 ABS처럼 펄스로 제동합니다. 이 장면에서는 앞차가 가까워 빈 차로로 피했고, 충돌도 스핀도 없이 멈췄습니다.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왜 RTOS인가. 빨라서가 아닙니다. 같은 판정 코드를 대회 필수 보드인 Pi 5 리눅스와 STM32N6 ThreadX에서 쟀습니다. 그래프의 점은 평균, 상위 1%, 상위 0.1%, 최악입니다. 리눅스는 평균은 70마이크로초 정도지만 꼬리가 길게 늘어져 최악 5,790마이크로초, 20 ms 제어 주기의 29%를 먹습니다. 보드는 깨어남부터 제어까지 전부 합쳐 최악 22.6마이크로초, 0.11%입니다. 그리고 한 보드에서 NPU가 25 ms짜리 추론을 돌리는 중에도 IMU 판정이 선점해서 응답은 1.6마이크로초만 늘었습니다. 우선순위를 뒤집으면 25.6 ms로 마감을 넘깁니다. 안전 기능은 평균이 아니라 최악으로 설계합니다. RTOS는 AI가 돌고 있어도 안전 판정이 20 ms를 한 번도 놓치지 않는다는 걸 보장합니다.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같은 조건에서 나란히 봅니다. 날씨, 주행선, 빙판, 주변 차량 8대까지 같고, 다른 것은 2차 방어 하나입니다. 왼쪽은 방어가 없어 차선을 벗어나 25.4 km/h로 미끄러지고, 오른쪽은 2차 방어가 확정 후 제동과 조향으로 차선 안에서 멈춥니다. 방어를 모두 끈 기준선 주행은 9건 모두 제어를 잃었습니다. 주행 108회의 기록과 분석 스크립트는 전부 GitHub에 공개했고, 모든 수치를 다시 만들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1차 방어는 빙판에 닿기 전에 세우고, 1차가 놓쳐도 2차 방어가 받습니다. 미리 보고, 놓쳐도 받는다. 올겨울 눈은 그냥 예쁘기만 하도록, 이것이 IcePredict입니다. 들어 주셔서 감사합니다.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8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38250"/>
            <a:ext cx="10566400" cy="463550"/>
          </a:xfrm>
          <a:prstGeom prst="rect">
            <a:avLst/>
          </a:prstGeom>
          <a:noFill/>
          <a:ln/>
        </p:spPr>
        <p:txBody>
          <a:bodyPr wrap="square" lIns="0" tIns="0" rIns="0" bIns="0" rtlCol="0" anchor="t"/>
          <a:lstStyle>
            <a:lvl1pPr marL="0" indent="0" algn="l">
              <a:lnSpc>
                <a:spcPct val="115000"/>
              </a:lnSpc>
              <a:buNone/>
              <a:defRPr lang="en-US" sz="3200" dirty="0">
                <a:solidFill>
                  <a:srgbClr val="132033"/>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06600"/>
            <a:ext cx="10566400" cy="4038600"/>
          </a:xfrm>
          <a:prstGeom prst="rect">
            <a:avLst/>
          </a:prstGeom>
          <a:noFill/>
          <a:ln/>
        </p:spPr>
        <p:txBody>
          <a:bodyPr wrap="square" lIns="0" tIns="0" rIns="0" bIns="0" rtlCol="0" anchor="t"/>
          <a:lstStyle>
            <a:lvl1pPr marL="0" indent="0" algn="l">
              <a:lnSpc>
                <a:spcPct val="140000"/>
              </a:lnSpc>
              <a:buNone/>
              <a:defRPr lang="en-US" sz="1600" dirty="0">
                <a:solidFill>
                  <a:srgbClr val="132033"/>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38250"/>
            <a:ext cx="10566400" cy="463550"/>
          </a:xfrm>
          <a:prstGeom prst="rect">
            <a:avLst/>
          </a:prstGeom>
          <a:noFill/>
          <a:ln/>
        </p:spPr>
        <p:txBody>
          <a:bodyPr wrap="square" lIns="0" tIns="0" rIns="0" bIns="0" rtlCol="0" anchor="t"/>
          <a:lstStyle>
            <a:lvl1pPr marL="0" indent="0" algn="l">
              <a:lnSpc>
                <a:spcPct val="115000"/>
              </a:lnSpc>
              <a:buNone/>
              <a:defRPr lang="en-US" sz="3200" dirty="0">
                <a:solidFill>
                  <a:srgbClr val="132033"/>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06600"/>
            <a:ext cx="10566400" cy="4038600"/>
          </a:xfrm>
          <a:prstGeom prst="rect">
            <a:avLst/>
          </a:prstGeom>
          <a:noFill/>
          <a:ln/>
        </p:spPr>
        <p:txBody>
          <a:bodyPr wrap="square" lIns="0" tIns="0" rIns="0" bIns="0" rtlCol="0" anchor="t"/>
          <a:lstStyle>
            <a:lvl1pPr marL="0" indent="0" algn="l">
              <a:lnSpc>
                <a:spcPct val="140000"/>
              </a:lnSpc>
              <a:buNone/>
              <a:defRPr lang="en-US" sz="1600" dirty="0">
                <a:solidFill>
                  <a:srgbClr val="132033"/>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2.xml"/><Relationship Id="rId4" Type="http://schemas.openxmlformats.org/officeDocument/2006/relationships/notesSlide" Target="../notesSlides/notesSlide5.xml"/><Relationship Id="rId5"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e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microsoft.com/office/2007/relationships/media" Target="../media/media2.mp4"/><Relationship Id="rId2" Type="http://schemas.openxmlformats.org/officeDocument/2006/relationships/video" Target="../media/media2.mp4"/><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slideLayout" Target="../slideLayouts/slideLayout2.xml"/><Relationship Id="rId6" Type="http://schemas.openxmlformats.org/officeDocument/2006/relationships/notesSlide" Target="../notesSlides/notesSlide7.xml"/><Relationship Id="rId7" Type="http://schemas.openxmlformats.org/officeDocument/2006/relationships/image" Target="../media/image10.jpeg"/><Relationship Id="rId8"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microsoft.com/office/2007/relationships/media" Target="../media/media4.mp4"/><Relationship Id="rId2" Type="http://schemas.openxmlformats.org/officeDocument/2006/relationships/video" Target="../media/media4.mp4"/><Relationship Id="rId3" Type="http://schemas.openxmlformats.org/officeDocument/2006/relationships/slideLayout" Target="../slideLayouts/slideLayout2.xml"/><Relationship Id="rId4" Type="http://schemas.openxmlformats.org/officeDocument/2006/relationships/notesSlide" Target="../notesSlides/notesSlide9.xml"/><Relationship Id="rId5" Type="http://schemas.openxmlformats.org/officeDocument/2006/relationships/image" Target="../media/image1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hyperlink" Target="https://github.com/gkgk0119gmail-arch/2026ESWContest_mobility_ART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33"/>
        </a:solidFill>
        <a:effectLst/>
      </p:bgPr>
    </p:bg>
    <p:spTree>
      <p:nvGrpSpPr>
        <p:cNvPr id="1" name=""/>
        <p:cNvGrpSpPr/>
        <p:nvPr/>
      </p:nvGrpSpPr>
      <p:grpSpPr>
        <a:xfrm>
          <a:off x="0" y="0"/>
          <a:ext cx="0" cy="0"/>
          <a:chOff x="0" y="0"/>
          <a:chExt cx="0" cy="0"/>
        </a:xfrm>
      </p:grpSpPr>
      <p:pic>
        <p:nvPicPr>
          <p:cNvPr id="2" name="Image 0" descr="눈 내리는 날 웃으며 눈을 맞는 사람들"/>
          <p:cNvPicPr>
            <a:picLocks noChangeAspect="1"/>
          </p:cNvPicPr>
          <p:nvPr/>
        </p:nvPicPr>
        <p:blipFill>
          <a:blip r:embed="rId3"/>
          <a:srcRect t="8263" b="8263"/>
          <a:stretch/>
        </p:blipFill>
        <p:spPr>
          <a:xfrm>
            <a:off x="0" y="0"/>
            <a:ext cx="6096000" cy="6858000"/>
          </a:xfrm>
          <a:prstGeom prst="rect">
            <a:avLst/>
          </a:prstGeom>
        </p:spPr>
      </p:pic>
      <p:pic>
        <p:nvPicPr>
          <p:cNvPr id="3" name="Image 1" descr="눈 덮인 도로에서 미끄러지는 승용차"/>
          <p:cNvPicPr>
            <a:picLocks noChangeAspect="1"/>
          </p:cNvPicPr>
          <p:nvPr/>
        </p:nvPicPr>
        <p:blipFill>
          <a:blip r:embed="rId4"/>
          <a:srcRect t="7970" b="7970"/>
          <a:stretch/>
        </p:blipFill>
        <p:spPr>
          <a:xfrm>
            <a:off x="6096000" y="0"/>
            <a:ext cx="6096000" cy="6858000"/>
          </a:xfrm>
          <a:prstGeom prst="rect">
            <a:avLst/>
          </a:prstGeom>
        </p:spPr>
      </p:pic>
      <p:sp>
        <p:nvSpPr>
          <p:cNvPr id="4" name="Shape 0"/>
          <p:cNvSpPr/>
          <p:nvPr/>
        </p:nvSpPr>
        <p:spPr>
          <a:xfrm>
            <a:off x="0" y="3048000"/>
            <a:ext cx="12192000" cy="3810000"/>
          </a:xfrm>
          <a:prstGeom prst="rect">
            <a:avLst/>
          </a:prstGeom>
          <a:gradFill rotWithShape="1">
            <a:gsLst>
              <a:gs pos="0">
                <a:srgbClr val="132033">
                  <a:alpha val="92000"/>
                </a:srgbClr>
              </a:gs>
              <a:gs pos="45000">
                <a:srgbClr val="132033">
                  <a:alpha val="75000"/>
                </a:srgbClr>
              </a:gs>
              <a:gs pos="100000">
                <a:srgbClr val="132033">
                  <a:alpha val="0"/>
                </a:srgbClr>
              </a:gs>
            </a:gsLst>
            <a:lin ang="16200000" scaled="0"/>
          </a:gradFill>
          <a:ln/>
        </p:spPr>
        <p:txBody>
          <a:bodyPr/>
          <a:lstStyle/>
          <a:p>
            <a:endParaRPr lang="ko-KR" altLang="en-US"/>
          </a:p>
        </p:txBody>
      </p:sp>
      <p:sp>
        <p:nvSpPr>
          <p:cNvPr id="5" name="Text 1"/>
          <p:cNvSpPr/>
          <p:nvPr/>
        </p:nvSpPr>
        <p:spPr>
          <a:xfrm>
            <a:off x="812800" y="609600"/>
            <a:ext cx="2540000" cy="349250"/>
          </a:xfrm>
          <a:prstGeom prst="roundRect">
            <a:avLst>
              <a:gd name="adj" fmla="val 50000"/>
            </a:avLst>
          </a:prstGeom>
          <a:solidFill>
            <a:srgbClr val="F5F8FB">
              <a:alpha val="85000"/>
            </a:srgbClr>
          </a:solidFill>
          <a:ln/>
        </p:spPr>
        <p:txBody>
          <a:bodyPr wrap="square" lIns="41564" tIns="0" rIns="41564" bIns="0" rtlCol="0" anchor="t">
            <a:normAutofit/>
          </a:bodyPr>
          <a:lstStyle/>
          <a:p>
            <a:pPr marL="0" indent="0" algn="ctr">
              <a:lnSpc>
                <a:spcPts val="1960"/>
              </a:lnSpc>
              <a:buNone/>
            </a:pPr>
            <a:r>
              <a:rPr lang="en-US" sz="1400" kern="0" spc="200" dirty="0">
                <a:solidFill>
                  <a:srgbClr val="132033"/>
                </a:solidFill>
                <a:latin typeface="Arial" pitchFamily="34" charset="0"/>
                <a:ea typeface="Arial" pitchFamily="34" charset="-122"/>
                <a:cs typeface="Arial" pitchFamily="34" charset="-120"/>
              </a:rPr>
              <a:t>첫눈, 설렘</a:t>
            </a:r>
            <a:endParaRPr lang="en-US" sz="1400" dirty="0"/>
          </a:p>
        </p:txBody>
      </p:sp>
      <p:sp>
        <p:nvSpPr>
          <p:cNvPr id="6" name="Text 2"/>
          <p:cNvSpPr/>
          <p:nvPr/>
        </p:nvSpPr>
        <p:spPr>
          <a:xfrm>
            <a:off x="6908800" y="609600"/>
            <a:ext cx="2540000" cy="349250"/>
          </a:xfrm>
          <a:prstGeom prst="roundRect">
            <a:avLst>
              <a:gd name="adj" fmla="val 50000"/>
            </a:avLst>
          </a:prstGeom>
          <a:solidFill>
            <a:srgbClr val="D1373A">
              <a:alpha val="90000"/>
            </a:srgbClr>
          </a:solidFill>
          <a:ln/>
        </p:spPr>
        <p:txBody>
          <a:bodyPr wrap="square" lIns="41564" tIns="0" rIns="41564" bIns="0" rtlCol="0" anchor="t">
            <a:normAutofit/>
          </a:bodyPr>
          <a:lstStyle/>
          <a:p>
            <a:pPr marL="0" indent="0" algn="ctr">
              <a:lnSpc>
                <a:spcPts val="1960"/>
              </a:lnSpc>
              <a:buNone/>
            </a:pPr>
            <a:r>
              <a:rPr lang="en-US" sz="1400" kern="0" spc="200" dirty="0">
                <a:solidFill>
                  <a:srgbClr val="F5F8FB"/>
                </a:solidFill>
                <a:latin typeface="Arial" pitchFamily="34" charset="0"/>
                <a:ea typeface="Arial" pitchFamily="34" charset="-122"/>
                <a:cs typeface="Arial" pitchFamily="34" charset="-120"/>
              </a:rPr>
              <a:t>같은 눈, 빙판길</a:t>
            </a:r>
            <a:endParaRPr lang="en-US" sz="1400" dirty="0"/>
          </a:p>
        </p:txBody>
      </p:sp>
      <p:sp>
        <p:nvSpPr>
          <p:cNvPr id="7" name="Text 3"/>
          <p:cNvSpPr/>
          <p:nvPr/>
        </p:nvSpPr>
        <p:spPr>
          <a:xfrm>
            <a:off x="812800" y="4064000"/>
            <a:ext cx="9156700" cy="27305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9D6E5"/>
                </a:solidFill>
                <a:latin typeface="Arial" pitchFamily="34" charset="0"/>
                <a:ea typeface="Arial" pitchFamily="34" charset="-122"/>
                <a:cs typeface="Arial" pitchFamily="34" charset="-120"/>
              </a:rPr>
              <a:t>제24회 임베디드SW경진대회 개발완료보고서 · 자동차/모빌리티 (현대자동차)</a:t>
            </a:r>
            <a:endParaRPr lang="en-US" sz="1400" dirty="0"/>
          </a:p>
        </p:txBody>
      </p:sp>
      <p:sp>
        <p:nvSpPr>
          <p:cNvPr id="8" name="Text 4"/>
          <p:cNvSpPr>
            <a:spLocks noGrp="1"/>
          </p:cNvSpPr>
          <p:nvPr>
            <p:ph type="title"/>
          </p:nvPr>
        </p:nvSpPr>
        <p:spPr>
          <a:xfrm>
            <a:off x="812800" y="4381500"/>
            <a:ext cx="10464800" cy="8636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F5F8FB"/>
                </a:solidFill>
                <a:latin typeface="Arial" pitchFamily="34" charset="0"/>
                <a:ea typeface="Arial" pitchFamily="34" charset="-122"/>
                <a:cs typeface="Arial" pitchFamily="34" charset="-120"/>
              </a:rPr>
              <a:t>같은 눈, 다른 겨울</a:t>
            </a:r>
            <a:endParaRPr lang="en-US" sz="6000" dirty="0"/>
          </a:p>
        </p:txBody>
      </p:sp>
      <p:sp>
        <p:nvSpPr>
          <p:cNvPr id="9" name="Text 5"/>
          <p:cNvSpPr/>
          <p:nvPr/>
        </p:nvSpPr>
        <p:spPr>
          <a:xfrm>
            <a:off x="812800" y="5334000"/>
            <a:ext cx="10464800" cy="387350"/>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F5F8FB"/>
                </a:solidFill>
                <a:latin typeface="Arial" pitchFamily="34" charset="0"/>
                <a:ea typeface="Arial" pitchFamily="34" charset="-122"/>
                <a:cs typeface="Arial" pitchFamily="34" charset="-120"/>
              </a:rPr>
              <a:t>IcePredict — AI 예측과 RTOS 반응의 이중 안전망 블랙아이스 대응</a:t>
            </a:r>
            <a:endParaRPr lang="en-US" sz="2200" b="1" dirty="0"/>
          </a:p>
        </p:txBody>
      </p:sp>
      <p:sp>
        <p:nvSpPr>
          <p:cNvPr id="10" name="Text 6"/>
          <p:cNvSpPr/>
          <p:nvPr/>
        </p:nvSpPr>
        <p:spPr>
          <a:xfrm>
            <a:off x="812800" y="5943600"/>
            <a:ext cx="10464800" cy="273050"/>
          </a:xfrm>
          <a:prstGeom prst="rect">
            <a:avLst/>
          </a:prstGeom>
          <a:noFill/>
          <a:ln/>
        </p:spPr>
        <p:txBody>
          <a:bodyPr wrap="square" lIns="0" tIns="0" rIns="0" bIns="0" rtlCol="0" anchor="t">
            <a:normAutofit/>
          </a:bodyPr>
          <a:lstStyle/>
          <a:p>
            <a:pPr marL="0" indent="0" algn="l">
              <a:lnSpc>
                <a:spcPts val="1960"/>
              </a:lnSpc>
              <a:buNone/>
            </a:pPr>
            <a:r>
              <a:rPr lang="en-US" sz="1400" dirty="0" b="1">
                <a:solidFill>
                  <a:srgbClr val="FDBA74"/>
                </a:solidFill>
                <a:latin typeface="Arial" pitchFamily="34" charset="0"/>
                <a:ea typeface="Arial" pitchFamily="34" charset="-122"/>
                <a:cs typeface="Arial" pitchFamily="34" charset="-120"/>
              </a:rPr>
              <a:t>[팀번호]</a:t>
            </a:r>
            <a:r>
              <a:rPr lang="en-US" sz="1400" dirty="0">
                <a:solidFill>
                  <a:srgbClr val="C9D6E5"/>
                </a:solidFill>
                <a:latin typeface="Arial" pitchFamily="34" charset="0"/>
                <a:ea typeface="Arial" pitchFamily="34" charset="-122"/>
                <a:cs typeface="Arial" pitchFamily="34" charset="-120"/>
              </a:rPr>
              <a:t>_ARTS · 이지성 · 남윤상 · 김진찬</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D1373A"/>
                </a:solidFill>
                <a:latin typeface="Arial" pitchFamily="34" charset="0"/>
                <a:ea typeface="Arial" pitchFamily="34" charset="-122"/>
                <a:cs typeface="Arial" pitchFamily="34" charset="-120"/>
              </a:rPr>
              <a:t>1. 개발 개요 · 문제</a:t>
            </a:r>
            <a:endParaRPr lang="en-US" sz="1400" dirty="0"/>
          </a:p>
        </p:txBody>
      </p:sp>
      <p:sp>
        <p:nvSpPr>
          <p:cNvPr id="3" name="Text 1"/>
          <p:cNvSpPr>
            <a:spLocks noGrp="1"/>
          </p:cNvSpPr>
          <p:nvPr>
            <p:ph type="title"/>
          </p:nvPr>
        </p:nvSpPr>
        <p:spPr>
          <a:xfrm>
            <a:off x="812800" y="121285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32033"/>
                </a:solidFill>
                <a:latin typeface="Arial" pitchFamily="34" charset="0"/>
                <a:ea typeface="Arial" pitchFamily="34" charset="-122"/>
                <a:cs typeface="Arial" pitchFamily="34" charset="-120"/>
              </a:rPr>
              <a:t>눈은 보인다. 그 아래 얼음은 보이지 않는다.</a:t>
            </a:r>
            <a:endParaRPr lang="en-US" sz="3200" dirty="0"/>
          </a:p>
        </p:txBody>
      </p:sp>
      <p:sp>
        <p:nvSpPr>
          <p:cNvPr id="4" name="Shape 2"/>
          <p:cNvSpPr/>
          <p:nvPr/>
        </p:nvSpPr>
        <p:spPr>
          <a:xfrm>
            <a:off x="815975" y="1831975"/>
            <a:ext cx="3721100" cy="3333750"/>
          </a:xfrm>
          <a:prstGeom prst="roundRect">
            <a:avLst>
              <a:gd name="adj" fmla="val 3714"/>
            </a:avLst>
          </a:prstGeom>
          <a:solidFill>
            <a:srgbClr val="FBFCFE"/>
          </a:solidFill>
          <a:ln w="6350">
            <a:solidFill>
              <a:srgbClr val="DCE4EE"/>
            </a:solidFill>
            <a:prstDash val="solid"/>
          </a:ln>
        </p:spPr>
        <p:txBody>
          <a:bodyPr/>
          <a:lstStyle/>
          <a:p>
            <a:endParaRPr lang="ko-KR" altLang="en-US"/>
          </a:p>
        </p:txBody>
      </p:sp>
      <p:pic>
        <p:nvPicPr>
          <p:cNvPr id="5" name="Image 0" descr="CADC 전방 카메라 눈길 실주행 사진 4장, 약한 눈부터 극심한 눈까지"/>
          <p:cNvPicPr>
            <a:picLocks noChangeAspect="1"/>
          </p:cNvPicPr>
          <p:nvPr/>
        </p:nvPicPr>
        <p:blipFill>
          <a:blip r:embed="rId3"/>
          <a:srcRect l="-33" r="-33"/>
          <a:stretch/>
        </p:blipFill>
        <p:spPr>
          <a:xfrm>
            <a:off x="946150" y="1962150"/>
            <a:ext cx="3473450" cy="2787650"/>
          </a:xfrm>
          <a:prstGeom prst="roundRect">
            <a:avLst>
              <a:gd name="adj" fmla="val 1822"/>
            </a:avLst>
          </a:prstGeom>
        </p:spPr>
      </p:pic>
      <p:sp>
        <p:nvSpPr>
          <p:cNvPr id="6" name="Text 3"/>
          <p:cNvSpPr/>
          <p:nvPr/>
        </p:nvSpPr>
        <p:spPr>
          <a:xfrm>
            <a:off x="946150" y="4826000"/>
            <a:ext cx="356457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033"/>
                </a:solidFill>
                <a:latin typeface="Arial" pitchFamily="34" charset="0"/>
                <a:ea typeface="Arial" pitchFamily="34" charset="-122"/>
                <a:cs typeface="Arial" pitchFamily="34" charset="-120"/>
              </a:rPr>
              <a:t>CADC</a:t>
            </a:r>
            <a:r>
              <a:rPr lang="en-US" sz="1200" dirty="0">
                <a:solidFill>
                  <a:srgbClr val="4B5A6C"/>
                </a:solidFill>
                <a:latin typeface="Arial" pitchFamily="34" charset="0"/>
                <a:ea typeface="Arial" pitchFamily="34" charset="-122"/>
                <a:cs typeface="Arial" pitchFamily="34" charset="-120"/>
              </a:rPr>
              <a:t> 캐나다 워털루 눈길 실주행</a:t>
            </a:r>
            <a:endParaRPr lang="en-US" sz="1200" dirty="0"/>
          </a:p>
        </p:txBody>
      </p:sp>
      <p:sp>
        <p:nvSpPr>
          <p:cNvPr id="7" name="Shape 4"/>
          <p:cNvSpPr/>
          <p:nvPr/>
        </p:nvSpPr>
        <p:spPr>
          <a:xfrm>
            <a:off x="4746625" y="1831975"/>
            <a:ext cx="6629400" cy="3333750"/>
          </a:xfrm>
          <a:prstGeom prst="roundRect">
            <a:avLst>
              <a:gd name="adj" fmla="val 3714"/>
            </a:avLst>
          </a:prstGeom>
          <a:solidFill>
            <a:srgbClr val="FBFCFE"/>
          </a:solidFill>
          <a:ln w="6350">
            <a:solidFill>
              <a:srgbClr val="DCE4EE"/>
            </a:solidFill>
            <a:prstDash val="solid"/>
          </a:ln>
        </p:spPr>
        <p:txBody>
          <a:bodyPr/>
          <a:lstStyle/>
          <a:p>
            <a:endParaRPr lang="ko-KR" altLang="en-US"/>
          </a:p>
        </p:txBody>
      </p:sp>
      <p:pic>
        <p:nvPicPr>
          <p:cNvPr id="8" name="Image 1" descr="WADS 폭설 라이다 포인트클라우드, 내리는 눈과 쌓인 눈을 점 단위로 라벨"/>
          <p:cNvPicPr>
            <a:picLocks noChangeAspect="1"/>
          </p:cNvPicPr>
          <p:nvPr/>
        </p:nvPicPr>
        <p:blipFill>
          <a:blip r:embed="rId4"/>
          <a:srcRect t="-52" b="-52"/>
          <a:stretch/>
        </p:blipFill>
        <p:spPr>
          <a:xfrm>
            <a:off x="4876800" y="1962150"/>
            <a:ext cx="6381750" cy="2787650"/>
          </a:xfrm>
          <a:prstGeom prst="roundRect">
            <a:avLst>
              <a:gd name="adj" fmla="val 1822"/>
            </a:avLst>
          </a:prstGeom>
        </p:spPr>
      </p:pic>
      <p:sp>
        <p:nvSpPr>
          <p:cNvPr id="9" name="Text 5"/>
          <p:cNvSpPr/>
          <p:nvPr/>
        </p:nvSpPr>
        <p:spPr>
          <a:xfrm>
            <a:off x="4876800" y="4826000"/>
            <a:ext cx="6560121"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32033"/>
                </a:solidFill>
                <a:latin typeface="Arial" pitchFamily="34" charset="0"/>
                <a:ea typeface="Arial" pitchFamily="34" charset="-122"/>
                <a:cs typeface="Arial" pitchFamily="34" charset="-120"/>
              </a:rPr>
              <a:t>WADS</a:t>
            </a:r>
            <a:r>
              <a:rPr lang="en-US" sz="1200" dirty="0">
                <a:solidFill>
                  <a:srgbClr val="4B5A6C"/>
                </a:solidFill>
                <a:latin typeface="Arial" pitchFamily="34" charset="0"/>
                <a:ea typeface="Arial" pitchFamily="34" charset="-122"/>
                <a:cs typeface="Arial" pitchFamily="34" charset="-120"/>
              </a:rPr>
              <a:t> 미시간 폭설 라이다 · 내리는 눈 / 쌓인 눈을 점 단위로 라벨</a:t>
            </a:r>
            <a:endParaRPr lang="en-US" sz="1200" dirty="0"/>
          </a:p>
        </p:txBody>
      </p:sp>
      <p:sp>
        <p:nvSpPr>
          <p:cNvPr id="10" name="Text 6"/>
          <p:cNvSpPr/>
          <p:nvPr/>
        </p:nvSpPr>
        <p:spPr>
          <a:xfrm>
            <a:off x="812800" y="5321300"/>
            <a:ext cx="2188250" cy="520700"/>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D1373A"/>
                </a:solidFill>
                <a:latin typeface="Arial" pitchFamily="34" charset="0"/>
                <a:ea typeface="Arial" pitchFamily="34" charset="-122"/>
                <a:cs typeface="Arial" pitchFamily="34" charset="-120"/>
              </a:rPr>
              <a:t>1.6배 </a:t>
            </a:r>
            <a:r>
              <a:rPr lang="en-US" sz="2800" dirty="0">
                <a:solidFill>
                  <a:srgbClr val="4B5A6C"/>
                </a:solidFill>
                <a:latin typeface="Arial" pitchFamily="34" charset="0"/>
                <a:ea typeface="Arial" pitchFamily="34" charset="-122"/>
                <a:cs typeface="Arial" pitchFamily="34" charset="-120"/>
              </a:rPr>
              <a:t>치사율</a:t>
            </a:r>
            <a:endParaRPr lang="en-US" sz="2800" dirty="0"/>
          </a:p>
        </p:txBody>
      </p:sp>
      <p:sp>
        <p:nvSpPr>
          <p:cNvPr id="11" name="Text 7"/>
          <p:cNvSpPr/>
          <p:nvPr/>
        </p:nvSpPr>
        <p:spPr>
          <a:xfrm>
            <a:off x="3144341" y="5321300"/>
            <a:ext cx="1937861" cy="520700"/>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132033"/>
                </a:solidFill>
                <a:latin typeface="Arial" pitchFamily="34" charset="0"/>
                <a:ea typeface="Arial" pitchFamily="34" charset="-122"/>
                <a:cs typeface="Arial" pitchFamily="34" charset="-120"/>
              </a:rPr>
              <a:t>199명 </a:t>
            </a:r>
            <a:r>
              <a:rPr lang="en-US" sz="2800" dirty="0">
                <a:solidFill>
                  <a:srgbClr val="4B5A6C"/>
                </a:solidFill>
                <a:latin typeface="Arial" pitchFamily="34" charset="0"/>
                <a:ea typeface="Arial" pitchFamily="34" charset="-122"/>
                <a:cs typeface="Arial" pitchFamily="34" charset="-120"/>
              </a:rPr>
              <a:t>사망</a:t>
            </a:r>
            <a:endParaRPr lang="en-US" sz="2800" dirty="0"/>
          </a:p>
        </p:txBody>
      </p:sp>
      <p:sp>
        <p:nvSpPr>
          <p:cNvPr id="12" name="Text 8"/>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D7E"/>
                </a:solidFill>
                <a:latin typeface="Arial" pitchFamily="34" charset="0"/>
                <a:ea typeface="Arial" pitchFamily="34" charset="-122"/>
                <a:cs typeface="Arial" pitchFamily="34" charset="-120"/>
              </a:rPr>
              <a:t>결빙·서리 노면 사고, 전체 평균 대비 · 2014–2018 · 출처: 삼성교통안전문화연구소(2020) · 사진: CADC, WADS 공개 데이터셋</a:t>
            </a:r>
            <a:endParaRPr lang="en-US" sz="1200" dirty="0"/>
          </a:p>
        </p:txBody>
      </p:sp>
      <p:sp>
        <p:nvSpPr>
          <p:cNvPr id="13" name="Text 9"/>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D7E"/>
                </a:solidFill>
                <a:latin typeface="Arial" pitchFamily="34" charset="0"/>
                <a:ea typeface="Arial" pitchFamily="34" charset="-122"/>
                <a:cs typeface="Arial" pitchFamily="34" charset="-120"/>
              </a:rPr>
              <a:t>2 / 20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033"/>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8FB4F5"/>
                </a:solidFill>
                <a:latin typeface="Arial" pitchFamily="34" charset="0"/>
                <a:ea typeface="Arial" pitchFamily="34" charset="-122"/>
                <a:cs typeface="Arial" pitchFamily="34" charset="-120"/>
              </a:rPr>
              <a:t>1. 개발 개요 · 해법</a:t>
            </a:r>
            <a:endParaRPr lang="en-US" sz="1400" dirty="0"/>
          </a:p>
        </p:txBody>
      </p:sp>
      <p:sp>
        <p:nvSpPr>
          <p:cNvPr id="3" name="Text 1"/>
          <p:cNvSpPr>
            <a:spLocks noGrp="1"/>
          </p:cNvSpPr>
          <p:nvPr>
            <p:ph type="title"/>
          </p:nvPr>
        </p:nvSpPr>
        <p:spPr>
          <a:xfrm>
            <a:off x="812800" y="1162050"/>
            <a:ext cx="10883392" cy="69215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5F8FB"/>
                </a:solidFill>
                <a:latin typeface="Arial" pitchFamily="34" charset="0"/>
                <a:ea typeface="Arial" pitchFamily="34" charset="-122"/>
                <a:cs typeface="Arial" pitchFamily="34" charset="-120"/>
              </a:rPr>
              <a:t>미리 보고, 놓쳐도 받는다.</a:t>
            </a:r>
            <a:endParaRPr lang="en-US" sz="4800" dirty="0"/>
          </a:p>
        </p:txBody>
      </p:sp>
      <p:sp>
        <p:nvSpPr>
          <p:cNvPr id="4" name="Shape 2"/>
          <p:cNvSpPr/>
          <p:nvPr/>
        </p:nvSpPr>
        <p:spPr>
          <a:xfrm>
            <a:off x="812800" y="2032000"/>
            <a:ext cx="10566400" cy="4114800"/>
          </a:xfrm>
          <a:prstGeom prst="roundRect">
            <a:avLst>
              <a:gd name="adj" fmla="val 3704"/>
            </a:avLst>
          </a:prstGeom>
          <a:solidFill>
            <a:srgbClr val="FBFCFE"/>
          </a:solidFill>
          <a:ln/>
        </p:spPr>
        <p:txBody>
          <a:bodyPr/>
          <a:lstStyle/>
          <a:p>
            <a:endParaRPr lang="ko-KR" altLang="en-US"/>
          </a:p>
        </p:txBody>
      </p:sp>
      <p:pic>
        <p:nvPicPr>
          <p:cNvPr id="5" name="Image 0" descr="이중 방어 구조도: 위 줄은 카메라와 NPU로 위험을 예측하는 1차 방어, 아래 줄은 IMU로 미끄러짐을 확정하고 비상 제어하는 2차 방어, 둘 다 STM32N6 한 보드에서 동작하며 2차가 1차를 선점"/>
          <p:cNvPicPr>
            <a:picLocks noChangeAspect="1"/>
          </p:cNvPicPr>
          <p:nvPr/>
        </p:nvPicPr>
        <p:blipFill>
          <a:blip r:embed="rId3"/>
          <a:srcRect l="-25040" r="-25040"/>
          <a:stretch/>
        </p:blipFill>
        <p:spPr>
          <a:xfrm>
            <a:off x="247904" y="2032000"/>
            <a:ext cx="11696192" cy="4114800"/>
          </a:xfrm>
          <a:prstGeom prst="rect">
            <a:avLst/>
          </a:prstGeom>
        </p:spPr>
      </p:pic>
      <p:sp>
        <p:nvSpPr>
          <p:cNvPr id="6" name="TextBox 5"/>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8A97A8"/>
                </a:solidFill>
                <a:latin typeface="Arial"/>
              </a:rPr>
              <a:t>3 / 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F2F7"/>
        </a:solidFill>
        <a:effectLst/>
      </p:bgPr>
    </p:bg>
    <p:spTree>
      <p:nvGrpSpPr>
        <p:cNvPr id="1" name=""/>
        <p:cNvGrpSpPr/>
        <p:nvPr/>
      </p:nvGrpSpPr>
      <p:grpSpPr>
        <a:xfrm>
          <a:off x="0" y="0"/>
          <a:ext cx="0" cy="0"/>
          <a:chOff x="0" y="0"/>
          <a:chExt cx="0" cy="0"/>
        </a:xfrm>
      </p:grpSpPr>
      <p:sp>
        <p:nvSpPr>
          <p:cNvPr id="16" name="Text 10"/>
          <p:cNvSpPr/>
          <p:nvPr/>
        </p:nvSpPr>
        <p:spPr>
          <a:xfrm>
            <a:off x="565374" y="6860615"/>
            <a:ext cx="5886450" cy="23495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pic>
        <p:nvPicPr>
          <p:cNvPr id="21" name="그림 20">
            <a:extLst>
              <a:ext uri="{FF2B5EF4-FFF2-40B4-BE49-F238E27FC236}">
                <a16:creationId xmlns:a16="http://schemas.microsoft.com/office/drawing/2014/main" id="{168A5C47-406F-A16F-2127-FCA6982D974B}"/>
              </a:ext>
            </a:extLst>
          </p:cNvPr>
          <p:cNvPicPr>
            <a:picLocks noChangeAspect="1"/>
          </p:cNvPicPr>
          <p:nvPr/>
        </p:nvPicPr>
        <p:blipFill>
          <a:blip r:embed="rId3"/>
          <a:stretch>
            <a:fillRect/>
          </a:stretch>
        </p:blipFill>
        <p:spPr>
          <a:xfrm>
            <a:off x="-115614" y="0"/>
            <a:ext cx="12423228" cy="6858000"/>
          </a:xfrm>
          <a:prstGeom prst="rect">
            <a:avLst/>
          </a:prstGeom>
        </p:spPr>
      </p:pic>
      <p:sp>
        <p:nvSpPr>
          <p:cNvPr id="22" name="Text 11">
            <a:extLst>
              <a:ext uri="{FF2B5EF4-FFF2-40B4-BE49-F238E27FC236}">
                <a16:creationId xmlns:a16="http://schemas.microsoft.com/office/drawing/2014/main" id="{AACD0E0E-983C-6E1C-8DCA-8087CE5F6777}"/>
              </a:ext>
            </a:extLst>
          </p:cNvPr>
          <p:cNvSpPr/>
          <p:nvPr/>
        </p:nvSpPr>
        <p:spPr>
          <a:xfrm>
            <a:off x="10736132" y="6623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D7E"/>
                </a:solidFill>
                <a:latin typeface="Arial" pitchFamily="34" charset="0"/>
                <a:ea typeface="Arial" pitchFamily="34" charset="-122"/>
                <a:cs typeface="Arial" pitchFamily="34" charset="-120"/>
              </a:rPr>
              <a:t>4 / 20</a:t>
            </a:r>
            <a:endParaRPr lang="en-US" sz="1200" dirty="0"/>
          </a:p>
        </p:txBody>
      </p:sp>
      <p:sp>
        <p:nvSpPr>
          <p:cNvPr id="23" name="TextBox 22"/>
          <p:cNvSpPr txBox="1"/>
          <p:nvPr/>
        </p:nvSpPr>
        <p:spPr>
          <a:xfrm>
            <a:off x="274320" y="201168"/>
            <a:ext cx="1280160" cy="457200"/>
          </a:xfrm>
          <a:prstGeom prst="rect">
            <a:avLst/>
          </a:prstGeom>
          <a:noFill/>
        </p:spPr>
        <p:txBody>
          <a:bodyPr wrap="square" lIns="0" rIns="0" tIns="0" bIns="0" anchor="t">
            <a:spAutoFit/>
          </a:bodyPr>
          <a:lstStyle/>
          <a:p>
            <a:pPr algn="l"/>
            <a:r>
              <a:rPr sz="1200" b="0">
                <a:solidFill>
                  <a:srgbClr val="1E5BD7"/>
                </a:solidFill>
                <a:latin typeface="Arial"/>
              </a:rPr>
              <a:t>2. 개발 환경</a:t>
            </a:r>
          </a:p>
          <a:p>
            <a:pPr algn="l"/>
            <a:r>
              <a:rPr sz="1200" b="0">
                <a:solidFill>
                  <a:srgbClr val="1E5BD7"/>
                </a:solidFill>
                <a:latin typeface="Arial"/>
              </a:rPr>
              <a:t>HW 구성 및 기능</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1E5BD7"/>
                </a:solidFill>
                <a:latin typeface="Arial" pitchFamily="34" charset="0"/>
                <a:ea typeface="Arial" pitchFamily="34" charset="-122"/>
                <a:cs typeface="Arial" pitchFamily="34" charset="-120"/>
              </a:rPr>
              <a:t>3. 개발 프로그램 · 1차 방어 · 예측</a:t>
            </a:r>
            <a:endParaRPr lang="en-US" sz="1400" dirty="0"/>
          </a:p>
        </p:txBody>
      </p:sp>
      <p:sp>
        <p:nvSpPr>
          <p:cNvPr id="3" name="Text 1"/>
          <p:cNvSpPr>
            <a:spLocks noGrp="1"/>
          </p:cNvSpPr>
          <p:nvPr>
            <p:ph type="title"/>
          </p:nvPr>
        </p:nvSpPr>
        <p:spPr>
          <a:xfrm>
            <a:off x="812800" y="126365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32033"/>
                </a:solidFill>
                <a:latin typeface="Arial" pitchFamily="34" charset="0"/>
                <a:ea typeface="Arial" pitchFamily="34" charset="-122"/>
                <a:cs typeface="Arial" pitchFamily="34" charset="-120"/>
              </a:rPr>
              <a:t>카메라가 미리 보고, 빙판 앞에서 멈춘다</a:t>
            </a:r>
            <a:endParaRPr lang="en-US" sz="3200" dirty="0"/>
          </a:p>
        </p:txBody>
      </p:sp>
      <p:sp>
        <p:nvSpPr>
          <p:cNvPr id="4" name="Shape 2"/>
          <p:cNvSpPr/>
          <p:nvPr/>
        </p:nvSpPr>
        <p:spPr>
          <a:xfrm>
            <a:off x="812800" y="1930400"/>
            <a:ext cx="7493000" cy="2806700"/>
          </a:xfrm>
          <a:prstGeom prst="roundRect">
            <a:avLst>
              <a:gd name="adj" fmla="val 3620"/>
            </a:avLst>
          </a:prstGeom>
          <a:solidFill>
            <a:srgbClr val="132033"/>
          </a:solidFill>
          <a:ln/>
        </p:spPr>
        <p:txBody>
          <a:bodyPr/>
          <a:lstStyle/>
          <a:p>
            <a:endParaRPr lang="ko-KR" altLang="en-US"/>
          </a:p>
        </p:txBody>
      </p:sp>
      <p:pic>
        <p:nvPicPr>
          <p:cNvPr id="15" name="v_primary.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12799" y="1930399"/>
            <a:ext cx="8476247" cy="3471918"/>
          </a:xfrm>
          <a:prstGeom prst="rect">
            <a:avLst/>
          </a:prstGeom>
        </p:spPr>
      </p:pic>
      <p:sp>
        <p:nvSpPr>
          <p:cNvPr id="6" name="Text 3"/>
          <p:cNvSpPr/>
          <p:nvPr/>
        </p:nvSpPr>
        <p:spPr>
          <a:xfrm>
            <a:off x="2778234" y="5467350"/>
            <a:ext cx="7717790"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F6D7E"/>
                </a:solidFill>
                <a:latin typeface="Arial" pitchFamily="34" charset="0"/>
                <a:ea typeface="Arial" pitchFamily="34" charset="-122"/>
                <a:cs typeface="Arial" pitchFamily="34" charset="-120"/>
              </a:rPr>
              <a:t>왼쪽: 모델이 보는 전방 카메라 · 오른쪽: 조감 · CARLA HIL, 판정은 실물 보드</a:t>
            </a:r>
            <a:endParaRPr lang="en-US" sz="1300" dirty="0"/>
          </a:p>
        </p:txBody>
      </p:sp>
      <p:sp>
        <p:nvSpPr>
          <p:cNvPr id="7" name="Text 4"/>
          <p:cNvSpPr/>
          <p:nvPr/>
        </p:nvSpPr>
        <p:spPr>
          <a:xfrm>
            <a:off x="9591566" y="2400519"/>
            <a:ext cx="2956306" cy="584200"/>
          </a:xfrm>
          <a:prstGeom prst="rect">
            <a:avLst/>
          </a:prstGeom>
          <a:noFill/>
          <a:ln/>
        </p:spPr>
        <p:txBody>
          <a:bodyPr wrap="square" lIns="0" tIns="0" rIns="0" bIns="0" rtlCol="0" anchor="t">
            <a:normAutofit/>
          </a:bodyPr>
          <a:lstStyle/>
          <a:p>
            <a:pPr marL="0" indent="0" algn="l">
              <a:lnSpc>
                <a:spcPts val="4400"/>
              </a:lnSpc>
              <a:buNone/>
            </a:pPr>
            <a:r>
              <a:rPr lang="en-US" sz="4000" dirty="0">
                <a:solidFill>
                  <a:srgbClr val="1E5BD7"/>
                </a:solidFill>
                <a:latin typeface="Arial" pitchFamily="34" charset="0"/>
                <a:ea typeface="Arial" pitchFamily="34" charset="-122"/>
                <a:cs typeface="Arial" pitchFamily="34" charset="-120"/>
              </a:rPr>
              <a:t>96.6%</a:t>
            </a:r>
            <a:endParaRPr lang="en-US" sz="4000" dirty="0"/>
          </a:p>
        </p:txBody>
      </p:sp>
      <p:sp>
        <p:nvSpPr>
          <p:cNvPr id="8" name="Text 5"/>
          <p:cNvSpPr/>
          <p:nvPr/>
        </p:nvSpPr>
        <p:spPr>
          <a:xfrm>
            <a:off x="9591566" y="2984719"/>
            <a:ext cx="2956306"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A6C"/>
                </a:solidFill>
                <a:latin typeface="Arial" pitchFamily="34" charset="0"/>
                <a:ea typeface="Arial" pitchFamily="34" charset="-122"/>
                <a:cs typeface="Arial" pitchFamily="34" charset="-120"/>
              </a:rPr>
              <a:t>실제 얼음 사진 6,340장 경보율</a:t>
            </a:r>
            <a:endParaRPr lang="en-US" sz="1300" dirty="0"/>
          </a:p>
        </p:txBody>
      </p:sp>
      <p:sp>
        <p:nvSpPr>
          <p:cNvPr id="9" name="Text 6"/>
          <p:cNvSpPr/>
          <p:nvPr/>
        </p:nvSpPr>
        <p:spPr>
          <a:xfrm>
            <a:off x="9591566" y="3391119"/>
            <a:ext cx="2956306" cy="584200"/>
          </a:xfrm>
          <a:prstGeom prst="rect">
            <a:avLst/>
          </a:prstGeom>
          <a:noFill/>
          <a:ln/>
        </p:spPr>
        <p:txBody>
          <a:bodyPr wrap="square" lIns="0" tIns="0" rIns="0" bIns="0" rtlCol="0" anchor="t">
            <a:normAutofit/>
          </a:bodyPr>
          <a:lstStyle/>
          <a:p>
            <a:pPr marL="0" indent="0" algn="l">
              <a:lnSpc>
                <a:spcPts val="4400"/>
              </a:lnSpc>
              <a:buNone/>
            </a:pPr>
            <a:r>
              <a:rPr lang="en-US" sz="4000" dirty="0">
                <a:solidFill>
                  <a:srgbClr val="1E5BD7"/>
                </a:solidFill>
                <a:latin typeface="Arial" pitchFamily="34" charset="0"/>
                <a:ea typeface="Arial" pitchFamily="34" charset="-122"/>
                <a:cs typeface="Arial" pitchFamily="34" charset="-120"/>
              </a:rPr>
              <a:t>0.3%</a:t>
            </a:r>
            <a:endParaRPr lang="en-US" sz="4000" dirty="0"/>
          </a:p>
        </p:txBody>
      </p:sp>
      <p:sp>
        <p:nvSpPr>
          <p:cNvPr id="10" name="Text 7"/>
          <p:cNvSpPr/>
          <p:nvPr/>
        </p:nvSpPr>
        <p:spPr>
          <a:xfrm>
            <a:off x="9591566" y="3975319"/>
            <a:ext cx="2956306"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A6C"/>
                </a:solidFill>
                <a:latin typeface="Arial" pitchFamily="34" charset="0"/>
                <a:ea typeface="Arial" pitchFamily="34" charset="-122"/>
                <a:cs typeface="Arial" pitchFamily="34" charset="-120"/>
              </a:rPr>
              <a:t>마른 노면 오경보 (19,018장)</a:t>
            </a:r>
            <a:endParaRPr lang="en-US" sz="1300" dirty="0"/>
          </a:p>
        </p:txBody>
      </p:sp>
      <p:sp>
        <p:nvSpPr>
          <p:cNvPr id="11" name="Text 8"/>
          <p:cNvSpPr/>
          <p:nvPr/>
        </p:nvSpPr>
        <p:spPr>
          <a:xfrm>
            <a:off x="9591566" y="4381719"/>
            <a:ext cx="2956306" cy="584200"/>
          </a:xfrm>
          <a:prstGeom prst="rect">
            <a:avLst/>
          </a:prstGeom>
          <a:noFill/>
          <a:ln/>
        </p:spPr>
        <p:txBody>
          <a:bodyPr wrap="square" lIns="0" tIns="0" rIns="0" bIns="0" rtlCol="0" anchor="t">
            <a:normAutofit/>
          </a:bodyPr>
          <a:lstStyle/>
          <a:p>
            <a:pPr marL="0" indent="0" algn="l">
              <a:lnSpc>
                <a:spcPts val="4400"/>
              </a:lnSpc>
              <a:buNone/>
            </a:pPr>
            <a:r>
              <a:rPr lang="en-US" sz="4000" dirty="0">
                <a:solidFill>
                  <a:srgbClr val="1E5BD7"/>
                </a:solidFill>
                <a:latin typeface="Arial" pitchFamily="34" charset="0"/>
                <a:ea typeface="Arial" pitchFamily="34" charset="-122"/>
                <a:cs typeface="Arial" pitchFamily="34" charset="-120"/>
              </a:rPr>
              <a:t>25 ms</a:t>
            </a:r>
            <a:endParaRPr lang="en-US" sz="4000" dirty="0"/>
          </a:p>
        </p:txBody>
      </p:sp>
      <p:sp>
        <p:nvSpPr>
          <p:cNvPr id="12" name="Text 9"/>
          <p:cNvSpPr/>
          <p:nvPr/>
        </p:nvSpPr>
        <p:spPr>
          <a:xfrm>
            <a:off x="9591566" y="4965919"/>
            <a:ext cx="2956306"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A6C"/>
                </a:solidFill>
                <a:latin typeface="Arial" pitchFamily="34" charset="0"/>
                <a:ea typeface="Arial" pitchFamily="34" charset="-122"/>
                <a:cs typeface="Arial" pitchFamily="34" charset="-120"/>
              </a:rPr>
              <a:t>보드 NPU 추론 (int8 MobileNetV3)</a:t>
            </a:r>
            <a:endParaRPr lang="en-US" sz="1300" dirty="0"/>
          </a:p>
        </p:txBody>
      </p:sp>
      <p:sp>
        <p:nvSpPr>
          <p:cNvPr id="13" name="Text 10"/>
          <p:cNvSpPr/>
          <p:nvPr/>
        </p:nvSpPr>
        <p:spPr>
          <a:xfrm>
            <a:off x="812799" y="5968781"/>
            <a:ext cx="8502650" cy="234950"/>
          </a:xfrm>
          <a:prstGeom prst="rect">
            <a:avLst/>
          </a:prstGeom>
          <a:noFill/>
          <a:ln/>
        </p:spPr>
        <p:txBody>
          <a:bodyPr wrap="square" lIns="0" tIns="0" rIns="0" bIns="0" rtlCol="0" anchor="t">
            <a:normAutofit/>
          </a:bodyPr>
          <a:lstStyle/>
          <a:p>
            <a:pPr marL="0" indent="0" algn="l">
              <a:lnSpc>
                <a:spcPts val="1680"/>
              </a:lnSpc>
              <a:buNone/>
            </a:pPr>
            <a:r>
              <a:rPr lang="en-US" sz="1600" b="1" dirty="0">
                <a:solidFill>
                  <a:srgbClr val="5F6D7E"/>
                </a:solidFill>
                <a:latin typeface="Arial" pitchFamily="34" charset="0"/>
                <a:ea typeface="Arial" pitchFamily="34" charset="-122"/>
                <a:cs typeface="Arial" pitchFamily="34" charset="-120"/>
              </a:rPr>
              <a:t>성능: RSCD 실사진 69,358장을 보드에 직접 넣어 평가 · 운영 문턱 0.603</a:t>
            </a:r>
            <a:endParaRPr lang="en-US" sz="1600" b="1" dirty="0"/>
          </a:p>
        </p:txBody>
      </p:sp>
      <p:sp>
        <p:nvSpPr>
          <p:cNvPr id="14" name="Text 11"/>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D7E"/>
                </a:solidFill>
                <a:latin typeface="Arial" pitchFamily="34" charset="0"/>
                <a:ea typeface="Arial" pitchFamily="34" charset="-122"/>
                <a:cs typeface="Arial" pitchFamily="34" charset="-120"/>
              </a:rPr>
              <a:t>9 / 20</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endCondLst>
                    <p:cond evt="onStopAudio" delay="0">
                      <p:tn val="2"/>
                    </p:cond>
                  </p:endCondLst>
                </p:cTn>
                <p:tgtEl>
                  <p:spTgt spid="15"/>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0B7A6B"/>
                </a:solidFill>
                <a:latin typeface="Arial" pitchFamily="34" charset="0"/>
                <a:ea typeface="Arial" pitchFamily="34" charset="-122"/>
                <a:cs typeface="Arial" pitchFamily="34" charset="-120"/>
              </a:rPr>
              <a:t>3. 개발 프로그램 · 2차 방어 · 원리 — 그래도 3.4%는 놓친다면</a:t>
            </a:r>
            <a:endParaRPr lang="en-US" sz="1400" dirty="0"/>
          </a:p>
        </p:txBody>
      </p:sp>
      <p:sp>
        <p:nvSpPr>
          <p:cNvPr id="3" name="Text 1"/>
          <p:cNvSpPr>
            <a:spLocks noGrp="1"/>
          </p:cNvSpPr>
          <p:nvPr>
            <p:ph type="title"/>
          </p:nvPr>
        </p:nvSpPr>
        <p:spPr>
          <a:xfrm>
            <a:off x="812800" y="121285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32033"/>
                </a:solidFill>
                <a:latin typeface="Arial" pitchFamily="34" charset="0"/>
                <a:ea typeface="Arial" pitchFamily="34" charset="-122"/>
                <a:cs typeface="Arial" pitchFamily="34" charset="-120"/>
              </a:rPr>
              <a:t>차가 바퀴가 가리키는 대로 가고 있는가?</a:t>
            </a:r>
            <a:endParaRPr lang="en-US" sz="3200" dirty="0"/>
          </a:p>
        </p:txBody>
      </p:sp>
      <p:pic>
        <p:nvPicPr>
          <p:cNvPr id="4" name="Image 0" descr="기구학 자전거 모델(바퀴 방향대로 도는 경로)과 동역학 자전거 모델(타이어 슬립과 힘) 비교 그림"/>
          <p:cNvPicPr>
            <a:picLocks noChangeAspect="1"/>
          </p:cNvPicPr>
          <p:nvPr/>
        </p:nvPicPr>
        <p:blipFill>
          <a:blip r:embed="rId3"/>
          <a:srcRect t="19" b="19"/>
          <a:stretch/>
        </p:blipFill>
        <p:spPr>
          <a:xfrm>
            <a:off x="812800" y="1828800"/>
            <a:ext cx="5060950" cy="2730500"/>
          </a:xfrm>
          <a:prstGeom prst="roundRect">
            <a:avLst>
              <a:gd name="adj" fmla="val 4651"/>
            </a:avLst>
          </a:prstGeom>
        </p:spPr>
      </p:pic>
      <p:sp>
        <p:nvSpPr>
          <p:cNvPr id="5" name="Shape 2"/>
          <p:cNvSpPr/>
          <p:nvPr/>
        </p:nvSpPr>
        <p:spPr>
          <a:xfrm>
            <a:off x="914400" y="1930400"/>
            <a:ext cx="1905000" cy="285750"/>
          </a:xfrm>
          <a:prstGeom prst="roundRect">
            <a:avLst>
              <a:gd name="adj" fmla="val 50000"/>
            </a:avLst>
          </a:prstGeom>
          <a:solidFill>
            <a:srgbClr val="1E5BD7"/>
          </a:solidFill>
          <a:ln/>
        </p:spPr>
        <p:txBody>
          <a:bodyPr/>
          <a:lstStyle/>
          <a:p>
            <a:endParaRPr lang="ko-KR" altLang="en-US"/>
          </a:p>
        </p:txBody>
      </p:sp>
      <p:sp>
        <p:nvSpPr>
          <p:cNvPr id="6" name="Text 3"/>
          <p:cNvSpPr/>
          <p:nvPr/>
        </p:nvSpPr>
        <p:spPr>
          <a:xfrm>
            <a:off x="990473" y="1968500"/>
            <a:ext cx="1752854"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5F8FB"/>
                </a:solidFill>
                <a:latin typeface="Arial" pitchFamily="34" charset="0"/>
                <a:ea typeface="Arial" pitchFamily="34" charset="-122"/>
                <a:cs typeface="Arial" pitchFamily="34" charset="-120"/>
              </a:rPr>
              <a:t>기대 — 바퀴 방향대로</a:t>
            </a:r>
            <a:endParaRPr lang="en-US" sz="1200" dirty="0"/>
          </a:p>
        </p:txBody>
      </p:sp>
      <p:sp>
        <p:nvSpPr>
          <p:cNvPr id="7" name="Shape 4"/>
          <p:cNvSpPr/>
          <p:nvPr/>
        </p:nvSpPr>
        <p:spPr>
          <a:xfrm>
            <a:off x="3441700" y="1930400"/>
            <a:ext cx="1905000" cy="285750"/>
          </a:xfrm>
          <a:prstGeom prst="roundRect">
            <a:avLst>
              <a:gd name="adj" fmla="val 50000"/>
            </a:avLst>
          </a:prstGeom>
          <a:solidFill>
            <a:srgbClr val="D1373A"/>
          </a:solidFill>
          <a:ln/>
        </p:spPr>
        <p:txBody>
          <a:bodyPr/>
          <a:lstStyle/>
          <a:p>
            <a:endParaRPr lang="ko-KR" altLang="en-US"/>
          </a:p>
        </p:txBody>
      </p:sp>
      <p:sp>
        <p:nvSpPr>
          <p:cNvPr id="8" name="Text 5"/>
          <p:cNvSpPr/>
          <p:nvPr/>
        </p:nvSpPr>
        <p:spPr>
          <a:xfrm>
            <a:off x="3517773" y="1968500"/>
            <a:ext cx="1752854"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5F8FB"/>
                </a:solidFill>
                <a:latin typeface="Arial" pitchFamily="34" charset="0"/>
                <a:ea typeface="Arial" pitchFamily="34" charset="-122"/>
                <a:cs typeface="Arial" pitchFamily="34" charset="-120"/>
              </a:rPr>
              <a:t>실제 — 타이어 미끄러짐</a:t>
            </a:r>
            <a:endParaRPr lang="en-US" sz="1200" dirty="0"/>
          </a:p>
        </p:txBody>
      </p:sp>
      <p:sp>
        <p:nvSpPr>
          <p:cNvPr id="9" name="Shape 6"/>
          <p:cNvSpPr/>
          <p:nvPr/>
        </p:nvSpPr>
        <p:spPr>
          <a:xfrm>
            <a:off x="6178550" y="1828800"/>
            <a:ext cx="4845050" cy="2730500"/>
          </a:xfrm>
          <a:prstGeom prst="roundRect">
            <a:avLst>
              <a:gd name="adj" fmla="val 4651"/>
            </a:avLst>
          </a:prstGeom>
          <a:solidFill>
            <a:srgbClr val="FFFFFF"/>
          </a:solidFill>
          <a:ln/>
        </p:spPr>
        <p:txBody>
          <a:bodyPr/>
          <a:lstStyle/>
          <a:p>
            <a:endParaRPr lang="ko-KR" altLang="en-US"/>
          </a:p>
        </p:txBody>
      </p:sp>
      <p:pic>
        <p:nvPicPr>
          <p:cNvPr id="10" name="Image 1" descr="칼만 필터 개념도: 예측 분포와 측정 분포를 결합해 최적 추정을 얻음"/>
          <p:cNvPicPr>
            <a:picLocks noChangeAspect="1"/>
          </p:cNvPicPr>
          <p:nvPr/>
        </p:nvPicPr>
        <p:blipFill>
          <a:blip r:embed="rId4"/>
          <a:srcRect t="-16" b="-16"/>
          <a:stretch/>
        </p:blipFill>
        <p:spPr>
          <a:xfrm>
            <a:off x="6178550" y="1828800"/>
            <a:ext cx="4845050" cy="2730500"/>
          </a:xfrm>
          <a:prstGeom prst="roundRect">
            <a:avLst>
              <a:gd name="adj" fmla="val 4651"/>
            </a:avLst>
          </a:prstGeom>
        </p:spPr>
      </p:pic>
      <p:sp>
        <p:nvSpPr>
          <p:cNvPr id="11" name="Shape 7"/>
          <p:cNvSpPr/>
          <p:nvPr/>
        </p:nvSpPr>
        <p:spPr>
          <a:xfrm>
            <a:off x="6280150" y="1930400"/>
            <a:ext cx="1905000" cy="285750"/>
          </a:xfrm>
          <a:prstGeom prst="roundRect">
            <a:avLst>
              <a:gd name="adj" fmla="val 50000"/>
            </a:avLst>
          </a:prstGeom>
          <a:solidFill>
            <a:srgbClr val="0B7A6B"/>
          </a:solidFill>
          <a:ln/>
        </p:spPr>
        <p:txBody>
          <a:bodyPr/>
          <a:lstStyle/>
          <a:p>
            <a:endParaRPr lang="ko-KR" altLang="en-US"/>
          </a:p>
        </p:txBody>
      </p:sp>
      <p:sp>
        <p:nvSpPr>
          <p:cNvPr id="12" name="Text 8"/>
          <p:cNvSpPr/>
          <p:nvPr/>
        </p:nvSpPr>
        <p:spPr>
          <a:xfrm>
            <a:off x="6356223" y="1968500"/>
            <a:ext cx="1752854"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5F8FB"/>
                </a:solidFill>
                <a:latin typeface="Arial" pitchFamily="34" charset="0"/>
                <a:ea typeface="Arial" pitchFamily="34" charset="-122"/>
                <a:cs typeface="Arial" pitchFamily="34" charset="-120"/>
              </a:rPr>
              <a:t>칼만 필터 — 잡음 제거</a:t>
            </a:r>
            <a:endParaRPr lang="en-US" sz="1200" dirty="0"/>
          </a:p>
        </p:txBody>
      </p:sp>
      <p:sp>
        <p:nvSpPr>
          <p:cNvPr id="13" name="Shape 9"/>
          <p:cNvSpPr/>
          <p:nvPr/>
        </p:nvSpPr>
        <p:spPr>
          <a:xfrm>
            <a:off x="812800" y="4711700"/>
            <a:ext cx="3420566" cy="920750"/>
          </a:xfrm>
          <a:prstGeom prst="roundRect">
            <a:avLst>
              <a:gd name="adj" fmla="val 11034"/>
            </a:avLst>
          </a:prstGeom>
          <a:solidFill>
            <a:srgbClr val="FBFCFE"/>
          </a:solidFill>
          <a:ln/>
        </p:spPr>
        <p:txBody>
          <a:bodyPr/>
          <a:lstStyle/>
          <a:p>
            <a:endParaRPr lang="ko-KR" altLang="en-US"/>
          </a:p>
        </p:txBody>
      </p:sp>
      <p:sp>
        <p:nvSpPr>
          <p:cNvPr id="14" name="Shape 10"/>
          <p:cNvSpPr/>
          <p:nvPr/>
        </p:nvSpPr>
        <p:spPr>
          <a:xfrm>
            <a:off x="812800" y="4711700"/>
            <a:ext cx="3420566" cy="920750"/>
          </a:xfrm>
          <a:custGeom>
            <a:avLst/>
            <a:gdLst/>
            <a:ahLst/>
            <a:cxnLst/>
            <a:rect l="l" t="t" r="r" b="b"/>
            <a:pathLst>
              <a:path w="3420566" h="920750">
                <a:moveTo>
                  <a:pt x="101600" y="920750"/>
                </a:moveTo>
                <a:lnTo>
                  <a:pt x="101600" y="920750"/>
                </a:lnTo>
                <a:arcTo wR="101600" hR="101600" stAng="5400000" swAng="5400000"/>
                <a:lnTo>
                  <a:pt x="0" y="101600"/>
                </a:lnTo>
                <a:arcTo wR="101600" hR="101600" stAng="10800000" swAng="5400000"/>
                <a:lnTo>
                  <a:pt x="101600" y="0"/>
                </a:lnTo>
                <a:arcTo wR="63500" hR="101600" stAng="16200000" swAng="-5400000"/>
                <a:lnTo>
                  <a:pt x="38100" y="819150"/>
                </a:lnTo>
                <a:arcTo wR="63500" hR="101600" stAng="10800000" swAng="-5400000"/>
                <a:close/>
              </a:path>
            </a:pathLst>
          </a:custGeom>
          <a:solidFill>
            <a:srgbClr val="1E5BD7"/>
          </a:solidFill>
          <a:ln/>
        </p:spPr>
        <p:txBody>
          <a:bodyPr/>
          <a:lstStyle/>
          <a:p>
            <a:endParaRPr lang="ko-KR" altLang="en-US"/>
          </a:p>
        </p:txBody>
      </p:sp>
      <p:sp>
        <p:nvSpPr>
          <p:cNvPr id="15" name="Text 11"/>
          <p:cNvSpPr/>
          <p:nvPr/>
        </p:nvSpPr>
        <p:spPr>
          <a:xfrm>
            <a:off x="1003300" y="4838700"/>
            <a:ext cx="3169996" cy="23495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033"/>
                </a:solidFill>
                <a:latin typeface="Arial" pitchFamily="34" charset="0"/>
                <a:ea typeface="Arial" pitchFamily="34" charset="-122"/>
                <a:cs typeface="Arial" pitchFamily="34" charset="-120"/>
              </a:rPr>
              <a:t>① 기대 — 기구학 자전거 모델</a:t>
            </a:r>
            <a:endParaRPr lang="en-US" sz="1400" dirty="0"/>
          </a:p>
        </p:txBody>
      </p:sp>
      <p:sp>
        <p:nvSpPr>
          <p:cNvPr id="16" name="Text 12"/>
          <p:cNvSpPr/>
          <p:nvPr/>
        </p:nvSpPr>
        <p:spPr>
          <a:xfrm>
            <a:off x="1003300" y="5086350"/>
            <a:ext cx="3169996"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A6C"/>
                </a:solidFill>
                <a:latin typeface="Arial" pitchFamily="34" charset="0"/>
                <a:ea typeface="Arial" pitchFamily="34" charset="-122"/>
                <a:cs typeface="Arial" pitchFamily="34" charset="-120"/>
              </a:rPr>
              <a:t>yaw = v · tanδ / L, 언더스티어 · 응답 지연 보정</a:t>
            </a:r>
            <a:endParaRPr lang="en-US" sz="1200" dirty="0"/>
          </a:p>
        </p:txBody>
      </p:sp>
      <p:sp>
        <p:nvSpPr>
          <p:cNvPr id="17" name="Shape 13"/>
          <p:cNvSpPr/>
          <p:nvPr/>
        </p:nvSpPr>
        <p:spPr>
          <a:xfrm>
            <a:off x="4385766" y="4711700"/>
            <a:ext cx="3420566" cy="920750"/>
          </a:xfrm>
          <a:prstGeom prst="roundRect">
            <a:avLst>
              <a:gd name="adj" fmla="val 11034"/>
            </a:avLst>
          </a:prstGeom>
          <a:solidFill>
            <a:srgbClr val="FBFCFE"/>
          </a:solidFill>
          <a:ln/>
        </p:spPr>
        <p:txBody>
          <a:bodyPr/>
          <a:lstStyle/>
          <a:p>
            <a:endParaRPr lang="ko-KR" altLang="en-US"/>
          </a:p>
        </p:txBody>
      </p:sp>
      <p:sp>
        <p:nvSpPr>
          <p:cNvPr id="18" name="Shape 14"/>
          <p:cNvSpPr/>
          <p:nvPr/>
        </p:nvSpPr>
        <p:spPr>
          <a:xfrm>
            <a:off x="4385766" y="4711700"/>
            <a:ext cx="3420566" cy="920750"/>
          </a:xfrm>
          <a:custGeom>
            <a:avLst/>
            <a:gdLst/>
            <a:ahLst/>
            <a:cxnLst/>
            <a:rect l="l" t="t" r="r" b="b"/>
            <a:pathLst>
              <a:path w="3420566" h="920750">
                <a:moveTo>
                  <a:pt x="101600" y="920750"/>
                </a:moveTo>
                <a:lnTo>
                  <a:pt x="101600" y="920750"/>
                </a:lnTo>
                <a:arcTo wR="101600" hR="101600" stAng="5400000" swAng="5400000"/>
                <a:lnTo>
                  <a:pt x="0" y="101600"/>
                </a:lnTo>
                <a:arcTo wR="101600" hR="101600" stAng="10800000" swAng="5400000"/>
                <a:lnTo>
                  <a:pt x="101600" y="0"/>
                </a:lnTo>
                <a:arcTo wR="63500" hR="101600" stAng="16200000" swAng="-5400000"/>
                <a:lnTo>
                  <a:pt x="38100" y="819150"/>
                </a:lnTo>
                <a:arcTo wR="63500" hR="101600" stAng="10800000" swAng="-5400000"/>
                <a:close/>
              </a:path>
            </a:pathLst>
          </a:custGeom>
          <a:solidFill>
            <a:srgbClr val="D1373A"/>
          </a:solidFill>
          <a:ln/>
        </p:spPr>
        <p:txBody>
          <a:bodyPr/>
          <a:lstStyle/>
          <a:p>
            <a:endParaRPr lang="ko-KR" altLang="en-US"/>
          </a:p>
        </p:txBody>
      </p:sp>
      <p:sp>
        <p:nvSpPr>
          <p:cNvPr id="19" name="Text 15"/>
          <p:cNvSpPr/>
          <p:nvPr/>
        </p:nvSpPr>
        <p:spPr>
          <a:xfrm>
            <a:off x="4576266" y="4838700"/>
            <a:ext cx="3169996" cy="23495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033"/>
                </a:solidFill>
                <a:latin typeface="Arial" pitchFamily="34" charset="0"/>
                <a:ea typeface="Arial" pitchFamily="34" charset="-122"/>
                <a:cs typeface="Arial" pitchFamily="34" charset="-120"/>
              </a:rPr>
              <a:t>② 실제 — IMU 50 Hz + 칼만</a:t>
            </a:r>
            <a:endParaRPr lang="en-US" sz="1400" dirty="0"/>
          </a:p>
        </p:txBody>
      </p:sp>
      <p:sp>
        <p:nvSpPr>
          <p:cNvPr id="20" name="Text 16"/>
          <p:cNvSpPr/>
          <p:nvPr/>
        </p:nvSpPr>
        <p:spPr>
          <a:xfrm>
            <a:off x="4576266" y="5086350"/>
            <a:ext cx="3169996"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A6C"/>
                </a:solidFill>
                <a:latin typeface="Arial" pitchFamily="34" charset="0"/>
                <a:ea typeface="Arial" pitchFamily="34" charset="-122"/>
                <a:cs typeface="Arial" pitchFamily="34" charset="-120"/>
              </a:rPr>
              <a:t>예측과 측정을 섞어 yaw rate · </a:t>
            </a:r>
            <a:r>
              <a:rPr lang="en-US" sz="1200" dirty="0" err="1">
                <a:solidFill>
                  <a:srgbClr val="4B5A6C"/>
                </a:solidFill>
                <a:latin typeface="Arial" pitchFamily="34" charset="0"/>
                <a:ea typeface="Arial" pitchFamily="34" charset="-122"/>
                <a:cs typeface="Arial" pitchFamily="34" charset="-120"/>
              </a:rPr>
              <a:t>횡가속의</a:t>
            </a:r>
            <a:r>
              <a:rPr lang="en-US" sz="1200" dirty="0">
                <a:solidFill>
                  <a:srgbClr val="4B5A6C"/>
                </a:solidFill>
                <a:latin typeface="Arial" pitchFamily="34" charset="0"/>
                <a:ea typeface="Arial" pitchFamily="34" charset="-122"/>
                <a:cs typeface="Arial" pitchFamily="34" charset="-120"/>
              </a:rPr>
              <a:t> 잡음만 걸러냄</a:t>
            </a:r>
            <a:endParaRPr lang="en-US" sz="1200" dirty="0"/>
          </a:p>
        </p:txBody>
      </p:sp>
      <p:sp>
        <p:nvSpPr>
          <p:cNvPr id="21" name="Shape 17"/>
          <p:cNvSpPr/>
          <p:nvPr/>
        </p:nvSpPr>
        <p:spPr>
          <a:xfrm>
            <a:off x="7958733" y="4711700"/>
            <a:ext cx="3420566" cy="920750"/>
          </a:xfrm>
          <a:prstGeom prst="roundRect">
            <a:avLst>
              <a:gd name="adj" fmla="val 11034"/>
            </a:avLst>
          </a:prstGeom>
          <a:solidFill>
            <a:srgbClr val="FBFCFE"/>
          </a:solidFill>
          <a:ln/>
        </p:spPr>
        <p:txBody>
          <a:bodyPr/>
          <a:lstStyle/>
          <a:p>
            <a:endParaRPr lang="ko-KR" altLang="en-US"/>
          </a:p>
        </p:txBody>
      </p:sp>
      <p:sp>
        <p:nvSpPr>
          <p:cNvPr id="22" name="Shape 18"/>
          <p:cNvSpPr/>
          <p:nvPr/>
        </p:nvSpPr>
        <p:spPr>
          <a:xfrm>
            <a:off x="7958733" y="4711700"/>
            <a:ext cx="3420566" cy="920750"/>
          </a:xfrm>
          <a:custGeom>
            <a:avLst/>
            <a:gdLst/>
            <a:ahLst/>
            <a:cxnLst/>
            <a:rect l="l" t="t" r="r" b="b"/>
            <a:pathLst>
              <a:path w="3420566" h="920750">
                <a:moveTo>
                  <a:pt x="101600" y="920750"/>
                </a:moveTo>
                <a:lnTo>
                  <a:pt x="101600" y="920750"/>
                </a:lnTo>
                <a:arcTo wR="101600" hR="101600" stAng="5400000" swAng="5400000"/>
                <a:lnTo>
                  <a:pt x="0" y="101600"/>
                </a:lnTo>
                <a:arcTo wR="101600" hR="101600" stAng="10800000" swAng="5400000"/>
                <a:lnTo>
                  <a:pt x="101600" y="0"/>
                </a:lnTo>
                <a:arcTo wR="63500" hR="101600" stAng="16200000" swAng="-5400000"/>
                <a:lnTo>
                  <a:pt x="38100" y="819150"/>
                </a:lnTo>
                <a:arcTo wR="63500" hR="101600" stAng="10800000" swAng="-5400000"/>
                <a:close/>
              </a:path>
            </a:pathLst>
          </a:custGeom>
          <a:solidFill>
            <a:srgbClr val="0B7A6B"/>
          </a:solidFill>
          <a:ln/>
        </p:spPr>
        <p:txBody>
          <a:bodyPr/>
          <a:lstStyle/>
          <a:p>
            <a:endParaRPr lang="ko-KR" altLang="en-US"/>
          </a:p>
        </p:txBody>
      </p:sp>
      <p:sp>
        <p:nvSpPr>
          <p:cNvPr id="23" name="Text 19"/>
          <p:cNvSpPr/>
          <p:nvPr/>
        </p:nvSpPr>
        <p:spPr>
          <a:xfrm>
            <a:off x="8149233" y="4838700"/>
            <a:ext cx="3169996" cy="23495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033"/>
                </a:solidFill>
                <a:latin typeface="Arial" pitchFamily="34" charset="0"/>
                <a:ea typeface="Arial" pitchFamily="34" charset="-122"/>
                <a:cs typeface="Arial" pitchFamily="34" charset="-120"/>
              </a:rPr>
              <a:t>③ 판정 — 잔차 60 ms 지속</a:t>
            </a:r>
            <a:endParaRPr lang="en-US" sz="1400" dirty="0"/>
          </a:p>
        </p:txBody>
      </p:sp>
      <p:sp>
        <p:nvSpPr>
          <p:cNvPr id="24" name="Text 20"/>
          <p:cNvSpPr/>
          <p:nvPr/>
        </p:nvSpPr>
        <p:spPr>
          <a:xfrm>
            <a:off x="8149233" y="5086350"/>
            <a:ext cx="3169996"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A6C"/>
                </a:solidFill>
                <a:latin typeface="Arial" pitchFamily="34" charset="0"/>
                <a:ea typeface="Arial" pitchFamily="34" charset="-122"/>
                <a:cs typeface="Arial" pitchFamily="34" charset="-120"/>
              </a:rPr>
              <a:t>타원 경계를 3샘플 연속 넘으면 미끄러짐 확정</a:t>
            </a:r>
            <a:endParaRPr lang="en-US" sz="1200" dirty="0"/>
          </a:p>
        </p:txBody>
      </p:sp>
      <p:sp>
        <p:nvSpPr>
          <p:cNvPr id="25" name="Text 21"/>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D7E"/>
                </a:solidFill>
                <a:latin typeface="Arial" pitchFamily="34" charset="0"/>
                <a:ea typeface="Arial" pitchFamily="34" charset="-122"/>
                <a:cs typeface="Arial" pitchFamily="34" charset="-120"/>
              </a:rPr>
              <a:t>자전거 모델 그림: Shubham Jain, LinkedIn(2025) · 칼만 필터 그림: [출처]</a:t>
            </a:r>
            <a:endParaRPr lang="en-US" sz="1200" dirty="0"/>
          </a:p>
        </p:txBody>
      </p:sp>
      <p:sp>
        <p:nvSpPr>
          <p:cNvPr id="26" name="Text 22"/>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D7E"/>
                </a:solidFill>
                <a:latin typeface="Arial" pitchFamily="34" charset="0"/>
                <a:ea typeface="Arial" pitchFamily="34" charset="-122"/>
                <a:cs typeface="Arial" pitchFamily="34" charset="-120"/>
              </a:rPr>
              <a:t>10 / 20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0B7A6B"/>
                </a:solidFill>
                <a:latin typeface="Arial" pitchFamily="34" charset="0"/>
                <a:ea typeface="Arial" pitchFamily="34" charset="-122"/>
                <a:cs typeface="Arial" pitchFamily="34" charset="-120"/>
              </a:rPr>
              <a:t>3. 개발 프로그램 · 2차 방어 · 반응</a:t>
            </a:r>
            <a:endParaRPr lang="en-US" sz="1400" dirty="0"/>
          </a:p>
        </p:txBody>
      </p:sp>
      <p:sp>
        <p:nvSpPr>
          <p:cNvPr id="3" name="Text 1"/>
          <p:cNvSpPr>
            <a:spLocks noGrp="1"/>
          </p:cNvSpPr>
          <p:nvPr>
            <p:ph type="title"/>
          </p:nvPr>
        </p:nvSpPr>
        <p:spPr>
          <a:xfrm>
            <a:off x="812800" y="121285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32033"/>
                </a:solidFill>
                <a:latin typeface="Arial" pitchFamily="34" charset="0"/>
                <a:ea typeface="Arial" pitchFamily="34" charset="-122"/>
                <a:cs typeface="Arial" pitchFamily="34" charset="-120"/>
              </a:rPr>
              <a:t>카메라가 놓쳐도, 미끄러짐을 잡아 세운다</a:t>
            </a:r>
            <a:endParaRPr lang="en-US" sz="3200" dirty="0"/>
          </a:p>
        </p:txBody>
      </p:sp>
      <p:sp>
        <p:nvSpPr>
          <p:cNvPr id="4" name="Shape 2"/>
          <p:cNvSpPr/>
          <p:nvPr/>
        </p:nvSpPr>
        <p:spPr>
          <a:xfrm>
            <a:off x="812800" y="1828800"/>
            <a:ext cx="6908800" cy="2590800"/>
          </a:xfrm>
          <a:prstGeom prst="roundRect">
            <a:avLst>
              <a:gd name="adj" fmla="val 3922"/>
            </a:avLst>
          </a:prstGeom>
          <a:solidFill>
            <a:srgbClr val="132033"/>
          </a:solidFill>
          <a:ln/>
        </p:spPr>
        <p:txBody>
          <a:bodyPr/>
          <a:lstStyle/>
          <a:p>
            <a:endParaRPr lang="ko-KR" altLang="en-US"/>
          </a:p>
        </p:txBody>
      </p:sp>
      <p:pic>
        <p:nvPicPr>
          <p:cNvPr id="18" name="v_secondary.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12800" y="1828800"/>
            <a:ext cx="6908800" cy="2914650"/>
          </a:xfrm>
          <a:prstGeom prst="rect">
            <a:avLst/>
          </a:prstGeom>
        </p:spPr>
      </p:pic>
      <p:sp>
        <p:nvSpPr>
          <p:cNvPr id="6" name="Text 3"/>
          <p:cNvSpPr/>
          <p:nvPr/>
        </p:nvSpPr>
        <p:spPr>
          <a:xfrm>
            <a:off x="812800" y="4978400"/>
            <a:ext cx="7116064"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D7E"/>
                </a:solidFill>
                <a:latin typeface="Arial" pitchFamily="34" charset="0"/>
                <a:ea typeface="Arial" pitchFamily="34" charset="-122"/>
                <a:cs typeface="Arial" pitchFamily="34" charset="-120"/>
              </a:rPr>
              <a:t>전방 카메라 + 조감 · 1차 OFF(미인식 가정) · 마찰 0.08 · 주변 차량 8대</a:t>
            </a:r>
            <a:endParaRPr lang="en-US" sz="1200" dirty="0"/>
          </a:p>
        </p:txBody>
      </p:sp>
      <p:sp>
        <p:nvSpPr>
          <p:cNvPr id="7" name="Shape 4"/>
          <p:cNvSpPr/>
          <p:nvPr/>
        </p:nvSpPr>
        <p:spPr>
          <a:xfrm>
            <a:off x="7924800" y="1828800"/>
            <a:ext cx="3454400" cy="2590800"/>
          </a:xfrm>
          <a:prstGeom prst="roundRect">
            <a:avLst>
              <a:gd name="adj" fmla="val 3922"/>
            </a:avLst>
          </a:prstGeom>
          <a:solidFill>
            <a:srgbClr val="132033"/>
          </a:solidFill>
          <a:ln/>
        </p:spPr>
        <p:txBody>
          <a:bodyPr/>
          <a:lstStyle/>
          <a:p>
            <a:endParaRPr lang="ko-KR" altLang="en-US"/>
          </a:p>
        </p:txBody>
      </p:sp>
      <p:pic>
        <p:nvPicPr>
          <p:cNvPr id="19" name="v_lidar.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7924800" y="1828800"/>
            <a:ext cx="3454400" cy="2914650"/>
          </a:xfrm>
          <a:prstGeom prst="rect">
            <a:avLst/>
          </a:prstGeom>
        </p:spPr>
      </p:pic>
      <p:sp>
        <p:nvSpPr>
          <p:cNvPr id="9" name="Text 5"/>
          <p:cNvSpPr/>
          <p:nvPr/>
        </p:nvSpPr>
        <p:spPr>
          <a:xfrm>
            <a:off x="7924800" y="4978400"/>
            <a:ext cx="355803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D7E"/>
                </a:solidFill>
                <a:latin typeface="Arial" pitchFamily="34" charset="0"/>
                <a:ea typeface="Arial" pitchFamily="34" charset="-122"/>
                <a:cs typeface="Arial" pitchFamily="34" charset="-120"/>
              </a:rPr>
              <a:t>시맨틱 라이다 64ch · 청록 = 빙판 (시각화용)</a:t>
            </a:r>
            <a:endParaRPr lang="en-US" sz="1200" dirty="0"/>
          </a:p>
        </p:txBody>
      </p:sp>
      <p:sp>
        <p:nvSpPr>
          <p:cNvPr id="10" name="Text 6"/>
          <p:cNvSpPr/>
          <p:nvPr/>
        </p:nvSpPr>
        <p:spPr>
          <a:xfrm>
            <a:off x="812800" y="5340350"/>
            <a:ext cx="3488233" cy="46990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0B7A6B"/>
                </a:solidFill>
                <a:latin typeface="Arial" pitchFamily="34" charset="0"/>
                <a:ea typeface="Arial" pitchFamily="34" charset="-122"/>
                <a:cs typeface="Arial" pitchFamily="34" charset="-120"/>
              </a:rPr>
              <a:t>1.78 s</a:t>
            </a:r>
            <a:endParaRPr lang="en-US" sz="3200" dirty="0"/>
          </a:p>
        </p:txBody>
      </p:sp>
      <p:sp>
        <p:nvSpPr>
          <p:cNvPr id="11" name="Text 7"/>
          <p:cNvSpPr/>
          <p:nvPr/>
        </p:nvSpPr>
        <p:spPr>
          <a:xfrm>
            <a:off x="812800" y="5810250"/>
            <a:ext cx="348823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A6C"/>
                </a:solidFill>
                <a:latin typeface="Arial" pitchFamily="34" charset="0"/>
                <a:ea typeface="Arial" pitchFamily="34" charset="-122"/>
                <a:cs typeface="Arial" pitchFamily="34" charset="-120"/>
              </a:rPr>
              <a:t>빙판 진입 → 보드가 미끄러짐 확정</a:t>
            </a:r>
            <a:endParaRPr lang="en-US" sz="1200" dirty="0"/>
          </a:p>
        </p:txBody>
      </p:sp>
      <p:sp>
        <p:nvSpPr>
          <p:cNvPr id="12" name="Text 8"/>
          <p:cNvSpPr/>
          <p:nvPr/>
        </p:nvSpPr>
        <p:spPr>
          <a:xfrm>
            <a:off x="4402634" y="5340350"/>
            <a:ext cx="3488233" cy="46990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0B7A6B"/>
                </a:solidFill>
                <a:latin typeface="Arial" pitchFamily="34" charset="0"/>
                <a:ea typeface="Arial" pitchFamily="34" charset="-122"/>
                <a:cs typeface="Arial" pitchFamily="34" charset="-120"/>
              </a:rPr>
              <a:t>22.6 µs</a:t>
            </a:r>
            <a:endParaRPr lang="en-US" sz="3200" dirty="0"/>
          </a:p>
        </p:txBody>
      </p:sp>
      <p:sp>
        <p:nvSpPr>
          <p:cNvPr id="13" name="Text 9"/>
          <p:cNvSpPr/>
          <p:nvPr/>
        </p:nvSpPr>
        <p:spPr>
          <a:xfrm>
            <a:off x="4402634" y="5810250"/>
            <a:ext cx="348823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A6C"/>
                </a:solidFill>
                <a:latin typeface="Arial" pitchFamily="34" charset="0"/>
                <a:ea typeface="Arial" pitchFamily="34" charset="-122"/>
                <a:cs typeface="Arial" pitchFamily="34" charset="-120"/>
              </a:rPr>
              <a:t>최악 응답 · 샘플 → 판정 → 제어</a:t>
            </a:r>
            <a:endParaRPr lang="en-US" sz="1200" dirty="0"/>
          </a:p>
        </p:txBody>
      </p:sp>
      <p:sp>
        <p:nvSpPr>
          <p:cNvPr id="14" name="Text 10"/>
          <p:cNvSpPr/>
          <p:nvPr/>
        </p:nvSpPr>
        <p:spPr>
          <a:xfrm>
            <a:off x="7992467" y="5340350"/>
            <a:ext cx="3488233" cy="46990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0B7A6B"/>
                </a:solidFill>
                <a:latin typeface="Arial" pitchFamily="34" charset="0"/>
                <a:ea typeface="Arial" pitchFamily="34" charset="-122"/>
                <a:cs typeface="Arial" pitchFamily="34" charset="-120"/>
              </a:rPr>
              <a:t>충돌 0</a:t>
            </a:r>
            <a:endParaRPr lang="en-US" sz="3200" dirty="0"/>
          </a:p>
        </p:txBody>
      </p:sp>
      <p:sp>
        <p:nvSpPr>
          <p:cNvPr id="15" name="Text 11"/>
          <p:cNvSpPr/>
          <p:nvPr/>
        </p:nvSpPr>
        <p:spPr>
          <a:xfrm>
            <a:off x="7992467" y="5810250"/>
            <a:ext cx="348823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A6C"/>
                </a:solidFill>
                <a:latin typeface="Arial" pitchFamily="34" charset="0"/>
                <a:ea typeface="Arial" pitchFamily="34" charset="-122"/>
                <a:cs typeface="Arial" pitchFamily="34" charset="-120"/>
              </a:rPr>
              <a:t>앞차가 가까우면 빈 차로로 회피 후 정지</a:t>
            </a:r>
            <a:endParaRPr lang="en-US" sz="1200" dirty="0"/>
          </a:p>
        </p:txBody>
      </p:sp>
      <p:sp>
        <p:nvSpPr>
          <p:cNvPr id="16" name="Text 12"/>
          <p:cNvSpPr/>
          <p:nvPr/>
        </p:nvSpPr>
        <p:spPr>
          <a:xfrm>
            <a:off x="812800" y="6242050"/>
            <a:ext cx="850265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D7E"/>
                </a:solidFill>
                <a:latin typeface="Arial" pitchFamily="34" charset="0"/>
                <a:ea typeface="Arial" pitchFamily="34" charset="-122"/>
                <a:cs typeface="Arial" pitchFamily="34" charset="-120"/>
              </a:rPr>
              <a:t>비상 제어: 빙판 정지 거리 v²/2a로 차선 유지 · 빈 차로 회피 · 최대 제동 중 자동 선택, ABS 펄스 제동</a:t>
            </a:r>
            <a:endParaRPr lang="en-US" sz="1200" dirty="0"/>
          </a:p>
        </p:txBody>
      </p:sp>
      <p:sp>
        <p:nvSpPr>
          <p:cNvPr id="17" name="Text 13"/>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D7E"/>
                </a:solidFill>
                <a:latin typeface="Arial" pitchFamily="34" charset="0"/>
                <a:ea typeface="Arial" pitchFamily="34" charset="-122"/>
                <a:cs typeface="Arial" pitchFamily="34" charset="-120"/>
              </a:rPr>
              <a:t>11 / 20</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8"/>
                                        </p:tgtEl>
                                      </p:cBhvr>
                                    </p:cmd>
                                  </p:childTnLst>
                                </p:cTn>
                              </p:par>
                              <p:par>
                                <p:cTn id="7" presetID="1" presetClass="mediacall" presetSubtype="0" fill="hold" nodeType="withEffect">
                                  <p:stCondLst>
                                    <p:cond delay="0"/>
                                  </p:stCondLst>
                                  <p:childTnLst>
                                    <p:cmd type="call" cmd="playFrom(0.0)">
                                      <p:cBhvr>
                                        <p:cTn id="8"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9" repeatCount="indefinite" fill="hold" display="0">
                  <p:stCondLst>
                    <p:cond delay="indefinite"/>
                  </p:stCondLst>
                  <p:endCondLst>
                    <p:cond evt="onStopAudio" delay="0">
                      <p:tn val="2"/>
                    </p:cond>
                  </p:endCondLst>
                </p:cTn>
                <p:tgtEl>
                  <p:spTgt spid="18"/>
                </p:tgtEl>
              </p:cMediaNode>
            </p:video>
            <p:video>
              <p:cMediaNode vol="80000">
                <p:cTn id="10" repeatCount="indefinite" fill="hold" display="0">
                  <p:stCondLst>
                    <p:cond delay="indefinite"/>
                  </p:stCondLst>
                  <p:endCondLst>
                    <p:cond evt="onStopAudio" delay="0">
                      <p:tn val="2"/>
                    </p:cond>
                  </p:endCondLst>
                </p:cTn>
                <p:tgtEl>
                  <p:spTgt spid="19"/>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0B7A6B"/>
                </a:solidFill>
                <a:latin typeface="Arial" pitchFamily="34" charset="0"/>
                <a:ea typeface="Arial" pitchFamily="34" charset="-122"/>
                <a:cs typeface="Arial" pitchFamily="34" charset="-120"/>
              </a:rPr>
              <a:t>3. 개발 프로그램 · 기술적 차별성 ② 왜 RTOS인가</a:t>
            </a:r>
            <a:endParaRPr lang="en-US" sz="1400" dirty="0"/>
          </a:p>
        </p:txBody>
      </p:sp>
      <p:sp>
        <p:nvSpPr>
          <p:cNvPr id="3" name="Text 1"/>
          <p:cNvSpPr>
            <a:spLocks noGrp="1"/>
          </p:cNvSpPr>
          <p:nvPr>
            <p:ph type="title"/>
          </p:nvPr>
        </p:nvSpPr>
        <p:spPr>
          <a:xfrm>
            <a:off x="812800" y="121285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32033"/>
                </a:solidFill>
                <a:latin typeface="Arial" pitchFamily="34" charset="0"/>
                <a:ea typeface="Arial" pitchFamily="34" charset="-122"/>
                <a:cs typeface="Arial" pitchFamily="34" charset="-120"/>
              </a:rPr>
              <a:t>실시간성은 평균이 아니라 꼬리로 정해진다</a:t>
            </a:r>
            <a:endParaRPr lang="en-US" sz="3200" dirty="0"/>
          </a:p>
        </p:txBody>
      </p:sp>
      <p:sp>
        <p:nvSpPr>
          <p:cNvPr id="4" name="Shape 2"/>
          <p:cNvSpPr/>
          <p:nvPr/>
        </p:nvSpPr>
        <p:spPr>
          <a:xfrm>
            <a:off x="812800" y="1828800"/>
            <a:ext cx="10566400" cy="2921000"/>
          </a:xfrm>
          <a:prstGeom prst="roundRect">
            <a:avLst>
              <a:gd name="adj" fmla="val 4348"/>
            </a:avLst>
          </a:prstGeom>
          <a:solidFill>
            <a:srgbClr val="FBFCFE"/>
          </a:solidFill>
          <a:ln/>
        </p:spPr>
        <p:txBody>
          <a:bodyPr/>
          <a:lstStyle/>
          <a:p>
            <a:endParaRPr lang="ko-KR" altLang="en-US"/>
          </a:p>
        </p:txBody>
      </p:sp>
      <p:pic>
        <p:nvPicPr>
          <p:cNvPr id="5" name="Image 0" descr="지연 분포 그래프(로그 축): Pi 5 리눅스는 평균 약 70 µs지만 p99 약 460 µs, p99.9 약 2.1 ms, 최악 5,790 µs와 5,429 µs까지 늘어지고, STM32N6 + ThreadX는 평균 12.4 µs, 최악 22.6 µs에 머묾. 제어 주기 20 ms 표시"/>
          <p:cNvPicPr>
            <a:picLocks noChangeAspect="1"/>
          </p:cNvPicPr>
          <p:nvPr/>
        </p:nvPicPr>
        <p:blipFill>
          <a:blip r:embed="rId3"/>
          <a:srcRect/>
          <a:stretch/>
        </p:blipFill>
        <p:spPr>
          <a:xfrm>
            <a:off x="812800" y="1828800"/>
            <a:ext cx="10566400" cy="2921000"/>
          </a:xfrm>
          <a:prstGeom prst="roundRect">
            <a:avLst>
              <a:gd name="adj" fmla="val 4348"/>
            </a:avLst>
          </a:prstGeom>
        </p:spPr>
      </p:pic>
      <p:sp>
        <p:nvSpPr>
          <p:cNvPr id="6" name="Text 3"/>
          <p:cNvSpPr/>
          <p:nvPr/>
        </p:nvSpPr>
        <p:spPr>
          <a:xfrm>
            <a:off x="812800" y="4902200"/>
            <a:ext cx="3488233" cy="41275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D1373A"/>
                </a:solidFill>
                <a:latin typeface="Arial" pitchFamily="34" charset="0"/>
                <a:ea typeface="Arial" pitchFamily="34" charset="-122"/>
                <a:cs typeface="Arial" pitchFamily="34" charset="-120"/>
              </a:rPr>
              <a:t>29%</a:t>
            </a:r>
            <a:endParaRPr lang="en-US" sz="2800" dirty="0"/>
          </a:p>
        </p:txBody>
      </p:sp>
      <p:sp>
        <p:nvSpPr>
          <p:cNvPr id="7" name="Text 4"/>
          <p:cNvSpPr/>
          <p:nvPr/>
        </p:nvSpPr>
        <p:spPr>
          <a:xfrm>
            <a:off x="812800" y="5314950"/>
            <a:ext cx="3488233"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A6C"/>
                </a:solidFill>
                <a:latin typeface="Arial" pitchFamily="34" charset="0"/>
                <a:ea typeface="Arial" pitchFamily="34" charset="-122"/>
                <a:cs typeface="Arial" pitchFamily="34" charset="-120"/>
              </a:rPr>
              <a:t>Pi 5 리눅스 최악 깨어남 5,790 µs가 20 ms 주기에서 먹는 몫</a:t>
            </a:r>
            <a:endParaRPr lang="en-US" sz="1200" dirty="0"/>
          </a:p>
        </p:txBody>
      </p:sp>
      <p:sp>
        <p:nvSpPr>
          <p:cNvPr id="8" name="Text 5"/>
          <p:cNvSpPr/>
          <p:nvPr/>
        </p:nvSpPr>
        <p:spPr>
          <a:xfrm>
            <a:off x="4402634" y="4902200"/>
            <a:ext cx="3488233" cy="41275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0B7A6B"/>
                </a:solidFill>
                <a:latin typeface="Arial" pitchFamily="34" charset="0"/>
                <a:ea typeface="Arial" pitchFamily="34" charset="-122"/>
                <a:cs typeface="Arial" pitchFamily="34" charset="-120"/>
              </a:rPr>
              <a:t>0.11%</a:t>
            </a:r>
            <a:endParaRPr lang="en-US" sz="2800" dirty="0"/>
          </a:p>
        </p:txBody>
      </p:sp>
      <p:sp>
        <p:nvSpPr>
          <p:cNvPr id="9" name="Text 6"/>
          <p:cNvSpPr/>
          <p:nvPr/>
        </p:nvSpPr>
        <p:spPr>
          <a:xfrm>
            <a:off x="4402634" y="5314950"/>
            <a:ext cx="3488233"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A6C"/>
                </a:solidFill>
                <a:latin typeface="Arial" pitchFamily="34" charset="0"/>
                <a:ea typeface="Arial" pitchFamily="34" charset="-122"/>
                <a:cs typeface="Arial" pitchFamily="34" charset="-120"/>
              </a:rPr>
              <a:t>STM32N6 + ThreadX 최악 응답 22.6 µs, 깨어남부터 제어까지 전부</a:t>
            </a:r>
            <a:endParaRPr lang="en-US" sz="1200" dirty="0"/>
          </a:p>
        </p:txBody>
      </p:sp>
      <p:sp>
        <p:nvSpPr>
          <p:cNvPr id="10" name="Text 7"/>
          <p:cNvSpPr/>
          <p:nvPr/>
        </p:nvSpPr>
        <p:spPr>
          <a:xfrm>
            <a:off x="7992467" y="4902200"/>
            <a:ext cx="3488233" cy="41275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132033"/>
                </a:solidFill>
                <a:latin typeface="Arial" pitchFamily="34" charset="0"/>
                <a:ea typeface="Arial" pitchFamily="34" charset="-122"/>
                <a:cs typeface="Arial" pitchFamily="34" charset="-120"/>
              </a:rPr>
              <a:t>+1.6 µs</a:t>
            </a:r>
            <a:endParaRPr lang="en-US" sz="2800" dirty="0"/>
          </a:p>
        </p:txBody>
      </p:sp>
      <p:sp>
        <p:nvSpPr>
          <p:cNvPr id="11" name="Text 8"/>
          <p:cNvSpPr/>
          <p:nvPr/>
        </p:nvSpPr>
        <p:spPr>
          <a:xfrm>
            <a:off x="7992467" y="5314950"/>
            <a:ext cx="3488233"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A6C"/>
                </a:solidFill>
                <a:latin typeface="Arial" pitchFamily="34" charset="0"/>
                <a:ea typeface="Arial" pitchFamily="34" charset="-122"/>
                <a:cs typeface="Arial" pitchFamily="34" charset="-120"/>
              </a:rPr>
              <a:t>NPU 추론 중에도 IMU가 선점 · 우선순위를 뒤집으면 25.6 ms로 마감 초과</a:t>
            </a:r>
            <a:endParaRPr lang="en-US" sz="1200" dirty="0"/>
          </a:p>
        </p:txBody>
      </p:sp>
      <p:sp>
        <p:nvSpPr>
          <p:cNvPr id="12" name="Text 9"/>
          <p:cNvSpPr/>
          <p:nvPr/>
        </p:nvSpPr>
        <p:spPr>
          <a:xfrm>
            <a:off x="812800" y="6242050"/>
            <a:ext cx="91567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D7E"/>
                </a:solidFill>
                <a:latin typeface="Arial" pitchFamily="34" charset="0"/>
                <a:ea typeface="Arial" pitchFamily="34" charset="-122"/>
                <a:cs typeface="Arial" pitchFamily="34" charset="-120"/>
              </a:rPr>
              <a:t>같은 slip_core.h로 실측 · Pi 5 각 20,000회 · STM32N6 49,405회(HIL 주행 중)</a:t>
            </a:r>
            <a:endParaRPr lang="en-US" sz="1200" dirty="0"/>
          </a:p>
        </p:txBody>
      </p:sp>
      <p:sp>
        <p:nvSpPr>
          <p:cNvPr id="13" name="Text 10"/>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D7E"/>
                </a:solidFill>
                <a:latin typeface="Arial" pitchFamily="34" charset="0"/>
                <a:ea typeface="Arial" pitchFamily="34" charset="-122"/>
                <a:cs typeface="Arial" pitchFamily="34" charset="-120"/>
              </a:rPr>
              <a:t>13 / 20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132033"/>
                </a:solidFill>
                <a:latin typeface="Arial" pitchFamily="34" charset="0"/>
                <a:ea typeface="Arial" pitchFamily="34" charset="-122"/>
                <a:cs typeface="Arial" pitchFamily="34" charset="-120"/>
              </a:rPr>
              <a:t>5. 개발 결과물의 우수성 · 검증</a:t>
            </a:r>
            <a:endParaRPr lang="en-US" sz="1400" dirty="0"/>
          </a:p>
        </p:txBody>
      </p:sp>
      <p:sp>
        <p:nvSpPr>
          <p:cNvPr id="3" name="Text 1"/>
          <p:cNvSpPr>
            <a:spLocks noGrp="1"/>
          </p:cNvSpPr>
          <p:nvPr>
            <p:ph type="title"/>
          </p:nvPr>
        </p:nvSpPr>
        <p:spPr>
          <a:xfrm>
            <a:off x="812800" y="126365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32033"/>
                </a:solidFill>
                <a:latin typeface="Arial" pitchFamily="34" charset="0"/>
                <a:ea typeface="Arial" pitchFamily="34" charset="-122"/>
                <a:cs typeface="Arial" pitchFamily="34" charset="-120"/>
              </a:rPr>
              <a:t>같은 빙판, 차이는 2차 방어 하나</a:t>
            </a:r>
            <a:endParaRPr lang="en-US" sz="3200" dirty="0"/>
          </a:p>
        </p:txBody>
      </p:sp>
      <p:sp>
        <p:nvSpPr>
          <p:cNvPr id="4" name="Shape 2"/>
          <p:cNvSpPr/>
          <p:nvPr/>
        </p:nvSpPr>
        <p:spPr>
          <a:xfrm>
            <a:off x="812800" y="1930400"/>
            <a:ext cx="7493000" cy="3022600"/>
          </a:xfrm>
          <a:prstGeom prst="roundRect">
            <a:avLst>
              <a:gd name="adj" fmla="val 3361"/>
            </a:avLst>
          </a:prstGeom>
          <a:solidFill>
            <a:srgbClr val="132033"/>
          </a:solidFill>
          <a:ln/>
        </p:spPr>
        <p:txBody>
          <a:bodyPr/>
          <a:lstStyle/>
          <a:p>
            <a:endParaRPr lang="ko-KR" altLang="en-US"/>
          </a:p>
        </p:txBody>
      </p:sp>
      <p:pic>
        <p:nvPicPr>
          <p:cNvPr id="15" name="v_compare_bev.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12800" y="1930399"/>
            <a:ext cx="8626396" cy="3479801"/>
          </a:xfrm>
          <a:prstGeom prst="rect">
            <a:avLst/>
          </a:prstGeom>
        </p:spPr>
      </p:pic>
      <p:sp>
        <p:nvSpPr>
          <p:cNvPr id="6" name="Text 3"/>
          <p:cNvSpPr/>
          <p:nvPr/>
        </p:nvSpPr>
        <p:spPr>
          <a:xfrm>
            <a:off x="2053021" y="5511800"/>
            <a:ext cx="7717790"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F6D7E"/>
                </a:solidFill>
                <a:latin typeface="Arial" pitchFamily="34" charset="0"/>
                <a:ea typeface="Arial" pitchFamily="34" charset="-122"/>
                <a:cs typeface="Arial" pitchFamily="34" charset="-120"/>
              </a:rPr>
              <a:t>같은 날씨 · 주행선 · 빙판 · 주변 차량 8대 — 왼쪽 방어 없음, 오른쪽 2차 방어</a:t>
            </a:r>
            <a:endParaRPr lang="en-US" sz="1300" dirty="0"/>
          </a:p>
        </p:txBody>
      </p:sp>
      <p:sp>
        <p:nvSpPr>
          <p:cNvPr id="7" name="Text 4"/>
          <p:cNvSpPr/>
          <p:nvPr/>
        </p:nvSpPr>
        <p:spPr>
          <a:xfrm>
            <a:off x="9623097" y="2424386"/>
            <a:ext cx="2956306" cy="584200"/>
          </a:xfrm>
          <a:prstGeom prst="rect">
            <a:avLst/>
          </a:prstGeom>
          <a:noFill/>
          <a:ln/>
        </p:spPr>
        <p:txBody>
          <a:bodyPr wrap="square" lIns="0" tIns="0" rIns="0" bIns="0" rtlCol="0" anchor="t">
            <a:normAutofit/>
          </a:bodyPr>
          <a:lstStyle/>
          <a:p>
            <a:pPr marL="0" indent="0" algn="l">
              <a:lnSpc>
                <a:spcPts val="4400"/>
              </a:lnSpc>
              <a:buNone/>
            </a:pPr>
            <a:r>
              <a:rPr lang="en-US" sz="4000" dirty="0">
                <a:solidFill>
                  <a:srgbClr val="D1373A"/>
                </a:solidFill>
                <a:latin typeface="Arial" pitchFamily="34" charset="0"/>
                <a:ea typeface="Arial" pitchFamily="34" charset="-122"/>
                <a:cs typeface="Arial" pitchFamily="34" charset="-120"/>
              </a:rPr>
              <a:t>25.4</a:t>
            </a:r>
            <a:endParaRPr lang="en-US" sz="4000" dirty="0"/>
          </a:p>
        </p:txBody>
      </p:sp>
      <p:sp>
        <p:nvSpPr>
          <p:cNvPr id="8" name="Text 5"/>
          <p:cNvSpPr/>
          <p:nvPr/>
        </p:nvSpPr>
        <p:spPr>
          <a:xfrm>
            <a:off x="9623097" y="3008586"/>
            <a:ext cx="2956306"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A6C"/>
                </a:solidFill>
                <a:latin typeface="Arial" pitchFamily="34" charset="0"/>
                <a:ea typeface="Arial" pitchFamily="34" charset="-122"/>
                <a:cs typeface="Arial" pitchFamily="34" charset="-120"/>
              </a:rPr>
              <a:t>km/h · 방어 없음, 제어 상실</a:t>
            </a:r>
            <a:endParaRPr lang="en-US" sz="1300" dirty="0"/>
          </a:p>
        </p:txBody>
      </p:sp>
      <p:sp>
        <p:nvSpPr>
          <p:cNvPr id="9" name="Text 6"/>
          <p:cNvSpPr/>
          <p:nvPr/>
        </p:nvSpPr>
        <p:spPr>
          <a:xfrm>
            <a:off x="9623097" y="3414986"/>
            <a:ext cx="2956306" cy="584200"/>
          </a:xfrm>
          <a:prstGeom prst="rect">
            <a:avLst/>
          </a:prstGeom>
          <a:noFill/>
          <a:ln/>
        </p:spPr>
        <p:txBody>
          <a:bodyPr wrap="square" lIns="0" tIns="0" rIns="0" bIns="0" rtlCol="0" anchor="t">
            <a:normAutofit/>
          </a:bodyPr>
          <a:lstStyle/>
          <a:p>
            <a:pPr marL="0" indent="0" algn="l">
              <a:lnSpc>
                <a:spcPts val="4400"/>
              </a:lnSpc>
              <a:buNone/>
            </a:pPr>
            <a:r>
              <a:rPr lang="en-US" sz="4000" dirty="0">
                <a:solidFill>
                  <a:srgbClr val="0B7A6B"/>
                </a:solidFill>
                <a:latin typeface="Arial" pitchFamily="34" charset="0"/>
                <a:ea typeface="Arial" pitchFamily="34" charset="-122"/>
                <a:cs typeface="Arial" pitchFamily="34" charset="-120"/>
              </a:rPr>
              <a:t>0.0</a:t>
            </a:r>
            <a:endParaRPr lang="en-US" sz="4000" dirty="0"/>
          </a:p>
        </p:txBody>
      </p:sp>
      <p:sp>
        <p:nvSpPr>
          <p:cNvPr id="10" name="Text 7"/>
          <p:cNvSpPr/>
          <p:nvPr/>
        </p:nvSpPr>
        <p:spPr>
          <a:xfrm>
            <a:off x="9623097" y="3999186"/>
            <a:ext cx="2956306"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A6C"/>
                </a:solidFill>
                <a:latin typeface="Arial" pitchFamily="34" charset="0"/>
                <a:ea typeface="Arial" pitchFamily="34" charset="-122"/>
                <a:cs typeface="Arial" pitchFamily="34" charset="-120"/>
              </a:rPr>
              <a:t>km/h · 2차 방어, 차선 안 정지</a:t>
            </a:r>
            <a:endParaRPr lang="en-US" sz="1300" dirty="0"/>
          </a:p>
        </p:txBody>
      </p:sp>
      <p:sp>
        <p:nvSpPr>
          <p:cNvPr id="11" name="Text 8"/>
          <p:cNvSpPr/>
          <p:nvPr/>
        </p:nvSpPr>
        <p:spPr>
          <a:xfrm>
            <a:off x="9623097" y="4405586"/>
            <a:ext cx="2956306" cy="584200"/>
          </a:xfrm>
          <a:prstGeom prst="rect">
            <a:avLst/>
          </a:prstGeom>
          <a:noFill/>
          <a:ln/>
        </p:spPr>
        <p:txBody>
          <a:bodyPr wrap="square" lIns="0" tIns="0" rIns="0" bIns="0" rtlCol="0" anchor="t">
            <a:normAutofit/>
          </a:bodyPr>
          <a:lstStyle/>
          <a:p>
            <a:pPr marL="0" indent="0" algn="l">
              <a:lnSpc>
                <a:spcPts val="4400"/>
              </a:lnSpc>
              <a:buNone/>
            </a:pPr>
            <a:r>
              <a:rPr lang="en-US" sz="4000" dirty="0">
                <a:solidFill>
                  <a:srgbClr val="132033"/>
                </a:solidFill>
                <a:latin typeface="Arial" pitchFamily="34" charset="0"/>
                <a:ea typeface="Arial" pitchFamily="34" charset="-122"/>
                <a:cs typeface="Arial" pitchFamily="34" charset="-120"/>
              </a:rPr>
              <a:t>9 / 9</a:t>
            </a:r>
            <a:endParaRPr lang="en-US" sz="4000" dirty="0"/>
          </a:p>
        </p:txBody>
      </p:sp>
      <p:sp>
        <p:nvSpPr>
          <p:cNvPr id="12" name="Text 9"/>
          <p:cNvSpPr/>
          <p:nvPr/>
        </p:nvSpPr>
        <p:spPr>
          <a:xfrm>
            <a:off x="9623097" y="4989786"/>
            <a:ext cx="2956306"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A6C"/>
                </a:solidFill>
                <a:latin typeface="Arial" pitchFamily="34" charset="0"/>
                <a:ea typeface="Arial" pitchFamily="34" charset="-122"/>
                <a:cs typeface="Arial" pitchFamily="34" charset="-120"/>
              </a:rPr>
              <a:t>방어 없음 기준선, 전부 제어 상실</a:t>
            </a:r>
            <a:endParaRPr lang="en-US" sz="1300" dirty="0"/>
          </a:p>
        </p:txBody>
      </p:sp>
      <p:sp>
        <p:nvSpPr>
          <p:cNvPr id="13" name="Text 10"/>
          <p:cNvSpPr/>
          <p:nvPr/>
        </p:nvSpPr>
        <p:spPr>
          <a:xfrm>
            <a:off x="812800" y="6058557"/>
            <a:ext cx="8502650" cy="234950"/>
          </a:xfrm>
          <a:prstGeom prst="rect">
            <a:avLst/>
          </a:prstGeom>
          <a:noFill/>
          <a:ln/>
        </p:spPr>
        <p:txBody>
          <a:bodyPr wrap="square" lIns="0" tIns="0" rIns="0" bIns="0" rtlCol="0" anchor="t">
            <a:normAutofit/>
          </a:bodyPr>
          <a:lstStyle/>
          <a:p>
            <a:pPr marL="0" indent="0" algn="l">
              <a:lnSpc>
                <a:spcPts val="1680"/>
              </a:lnSpc>
              <a:buNone/>
            </a:pPr>
            <a:r>
              <a:rPr lang="en-US" sz="1600" b="1" dirty="0">
                <a:solidFill>
                  <a:srgbClr val="5F6D7E"/>
                </a:solidFill>
                <a:latin typeface="Arial" pitchFamily="34" charset="0"/>
                <a:ea typeface="Arial" pitchFamily="34" charset="-122"/>
                <a:cs typeface="Arial" pitchFamily="34" charset="-120"/>
              </a:rPr>
              <a:t>HIL 주행 108회 · 이벤트 로그와 분석 스크립트 전부 GitHub 공개, 모든 수치 재생성 가능</a:t>
            </a:r>
            <a:endParaRPr lang="en-US" sz="1600" b="1" dirty="0"/>
          </a:p>
        </p:txBody>
      </p:sp>
      <p:sp>
        <p:nvSpPr>
          <p:cNvPr id="14" name="Text 11"/>
          <p:cNvSpPr/>
          <p:nvPr/>
        </p:nvSpPr>
        <p:spPr>
          <a:xfrm>
            <a:off x="10058400" y="6242050"/>
            <a:ext cx="132080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D7E"/>
                </a:solidFill>
                <a:latin typeface="Arial" pitchFamily="34" charset="0"/>
                <a:ea typeface="Arial" pitchFamily="34" charset="-122"/>
                <a:cs typeface="Arial" pitchFamily="34" charset="-120"/>
              </a:rPr>
              <a:t>17 / 20</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endCondLst>
                    <p:cond evt="onStopAudio" delay="0">
                      <p:tn val="2"/>
                    </p:cond>
                  </p:endCondLst>
                </p:cTn>
                <p:tgtEl>
                  <p:spTgt spid="15"/>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033"/>
        </a:solidFill>
        <a:effectLst/>
      </p:bgPr>
    </p:bg>
    <p:spTree>
      <p:nvGrpSpPr>
        <p:cNvPr id="1" name=""/>
        <p:cNvGrpSpPr/>
        <p:nvPr/>
      </p:nvGrpSpPr>
      <p:grpSpPr>
        <a:xfrm>
          <a:off x="0" y="0"/>
          <a:ext cx="0" cy="0"/>
          <a:chOff x="0" y="0"/>
          <a:chExt cx="0" cy="0"/>
        </a:xfrm>
      </p:grpSpPr>
      <p:pic>
        <p:nvPicPr>
          <p:cNvPr id="2" name="Image 0" descr="눈 내리는 날 웃으며 눈을 맞는 사람들"/>
          <p:cNvPicPr>
            <a:picLocks noChangeAspect="1"/>
          </p:cNvPicPr>
          <p:nvPr/>
        </p:nvPicPr>
        <p:blipFill>
          <a:blip r:embed="rId3"/>
          <a:srcRect t="29132" b="29132"/>
          <a:stretch/>
        </p:blipFill>
        <p:spPr>
          <a:xfrm>
            <a:off x="0" y="0"/>
            <a:ext cx="12192000" cy="6858000"/>
          </a:xfrm>
          <a:prstGeom prst="rect">
            <a:avLst/>
          </a:prstGeom>
        </p:spPr>
      </p:pic>
      <p:sp>
        <p:nvSpPr>
          <p:cNvPr id="3" name="Shape 0"/>
          <p:cNvSpPr/>
          <p:nvPr/>
        </p:nvSpPr>
        <p:spPr>
          <a:xfrm>
            <a:off x="0" y="2667000"/>
            <a:ext cx="12192000" cy="4191000"/>
          </a:xfrm>
          <a:prstGeom prst="rect">
            <a:avLst/>
          </a:prstGeom>
          <a:gradFill rotWithShape="1">
            <a:gsLst>
              <a:gs pos="0">
                <a:srgbClr val="132033">
                  <a:alpha val="94000"/>
                </a:srgbClr>
              </a:gs>
              <a:gs pos="50000">
                <a:srgbClr val="132033">
                  <a:alpha val="80000"/>
                </a:srgbClr>
              </a:gs>
              <a:gs pos="100000">
                <a:srgbClr val="132033">
                  <a:alpha val="0"/>
                </a:srgbClr>
              </a:gs>
            </a:gsLst>
            <a:lin ang="16200000" scaled="0"/>
          </a:gradFill>
          <a:ln/>
        </p:spPr>
        <p:txBody>
          <a:bodyPr/>
          <a:lstStyle/>
          <a:p>
            <a:endParaRPr lang="ko-KR" altLang="en-US"/>
          </a:p>
        </p:txBody>
      </p:sp>
      <p:sp>
        <p:nvSpPr>
          <p:cNvPr id="4" name="Text 1"/>
          <p:cNvSpPr>
            <a:spLocks noGrp="1"/>
          </p:cNvSpPr>
          <p:nvPr>
            <p:ph type="title"/>
          </p:nvPr>
        </p:nvSpPr>
        <p:spPr>
          <a:xfrm>
            <a:off x="812800" y="4064000"/>
            <a:ext cx="10883392" cy="69215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5F8FB"/>
                </a:solidFill>
                <a:latin typeface="Arial" pitchFamily="34" charset="0"/>
                <a:ea typeface="Arial" pitchFamily="34" charset="-122"/>
                <a:cs typeface="Arial" pitchFamily="34" charset="-120"/>
              </a:rPr>
              <a:t>올겨울 눈은, 그냥 예쁘기만 하도록.</a:t>
            </a:r>
            <a:endParaRPr lang="en-US" sz="4800" dirty="0"/>
          </a:p>
        </p:txBody>
      </p:sp>
      <p:sp>
        <p:nvSpPr>
          <p:cNvPr id="5" name="Text 2"/>
          <p:cNvSpPr/>
          <p:nvPr/>
        </p:nvSpPr>
        <p:spPr>
          <a:xfrm>
            <a:off x="812800" y="4902200"/>
            <a:ext cx="10883392" cy="387350"/>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F5F8FB"/>
                </a:solidFill>
                <a:latin typeface="Arial" pitchFamily="34" charset="0"/>
                <a:ea typeface="Arial" pitchFamily="34" charset="-122"/>
                <a:cs typeface="Arial" pitchFamily="34" charset="-120"/>
              </a:rPr>
              <a:t>IcePredict</a:t>
            </a:r>
            <a:r>
              <a:rPr lang="en-US" sz="2200" dirty="0">
                <a:solidFill>
                  <a:srgbClr val="F5F8FB"/>
                </a:solidFill>
                <a:latin typeface="Arial" pitchFamily="34" charset="0"/>
                <a:ea typeface="Arial" pitchFamily="34" charset="-122"/>
                <a:cs typeface="Arial" pitchFamily="34" charset="-120"/>
              </a:rPr>
              <a:t> — 미리 보고, 놓쳐도 받는다.</a:t>
            </a:r>
            <a:endParaRPr lang="en-US" sz="2200" dirty="0"/>
          </a:p>
        </p:txBody>
      </p:sp>
      <p:sp>
        <p:nvSpPr>
          <p:cNvPr id="6" name="Text 3"/>
          <p:cNvSpPr/>
          <p:nvPr/>
        </p:nvSpPr>
        <p:spPr>
          <a:xfrm>
            <a:off x="812800" y="5588000"/>
            <a:ext cx="7194550" cy="27305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6E5"/>
                </a:solidFill>
                <a:latin typeface="Arial" pitchFamily="34" charset="0"/>
                <a:ea typeface="Arial" pitchFamily="34" charset="-122"/>
                <a:cs typeface="Arial" pitchFamily="34" charset="-120"/>
              </a:rPr>
              <a:t>github.com/gkgk0119gmail-arch/2026ESWContest_mobility_ARTS</a:t>
            </a:r>
            <a:endParaRPr lang="en-US" sz="1400" dirty="0"/>
          </a:p>
        </p:txBody>
      </p:sp>
      <p:sp>
        <p:nvSpPr>
          <p:cNvPr id="7" name="Text 4"/>
          <p:cNvSpPr/>
          <p:nvPr/>
        </p:nvSpPr>
        <p:spPr>
          <a:xfrm>
            <a:off x="8632190" y="5537200"/>
            <a:ext cx="2747010" cy="342900"/>
          </a:xfrm>
          <a:prstGeom prst="rect">
            <a:avLst/>
          </a:prstGeom>
          <a:noFill/>
          <a:ln/>
        </p:spPr>
        <p:txBody>
          <a:bodyPr wrap="square" lIns="0" tIns="0" rIns="0" bIns="0" rtlCol="0" anchor="t">
            <a:normAutofit/>
          </a:bodyPr>
          <a:lstStyle/>
          <a:p>
            <a:pPr marL="0" indent="0" algn="r">
              <a:lnSpc>
                <a:spcPts val="2520"/>
              </a:lnSpc>
              <a:buNone/>
            </a:pPr>
            <a:r>
              <a:rPr lang="en-US" sz="1800" dirty="0">
                <a:solidFill>
                  <a:srgbClr val="F5F8FB"/>
                </a:solidFill>
                <a:latin typeface="Arial" pitchFamily="34" charset="0"/>
                <a:ea typeface="Arial" pitchFamily="34" charset="-122"/>
                <a:cs typeface="Arial" pitchFamily="34" charset="-120"/>
              </a:rPr>
              <a:t>감사합니다</a:t>
            </a:r>
            <a:endParaRPr lang="en-US" sz="18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보이지 않는 얼음에, 두 겹으로 대비한다</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132033"/>
                </a:solidFill>
                <a:latin typeface="Arial"/>
              </a:rPr>
              <a:t>1. 개발 개요</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1 / 20</a:t>
            </a:r>
          </a:p>
        </p:txBody>
      </p:sp>
      <p:pic>
        <p:nvPicPr>
          <p:cNvPr id="5" name="Picture 4" descr="overview.png"/>
          <p:cNvPicPr>
            <a:picLocks noChangeAspect="1"/>
          </p:cNvPicPr>
          <p:nvPr/>
        </p:nvPicPr>
        <p:blipFill>
          <a:blip r:embed="rId2"/>
          <a:stretch>
            <a:fillRect/>
          </a:stretch>
        </p:blipFill>
        <p:spPr>
          <a:xfrm>
            <a:off x="813816" y="1874519"/>
            <a:ext cx="10561320" cy="3657600"/>
          </a:xfrm>
          <a:prstGeom prst="rect">
            <a:avLst/>
          </a:prstGeom>
        </p:spPr>
      </p:pic>
      <p:sp>
        <p:nvSpPr>
          <p:cNvPr id="6" name="Rounded Rectangle 5"/>
          <p:cNvSpPr/>
          <p:nvPr/>
        </p:nvSpPr>
        <p:spPr>
          <a:xfrm>
            <a:off x="813816" y="5641848"/>
            <a:ext cx="6035040" cy="457200"/>
          </a:xfrm>
          <a:prstGeom prst="roundRect">
            <a:avLst>
              <a:gd name="adj" fmla="val 50000"/>
            </a:avLst>
          </a:prstGeom>
          <a:solidFill>
            <a:srgbClr val="FBFCFE"/>
          </a:solidFill>
          <a:ln w="9525">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923544" y="5733288"/>
            <a:ext cx="960120" cy="274320"/>
          </a:xfrm>
          <a:prstGeom prst="roundRect">
            <a:avLst>
              <a:gd name="adj" fmla="val 50000"/>
            </a:avLst>
          </a:prstGeom>
          <a:solidFill>
            <a:srgbClr val="13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b="0">
                <a:solidFill>
                  <a:srgbClr val="FFFFFF"/>
                </a:solidFill>
                <a:latin typeface="Arial"/>
              </a:rPr>
              <a:t>소스코드</a:t>
            </a:r>
          </a:p>
        </p:txBody>
      </p:sp>
      <p:sp>
        <p:nvSpPr>
          <p:cNvPr id="8" name="TextBox 7"/>
          <p:cNvSpPr txBox="1"/>
          <p:nvPr/>
        </p:nvSpPr>
        <p:spPr>
          <a:xfrm>
            <a:off x="2002536" y="5751576"/>
            <a:ext cx="4754879" cy="256032"/>
          </a:xfrm>
          <a:prstGeom prst="rect">
            <a:avLst/>
          </a:prstGeom>
          <a:noFill/>
        </p:spPr>
        <p:txBody>
          <a:bodyPr wrap="square" lIns="0" rIns="0" tIns="0" bIns="0" anchor="t">
            <a:spAutoFit/>
          </a:bodyPr>
          <a:lstStyle/>
          <a:p>
            <a:pPr algn="l"/>
            <a:r>
              <a:rPr sz="1250" b="0">
                <a:solidFill>
                  <a:srgbClr val="1E5BD7"/>
                </a:solidFill>
                <a:latin typeface="Arial"/>
                <a:hlinkClick r:id="rId3"/>
              </a:rPr>
              <a:t>github.com/gkgk0119gmail-arch/2026ESWContest_mobility_ARTS</a:t>
            </a:r>
          </a:p>
        </p:txBody>
      </p:sp>
      <p:sp>
        <p:nvSpPr>
          <p:cNvPr id="9" name="Rounded Rectangle 8"/>
          <p:cNvSpPr/>
          <p:nvPr/>
        </p:nvSpPr>
        <p:spPr>
          <a:xfrm>
            <a:off x="6986016" y="5641848"/>
            <a:ext cx="4389120" cy="457200"/>
          </a:xfrm>
          <a:prstGeom prst="roundRect">
            <a:avLst>
              <a:gd name="adj" fmla="val 50000"/>
            </a:avLst>
          </a:prstGeom>
          <a:solidFill>
            <a:srgbClr val="FBFCFE"/>
          </a:solidFill>
          <a:ln w="9525">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095744" y="5733288"/>
            <a:ext cx="960120" cy="274320"/>
          </a:xfrm>
          <a:prstGeom prst="roundRect">
            <a:avLst>
              <a:gd name="adj" fmla="val 50000"/>
            </a:avLst>
          </a:prstGeom>
          <a:solidFill>
            <a:srgbClr val="13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100" b="0">
                <a:solidFill>
                  <a:srgbClr val="FFFFFF"/>
                </a:solidFill>
                <a:latin typeface="Arial"/>
              </a:rPr>
              <a:t>시연 동영상</a:t>
            </a:r>
          </a:p>
        </p:txBody>
      </p:sp>
      <p:sp>
        <p:nvSpPr>
          <p:cNvPr id="11" name="TextBox 10"/>
          <p:cNvSpPr txBox="1"/>
          <p:nvPr/>
        </p:nvSpPr>
        <p:spPr>
          <a:xfrm>
            <a:off x="8174736" y="5751576"/>
            <a:ext cx="3108960" cy="256032"/>
          </a:xfrm>
          <a:prstGeom prst="rect">
            <a:avLst/>
          </a:prstGeom>
          <a:noFill/>
        </p:spPr>
        <p:txBody>
          <a:bodyPr wrap="square" lIns="0" rIns="0" tIns="0" bIns="0" anchor="t">
            <a:spAutoFit/>
          </a:bodyPr>
          <a:lstStyle/>
          <a:p>
            <a:pPr algn="l"/>
            <a:r>
              <a:rPr sz="1250" b="0">
                <a:solidFill>
                  <a:srgbClr val="C2410C"/>
                </a:solidFill>
                <a:latin typeface="Arial"/>
              </a:rPr>
              <a:t>유튜브 링크 (업로드 후 기재)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네 대의 장비, 하나의 툴체인</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1E5BD7"/>
                </a:solidFill>
                <a:latin typeface="Arial"/>
              </a:rPr>
              <a:t>2. 개발 환경 · SW 구성 및 개발 환경</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5 / 20</a:t>
            </a:r>
          </a:p>
        </p:txBody>
      </p:sp>
      <p:pic>
        <p:nvPicPr>
          <p:cNvPr id="5" name="Picture 4" descr="sw.png"/>
          <p:cNvPicPr>
            <a:picLocks noChangeAspect="1"/>
          </p:cNvPicPr>
          <p:nvPr/>
        </p:nvPicPr>
        <p:blipFill>
          <a:blip r:embed="rId2"/>
          <a:stretch>
            <a:fillRect/>
          </a:stretch>
        </p:blipFill>
        <p:spPr>
          <a:xfrm>
            <a:off x="813816" y="1874519"/>
            <a:ext cx="10561320" cy="427024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장비 사이의 통신과 보드 안의 두 스레드</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1E5BD7"/>
                </a:solidFill>
                <a:latin typeface="Arial"/>
              </a:rPr>
              <a:t>2. 개발 환경 · 기능 설계도</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6 / 20</a:t>
            </a:r>
          </a:p>
        </p:txBody>
      </p:sp>
      <p:pic>
        <p:nvPicPr>
          <p:cNvPr id="5" name="Picture 4" descr="design.png"/>
          <p:cNvPicPr>
            <a:picLocks noChangeAspect="1"/>
          </p:cNvPicPr>
          <p:nvPr/>
        </p:nvPicPr>
        <p:blipFill>
          <a:blip r:embed="rId2"/>
          <a:stretch>
            <a:fillRect/>
          </a:stretch>
        </p:blipFill>
        <p:spPr>
          <a:xfrm>
            <a:off x="813816" y="1874519"/>
            <a:ext cx="10561320" cy="4270248"/>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파일 구성과 핵심 함수</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1E5BD7"/>
                </a:solidFill>
                <a:latin typeface="Arial"/>
              </a:rPr>
              <a:t>3. 개발 프로그램 · 파일 구성 · 함수별 기능</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7 / 20</a:t>
            </a:r>
          </a:p>
        </p:txBody>
      </p:sp>
      <p:pic>
        <p:nvPicPr>
          <p:cNvPr id="5" name="Picture 4" descr="ff.png"/>
          <p:cNvPicPr>
            <a:picLocks noChangeAspect="1"/>
          </p:cNvPicPr>
          <p:nvPr/>
        </p:nvPicPr>
        <p:blipFill>
          <a:blip r:embed="rId2"/>
          <a:stretch>
            <a:fillRect/>
          </a:stretch>
        </p:blipFill>
        <p:spPr>
          <a:xfrm>
            <a:off x="813816" y="1874519"/>
            <a:ext cx="10561320" cy="427024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애매하면 직접 재본다 — 노면 확인 탭</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D1373A"/>
                </a:solidFill>
                <a:latin typeface="Arial"/>
              </a:rPr>
              <a:t>3. 개발 프로그램 · 기술적 차별성 ① 노면 확인 탭</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12 / 20</a:t>
            </a:r>
          </a:p>
        </p:txBody>
      </p:sp>
      <p:pic>
        <p:nvPicPr>
          <p:cNvPr id="5" name="Picture 4" descr="tap.png"/>
          <p:cNvPicPr>
            <a:picLocks noChangeAspect="1"/>
          </p:cNvPicPr>
          <p:nvPr/>
        </p:nvPicPr>
        <p:blipFill>
          <a:blip r:embed="rId2"/>
          <a:stretch>
            <a:fillRect/>
          </a:stretch>
        </p:blipFill>
        <p:spPr>
          <a:xfrm>
            <a:off x="813816" y="1874519"/>
            <a:ext cx="10561320" cy="427024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1차는 빙판 앞에서 세우고, 2차는 미끄러짐을 확정해 받는다</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1E5BD7"/>
                </a:solidFill>
                <a:latin typeface="Arial"/>
              </a:rPr>
              <a:t>3. 개발 프로그램 · 흐름도</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8 / 20</a:t>
            </a:r>
          </a:p>
        </p:txBody>
      </p:sp>
      <p:sp>
        <p:nvSpPr>
          <p:cNvPr id="5" name="TextBox 4"/>
          <p:cNvSpPr txBox="1"/>
          <p:nvPr/>
        </p:nvSpPr>
        <p:spPr>
          <a:xfrm>
            <a:off x="813816" y="1847088"/>
            <a:ext cx="5120640" cy="274320"/>
          </a:xfrm>
          <a:prstGeom prst="rect">
            <a:avLst/>
          </a:prstGeom>
          <a:noFill/>
        </p:spPr>
        <p:txBody>
          <a:bodyPr wrap="square" lIns="0" rIns="0" tIns="0" bIns="0" anchor="t">
            <a:spAutoFit/>
          </a:bodyPr>
          <a:lstStyle/>
          <a:p>
            <a:pPr algn="l"/>
            <a:r>
              <a:rPr sz="1400" b="1">
                <a:solidFill>
                  <a:srgbClr val="1E5BD7"/>
                </a:solidFill>
                <a:latin typeface="Arial"/>
              </a:rPr>
              <a:t>1차 방어 · 예측 (프레임마다)</a:t>
            </a:r>
          </a:p>
        </p:txBody>
      </p:sp>
      <p:sp>
        <p:nvSpPr>
          <p:cNvPr id="6" name="Rectangle 5"/>
          <p:cNvSpPr/>
          <p:nvPr/>
        </p:nvSpPr>
        <p:spPr>
          <a:xfrm>
            <a:off x="813816" y="2212848"/>
            <a:ext cx="3383280" cy="329184"/>
          </a:xfrm>
          <a:prstGeom prst="rect">
            <a:avLst/>
          </a:prstGeom>
          <a:solidFill>
            <a:srgbClr val="FBFCFE"/>
          </a:solidFill>
          <a:ln w="15875">
            <a:solidFill>
              <a:srgbClr val="1E5B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0">
                <a:solidFill>
                  <a:srgbClr val="132033"/>
                </a:solidFill>
                <a:latin typeface="Arial"/>
              </a:rPr>
              <a:t>프레임 → 전방 ROI 자르기 · int8</a:t>
            </a:r>
          </a:p>
        </p:txBody>
      </p:sp>
      <p:cxnSp>
        <p:nvCxnSpPr>
          <p:cNvPr id="7" name="Connector 6"/>
          <p:cNvCxnSpPr/>
          <p:nvPr/>
        </p:nvCxnSpPr>
        <p:spPr>
          <a:xfrm>
            <a:off x="2505456" y="2542032"/>
            <a:ext cx="0" cy="118871"/>
          </a:xfrm>
          <a:prstGeom prst="line">
            <a:avLst/>
          </a:prstGeom>
          <a:ln w="15875">
            <a:solidFill>
              <a:srgbClr val="1E5BD7"/>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813816" y="2660903"/>
            <a:ext cx="3383280" cy="329184"/>
          </a:xfrm>
          <a:prstGeom prst="rect">
            <a:avLst/>
          </a:prstGeom>
          <a:solidFill>
            <a:srgbClr val="FBFCFE"/>
          </a:solidFill>
          <a:ln w="15875">
            <a:solidFill>
              <a:srgbClr val="1E5B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0">
                <a:solidFill>
                  <a:srgbClr val="132033"/>
                </a:solidFill>
                <a:latin typeface="Arial"/>
              </a:rPr>
              <a:t>NPU 추론 → 4클래스 확률 + 반사도</a:t>
            </a:r>
          </a:p>
        </p:txBody>
      </p:sp>
      <p:cxnSp>
        <p:nvCxnSpPr>
          <p:cNvPr id="9" name="Connector 8"/>
          <p:cNvCxnSpPr/>
          <p:nvPr/>
        </p:nvCxnSpPr>
        <p:spPr>
          <a:xfrm>
            <a:off x="2505456" y="2990087"/>
            <a:ext cx="0" cy="118872"/>
          </a:xfrm>
          <a:prstGeom prst="line">
            <a:avLst/>
          </a:prstGeom>
          <a:ln w="15875">
            <a:solidFill>
              <a:srgbClr val="1E5BD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Diamond 9"/>
          <p:cNvSpPr/>
          <p:nvPr/>
        </p:nvSpPr>
        <p:spPr>
          <a:xfrm>
            <a:off x="813816" y="3108959"/>
            <a:ext cx="3383280" cy="512064"/>
          </a:xfrm>
          <a:prstGeom prst="diamond">
            <a:avLst/>
          </a:prstGeom>
          <a:solidFill>
            <a:srgbClr val="FFFFFF"/>
          </a:solidFill>
          <a:ln w="15875">
            <a:solidFill>
              <a:srgbClr val="1E5B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1" name="TextBox 10"/>
          <p:cNvSpPr txBox="1"/>
          <p:nvPr/>
        </p:nvSpPr>
        <p:spPr>
          <a:xfrm>
            <a:off x="1316736" y="3264408"/>
            <a:ext cx="2377440" cy="201168"/>
          </a:xfrm>
          <a:prstGeom prst="rect">
            <a:avLst/>
          </a:prstGeom>
          <a:noFill/>
        </p:spPr>
        <p:txBody>
          <a:bodyPr wrap="square" lIns="0" rIns="0" tIns="0" bIns="0" anchor="t">
            <a:spAutoFit/>
          </a:bodyPr>
          <a:lstStyle/>
          <a:p>
            <a:pPr algn="ctr"/>
            <a:r>
              <a:rPr sz="1100" b="0">
                <a:solidFill>
                  <a:srgbClr val="132033"/>
                </a:solidFill>
                <a:latin typeface="Arial"/>
              </a:rPr>
              <a:t>강수 5 mm/h 이상?</a:t>
            </a:r>
          </a:p>
        </p:txBody>
      </p:sp>
      <p:cxnSp>
        <p:nvCxnSpPr>
          <p:cNvPr id="12" name="Connector 11"/>
          <p:cNvCxnSpPr/>
          <p:nvPr/>
        </p:nvCxnSpPr>
        <p:spPr>
          <a:xfrm>
            <a:off x="4197096" y="3364991"/>
            <a:ext cx="228600" cy="0"/>
          </a:xfrm>
          <a:prstGeom prst="line">
            <a:avLst/>
          </a:prstGeom>
          <a:ln w="15875">
            <a:solidFill>
              <a:srgbClr val="1E5BD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425696" y="3163823"/>
            <a:ext cx="1508760" cy="402336"/>
          </a:xfrm>
          <a:prstGeom prst="rect">
            <a:avLst/>
          </a:prstGeom>
          <a:solidFill>
            <a:srgbClr val="FFFFFF"/>
          </a:solidFill>
          <a:ln w="9525">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0">
                <a:solidFill>
                  <a:srgbClr val="4B5A6C"/>
                </a:solidFill>
                <a:latin typeface="Arial"/>
              </a:rPr>
              <a:t>예: 1차 OFF, 2차 전담</a:t>
            </a:r>
          </a:p>
        </p:txBody>
      </p:sp>
      <p:cxnSp>
        <p:nvCxnSpPr>
          <p:cNvPr id="14" name="Connector 13"/>
          <p:cNvCxnSpPr/>
          <p:nvPr/>
        </p:nvCxnSpPr>
        <p:spPr>
          <a:xfrm>
            <a:off x="2505456" y="3621023"/>
            <a:ext cx="0" cy="118873"/>
          </a:xfrm>
          <a:prstGeom prst="line">
            <a:avLst/>
          </a:prstGeom>
          <a:ln w="15875">
            <a:solidFill>
              <a:srgbClr val="1E5BD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Diamond 14"/>
          <p:cNvSpPr/>
          <p:nvPr/>
        </p:nvSpPr>
        <p:spPr>
          <a:xfrm>
            <a:off x="813816" y="3739896"/>
            <a:ext cx="3383280" cy="512064"/>
          </a:xfrm>
          <a:prstGeom prst="diamond">
            <a:avLst/>
          </a:prstGeom>
          <a:solidFill>
            <a:srgbClr val="FFFFFF"/>
          </a:solidFill>
          <a:ln w="15875">
            <a:solidFill>
              <a:srgbClr val="1E5B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6" name="TextBox 15"/>
          <p:cNvSpPr txBox="1"/>
          <p:nvPr/>
        </p:nvSpPr>
        <p:spPr>
          <a:xfrm>
            <a:off x="1316736" y="3895344"/>
            <a:ext cx="2377440" cy="201168"/>
          </a:xfrm>
          <a:prstGeom prst="rect">
            <a:avLst/>
          </a:prstGeom>
          <a:noFill/>
        </p:spPr>
        <p:txBody>
          <a:bodyPr wrap="square" lIns="0" rIns="0" tIns="0" bIns="0" anchor="t">
            <a:spAutoFit/>
          </a:bodyPr>
          <a:lstStyle/>
          <a:p>
            <a:pPr algn="ctr"/>
            <a:r>
              <a:rPr sz="1100" b="0">
                <a:solidFill>
                  <a:srgbClr val="132033"/>
                </a:solidFill>
                <a:latin typeface="Arial"/>
              </a:rPr>
              <a:t>노면 온도상 결빙 불가?</a:t>
            </a:r>
          </a:p>
        </p:txBody>
      </p:sp>
      <p:cxnSp>
        <p:nvCxnSpPr>
          <p:cNvPr id="17" name="Connector 16"/>
          <p:cNvCxnSpPr/>
          <p:nvPr/>
        </p:nvCxnSpPr>
        <p:spPr>
          <a:xfrm>
            <a:off x="4197096" y="3995928"/>
            <a:ext cx="228600" cy="0"/>
          </a:xfrm>
          <a:prstGeom prst="line">
            <a:avLst/>
          </a:prstGeom>
          <a:ln w="15875">
            <a:solidFill>
              <a:srgbClr val="1E5BD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425696" y="3794760"/>
            <a:ext cx="1508760" cy="402336"/>
          </a:xfrm>
          <a:prstGeom prst="rect">
            <a:avLst/>
          </a:prstGeom>
          <a:solidFill>
            <a:srgbClr val="FFFFFF"/>
          </a:solidFill>
          <a:ln w="9525">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0">
                <a:solidFill>
                  <a:srgbClr val="4B5A6C"/>
                </a:solidFill>
                <a:latin typeface="Arial"/>
              </a:rPr>
              <a:t>예: 얼음 경보 억제</a:t>
            </a:r>
          </a:p>
        </p:txBody>
      </p:sp>
      <p:cxnSp>
        <p:nvCxnSpPr>
          <p:cNvPr id="19" name="Connector 18"/>
          <p:cNvCxnSpPr/>
          <p:nvPr/>
        </p:nvCxnSpPr>
        <p:spPr>
          <a:xfrm>
            <a:off x="2505456" y="4251960"/>
            <a:ext cx="0" cy="118872"/>
          </a:xfrm>
          <a:prstGeom prst="line">
            <a:avLst/>
          </a:prstGeom>
          <a:ln w="15875">
            <a:solidFill>
              <a:srgbClr val="1E5BD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13816" y="4370832"/>
            <a:ext cx="3383280" cy="329184"/>
          </a:xfrm>
          <a:prstGeom prst="rect">
            <a:avLst/>
          </a:prstGeom>
          <a:solidFill>
            <a:srgbClr val="FBFCFE"/>
          </a:solidFill>
          <a:ln w="15875">
            <a:solidFill>
              <a:srgbClr val="1E5B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0">
                <a:solidFill>
                  <a:srgbClr val="132033"/>
                </a:solidFill>
                <a:latin typeface="Arial"/>
              </a:rPr>
              <a:t>기상 맥락 가중치로 위험도 융합</a:t>
            </a:r>
          </a:p>
        </p:txBody>
      </p:sp>
      <p:cxnSp>
        <p:nvCxnSpPr>
          <p:cNvPr id="21" name="Connector 20"/>
          <p:cNvCxnSpPr/>
          <p:nvPr/>
        </p:nvCxnSpPr>
        <p:spPr>
          <a:xfrm>
            <a:off x="2505456" y="4700016"/>
            <a:ext cx="0" cy="118872"/>
          </a:xfrm>
          <a:prstGeom prst="line">
            <a:avLst/>
          </a:prstGeom>
          <a:ln w="15875">
            <a:solidFill>
              <a:srgbClr val="1E5BD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Diamond 21"/>
          <p:cNvSpPr/>
          <p:nvPr/>
        </p:nvSpPr>
        <p:spPr>
          <a:xfrm>
            <a:off x="813816" y="4818888"/>
            <a:ext cx="3383280" cy="512064"/>
          </a:xfrm>
          <a:prstGeom prst="diamond">
            <a:avLst/>
          </a:prstGeom>
          <a:solidFill>
            <a:srgbClr val="FFFFFF"/>
          </a:solidFill>
          <a:ln w="15875">
            <a:solidFill>
              <a:srgbClr val="1E5B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3" name="TextBox 22"/>
          <p:cNvSpPr txBox="1"/>
          <p:nvPr/>
        </p:nvSpPr>
        <p:spPr>
          <a:xfrm>
            <a:off x="1316736" y="4974336"/>
            <a:ext cx="2377440" cy="201168"/>
          </a:xfrm>
          <a:prstGeom prst="rect">
            <a:avLst/>
          </a:prstGeom>
          <a:noFill/>
        </p:spPr>
        <p:txBody>
          <a:bodyPr wrap="square" lIns="0" rIns="0" tIns="0" bIns="0" anchor="t">
            <a:spAutoFit/>
          </a:bodyPr>
          <a:lstStyle/>
          <a:p>
            <a:pPr algn="ctr"/>
            <a:r>
              <a:rPr sz="1100" b="0">
                <a:solidFill>
                  <a:srgbClr val="132033"/>
                </a:solidFill>
                <a:latin typeface="Arial"/>
              </a:rPr>
              <a:t>문턱 이상 8프레임 연속?</a:t>
            </a:r>
          </a:p>
        </p:txBody>
      </p:sp>
      <p:cxnSp>
        <p:nvCxnSpPr>
          <p:cNvPr id="24" name="Connector 23"/>
          <p:cNvCxnSpPr/>
          <p:nvPr/>
        </p:nvCxnSpPr>
        <p:spPr>
          <a:xfrm>
            <a:off x="4197096" y="5074920"/>
            <a:ext cx="228600" cy="0"/>
          </a:xfrm>
          <a:prstGeom prst="line">
            <a:avLst/>
          </a:prstGeom>
          <a:ln w="15875">
            <a:solidFill>
              <a:srgbClr val="1E5BD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425696" y="4873752"/>
            <a:ext cx="1508760" cy="402336"/>
          </a:xfrm>
          <a:prstGeom prst="rect">
            <a:avLst/>
          </a:prstGeom>
          <a:solidFill>
            <a:srgbClr val="FFFFFF"/>
          </a:solidFill>
          <a:ln w="9525">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0">
                <a:solidFill>
                  <a:srgbClr val="4B5A6C"/>
                </a:solidFill>
                <a:latin typeface="Arial"/>
              </a:rPr>
              <a:t>아니오: 주행 계속</a:t>
            </a:r>
          </a:p>
        </p:txBody>
      </p:sp>
      <p:cxnSp>
        <p:nvCxnSpPr>
          <p:cNvPr id="26" name="Connector 25"/>
          <p:cNvCxnSpPr/>
          <p:nvPr/>
        </p:nvCxnSpPr>
        <p:spPr>
          <a:xfrm>
            <a:off x="2505456" y="5330952"/>
            <a:ext cx="0" cy="118872"/>
          </a:xfrm>
          <a:prstGeom prst="line">
            <a:avLst/>
          </a:prstGeom>
          <a:ln w="15875">
            <a:solidFill>
              <a:srgbClr val="1E5BD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813816" y="5449824"/>
            <a:ext cx="3383280" cy="329184"/>
          </a:xfrm>
          <a:prstGeom prst="rect">
            <a:avLst/>
          </a:prstGeom>
          <a:solidFill>
            <a:srgbClr val="FBFCFE"/>
          </a:solidFill>
          <a:ln w="15875">
            <a:solidFill>
              <a:srgbClr val="1E5B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0">
                <a:solidFill>
                  <a:srgbClr val="132033"/>
                </a:solidFill>
                <a:latin typeface="Arial"/>
              </a:rPr>
              <a:t>1차 경보 → 자동 감속 → 빙판 앞 정지</a:t>
            </a:r>
          </a:p>
        </p:txBody>
      </p:sp>
      <p:sp>
        <p:nvSpPr>
          <p:cNvPr id="28" name="TextBox 27"/>
          <p:cNvSpPr txBox="1"/>
          <p:nvPr/>
        </p:nvSpPr>
        <p:spPr>
          <a:xfrm>
            <a:off x="6263640" y="1847088"/>
            <a:ext cx="5120640" cy="274320"/>
          </a:xfrm>
          <a:prstGeom prst="rect">
            <a:avLst/>
          </a:prstGeom>
          <a:noFill/>
        </p:spPr>
        <p:txBody>
          <a:bodyPr wrap="square" lIns="0" rIns="0" tIns="0" bIns="0" anchor="t">
            <a:spAutoFit/>
          </a:bodyPr>
          <a:lstStyle/>
          <a:p>
            <a:pPr algn="l"/>
            <a:r>
              <a:rPr sz="1400" b="1">
                <a:solidFill>
                  <a:srgbClr val="0B7A6B"/>
                </a:solidFill>
                <a:latin typeface="Arial"/>
              </a:rPr>
              <a:t>2차 방어 · 반응 (IMU 샘플마다)</a:t>
            </a:r>
          </a:p>
        </p:txBody>
      </p:sp>
      <p:sp>
        <p:nvSpPr>
          <p:cNvPr id="29" name="Rectangle 28"/>
          <p:cNvSpPr/>
          <p:nvPr/>
        </p:nvSpPr>
        <p:spPr>
          <a:xfrm>
            <a:off x="6263640" y="2212848"/>
            <a:ext cx="3383280" cy="329184"/>
          </a:xfrm>
          <a:prstGeom prst="rect">
            <a:avLst/>
          </a:prstGeom>
          <a:solidFill>
            <a:srgbClr val="FBFCFE"/>
          </a:solidFill>
          <a:ln w="15875">
            <a:solidFill>
              <a:srgbClr val="0B7A6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0">
                <a:solidFill>
                  <a:srgbClr val="132033"/>
                </a:solidFill>
                <a:latin typeface="Arial"/>
              </a:rPr>
              <a:t>IMU 샘플 → 칼만 필터</a:t>
            </a:r>
          </a:p>
        </p:txBody>
      </p:sp>
      <p:cxnSp>
        <p:nvCxnSpPr>
          <p:cNvPr id="30" name="Connector 29"/>
          <p:cNvCxnSpPr/>
          <p:nvPr/>
        </p:nvCxnSpPr>
        <p:spPr>
          <a:xfrm>
            <a:off x="7955279" y="2542032"/>
            <a:ext cx="0" cy="118871"/>
          </a:xfrm>
          <a:prstGeom prst="line">
            <a:avLst/>
          </a:prstGeom>
          <a:ln w="15875">
            <a:solidFill>
              <a:srgbClr val="0B7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263640" y="2660903"/>
            <a:ext cx="3383280" cy="329184"/>
          </a:xfrm>
          <a:prstGeom prst="rect">
            <a:avLst/>
          </a:prstGeom>
          <a:solidFill>
            <a:srgbClr val="FBFCFE"/>
          </a:solidFill>
          <a:ln w="15875">
            <a:solidFill>
              <a:srgbClr val="0B7A6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0">
                <a:solidFill>
                  <a:srgbClr val="132033"/>
                </a:solidFill>
                <a:latin typeface="Arial"/>
              </a:rPr>
              <a:t>자전거 모델 기대 yaw rate와 잔차</a:t>
            </a:r>
          </a:p>
        </p:txBody>
      </p:sp>
      <p:cxnSp>
        <p:nvCxnSpPr>
          <p:cNvPr id="32" name="Connector 31"/>
          <p:cNvCxnSpPr/>
          <p:nvPr/>
        </p:nvCxnSpPr>
        <p:spPr>
          <a:xfrm>
            <a:off x="7955279" y="2990087"/>
            <a:ext cx="0" cy="118872"/>
          </a:xfrm>
          <a:prstGeom prst="line">
            <a:avLst/>
          </a:prstGeom>
          <a:ln w="15875">
            <a:solidFill>
              <a:srgbClr val="0B7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Diamond 32"/>
          <p:cNvSpPr/>
          <p:nvPr/>
        </p:nvSpPr>
        <p:spPr>
          <a:xfrm>
            <a:off x="6263640" y="3108959"/>
            <a:ext cx="3383280" cy="512064"/>
          </a:xfrm>
          <a:prstGeom prst="diamond">
            <a:avLst/>
          </a:prstGeom>
          <a:solidFill>
            <a:srgbClr val="FFFFFF"/>
          </a:solidFill>
          <a:ln w="15875">
            <a:solidFill>
              <a:srgbClr val="0B7A6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4" name="TextBox 33"/>
          <p:cNvSpPr txBox="1"/>
          <p:nvPr/>
        </p:nvSpPr>
        <p:spPr>
          <a:xfrm>
            <a:off x="6766559" y="3264408"/>
            <a:ext cx="2377440" cy="201168"/>
          </a:xfrm>
          <a:prstGeom prst="rect">
            <a:avLst/>
          </a:prstGeom>
          <a:noFill/>
        </p:spPr>
        <p:txBody>
          <a:bodyPr wrap="square" lIns="0" rIns="0" tIns="0" bIns="0" anchor="t">
            <a:spAutoFit/>
          </a:bodyPr>
          <a:lstStyle/>
          <a:p>
            <a:pPr algn="ctr"/>
            <a:r>
              <a:rPr sz="1100" b="0">
                <a:solidFill>
                  <a:srgbClr val="132033"/>
                </a:solidFill>
                <a:latin typeface="Arial"/>
              </a:rPr>
              <a:t>경계 밖 3샘플 연속?</a:t>
            </a:r>
          </a:p>
        </p:txBody>
      </p:sp>
      <p:cxnSp>
        <p:nvCxnSpPr>
          <p:cNvPr id="35" name="Connector 34"/>
          <p:cNvCxnSpPr/>
          <p:nvPr/>
        </p:nvCxnSpPr>
        <p:spPr>
          <a:xfrm>
            <a:off x="9646920" y="3364991"/>
            <a:ext cx="228600" cy="0"/>
          </a:xfrm>
          <a:prstGeom prst="line">
            <a:avLst/>
          </a:prstGeom>
          <a:ln w="15875">
            <a:solidFill>
              <a:srgbClr val="0B7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875520" y="3163823"/>
            <a:ext cx="1508760" cy="402336"/>
          </a:xfrm>
          <a:prstGeom prst="rect">
            <a:avLst/>
          </a:prstGeom>
          <a:solidFill>
            <a:srgbClr val="FFFFFF"/>
          </a:solidFill>
          <a:ln w="9525">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0">
                <a:solidFill>
                  <a:srgbClr val="4B5A6C"/>
                </a:solidFill>
                <a:latin typeface="Arial"/>
              </a:rPr>
              <a:t>아니오: 다음 샘플</a:t>
            </a:r>
          </a:p>
        </p:txBody>
      </p:sp>
      <p:cxnSp>
        <p:nvCxnSpPr>
          <p:cNvPr id="37" name="Connector 36"/>
          <p:cNvCxnSpPr/>
          <p:nvPr/>
        </p:nvCxnSpPr>
        <p:spPr>
          <a:xfrm>
            <a:off x="7955279" y="3621023"/>
            <a:ext cx="0" cy="118873"/>
          </a:xfrm>
          <a:prstGeom prst="line">
            <a:avLst/>
          </a:prstGeom>
          <a:ln w="15875">
            <a:solidFill>
              <a:srgbClr val="0B7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6263640" y="3739896"/>
            <a:ext cx="3383280" cy="329184"/>
          </a:xfrm>
          <a:prstGeom prst="rect">
            <a:avLst/>
          </a:prstGeom>
          <a:solidFill>
            <a:srgbClr val="FBFCFE"/>
          </a:solidFill>
          <a:ln w="15875">
            <a:solidFill>
              <a:srgbClr val="0B7A6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0">
                <a:solidFill>
                  <a:srgbClr val="132033"/>
                </a:solidFill>
                <a:latin typeface="Arial"/>
              </a:rPr>
              <a:t>미끄러짐 확정 → 정지 가능 거리 d 계산</a:t>
            </a:r>
          </a:p>
        </p:txBody>
      </p:sp>
      <p:cxnSp>
        <p:nvCxnSpPr>
          <p:cNvPr id="39" name="Connector 38"/>
          <p:cNvCxnSpPr/>
          <p:nvPr/>
        </p:nvCxnSpPr>
        <p:spPr>
          <a:xfrm>
            <a:off x="7955279" y="4069080"/>
            <a:ext cx="0" cy="118872"/>
          </a:xfrm>
          <a:prstGeom prst="line">
            <a:avLst/>
          </a:prstGeom>
          <a:ln w="15875">
            <a:solidFill>
              <a:srgbClr val="0B7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Diamond 39"/>
          <p:cNvSpPr/>
          <p:nvPr/>
        </p:nvSpPr>
        <p:spPr>
          <a:xfrm>
            <a:off x="6263640" y="4187952"/>
            <a:ext cx="3383280" cy="512064"/>
          </a:xfrm>
          <a:prstGeom prst="diamond">
            <a:avLst/>
          </a:prstGeom>
          <a:solidFill>
            <a:srgbClr val="FFFFFF"/>
          </a:solidFill>
          <a:ln w="15875">
            <a:solidFill>
              <a:srgbClr val="0B7A6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41" name="TextBox 40"/>
          <p:cNvSpPr txBox="1"/>
          <p:nvPr/>
        </p:nvSpPr>
        <p:spPr>
          <a:xfrm>
            <a:off x="6766559" y="4343400"/>
            <a:ext cx="2377440" cy="201168"/>
          </a:xfrm>
          <a:prstGeom prst="rect">
            <a:avLst/>
          </a:prstGeom>
          <a:noFill/>
        </p:spPr>
        <p:txBody>
          <a:bodyPr wrap="square" lIns="0" rIns="0" tIns="0" bIns="0" anchor="t">
            <a:spAutoFit/>
          </a:bodyPr>
          <a:lstStyle/>
          <a:p>
            <a:pPr algn="ctr"/>
            <a:r>
              <a:rPr sz="1100" b="0">
                <a:solidFill>
                  <a:srgbClr val="132033"/>
                </a:solidFill>
                <a:latin typeface="Arial"/>
              </a:rPr>
              <a:t>앞차 간격 &gt; d ?</a:t>
            </a:r>
          </a:p>
        </p:txBody>
      </p:sp>
      <p:cxnSp>
        <p:nvCxnSpPr>
          <p:cNvPr id="42" name="Connector 41"/>
          <p:cNvCxnSpPr/>
          <p:nvPr/>
        </p:nvCxnSpPr>
        <p:spPr>
          <a:xfrm>
            <a:off x="9646920" y="4443984"/>
            <a:ext cx="228600" cy="0"/>
          </a:xfrm>
          <a:prstGeom prst="line">
            <a:avLst/>
          </a:prstGeom>
          <a:ln w="15875">
            <a:solidFill>
              <a:srgbClr val="0B7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875520" y="4242816"/>
            <a:ext cx="1508760" cy="402336"/>
          </a:xfrm>
          <a:prstGeom prst="rect">
            <a:avLst/>
          </a:prstGeom>
          <a:solidFill>
            <a:srgbClr val="FFFFFF"/>
          </a:solidFill>
          <a:ln w="9525">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0">
                <a:solidFill>
                  <a:srgbClr val="4B5A6C"/>
                </a:solidFill>
                <a:latin typeface="Arial"/>
              </a:rPr>
              <a:t>예: 차선 유지 + ABS 펄스</a:t>
            </a:r>
          </a:p>
        </p:txBody>
      </p:sp>
      <p:cxnSp>
        <p:nvCxnSpPr>
          <p:cNvPr id="44" name="Connector 43"/>
          <p:cNvCxnSpPr/>
          <p:nvPr/>
        </p:nvCxnSpPr>
        <p:spPr>
          <a:xfrm>
            <a:off x="7955279" y="4700016"/>
            <a:ext cx="0" cy="118872"/>
          </a:xfrm>
          <a:prstGeom prst="line">
            <a:avLst/>
          </a:prstGeom>
          <a:ln w="15875">
            <a:solidFill>
              <a:srgbClr val="0B7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Diamond 44"/>
          <p:cNvSpPr/>
          <p:nvPr/>
        </p:nvSpPr>
        <p:spPr>
          <a:xfrm>
            <a:off x="6263640" y="4818888"/>
            <a:ext cx="3383280" cy="512064"/>
          </a:xfrm>
          <a:prstGeom prst="diamond">
            <a:avLst/>
          </a:prstGeom>
          <a:solidFill>
            <a:srgbClr val="FFFFFF"/>
          </a:solidFill>
          <a:ln w="15875">
            <a:solidFill>
              <a:srgbClr val="0B7A6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46" name="TextBox 45"/>
          <p:cNvSpPr txBox="1"/>
          <p:nvPr/>
        </p:nvSpPr>
        <p:spPr>
          <a:xfrm>
            <a:off x="6766559" y="4974336"/>
            <a:ext cx="2377440" cy="201168"/>
          </a:xfrm>
          <a:prstGeom prst="rect">
            <a:avLst/>
          </a:prstGeom>
          <a:noFill/>
        </p:spPr>
        <p:txBody>
          <a:bodyPr wrap="square" lIns="0" rIns="0" tIns="0" bIns="0" anchor="t">
            <a:spAutoFit/>
          </a:bodyPr>
          <a:lstStyle/>
          <a:p>
            <a:pPr algn="ctr"/>
            <a:r>
              <a:rPr sz="1100" b="0">
                <a:solidFill>
                  <a:srgbClr val="132033"/>
                </a:solidFill>
                <a:latin typeface="Arial"/>
              </a:rPr>
              <a:t>옆 차로 20 m 이상 비었나?</a:t>
            </a:r>
          </a:p>
        </p:txBody>
      </p:sp>
      <p:cxnSp>
        <p:nvCxnSpPr>
          <p:cNvPr id="47" name="Connector 46"/>
          <p:cNvCxnSpPr/>
          <p:nvPr/>
        </p:nvCxnSpPr>
        <p:spPr>
          <a:xfrm>
            <a:off x="9646920" y="5074920"/>
            <a:ext cx="228600" cy="0"/>
          </a:xfrm>
          <a:prstGeom prst="line">
            <a:avLst/>
          </a:prstGeom>
          <a:ln w="15875">
            <a:solidFill>
              <a:srgbClr val="0B7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9875520" y="4873752"/>
            <a:ext cx="1508760" cy="402336"/>
          </a:xfrm>
          <a:prstGeom prst="rect">
            <a:avLst/>
          </a:prstGeom>
          <a:solidFill>
            <a:srgbClr val="FFFFFF"/>
          </a:solidFill>
          <a:ln w="9525">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0">
                <a:solidFill>
                  <a:srgbClr val="4B5A6C"/>
                </a:solidFill>
                <a:latin typeface="Arial"/>
              </a:rPr>
              <a:t>예: 빈 차로 회피</a:t>
            </a:r>
          </a:p>
        </p:txBody>
      </p:sp>
      <p:cxnSp>
        <p:nvCxnSpPr>
          <p:cNvPr id="49" name="Connector 48"/>
          <p:cNvCxnSpPr/>
          <p:nvPr/>
        </p:nvCxnSpPr>
        <p:spPr>
          <a:xfrm>
            <a:off x="7955279" y="5330952"/>
            <a:ext cx="0" cy="118872"/>
          </a:xfrm>
          <a:prstGeom prst="line">
            <a:avLst/>
          </a:prstGeom>
          <a:ln w="15875">
            <a:solidFill>
              <a:srgbClr val="0B7A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263640" y="5449824"/>
            <a:ext cx="3383280" cy="329184"/>
          </a:xfrm>
          <a:prstGeom prst="rect">
            <a:avLst/>
          </a:prstGeom>
          <a:solidFill>
            <a:srgbClr val="FBFCFE"/>
          </a:solidFill>
          <a:ln w="15875">
            <a:solidFill>
              <a:srgbClr val="0B7A6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0">
                <a:solidFill>
                  <a:srgbClr val="132033"/>
                </a:solidFill>
                <a:latin typeface="Arial"/>
              </a:rPr>
              <a:t>아니오: 차선 유지 + 최대 제동 → 정지</a:t>
            </a:r>
          </a:p>
        </p:txBody>
      </p:sp>
      <p:sp>
        <p:nvSpPr>
          <p:cNvPr id="51" name="TextBox 50"/>
          <p:cNvSpPr txBox="1"/>
          <p:nvPr/>
        </p:nvSpPr>
        <p:spPr>
          <a:xfrm>
            <a:off x="813816" y="6245352"/>
            <a:ext cx="9052560" cy="237744"/>
          </a:xfrm>
          <a:prstGeom prst="rect">
            <a:avLst/>
          </a:prstGeom>
          <a:noFill/>
        </p:spPr>
        <p:txBody>
          <a:bodyPr wrap="square" lIns="0" rIns="0" tIns="0" bIns="0" anchor="t">
            <a:spAutoFit/>
          </a:bodyPr>
          <a:lstStyle/>
          <a:p>
            <a:pPr algn="l"/>
            <a:r>
              <a:rPr sz="1200" b="0">
                <a:solidFill>
                  <a:srgbClr val="5F6D7E"/>
                </a:solidFill>
                <a:latin typeface="Arial"/>
              </a:rPr>
              <a:t>d = v² / (2 × 1.0 m/s²) + 4 m — 빙판 감속 1.0 m/s² 가정, 앞차 간격과 비교해 제어 모드를 고른다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보드 위에 AI를 올리기까지</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D1373A"/>
                </a:solidFill>
                <a:latin typeface="Arial"/>
              </a:rPr>
              <a:t>4. 개발 중 발생한 장애요인과 해결방안 (1/2)</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14 / 20</a:t>
            </a:r>
          </a:p>
        </p:txBody>
      </p:sp>
      <p:pic>
        <p:nvPicPr>
          <p:cNvPr id="5" name="Picture 4" descr="obs1.png"/>
          <p:cNvPicPr>
            <a:picLocks noChangeAspect="1"/>
          </p:cNvPicPr>
          <p:nvPr/>
        </p:nvPicPr>
        <p:blipFill>
          <a:blip r:embed="rId2"/>
          <a:stretch>
            <a:fillRect/>
          </a:stretch>
        </p:blipFill>
        <p:spPr>
          <a:xfrm>
            <a:off x="813816" y="1874519"/>
            <a:ext cx="10561320" cy="4270248"/>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판정의 약점을 측정으로 바로잡았다</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D1373A"/>
                </a:solidFill>
                <a:latin typeface="Arial"/>
              </a:rPr>
              <a:t>4. 개발 중 발생한 장애요인과 해결방안 (2/2)</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15 / 20</a:t>
            </a:r>
          </a:p>
        </p:txBody>
      </p:sp>
      <p:pic>
        <p:nvPicPr>
          <p:cNvPr id="5" name="Picture 4" descr="obs2.png"/>
          <p:cNvPicPr>
            <a:picLocks noChangeAspect="1"/>
          </p:cNvPicPr>
          <p:nvPr/>
        </p:nvPicPr>
        <p:blipFill>
          <a:blip r:embed="rId2"/>
          <a:stretch>
            <a:fillRect/>
          </a:stretch>
        </p:blipFill>
        <p:spPr>
          <a:xfrm>
            <a:off x="813816" y="1874519"/>
            <a:ext cx="10561320" cy="427024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카메라만도, IMU만도 아닌 이중 안전망</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0B7A6B"/>
                </a:solidFill>
                <a:latin typeface="Arial"/>
              </a:rPr>
              <a:t>5. 개발 결과물의 차별성</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16 / 20</a:t>
            </a:r>
          </a:p>
        </p:txBody>
      </p:sp>
      <p:pic>
        <p:nvPicPr>
          <p:cNvPr id="5" name="Picture 4" descr="diff.png"/>
          <p:cNvPicPr>
            <a:picLocks noChangeAspect="1"/>
          </p:cNvPicPr>
          <p:nvPr/>
        </p:nvPicPr>
        <p:blipFill>
          <a:blip r:embed="rId2"/>
          <a:stretch>
            <a:fillRect/>
          </a:stretch>
        </p:blipFill>
        <p:spPr>
          <a:xfrm>
            <a:off x="813816" y="1874519"/>
            <a:ext cx="10561320" cy="427024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기존 차량 신호로, 운전자가 체감하는 결빙 안전</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1E5BD7"/>
                </a:solidFill>
                <a:latin typeface="Arial"/>
              </a:rPr>
              <a:t>6. 개발 결과물의 파급력 및 기대효과</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18 / 20</a:t>
            </a:r>
          </a:p>
        </p:txBody>
      </p:sp>
      <p:pic>
        <p:nvPicPr>
          <p:cNvPr id="5" name="Picture 4" descr="effect.png"/>
          <p:cNvPicPr>
            <a:picLocks noChangeAspect="1"/>
          </p:cNvPicPr>
          <p:nvPr/>
        </p:nvPicPr>
        <p:blipFill>
          <a:blip r:embed="rId2"/>
          <a:stretch>
            <a:fillRect/>
          </a:stretch>
        </p:blipFill>
        <p:spPr>
          <a:xfrm>
            <a:off x="813816" y="1874519"/>
            <a:ext cx="10561320" cy="427024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개발 일정</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132033"/>
                </a:solidFill>
                <a:latin typeface="Arial"/>
              </a:rPr>
              <a:t>7. 개발 일정 및 업무 분장 (1/2)</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19 / 20</a:t>
            </a:r>
          </a:p>
        </p:txBody>
      </p:sp>
      <p:sp>
        <p:nvSpPr>
          <p:cNvPr id="5" name="Rectangle 4"/>
          <p:cNvSpPr/>
          <p:nvPr/>
        </p:nvSpPr>
        <p:spPr>
          <a:xfrm>
            <a:off x="813816" y="1874519"/>
            <a:ext cx="10561319" cy="310896"/>
          </a:xfrm>
          <a:prstGeom prst="rect">
            <a:avLst/>
          </a:prstGeom>
          <a:solidFill>
            <a:srgbClr val="13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1920239"/>
            <a:ext cx="2926080" cy="228600"/>
          </a:xfrm>
          <a:prstGeom prst="rect">
            <a:avLst/>
          </a:prstGeom>
          <a:noFill/>
        </p:spPr>
        <p:txBody>
          <a:bodyPr wrap="square" lIns="0" rIns="0" tIns="0" bIns="0" anchor="t">
            <a:spAutoFit/>
          </a:bodyPr>
          <a:lstStyle/>
          <a:p>
            <a:pPr algn="l"/>
            <a:r>
              <a:rPr sz="1200" b="1">
                <a:solidFill>
                  <a:srgbClr val="FFFFFF"/>
                </a:solidFill>
                <a:latin typeface="Arial"/>
              </a:rPr>
              <a:t>내용</a:t>
            </a:r>
          </a:p>
        </p:txBody>
      </p:sp>
      <p:sp>
        <p:nvSpPr>
          <p:cNvPr id="7" name="TextBox 6"/>
          <p:cNvSpPr txBox="1"/>
          <p:nvPr/>
        </p:nvSpPr>
        <p:spPr>
          <a:xfrm>
            <a:off x="3977639" y="1920239"/>
            <a:ext cx="1056785" cy="228600"/>
          </a:xfrm>
          <a:prstGeom prst="rect">
            <a:avLst/>
          </a:prstGeom>
          <a:noFill/>
        </p:spPr>
        <p:txBody>
          <a:bodyPr wrap="square" lIns="0" rIns="0" tIns="0" bIns="0" anchor="t">
            <a:spAutoFit/>
          </a:bodyPr>
          <a:lstStyle/>
          <a:p>
            <a:pPr algn="ctr"/>
            <a:r>
              <a:rPr sz="1200" b="1">
                <a:solidFill>
                  <a:srgbClr val="FFFFFF"/>
                </a:solidFill>
                <a:latin typeface="Arial"/>
              </a:rPr>
              <a:t>5월</a:t>
            </a:r>
          </a:p>
        </p:txBody>
      </p:sp>
      <p:sp>
        <p:nvSpPr>
          <p:cNvPr id="8" name="TextBox 7"/>
          <p:cNvSpPr txBox="1"/>
          <p:nvPr/>
        </p:nvSpPr>
        <p:spPr>
          <a:xfrm>
            <a:off x="5034425" y="1920239"/>
            <a:ext cx="1056785" cy="228600"/>
          </a:xfrm>
          <a:prstGeom prst="rect">
            <a:avLst/>
          </a:prstGeom>
          <a:noFill/>
        </p:spPr>
        <p:txBody>
          <a:bodyPr wrap="square" lIns="0" rIns="0" tIns="0" bIns="0" anchor="t">
            <a:spAutoFit/>
          </a:bodyPr>
          <a:lstStyle/>
          <a:p>
            <a:pPr algn="ctr"/>
            <a:r>
              <a:rPr sz="1200" b="1">
                <a:solidFill>
                  <a:srgbClr val="FFFFFF"/>
                </a:solidFill>
                <a:latin typeface="Arial"/>
              </a:rPr>
              <a:t>6월</a:t>
            </a:r>
          </a:p>
        </p:txBody>
      </p:sp>
      <p:sp>
        <p:nvSpPr>
          <p:cNvPr id="9" name="TextBox 8"/>
          <p:cNvSpPr txBox="1"/>
          <p:nvPr/>
        </p:nvSpPr>
        <p:spPr>
          <a:xfrm>
            <a:off x="6091210" y="1920239"/>
            <a:ext cx="1056785" cy="228600"/>
          </a:xfrm>
          <a:prstGeom prst="rect">
            <a:avLst/>
          </a:prstGeom>
          <a:noFill/>
        </p:spPr>
        <p:txBody>
          <a:bodyPr wrap="square" lIns="0" rIns="0" tIns="0" bIns="0" anchor="t">
            <a:spAutoFit/>
          </a:bodyPr>
          <a:lstStyle/>
          <a:p>
            <a:pPr algn="ctr"/>
            <a:r>
              <a:rPr sz="1200" b="1">
                <a:solidFill>
                  <a:srgbClr val="FFFFFF"/>
                </a:solidFill>
                <a:latin typeface="Arial"/>
              </a:rPr>
              <a:t>7월</a:t>
            </a:r>
          </a:p>
        </p:txBody>
      </p:sp>
      <p:sp>
        <p:nvSpPr>
          <p:cNvPr id="10" name="TextBox 9"/>
          <p:cNvSpPr txBox="1"/>
          <p:nvPr/>
        </p:nvSpPr>
        <p:spPr>
          <a:xfrm>
            <a:off x="7147995" y="1920239"/>
            <a:ext cx="1056785" cy="228600"/>
          </a:xfrm>
          <a:prstGeom prst="rect">
            <a:avLst/>
          </a:prstGeom>
          <a:noFill/>
        </p:spPr>
        <p:txBody>
          <a:bodyPr wrap="square" lIns="0" rIns="0" tIns="0" bIns="0" anchor="t">
            <a:spAutoFit/>
          </a:bodyPr>
          <a:lstStyle/>
          <a:p>
            <a:pPr algn="ctr"/>
            <a:r>
              <a:rPr sz="1200" b="1">
                <a:solidFill>
                  <a:srgbClr val="FFFFFF"/>
                </a:solidFill>
                <a:latin typeface="Arial"/>
              </a:rPr>
              <a:t>8월</a:t>
            </a:r>
          </a:p>
        </p:txBody>
      </p:sp>
      <p:sp>
        <p:nvSpPr>
          <p:cNvPr id="11" name="TextBox 10"/>
          <p:cNvSpPr txBox="1"/>
          <p:nvPr/>
        </p:nvSpPr>
        <p:spPr>
          <a:xfrm>
            <a:off x="8204780" y="1920239"/>
            <a:ext cx="1056785" cy="228600"/>
          </a:xfrm>
          <a:prstGeom prst="rect">
            <a:avLst/>
          </a:prstGeom>
          <a:noFill/>
        </p:spPr>
        <p:txBody>
          <a:bodyPr wrap="square" lIns="0" rIns="0" tIns="0" bIns="0" anchor="t">
            <a:spAutoFit/>
          </a:bodyPr>
          <a:lstStyle/>
          <a:p>
            <a:pPr algn="ctr"/>
            <a:r>
              <a:rPr sz="1200" b="1">
                <a:solidFill>
                  <a:srgbClr val="FFFFFF"/>
                </a:solidFill>
                <a:latin typeface="Arial"/>
              </a:rPr>
              <a:t>9월</a:t>
            </a:r>
          </a:p>
        </p:txBody>
      </p:sp>
      <p:sp>
        <p:nvSpPr>
          <p:cNvPr id="12" name="TextBox 11"/>
          <p:cNvSpPr txBox="1"/>
          <p:nvPr/>
        </p:nvSpPr>
        <p:spPr>
          <a:xfrm>
            <a:off x="9261565" y="1920239"/>
            <a:ext cx="1056785" cy="228600"/>
          </a:xfrm>
          <a:prstGeom prst="rect">
            <a:avLst/>
          </a:prstGeom>
          <a:noFill/>
        </p:spPr>
        <p:txBody>
          <a:bodyPr wrap="square" lIns="0" rIns="0" tIns="0" bIns="0" anchor="t">
            <a:spAutoFit/>
          </a:bodyPr>
          <a:lstStyle/>
          <a:p>
            <a:pPr algn="ctr"/>
            <a:r>
              <a:rPr sz="1200" b="1">
                <a:solidFill>
                  <a:srgbClr val="FFFFFF"/>
                </a:solidFill>
                <a:latin typeface="Arial"/>
              </a:rPr>
              <a:t>10월</a:t>
            </a:r>
          </a:p>
        </p:txBody>
      </p:sp>
      <p:sp>
        <p:nvSpPr>
          <p:cNvPr id="13" name="TextBox 12"/>
          <p:cNvSpPr txBox="1"/>
          <p:nvPr/>
        </p:nvSpPr>
        <p:spPr>
          <a:xfrm>
            <a:off x="10318350" y="1920239"/>
            <a:ext cx="1056785" cy="228600"/>
          </a:xfrm>
          <a:prstGeom prst="rect">
            <a:avLst/>
          </a:prstGeom>
          <a:noFill/>
        </p:spPr>
        <p:txBody>
          <a:bodyPr wrap="square" lIns="0" rIns="0" tIns="0" bIns="0" anchor="t">
            <a:spAutoFit/>
          </a:bodyPr>
          <a:lstStyle/>
          <a:p>
            <a:pPr algn="ctr"/>
            <a:r>
              <a:rPr sz="1200" b="1">
                <a:solidFill>
                  <a:srgbClr val="FFFFFF"/>
                </a:solidFill>
                <a:latin typeface="Arial"/>
              </a:rPr>
              <a:t>11월</a:t>
            </a:r>
          </a:p>
        </p:txBody>
      </p:sp>
      <p:sp>
        <p:nvSpPr>
          <p:cNvPr id="14" name="Rectangle 13"/>
          <p:cNvSpPr/>
          <p:nvPr/>
        </p:nvSpPr>
        <p:spPr>
          <a:xfrm>
            <a:off x="813816" y="2185415"/>
            <a:ext cx="10561319" cy="301752"/>
          </a:xfrm>
          <a:prstGeom prst="rect">
            <a:avLst/>
          </a:prstGeom>
          <a:solidFill>
            <a:srgbClr val="F7F9FC"/>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2249423"/>
            <a:ext cx="3017520" cy="219456"/>
          </a:xfrm>
          <a:prstGeom prst="rect">
            <a:avLst/>
          </a:prstGeom>
          <a:noFill/>
        </p:spPr>
        <p:txBody>
          <a:bodyPr wrap="square" lIns="0" rIns="0" tIns="0" bIns="0" anchor="t">
            <a:spAutoFit/>
          </a:bodyPr>
          <a:lstStyle/>
          <a:p>
            <a:pPr algn="l"/>
            <a:r>
              <a:rPr sz="1100" b="0">
                <a:solidFill>
                  <a:srgbClr val="132033"/>
                </a:solidFill>
                <a:latin typeface="Arial"/>
              </a:rPr>
              <a:t>개발계획서 작성 · 제출</a:t>
            </a:r>
          </a:p>
        </p:txBody>
      </p:sp>
      <p:sp>
        <p:nvSpPr>
          <p:cNvPr id="16" name="Rectangle 15"/>
          <p:cNvSpPr/>
          <p:nvPr/>
        </p:nvSpPr>
        <p:spPr>
          <a:xfrm>
            <a:off x="4148089" y="2267711"/>
            <a:ext cx="1248008" cy="137160"/>
          </a:xfrm>
          <a:prstGeom prst="rect">
            <a:avLst/>
          </a:prstGeom>
          <a:solidFill>
            <a:srgbClr val="5F6D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50961" y="2258568"/>
            <a:ext cx="1188720" cy="219456"/>
          </a:xfrm>
          <a:prstGeom prst="rect">
            <a:avLst/>
          </a:prstGeom>
          <a:noFill/>
        </p:spPr>
        <p:txBody>
          <a:bodyPr wrap="square" lIns="0" rIns="0" tIns="0" bIns="0" anchor="t">
            <a:spAutoFit/>
          </a:bodyPr>
          <a:lstStyle/>
          <a:p>
            <a:pPr algn="l"/>
            <a:r>
              <a:rPr sz="950" b="0">
                <a:solidFill>
                  <a:srgbClr val="5F6D7E"/>
                </a:solidFill>
                <a:latin typeface="Arial"/>
              </a:rPr>
              <a:t>05.06~06.10</a:t>
            </a:r>
          </a:p>
        </p:txBody>
      </p:sp>
      <p:sp>
        <p:nvSpPr>
          <p:cNvPr id="18" name="Rectangle 17"/>
          <p:cNvSpPr/>
          <p:nvPr/>
        </p:nvSpPr>
        <p:spPr>
          <a:xfrm>
            <a:off x="813816" y="2487168"/>
            <a:ext cx="10561319" cy="301752"/>
          </a:xfrm>
          <a:prstGeom prst="rect">
            <a:avLst/>
          </a:prstGeom>
          <a:solidFill>
            <a:srgbClr val="FFFFFF"/>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4400" y="2551175"/>
            <a:ext cx="3017520" cy="219456"/>
          </a:xfrm>
          <a:prstGeom prst="rect">
            <a:avLst/>
          </a:prstGeom>
          <a:noFill/>
        </p:spPr>
        <p:txBody>
          <a:bodyPr wrap="square" lIns="0" rIns="0" tIns="0" bIns="0" anchor="t">
            <a:spAutoFit/>
          </a:bodyPr>
          <a:lstStyle/>
          <a:p>
            <a:pPr algn="l"/>
            <a:r>
              <a:rPr sz="1100" b="0">
                <a:solidFill>
                  <a:srgbClr val="132033"/>
                </a:solidFill>
                <a:latin typeface="Arial"/>
              </a:rPr>
              <a:t>예선 심사 · 결과 발표</a:t>
            </a:r>
          </a:p>
        </p:txBody>
      </p:sp>
      <p:sp>
        <p:nvSpPr>
          <p:cNvPr id="20" name="Rectangle 19"/>
          <p:cNvSpPr/>
          <p:nvPr/>
        </p:nvSpPr>
        <p:spPr>
          <a:xfrm>
            <a:off x="5613952" y="2569463"/>
            <a:ext cx="1179828" cy="137160"/>
          </a:xfrm>
          <a:prstGeom prst="rect">
            <a:avLst/>
          </a:prstGeom>
          <a:solidFill>
            <a:srgbClr val="B8C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48645" y="2560320"/>
            <a:ext cx="1188720" cy="219456"/>
          </a:xfrm>
          <a:prstGeom prst="rect">
            <a:avLst/>
          </a:prstGeom>
          <a:noFill/>
        </p:spPr>
        <p:txBody>
          <a:bodyPr wrap="square" lIns="0" rIns="0" tIns="0" bIns="0" anchor="t">
            <a:spAutoFit/>
          </a:bodyPr>
          <a:lstStyle/>
          <a:p>
            <a:pPr algn="l"/>
            <a:r>
              <a:rPr sz="950" b="0">
                <a:solidFill>
                  <a:srgbClr val="5F6D7E"/>
                </a:solidFill>
                <a:latin typeface="Arial"/>
              </a:rPr>
              <a:t>06.18~07.20</a:t>
            </a:r>
          </a:p>
        </p:txBody>
      </p:sp>
      <p:sp>
        <p:nvSpPr>
          <p:cNvPr id="22" name="Rectangle 21"/>
          <p:cNvSpPr/>
          <p:nvPr/>
        </p:nvSpPr>
        <p:spPr>
          <a:xfrm>
            <a:off x="813816" y="2788920"/>
            <a:ext cx="10561319" cy="301752"/>
          </a:xfrm>
          <a:prstGeom prst="rect">
            <a:avLst/>
          </a:prstGeom>
          <a:solidFill>
            <a:srgbClr val="F7F9FC"/>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2852927"/>
            <a:ext cx="3017520" cy="219456"/>
          </a:xfrm>
          <a:prstGeom prst="rect">
            <a:avLst/>
          </a:prstGeom>
          <a:noFill/>
        </p:spPr>
        <p:txBody>
          <a:bodyPr wrap="square" lIns="0" rIns="0" tIns="0" bIns="0" anchor="t">
            <a:spAutoFit/>
          </a:bodyPr>
          <a:lstStyle/>
          <a:p>
            <a:pPr algn="l"/>
            <a:r>
              <a:rPr sz="1100" b="0">
                <a:solidFill>
                  <a:srgbClr val="132033"/>
                </a:solidFill>
                <a:latin typeface="Arial"/>
              </a:rPr>
              <a:t>장비 지급 · 기술지원 교육</a:t>
            </a:r>
          </a:p>
        </p:txBody>
      </p:sp>
      <p:sp>
        <p:nvSpPr>
          <p:cNvPr id="24" name="Rectangle 23"/>
          <p:cNvSpPr/>
          <p:nvPr/>
        </p:nvSpPr>
        <p:spPr>
          <a:xfrm>
            <a:off x="6977546" y="2871215"/>
            <a:ext cx="2270703" cy="137160"/>
          </a:xfrm>
          <a:prstGeom prst="rect">
            <a:avLst/>
          </a:prstGeom>
          <a:solidFill>
            <a:srgbClr val="B8C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03114" y="2862072"/>
            <a:ext cx="1188720" cy="219456"/>
          </a:xfrm>
          <a:prstGeom prst="rect">
            <a:avLst/>
          </a:prstGeom>
          <a:noFill/>
        </p:spPr>
        <p:txBody>
          <a:bodyPr wrap="square" lIns="0" rIns="0" tIns="0" bIns="0" anchor="t">
            <a:spAutoFit/>
          </a:bodyPr>
          <a:lstStyle/>
          <a:p>
            <a:pPr algn="l"/>
            <a:r>
              <a:rPr sz="950" b="0">
                <a:solidFill>
                  <a:srgbClr val="5F6D7E"/>
                </a:solidFill>
                <a:latin typeface="Arial"/>
              </a:rPr>
              <a:t>07.27~09.30</a:t>
            </a:r>
          </a:p>
        </p:txBody>
      </p:sp>
      <p:sp>
        <p:nvSpPr>
          <p:cNvPr id="26" name="Rectangle 25"/>
          <p:cNvSpPr/>
          <p:nvPr/>
        </p:nvSpPr>
        <p:spPr>
          <a:xfrm>
            <a:off x="813816" y="3090672"/>
            <a:ext cx="10561319" cy="301752"/>
          </a:xfrm>
          <a:prstGeom prst="rect">
            <a:avLst/>
          </a:prstGeom>
          <a:solidFill>
            <a:srgbClr val="FFFFFF"/>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4400" y="3154679"/>
            <a:ext cx="3017520" cy="219456"/>
          </a:xfrm>
          <a:prstGeom prst="rect">
            <a:avLst/>
          </a:prstGeom>
          <a:noFill/>
        </p:spPr>
        <p:txBody>
          <a:bodyPr wrap="square" lIns="0" rIns="0" tIns="0" bIns="0" anchor="t">
            <a:spAutoFit/>
          </a:bodyPr>
          <a:lstStyle/>
          <a:p>
            <a:pPr algn="l"/>
            <a:r>
              <a:rPr sz="1100" b="0">
                <a:solidFill>
                  <a:srgbClr val="132033"/>
                </a:solidFill>
                <a:latin typeface="Arial"/>
              </a:rPr>
              <a:t>자료조사 · 데이터셋 · RoadNet 학습</a:t>
            </a:r>
          </a:p>
        </p:txBody>
      </p:sp>
      <p:sp>
        <p:nvSpPr>
          <p:cNvPr id="28" name="Rectangle 27"/>
          <p:cNvSpPr/>
          <p:nvPr/>
        </p:nvSpPr>
        <p:spPr>
          <a:xfrm>
            <a:off x="7147995" y="3172968"/>
            <a:ext cx="1622996" cy="137160"/>
          </a:xfrm>
          <a:prstGeom prst="rect">
            <a:avLst/>
          </a:prstGeom>
          <a:solidFill>
            <a:srgbClr val="1E5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825856" y="3163824"/>
            <a:ext cx="1188720" cy="219456"/>
          </a:xfrm>
          <a:prstGeom prst="rect">
            <a:avLst/>
          </a:prstGeom>
          <a:noFill/>
        </p:spPr>
        <p:txBody>
          <a:bodyPr wrap="square" lIns="0" rIns="0" tIns="0" bIns="0" anchor="t">
            <a:spAutoFit/>
          </a:bodyPr>
          <a:lstStyle/>
          <a:p>
            <a:pPr algn="l"/>
            <a:r>
              <a:rPr sz="950" b="0">
                <a:solidFill>
                  <a:srgbClr val="5F6D7E"/>
                </a:solidFill>
                <a:latin typeface="Arial"/>
              </a:rPr>
              <a:t>8월 초~09.16</a:t>
            </a:r>
          </a:p>
        </p:txBody>
      </p:sp>
      <p:sp>
        <p:nvSpPr>
          <p:cNvPr id="30" name="Rectangle 29"/>
          <p:cNvSpPr/>
          <p:nvPr/>
        </p:nvSpPr>
        <p:spPr>
          <a:xfrm>
            <a:off x="813816" y="3392424"/>
            <a:ext cx="10561319" cy="301752"/>
          </a:xfrm>
          <a:prstGeom prst="rect">
            <a:avLst/>
          </a:prstGeom>
          <a:solidFill>
            <a:srgbClr val="F7F9FC"/>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4400" y="3456432"/>
            <a:ext cx="3017520" cy="219456"/>
          </a:xfrm>
          <a:prstGeom prst="rect">
            <a:avLst/>
          </a:prstGeom>
          <a:noFill/>
        </p:spPr>
        <p:txBody>
          <a:bodyPr wrap="square" lIns="0" rIns="0" tIns="0" bIns="0" anchor="t">
            <a:spAutoFit/>
          </a:bodyPr>
          <a:lstStyle/>
          <a:p>
            <a:pPr algn="l"/>
            <a:r>
              <a:rPr sz="1100" b="0">
                <a:solidFill>
                  <a:srgbClr val="132033"/>
                </a:solidFill>
                <a:latin typeface="Arial"/>
              </a:rPr>
              <a:t>하드웨어 구축 (Pi 5 · STM32N6 · D435i)</a:t>
            </a:r>
          </a:p>
        </p:txBody>
      </p:sp>
      <p:sp>
        <p:nvSpPr>
          <p:cNvPr id="32" name="Rectangle 31"/>
          <p:cNvSpPr/>
          <p:nvPr/>
        </p:nvSpPr>
        <p:spPr>
          <a:xfrm>
            <a:off x="7216175" y="3474720"/>
            <a:ext cx="1622996" cy="137160"/>
          </a:xfrm>
          <a:prstGeom prst="rect">
            <a:avLst/>
          </a:prstGeom>
          <a:solidFill>
            <a:srgbClr val="1E5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894035" y="3465576"/>
            <a:ext cx="1188720" cy="219456"/>
          </a:xfrm>
          <a:prstGeom prst="rect">
            <a:avLst/>
          </a:prstGeom>
          <a:noFill/>
        </p:spPr>
        <p:txBody>
          <a:bodyPr wrap="square" lIns="0" rIns="0" tIns="0" bIns="0" anchor="t">
            <a:spAutoFit/>
          </a:bodyPr>
          <a:lstStyle/>
          <a:p>
            <a:pPr algn="l"/>
            <a:r>
              <a:rPr sz="950" b="0">
                <a:solidFill>
                  <a:srgbClr val="5F6D7E"/>
                </a:solidFill>
                <a:latin typeface="Arial"/>
              </a:rPr>
              <a:t>8월 초~09.18</a:t>
            </a:r>
          </a:p>
        </p:txBody>
      </p:sp>
      <p:sp>
        <p:nvSpPr>
          <p:cNvPr id="34" name="Rectangle 33"/>
          <p:cNvSpPr/>
          <p:nvPr/>
        </p:nvSpPr>
        <p:spPr>
          <a:xfrm>
            <a:off x="813816" y="3694176"/>
            <a:ext cx="10561319" cy="301752"/>
          </a:xfrm>
          <a:prstGeom prst="rect">
            <a:avLst/>
          </a:prstGeom>
          <a:solidFill>
            <a:srgbClr val="FFFFFF"/>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14400" y="3758184"/>
            <a:ext cx="3017520" cy="219456"/>
          </a:xfrm>
          <a:prstGeom prst="rect">
            <a:avLst/>
          </a:prstGeom>
          <a:noFill/>
        </p:spPr>
        <p:txBody>
          <a:bodyPr wrap="square" lIns="0" rIns="0" tIns="0" bIns="0" anchor="t">
            <a:spAutoFit/>
          </a:bodyPr>
          <a:lstStyle/>
          <a:p>
            <a:pPr algn="l"/>
            <a:r>
              <a:rPr sz="1100" b="0">
                <a:solidFill>
                  <a:srgbClr val="132033"/>
                </a:solidFill>
                <a:latin typeface="Arial"/>
              </a:rPr>
              <a:t>CARLA HIL · 빙판 합성 · 자동 라벨</a:t>
            </a:r>
          </a:p>
        </p:txBody>
      </p:sp>
      <p:sp>
        <p:nvSpPr>
          <p:cNvPr id="36" name="Rectangle 35"/>
          <p:cNvSpPr/>
          <p:nvPr/>
        </p:nvSpPr>
        <p:spPr>
          <a:xfrm>
            <a:off x="7147995" y="3776472"/>
            <a:ext cx="1691176" cy="137160"/>
          </a:xfrm>
          <a:prstGeom prst="rect">
            <a:avLst/>
          </a:prstGeom>
          <a:solidFill>
            <a:srgbClr val="1E5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894035" y="3767328"/>
            <a:ext cx="1188720" cy="219456"/>
          </a:xfrm>
          <a:prstGeom prst="rect">
            <a:avLst/>
          </a:prstGeom>
          <a:noFill/>
        </p:spPr>
        <p:txBody>
          <a:bodyPr wrap="square" lIns="0" rIns="0" tIns="0" bIns="0" anchor="t">
            <a:spAutoFit/>
          </a:bodyPr>
          <a:lstStyle/>
          <a:p>
            <a:pPr algn="l"/>
            <a:r>
              <a:rPr sz="950" b="0">
                <a:solidFill>
                  <a:srgbClr val="5F6D7E"/>
                </a:solidFill>
                <a:latin typeface="Arial"/>
              </a:rPr>
              <a:t>8월 초~09.18</a:t>
            </a:r>
          </a:p>
        </p:txBody>
      </p:sp>
      <p:sp>
        <p:nvSpPr>
          <p:cNvPr id="38" name="Rectangle 37"/>
          <p:cNvSpPr/>
          <p:nvPr/>
        </p:nvSpPr>
        <p:spPr>
          <a:xfrm>
            <a:off x="813816" y="3995927"/>
            <a:ext cx="10561319" cy="301752"/>
          </a:xfrm>
          <a:prstGeom prst="rect">
            <a:avLst/>
          </a:prstGeom>
          <a:solidFill>
            <a:srgbClr val="F7F9FC"/>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4400" y="4059935"/>
            <a:ext cx="3017520" cy="219456"/>
          </a:xfrm>
          <a:prstGeom prst="rect">
            <a:avLst/>
          </a:prstGeom>
          <a:noFill/>
        </p:spPr>
        <p:txBody>
          <a:bodyPr wrap="square" lIns="0" rIns="0" tIns="0" bIns="0" anchor="t">
            <a:spAutoFit/>
          </a:bodyPr>
          <a:lstStyle/>
          <a:p>
            <a:pPr algn="l"/>
            <a:r>
              <a:rPr sz="1100" b="0">
                <a:solidFill>
                  <a:srgbClr val="132033"/>
                </a:solidFill>
                <a:latin typeface="Arial"/>
              </a:rPr>
              <a:t>NPU int8 배포 · 펌웨어 통합</a:t>
            </a:r>
          </a:p>
        </p:txBody>
      </p:sp>
      <p:sp>
        <p:nvSpPr>
          <p:cNvPr id="40" name="Rectangle 39"/>
          <p:cNvSpPr/>
          <p:nvPr/>
        </p:nvSpPr>
        <p:spPr>
          <a:xfrm>
            <a:off x="7216175" y="4078223"/>
            <a:ext cx="1657086" cy="137160"/>
          </a:xfrm>
          <a:prstGeom prst="rect">
            <a:avLst/>
          </a:prstGeom>
          <a:solidFill>
            <a:srgbClr val="1E5B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928125" y="4069079"/>
            <a:ext cx="1188720" cy="219456"/>
          </a:xfrm>
          <a:prstGeom prst="rect">
            <a:avLst/>
          </a:prstGeom>
          <a:noFill/>
        </p:spPr>
        <p:txBody>
          <a:bodyPr wrap="square" lIns="0" rIns="0" tIns="0" bIns="0" anchor="t">
            <a:spAutoFit/>
          </a:bodyPr>
          <a:lstStyle/>
          <a:p>
            <a:pPr algn="l"/>
            <a:r>
              <a:rPr sz="950" b="0">
                <a:solidFill>
                  <a:srgbClr val="5F6D7E"/>
                </a:solidFill>
                <a:latin typeface="Arial"/>
              </a:rPr>
              <a:t>8월 초~09.19</a:t>
            </a:r>
          </a:p>
        </p:txBody>
      </p:sp>
      <p:sp>
        <p:nvSpPr>
          <p:cNvPr id="42" name="Rectangle 41"/>
          <p:cNvSpPr/>
          <p:nvPr/>
        </p:nvSpPr>
        <p:spPr>
          <a:xfrm>
            <a:off x="813816" y="4297679"/>
            <a:ext cx="10561319" cy="301752"/>
          </a:xfrm>
          <a:prstGeom prst="rect">
            <a:avLst/>
          </a:prstGeom>
          <a:solidFill>
            <a:srgbClr val="FFFFFF"/>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4400" y="4361688"/>
            <a:ext cx="3017520" cy="219456"/>
          </a:xfrm>
          <a:prstGeom prst="rect">
            <a:avLst/>
          </a:prstGeom>
          <a:noFill/>
        </p:spPr>
        <p:txBody>
          <a:bodyPr wrap="square" lIns="0" rIns="0" tIns="0" bIns="0" anchor="t">
            <a:spAutoFit/>
          </a:bodyPr>
          <a:lstStyle/>
          <a:p>
            <a:pPr algn="l"/>
            <a:r>
              <a:rPr sz="1100" b="0">
                <a:solidFill>
                  <a:srgbClr val="132033"/>
                </a:solidFill>
                <a:latin typeface="Arial"/>
              </a:rPr>
              <a:t>2차 방어 개선 · 검증 주행</a:t>
            </a:r>
          </a:p>
        </p:txBody>
      </p:sp>
      <p:sp>
        <p:nvSpPr>
          <p:cNvPr id="44" name="Rectangle 43"/>
          <p:cNvSpPr/>
          <p:nvPr/>
        </p:nvSpPr>
        <p:spPr>
          <a:xfrm>
            <a:off x="7147995" y="4379975"/>
            <a:ext cx="1793446" cy="137160"/>
          </a:xfrm>
          <a:prstGeom prst="rect">
            <a:avLst/>
          </a:prstGeom>
          <a:solidFill>
            <a:srgbClr val="0B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996305" y="4370831"/>
            <a:ext cx="1188720" cy="219456"/>
          </a:xfrm>
          <a:prstGeom prst="rect">
            <a:avLst/>
          </a:prstGeom>
          <a:noFill/>
        </p:spPr>
        <p:txBody>
          <a:bodyPr wrap="square" lIns="0" rIns="0" tIns="0" bIns="0" anchor="t">
            <a:spAutoFit/>
          </a:bodyPr>
          <a:lstStyle/>
          <a:p>
            <a:pPr algn="l"/>
            <a:r>
              <a:rPr sz="950" b="0">
                <a:solidFill>
                  <a:srgbClr val="5F6D7E"/>
                </a:solidFill>
                <a:latin typeface="Arial"/>
              </a:rPr>
              <a:t>8월 초~09.21</a:t>
            </a:r>
          </a:p>
        </p:txBody>
      </p:sp>
      <p:sp>
        <p:nvSpPr>
          <p:cNvPr id="46" name="Rectangle 45"/>
          <p:cNvSpPr/>
          <p:nvPr/>
        </p:nvSpPr>
        <p:spPr>
          <a:xfrm>
            <a:off x="813816" y="4599431"/>
            <a:ext cx="10561319" cy="301752"/>
          </a:xfrm>
          <a:prstGeom prst="rect">
            <a:avLst/>
          </a:prstGeom>
          <a:solidFill>
            <a:srgbClr val="F7F9FC"/>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14400" y="4663440"/>
            <a:ext cx="3017520" cy="219456"/>
          </a:xfrm>
          <a:prstGeom prst="rect">
            <a:avLst/>
          </a:prstGeom>
          <a:noFill/>
        </p:spPr>
        <p:txBody>
          <a:bodyPr wrap="square" lIns="0" rIns="0" tIns="0" bIns="0" anchor="t">
            <a:spAutoFit/>
          </a:bodyPr>
          <a:lstStyle/>
          <a:p>
            <a:pPr algn="l"/>
            <a:r>
              <a:rPr sz="1100" b="0">
                <a:solidFill>
                  <a:srgbClr val="132033"/>
                </a:solidFill>
                <a:latin typeface="Arial"/>
              </a:rPr>
              <a:t>실사진 보드 평가 · 근거 문서</a:t>
            </a:r>
          </a:p>
        </p:txBody>
      </p:sp>
      <p:sp>
        <p:nvSpPr>
          <p:cNvPr id="48" name="Rectangle 47"/>
          <p:cNvSpPr/>
          <p:nvPr/>
        </p:nvSpPr>
        <p:spPr>
          <a:xfrm>
            <a:off x="7250264" y="4681727"/>
            <a:ext cx="1691176" cy="137160"/>
          </a:xfrm>
          <a:prstGeom prst="rect">
            <a:avLst/>
          </a:prstGeom>
          <a:solidFill>
            <a:srgbClr val="0B7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8996305" y="4672583"/>
            <a:ext cx="1188720" cy="219456"/>
          </a:xfrm>
          <a:prstGeom prst="rect">
            <a:avLst/>
          </a:prstGeom>
          <a:noFill/>
        </p:spPr>
        <p:txBody>
          <a:bodyPr wrap="square" lIns="0" rIns="0" tIns="0" bIns="0" anchor="t">
            <a:spAutoFit/>
          </a:bodyPr>
          <a:lstStyle/>
          <a:p>
            <a:pPr algn="l"/>
            <a:r>
              <a:rPr sz="950" b="0">
                <a:solidFill>
                  <a:srgbClr val="5F6D7E"/>
                </a:solidFill>
                <a:latin typeface="Arial"/>
              </a:rPr>
              <a:t>8월 초~09.21</a:t>
            </a:r>
          </a:p>
        </p:txBody>
      </p:sp>
      <p:sp>
        <p:nvSpPr>
          <p:cNvPr id="50" name="Rectangle 49"/>
          <p:cNvSpPr/>
          <p:nvPr/>
        </p:nvSpPr>
        <p:spPr>
          <a:xfrm>
            <a:off x="813816" y="4901183"/>
            <a:ext cx="10561319" cy="301752"/>
          </a:xfrm>
          <a:prstGeom prst="rect">
            <a:avLst/>
          </a:prstGeom>
          <a:solidFill>
            <a:srgbClr val="FFFFFF"/>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14400" y="4965192"/>
            <a:ext cx="3017520" cy="219456"/>
          </a:xfrm>
          <a:prstGeom prst="rect">
            <a:avLst/>
          </a:prstGeom>
          <a:noFill/>
        </p:spPr>
        <p:txBody>
          <a:bodyPr wrap="square" lIns="0" rIns="0" tIns="0" bIns="0" anchor="t">
            <a:spAutoFit/>
          </a:bodyPr>
          <a:lstStyle/>
          <a:p>
            <a:pPr algn="l"/>
            <a:r>
              <a:rPr sz="1100" b="0">
                <a:solidFill>
                  <a:srgbClr val="132033"/>
                </a:solidFill>
                <a:latin typeface="Arial"/>
              </a:rPr>
              <a:t>저장소 정리 · 보고서 초안</a:t>
            </a:r>
          </a:p>
        </p:txBody>
      </p:sp>
      <p:sp>
        <p:nvSpPr>
          <p:cNvPr id="52" name="Rectangle 51"/>
          <p:cNvSpPr/>
          <p:nvPr/>
        </p:nvSpPr>
        <p:spPr>
          <a:xfrm>
            <a:off x="9261565" y="4983479"/>
            <a:ext cx="88953" cy="137160"/>
          </a:xfrm>
          <a:prstGeom prst="rect">
            <a:avLst/>
          </a:prstGeom>
          <a:solidFill>
            <a:srgbClr val="13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9405383" y="4974336"/>
            <a:ext cx="1188720" cy="219456"/>
          </a:xfrm>
          <a:prstGeom prst="rect">
            <a:avLst/>
          </a:prstGeom>
          <a:noFill/>
        </p:spPr>
        <p:txBody>
          <a:bodyPr wrap="square" lIns="0" rIns="0" tIns="0" bIns="0" anchor="t">
            <a:spAutoFit/>
          </a:bodyPr>
          <a:lstStyle/>
          <a:p>
            <a:pPr algn="l"/>
            <a:r>
              <a:rPr sz="950" b="0">
                <a:solidFill>
                  <a:srgbClr val="5F6D7E"/>
                </a:solidFill>
                <a:latin typeface="Arial"/>
              </a:rPr>
              <a:t>10.01~10.02</a:t>
            </a:r>
          </a:p>
        </p:txBody>
      </p:sp>
      <p:sp>
        <p:nvSpPr>
          <p:cNvPr id="54" name="Rectangle 53"/>
          <p:cNvSpPr/>
          <p:nvPr/>
        </p:nvSpPr>
        <p:spPr>
          <a:xfrm>
            <a:off x="813816" y="5202936"/>
            <a:ext cx="10561319" cy="301752"/>
          </a:xfrm>
          <a:prstGeom prst="rect">
            <a:avLst/>
          </a:prstGeom>
          <a:solidFill>
            <a:srgbClr val="F7F9FC"/>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914400" y="5266944"/>
            <a:ext cx="3017520" cy="219456"/>
          </a:xfrm>
          <a:prstGeom prst="rect">
            <a:avLst/>
          </a:prstGeom>
          <a:noFill/>
        </p:spPr>
        <p:txBody>
          <a:bodyPr wrap="square" lIns="0" rIns="0" tIns="0" bIns="0" anchor="t">
            <a:spAutoFit/>
          </a:bodyPr>
          <a:lstStyle/>
          <a:p>
            <a:pPr algn="l"/>
            <a:r>
              <a:rPr sz="1100" b="0">
                <a:solidFill>
                  <a:srgbClr val="132033"/>
                </a:solidFill>
                <a:latin typeface="Arial"/>
              </a:rPr>
              <a:t>2차 방어 확장 · 노면 확인 탭</a:t>
            </a:r>
          </a:p>
        </p:txBody>
      </p:sp>
      <p:sp>
        <p:nvSpPr>
          <p:cNvPr id="56" name="Rectangle 55"/>
          <p:cNvSpPr/>
          <p:nvPr/>
        </p:nvSpPr>
        <p:spPr>
          <a:xfrm>
            <a:off x="10011542" y="5285231"/>
            <a:ext cx="157133" cy="137160"/>
          </a:xfrm>
          <a:prstGeom prst="rect">
            <a:avLst/>
          </a:prstGeom>
          <a:solidFill>
            <a:srgbClr val="D13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0223539" y="5276088"/>
            <a:ext cx="1188720" cy="219456"/>
          </a:xfrm>
          <a:prstGeom prst="rect">
            <a:avLst/>
          </a:prstGeom>
          <a:noFill/>
        </p:spPr>
        <p:txBody>
          <a:bodyPr wrap="square" lIns="0" rIns="0" tIns="0" bIns="0" anchor="t">
            <a:spAutoFit/>
          </a:bodyPr>
          <a:lstStyle/>
          <a:p>
            <a:pPr algn="l"/>
            <a:r>
              <a:rPr sz="950" b="0">
                <a:solidFill>
                  <a:srgbClr val="5F6D7E"/>
                </a:solidFill>
                <a:latin typeface="Arial"/>
              </a:rPr>
              <a:t>10.23~ 진행 중</a:t>
            </a:r>
          </a:p>
        </p:txBody>
      </p:sp>
      <p:sp>
        <p:nvSpPr>
          <p:cNvPr id="58" name="Rectangle 57"/>
          <p:cNvSpPr/>
          <p:nvPr/>
        </p:nvSpPr>
        <p:spPr>
          <a:xfrm>
            <a:off x="813816" y="5504688"/>
            <a:ext cx="10561319" cy="301752"/>
          </a:xfrm>
          <a:prstGeom prst="rect">
            <a:avLst/>
          </a:prstGeom>
          <a:solidFill>
            <a:srgbClr val="FFFFFF"/>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914400" y="5568696"/>
            <a:ext cx="3017520" cy="219456"/>
          </a:xfrm>
          <a:prstGeom prst="rect">
            <a:avLst/>
          </a:prstGeom>
          <a:noFill/>
        </p:spPr>
        <p:txBody>
          <a:bodyPr wrap="square" lIns="0" rIns="0" tIns="0" bIns="0" anchor="t">
            <a:spAutoFit/>
          </a:bodyPr>
          <a:lstStyle/>
          <a:p>
            <a:pPr algn="l"/>
            <a:r>
              <a:rPr sz="1100" b="0">
                <a:solidFill>
                  <a:srgbClr val="132033"/>
                </a:solidFill>
                <a:latin typeface="Arial"/>
              </a:rPr>
              <a:t>결선 서류 · 발표 자료</a:t>
            </a:r>
          </a:p>
        </p:txBody>
      </p:sp>
      <p:sp>
        <p:nvSpPr>
          <p:cNvPr id="60" name="Rectangle 59"/>
          <p:cNvSpPr/>
          <p:nvPr/>
        </p:nvSpPr>
        <p:spPr>
          <a:xfrm>
            <a:off x="9261565" y="5586983"/>
            <a:ext cx="1043469" cy="137160"/>
          </a:xfrm>
          <a:prstGeom prst="rect">
            <a:avLst/>
          </a:prstGeom>
          <a:solidFill>
            <a:srgbClr val="13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10359899" y="5577840"/>
            <a:ext cx="1188720" cy="219456"/>
          </a:xfrm>
          <a:prstGeom prst="rect">
            <a:avLst/>
          </a:prstGeom>
          <a:noFill/>
        </p:spPr>
        <p:txBody>
          <a:bodyPr wrap="square" lIns="0" rIns="0" tIns="0" bIns="0" anchor="t">
            <a:spAutoFit/>
          </a:bodyPr>
          <a:lstStyle/>
          <a:p>
            <a:pPr algn="l"/>
            <a:r>
              <a:rPr sz="950" b="0">
                <a:solidFill>
                  <a:srgbClr val="5F6D7E"/>
                </a:solidFill>
                <a:latin typeface="Arial"/>
              </a:rPr>
              <a:t>10.01~10.30</a:t>
            </a:r>
          </a:p>
        </p:txBody>
      </p:sp>
      <p:sp>
        <p:nvSpPr>
          <p:cNvPr id="62" name="Rectangle 61"/>
          <p:cNvSpPr/>
          <p:nvPr/>
        </p:nvSpPr>
        <p:spPr>
          <a:xfrm>
            <a:off x="813816" y="5806440"/>
            <a:ext cx="10561319" cy="301752"/>
          </a:xfrm>
          <a:prstGeom prst="rect">
            <a:avLst/>
          </a:prstGeom>
          <a:solidFill>
            <a:srgbClr val="F7F9FC"/>
          </a:solidFill>
          <a:ln w="6350">
            <a:solidFill>
              <a:srgbClr val="DCE4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914400" y="5870448"/>
            <a:ext cx="3017520" cy="219456"/>
          </a:xfrm>
          <a:prstGeom prst="rect">
            <a:avLst/>
          </a:prstGeom>
          <a:noFill/>
        </p:spPr>
        <p:txBody>
          <a:bodyPr wrap="square" lIns="0" rIns="0" tIns="0" bIns="0" anchor="t">
            <a:spAutoFit/>
          </a:bodyPr>
          <a:lstStyle/>
          <a:p>
            <a:pPr algn="l"/>
            <a:r>
              <a:rPr sz="1100" b="0">
                <a:solidFill>
                  <a:srgbClr val="132033"/>
                </a:solidFill>
                <a:latin typeface="Arial"/>
              </a:rPr>
              <a:t>오프라인 발표 심사</a:t>
            </a:r>
          </a:p>
        </p:txBody>
      </p:sp>
      <p:sp>
        <p:nvSpPr>
          <p:cNvPr id="64" name="Rectangle 63"/>
          <p:cNvSpPr/>
          <p:nvPr/>
        </p:nvSpPr>
        <p:spPr>
          <a:xfrm>
            <a:off x="10488800" y="5888736"/>
            <a:ext cx="82295" cy="137160"/>
          </a:xfrm>
          <a:prstGeom prst="rect">
            <a:avLst/>
          </a:prstGeom>
          <a:solidFill>
            <a:srgbClr val="D13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9245216" y="5879592"/>
            <a:ext cx="1188720" cy="219456"/>
          </a:xfrm>
          <a:prstGeom prst="rect">
            <a:avLst/>
          </a:prstGeom>
          <a:noFill/>
        </p:spPr>
        <p:txBody>
          <a:bodyPr wrap="square" lIns="0" rIns="0" tIns="0" bIns="0" anchor="t">
            <a:spAutoFit/>
          </a:bodyPr>
          <a:lstStyle/>
          <a:p>
            <a:pPr algn="r"/>
            <a:r>
              <a:rPr sz="950" b="0">
                <a:solidFill>
                  <a:srgbClr val="5F6D7E"/>
                </a:solidFill>
                <a:latin typeface="Arial"/>
              </a:rPr>
              <a:t>11.06</a:t>
            </a:r>
          </a:p>
        </p:txBody>
      </p:sp>
      <p:cxnSp>
        <p:nvCxnSpPr>
          <p:cNvPr id="66" name="Connector 65"/>
          <p:cNvCxnSpPr/>
          <p:nvPr/>
        </p:nvCxnSpPr>
        <p:spPr>
          <a:xfrm>
            <a:off x="3977639" y="2185415"/>
            <a:ext cx="0" cy="3922777"/>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5034425" y="2185415"/>
            <a:ext cx="0" cy="3922777"/>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091210" y="2185415"/>
            <a:ext cx="0" cy="3922777"/>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147995" y="2185415"/>
            <a:ext cx="0" cy="3922777"/>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204780" y="2185415"/>
            <a:ext cx="0" cy="3922777"/>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261565" y="2185415"/>
            <a:ext cx="0" cy="3922777"/>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318350" y="2185415"/>
            <a:ext cx="0" cy="3922777"/>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1375136" y="2185415"/>
            <a:ext cx="0" cy="3922777"/>
          </a:xfrm>
          <a:prstGeom prst="line">
            <a:avLst/>
          </a:prstGeom>
          <a:ln w="9525">
            <a:solidFill>
              <a:srgbClr val="C9D3E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13816" y="6245352"/>
            <a:ext cx="9052560" cy="237744"/>
          </a:xfrm>
          <a:prstGeom prst="rect">
            <a:avLst/>
          </a:prstGeom>
          <a:noFill/>
        </p:spPr>
        <p:txBody>
          <a:bodyPr wrap="square" lIns="0" rIns="0" tIns="0" bIns="0" anchor="t">
            <a:spAutoFit/>
          </a:bodyPr>
          <a:lstStyle/>
          <a:p>
            <a:pPr algn="l"/>
            <a:r>
              <a:rPr sz="1200" b="0">
                <a:solidFill>
                  <a:srgbClr val="5F6D7E"/>
                </a:solidFill>
                <a:latin typeface="Arial"/>
              </a:rPr>
              <a:t>개발 단계의 끝은 GitHub 커밋 기록, 시작은 사전 자료조사 · 다른 데이터 실험을 포함한 대략치 · 대회 단계는 사무국 일정</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Title 1"/>
          <p:cNvSpPr>
            <a:spLocks noGrp="1"/>
          </p:cNvSpPr>
          <p:nvPr>
            <p:ph type="title"/>
          </p:nvPr>
        </p:nvSpPr>
        <p:spPr>
          <a:xfrm>
            <a:off x="813816" y="1216152"/>
            <a:ext cx="10881360" cy="548640"/>
          </a:xfrm>
        </p:spPr>
        <p:txBody>
          <a:bodyPr/>
          <a:lstStyle/>
          <a:p>
            <a:r>
              <a:rPr sz="3200" b="1">
                <a:solidFill>
                  <a:srgbClr val="132033"/>
                </a:solidFill>
                <a:latin typeface="Arial"/>
              </a:rPr>
              <a:t>업무 분장</a:t>
            </a:r>
          </a:p>
        </p:txBody>
      </p:sp>
      <p:sp>
        <p:nvSpPr>
          <p:cNvPr id="3" name="TextBox 2"/>
          <p:cNvSpPr txBox="1"/>
          <p:nvPr/>
        </p:nvSpPr>
        <p:spPr>
          <a:xfrm>
            <a:off x="813816" y="813816"/>
            <a:ext cx="10881360" cy="274320"/>
          </a:xfrm>
          <a:prstGeom prst="rect">
            <a:avLst/>
          </a:prstGeom>
          <a:noFill/>
        </p:spPr>
        <p:txBody>
          <a:bodyPr wrap="square" lIns="0" rIns="0" tIns="0" bIns="0" anchor="t">
            <a:spAutoFit/>
          </a:bodyPr>
          <a:lstStyle/>
          <a:p>
            <a:pPr algn="l"/>
            <a:r>
              <a:rPr sz="1400" b="0">
                <a:solidFill>
                  <a:srgbClr val="132033"/>
                </a:solidFill>
                <a:latin typeface="Arial"/>
              </a:rPr>
              <a:t>7. 개발 일정 및 업무 분장 (2/2)</a:t>
            </a:r>
          </a:p>
        </p:txBody>
      </p:sp>
      <p:sp>
        <p:nvSpPr>
          <p:cNvPr id="4" name="TextBox 3"/>
          <p:cNvSpPr txBox="1"/>
          <p:nvPr/>
        </p:nvSpPr>
        <p:spPr>
          <a:xfrm>
            <a:off x="10058400" y="6245352"/>
            <a:ext cx="1316736" cy="237744"/>
          </a:xfrm>
          <a:prstGeom prst="rect">
            <a:avLst/>
          </a:prstGeom>
          <a:noFill/>
        </p:spPr>
        <p:txBody>
          <a:bodyPr wrap="square" lIns="0" rIns="0" tIns="0" bIns="0" anchor="t">
            <a:spAutoFit/>
          </a:bodyPr>
          <a:lstStyle/>
          <a:p>
            <a:pPr algn="r"/>
            <a:r>
              <a:rPr sz="1200" b="0">
                <a:solidFill>
                  <a:srgbClr val="5F6D7E"/>
                </a:solidFill>
                <a:latin typeface="Arial"/>
              </a:rPr>
              <a:t>20 / 20</a:t>
            </a:r>
          </a:p>
        </p:txBody>
      </p:sp>
      <p:pic>
        <p:nvPicPr>
          <p:cNvPr id="5" name="Picture 4" descr="roles.png"/>
          <p:cNvPicPr>
            <a:picLocks noChangeAspect="1"/>
          </p:cNvPicPr>
          <p:nvPr/>
        </p:nvPicPr>
        <p:blipFill>
          <a:blip r:embed="rId2"/>
          <a:stretch>
            <a:fillRect/>
          </a:stretch>
        </p:blipFill>
        <p:spPr>
          <a:xfrm>
            <a:off x="813816" y="1874519"/>
            <a:ext cx="10561320" cy="4270248"/>
          </a:xfrm>
          <a:prstGeom prst="rect">
            <a:avLst/>
          </a:prstGeom>
        </p:spPr>
      </p:pic>
    </p:spTree>
  </p:cSld>
  <p:clrMapOvr>
    <a:masterClrMapping/>
  </p:clrMapOvr>
</p:sld>
</file>

<file path=ppt/theme/theme1.xml><?xml version="1.0" encoding="utf-8"?>
<a:theme xmlns:a="http://schemas.openxmlformats.org/drawingml/2006/main" name="IcePredict 발표">
  <a:themeElements>
    <a:clrScheme name="IcePredict 발표">
      <a:dk1>
        <a:srgbClr val="132033"/>
      </a:dk1>
      <a:lt1>
        <a:srgbClr val="F5F8FB"/>
      </a:lt1>
      <a:dk2>
        <a:srgbClr val="4C5665"/>
      </a:dk2>
      <a:lt2>
        <a:srgbClr val="DEE2E7"/>
      </a:lt2>
      <a:accent1>
        <a:srgbClr val="0B7A6B"/>
      </a:accent1>
      <a:accent2>
        <a:srgbClr val="D1373A"/>
      </a:accent2>
      <a:accent3>
        <a:srgbClr val="1E5BD7"/>
      </a:accent3>
      <a:accent4>
        <a:srgbClr val="8FB4F5"/>
      </a:accent4>
      <a:accent5>
        <a:srgbClr val="4B5A6C"/>
      </a:accent5>
      <a:accent6>
        <a:srgbClr val="5F6D7E"/>
      </a:accent6>
      <a:hlink>
        <a:srgbClr val="0563C1"/>
      </a:hlink>
      <a:folHlink>
        <a:srgbClr val="954F72"/>
      </a:folHlink>
    </a:clrScheme>
    <a:fontScheme name="IcePredict 발표">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1278</Words>
  <Application>Microsoft Macintosh PowerPoint</Application>
  <PresentationFormat>와이드스크린</PresentationFormat>
  <Paragraphs>98</Paragraphs>
  <Slides>10</Slides>
  <Notes>10</Notes>
  <HiddenSlides>0</HiddenSlides>
  <MMClips>4</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10</vt:i4>
      </vt:variant>
    </vt:vector>
  </HeadingPairs>
  <TitlesOfParts>
    <vt:vector size="12" baseType="lpstr">
      <vt:lpstr>Arial</vt:lpstr>
      <vt:lpstr>IcePredict 발표</vt:lpstr>
      <vt:lpstr>같은 눈, 다른 겨울</vt:lpstr>
      <vt:lpstr>눈은 보인다. 그 아래 얼음은 보이지 않는다.</vt:lpstr>
      <vt:lpstr>미리 보고, 놓쳐도 받는다.</vt:lpstr>
      <vt:lpstr>PowerPoint 프레젠테이션</vt:lpstr>
      <vt:lpstr>카메라가 미리 보고, 빙판 앞에서 멈춘다</vt:lpstr>
      <vt:lpstr>차가 바퀴가 가리키는 대로 가고 있는가?</vt:lpstr>
      <vt:lpstr>카메라가 놓쳐도, 미끄러짐을 잡아 세운다</vt:lpstr>
      <vt:lpstr>실시간성은 평균이 아니라 꼬리로 정해진다</vt:lpstr>
      <vt:lpstr>같은 빙판, 차이는 2차 방어 하나</vt:lpstr>
      <vt:lpstr>올겨울 눈은, 그냥 예쁘기만 하도록.</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IcePredict 발표</dc:title>
  <dc:subject/>
  <dc:creator/>
  <cp:lastModifiedBy>남윤상</cp:lastModifiedBy>
  <cp:revision>7</cp:revision>
  <dcterms:created xsi:type="dcterms:W3CDTF">2026-10-20T14:42:59Z</dcterms:created>
  <dcterms:modified xsi:type="dcterms:W3CDTF">2026-10-23T04:39:26Z</dcterms:modified>
</cp:coreProperties>
</file>