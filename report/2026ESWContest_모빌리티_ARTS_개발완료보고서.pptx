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7.jpg"/><Relationship Id="rId5" Type="http://schemas.openxmlformats.org/officeDocument/2006/relationships/image" Target="../media/image8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Relationship Id="rId4" Type="http://schemas.openxmlformats.org/officeDocument/2006/relationships/image" Target="../media/image1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jpg"/><Relationship Id="rId4" Type="http://schemas.openxmlformats.org/officeDocument/2006/relationships/image" Target="../media/image16.jpg"/><Relationship Id="rId5" Type="http://schemas.openxmlformats.org/officeDocument/2006/relationships/image" Target="../media/image17.jpg"/><Relationship Id="rId6" Type="http://schemas.openxmlformats.org/officeDocument/2006/relationships/image" Target="../media/image18.jpg"/><Relationship Id="rId7" Type="http://schemas.openxmlformats.org/officeDocument/2006/relationships/image" Target="../media/image19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image" Target="../media/image23.jpg"/><Relationship Id="rId4" Type="http://schemas.openxmlformats.org/officeDocument/2006/relationships/image" Target="../media/image24.jpg"/><Relationship Id="rId5" Type="http://schemas.openxmlformats.org/officeDocument/2006/relationships/image" Target="../media/image25.jpg"/><Relationship Id="rId6" Type="http://schemas.openxmlformats.org/officeDocument/2006/relationships/image" Target="../media/image26.jpg"/><Relationship Id="rId7" Type="http://schemas.openxmlformats.org/officeDocument/2006/relationships/image" Target="../media/image27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image" Target="../media/image30.jpg"/><Relationship Id="rId4" Type="http://schemas.openxmlformats.org/officeDocument/2006/relationships/image" Target="../media/image31.jpg"/><Relationship Id="rId5" Type="http://schemas.openxmlformats.org/officeDocument/2006/relationships/image" Target="../media/image32.jpg"/><Relationship Id="rId6" Type="http://schemas.openxmlformats.org/officeDocument/2006/relationships/image" Target="../media/image33.jpg"/><Relationship Id="rId7" Type="http://schemas.openxmlformats.org/officeDocument/2006/relationships/image" Target="../media/image3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image" Target="../media/image36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Relationship Id="rId3" Type="http://schemas.openxmlformats.org/officeDocument/2006/relationships/image" Target="../media/image38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Relationship Id="rId3" Type="http://schemas.openxmlformats.org/officeDocument/2006/relationships/image" Target="../media/image40.jpg"/><Relationship Id="rId4" Type="http://schemas.openxmlformats.org/officeDocument/2006/relationships/image" Target="../media/image4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image" Target="../media/image42.jpg"/><Relationship Id="rId4" Type="http://schemas.openxmlformats.org/officeDocument/2006/relationships/image" Target="../media/image43.jpg"/><Relationship Id="rId5" Type="http://schemas.openxmlformats.org/officeDocument/2006/relationships/image" Target="../media/image44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cover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6572250" cy="6858000"/>
          </a:xfrm>
          <a:prstGeom prst="rect">
            <a:avLst/>
          </a:prstGeom>
          <a:solidFill>
            <a:srgbClr val="0B1220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23900" y="1143000"/>
            <a:ext cx="5334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DC2626"/>
                </a:solidFill>
                <a:latin typeface="맑은 고딕"/>
              </a:rPr>
              <a:t>개발완료보고서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1447800"/>
            <a:ext cx="5715000" cy="590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맑은 고딕"/>
              </a:rPr>
              <a:t>IcePredict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3900" y="2057400"/>
            <a:ext cx="5524500" cy="800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FFFFFF"/>
                </a:solidFill>
                <a:latin typeface="맑은 고딕"/>
              </a:rPr>
              <a:t>AI 예측과 RTOS 반응의</a:t>
            </a:r>
            <a:br/>
            <a:r>
              <a:rPr sz="2400" b="1">
                <a:solidFill>
                  <a:srgbClr val="FFFFFF"/>
                </a:solidFill>
                <a:latin typeface="맑은 고딕"/>
              </a:rPr>
              <a:t>이중 안전망 블랙아이스 대응 시스템</a:t>
            </a:r>
          </a:p>
        </p:txBody>
      </p:sp>
      <p:sp>
        <p:nvSpPr>
          <p:cNvPr id="9" name="Rectangle 8"/>
          <p:cNvSpPr/>
          <p:nvPr/>
        </p:nvSpPr>
        <p:spPr>
          <a:xfrm>
            <a:off x="723900" y="3067050"/>
            <a:ext cx="876300" cy="47625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23900" y="3333750"/>
            <a:ext cx="5524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94A3B8"/>
                </a:solidFill>
                <a:latin typeface="맑은 고딕"/>
              </a:rPr>
              <a:t>AI가 노면을 미리 보고, 못 보더라도 RTOS가 차량 거동으로 확실히 잡는다.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3900" y="4038600"/>
            <a:ext cx="53340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  <a:spcAft>
                <a:spcPts val="400"/>
              </a:spcAft>
            </a:pPr>
            <a:r>
              <a:rPr sz="1150" b="0">
                <a:solidFill>
                  <a:srgbClr val="94A3B8"/>
                </a:solidFill>
                <a:latin typeface="맑은 고딕"/>
              </a:rPr>
              <a:t>제24회 임베디드SW경진대회 · 자동차/모빌리티 부문 (현대자동차)</a:t>
            </a:r>
          </a:p>
          <a:p>
            <a:pPr algn="l">
              <a:lnSpc>
                <a:spcPct val="160000"/>
              </a:lnSpc>
              <a:spcAft>
                <a:spcPts val="400"/>
              </a:spcAft>
            </a:pPr>
            <a:r>
              <a:rPr sz="1150" b="1">
                <a:solidFill>
                  <a:srgbClr val="94A3B8"/>
                </a:solidFill>
                <a:latin typeface="맑은 고딕"/>
              </a:rPr>
              <a:t>팀 ARTS</a:t>
            </a:r>
            <a:r>
              <a:rPr sz="1150" b="0">
                <a:solidFill>
                  <a:srgbClr val="94A3B8"/>
                </a:solidFill>
                <a:latin typeface="맑은 고딕"/>
              </a:rPr>
              <a:t> · 이지성 · 남윤상 · 김진찬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3900" y="5848350"/>
            <a:ext cx="59055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950" b="0">
                <a:solidFill>
                  <a:srgbClr val="64748B"/>
                </a:solidFill>
                <a:latin typeface="맑은 고딕"/>
              </a:rPr>
              <a:t>STM32N6570-DK · Neural-ART NPU · ThreadX · Raspberry Pi 5 + AI HAT+ 2 · CARLA HIL</a:t>
            </a:r>
          </a:p>
          <a:p>
            <a:pPr algn="l">
              <a:lnSpc>
                <a:spcPct val="160000"/>
              </a:lnSpc>
            </a:pPr>
            <a:r>
              <a:rPr sz="950" b="0">
                <a:solidFill>
                  <a:srgbClr val="64748B"/>
                </a:solidFill>
                <a:latin typeface="맑은 고딕"/>
              </a:rPr>
              <a:t>github.com/gkgk0119gmail-arch/2026ESWContest_mobility_ARTS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33400" y="419100"/>
            <a:ext cx="438150" cy="219075"/>
          </a:xfrm>
          <a:prstGeom prst="roundRect">
            <a:avLst>
              <a:gd name="adj" fmla="val 47826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33400" y="466725"/>
            <a:ext cx="4381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</a:rPr>
              <a:t>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375" y="381000"/>
            <a:ext cx="98298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F172A"/>
                </a:solidFill>
                <a:latin typeface="맑은 고딕"/>
              </a:rPr>
              <a:t>한 장 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91850" y="457200"/>
            <a:ext cx="666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>
                <a:solidFill>
                  <a:srgbClr val="94A3B8"/>
                </a:solidFill>
                <a:latin typeface="맑은 고딕"/>
              </a:rPr>
              <a:t>2 /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400" y="800100"/>
            <a:ext cx="11125200" cy="1524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33400" y="933450"/>
            <a:ext cx="111252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334155"/>
                </a:solidFill>
                <a:latin typeface="맑은 고딕"/>
              </a:rPr>
              <a:t>AI가 노면을 미리 보고, 못 보더라도 RTOS가 차량 거동으로 확실히 잡는다.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3400" y="1200150"/>
            <a:ext cx="3625850" cy="1162050"/>
          </a:xfrm>
          <a:prstGeom prst="roundRect">
            <a:avLst>
              <a:gd name="adj" fmla="val 5737"/>
            </a:avLst>
          </a:prstGeom>
          <a:solidFill>
            <a:srgbClr val="EFF6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33400" y="1200150"/>
            <a:ext cx="38100" cy="11620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76275" y="1295400"/>
            <a:ext cx="335915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172A"/>
                </a:solidFill>
                <a:latin typeface="맑은 고딕"/>
              </a:rPr>
              <a:t>문제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275" y="1559242"/>
            <a:ext cx="3359150" cy="7267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500"/>
              </a:spcAft>
            </a:pPr>
            <a:r>
              <a:rPr sz="1080" b="0">
                <a:solidFill>
                  <a:srgbClr val="334155"/>
                </a:solidFill>
                <a:latin typeface="맑은 고딕"/>
              </a:rPr>
              <a:t>블랙아이스는 </a:t>
            </a:r>
            <a:r>
              <a:rPr sz="1080" b="1">
                <a:solidFill>
                  <a:srgbClr val="334155"/>
                </a:solidFill>
                <a:latin typeface="맑은 고딕"/>
              </a:rPr>
              <a:t>공개 데이터에 라벨이 없다.</a:t>
            </a:r>
            <a:r>
              <a:rPr sz="1080" b="0">
                <a:solidFill>
                  <a:srgbClr val="334155"/>
                </a:solidFill>
                <a:latin typeface="맑은 고딕"/>
              </a:rPr>
              <a:t> 투명한 얼음은 아스팔트와 시각적으로 구분되지 않는다. 카메라 한 겹으로는 반드시 놓치는 경우가 남는다.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3075" y="1200150"/>
            <a:ext cx="3625850" cy="1162050"/>
          </a:xfrm>
          <a:prstGeom prst="roundRect">
            <a:avLst>
              <a:gd name="adj" fmla="val 5737"/>
            </a:avLst>
          </a:prstGeom>
          <a:solidFill>
            <a:srgbClr val="FEF2F2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283075" y="1200150"/>
            <a:ext cx="38100" cy="116205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425950" y="1295400"/>
            <a:ext cx="335915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172A"/>
                </a:solidFill>
                <a:latin typeface="맑은 고딕"/>
              </a:rPr>
              <a:t>해법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25950" y="1559242"/>
            <a:ext cx="3359150" cy="7267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500"/>
              </a:spcAft>
            </a:pPr>
            <a:r>
              <a:rPr sz="1080" b="0">
                <a:solidFill>
                  <a:srgbClr val="334155"/>
                </a:solidFill>
                <a:latin typeface="맑은 고딕"/>
              </a:rPr>
              <a:t>예측과 반응을 </a:t>
            </a:r>
            <a:r>
              <a:rPr sz="1080" b="1">
                <a:solidFill>
                  <a:srgbClr val="334155"/>
                </a:solidFill>
                <a:latin typeface="맑은 고딕"/>
              </a:rPr>
              <a:t>한 보드에 두 겹</a:t>
            </a:r>
            <a:r>
              <a:rPr sz="1080" b="0">
                <a:solidFill>
                  <a:srgbClr val="334155"/>
                </a:solidFill>
                <a:latin typeface="맑은 고딕"/>
              </a:rPr>
              <a:t>으로 올렸다. 1차는 NPU 비전이 빙판에 닿기 전에 세우고, 1차가 놓치면 2차가 IMU 거동으로 미끄러짐을 확정해 받는다.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32750" y="1200150"/>
            <a:ext cx="3625850" cy="1162050"/>
          </a:xfrm>
          <a:prstGeom prst="roundRect">
            <a:avLst>
              <a:gd name="adj" fmla="val 573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8032750" y="1200150"/>
            <a:ext cx="38100" cy="116205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175625" y="1295400"/>
            <a:ext cx="335915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172A"/>
                </a:solidFill>
                <a:latin typeface="맑은 고딕"/>
              </a:rPr>
              <a:t>증명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75625" y="1559242"/>
            <a:ext cx="3359150" cy="7267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500"/>
              </a:spcAft>
            </a:pPr>
            <a:r>
              <a:rPr sz="1080" b="0">
                <a:solidFill>
                  <a:srgbClr val="334155"/>
                </a:solidFill>
                <a:latin typeface="맑은 고딕"/>
              </a:rPr>
              <a:t>실물 STM32N6 보드가 실제 펌웨어를 돌리고 CARLA 가 센서·물리를 제공하는 </a:t>
            </a:r>
            <a:r>
              <a:rPr sz="1080" b="1">
                <a:solidFill>
                  <a:srgbClr val="334155"/>
                </a:solidFill>
                <a:latin typeface="맑은 고딕"/>
              </a:rPr>
              <a:t>HIL</a:t>
            </a:r>
            <a:r>
              <a:rPr sz="1080" b="0">
                <a:solidFill>
                  <a:srgbClr val="334155"/>
                </a:solidFill>
                <a:latin typeface="맑은 고딕"/>
              </a:rPr>
              <a:t> 로 주행 108회, 실사진 69,358장을 보드에 직접 넣어 측정했다.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3400" y="2476500"/>
            <a:ext cx="2688431" cy="914400"/>
          </a:xfrm>
          <a:prstGeom prst="roundRect">
            <a:avLst>
              <a:gd name="adj" fmla="val 9375"/>
            </a:avLst>
          </a:prstGeom>
          <a:solidFill>
            <a:srgbClr val="EFF6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33400" y="2609850"/>
            <a:ext cx="2688431" cy="4000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100" b="1">
                <a:solidFill>
                  <a:srgbClr val="2563EB"/>
                </a:solidFill>
                <a:latin typeface="맑은 고딕"/>
              </a:rPr>
              <a:t>96.1</a:t>
            </a:r>
            <a:r>
              <a:rPr sz="3100" b="1">
                <a:solidFill>
                  <a:srgbClr val="2563EB"/>
                </a:solidFill>
                <a:latin typeface="맑은 고딕"/>
              </a:rPr>
              <a:t>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3028950"/>
            <a:ext cx="2536031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930" b="1">
                <a:solidFill>
                  <a:srgbClr val="334155"/>
                </a:solidFill>
                <a:latin typeface="맑은 고딕"/>
              </a:rPr>
              <a:t>실사진 블랙아이스 6,340장 정답률</a:t>
            </a:r>
            <a:br/>
            <a:r>
              <a:rPr sz="930" b="1">
                <a:solidFill>
                  <a:srgbClr val="334155"/>
                </a:solidFill>
                <a:latin typeface="맑은 고딕"/>
              </a:rPr>
              <a:t>경보율 96.6 %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45656" y="2476500"/>
            <a:ext cx="2688431" cy="914400"/>
          </a:xfrm>
          <a:prstGeom prst="roundRect">
            <a:avLst>
              <a:gd name="adj" fmla="val 9375"/>
            </a:avLst>
          </a:prstGeom>
          <a:solidFill>
            <a:srgbClr val="EFF6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3345656" y="2609850"/>
            <a:ext cx="2688431" cy="4000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100" b="1">
                <a:solidFill>
                  <a:srgbClr val="2563EB"/>
                </a:solidFill>
                <a:latin typeface="맑은 고딕"/>
              </a:rPr>
              <a:t>0.3</a:t>
            </a:r>
            <a:r>
              <a:rPr sz="3100" b="1">
                <a:solidFill>
                  <a:srgbClr val="2563EB"/>
                </a:solidFill>
                <a:latin typeface="맑은 고딕"/>
              </a:rPr>
              <a:t>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1856" y="3028950"/>
            <a:ext cx="2536031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930" b="1">
                <a:solidFill>
                  <a:srgbClr val="334155"/>
                </a:solidFill>
                <a:latin typeface="맑은 고딕"/>
              </a:rPr>
              <a:t>마른 노면 19,018장 오경보율</a:t>
            </a:r>
            <a:br/>
            <a:r>
              <a:rPr sz="930" b="1">
                <a:solidFill>
                  <a:srgbClr val="334155"/>
                </a:solidFill>
                <a:latin typeface="맑은 고딕"/>
              </a:rPr>
              <a:t>젖은 노면 0.8 %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57912" y="2476500"/>
            <a:ext cx="2688431" cy="914400"/>
          </a:xfrm>
          <a:prstGeom prst="roundRect">
            <a:avLst>
              <a:gd name="adj" fmla="val 9375"/>
            </a:avLst>
          </a:prstGeom>
          <a:solidFill>
            <a:srgbClr val="FEF2F2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157912" y="2609850"/>
            <a:ext cx="2688431" cy="4000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100" b="1">
                <a:solidFill>
                  <a:srgbClr val="DC2626"/>
                </a:solidFill>
                <a:latin typeface="맑은 고딕"/>
              </a:rPr>
              <a:t>22.6</a:t>
            </a:r>
            <a:r>
              <a:rPr sz="3100" b="1">
                <a:solidFill>
                  <a:srgbClr val="DC2626"/>
                </a:solidFill>
                <a:latin typeface="맑은 고딕"/>
              </a:rPr>
              <a:t>µs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34112" y="3028950"/>
            <a:ext cx="2536031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930" b="1">
                <a:solidFill>
                  <a:srgbClr val="334155"/>
                </a:solidFill>
                <a:latin typeface="맑은 고딕"/>
              </a:rPr>
              <a:t>2차 방어 최악 응답</a:t>
            </a:r>
            <a:br/>
            <a:r>
              <a:rPr sz="930" b="1">
                <a:solidFill>
                  <a:srgbClr val="334155"/>
                </a:solidFill>
                <a:latin typeface="맑은 고딕"/>
              </a:rPr>
              <a:t>리눅스는 5,790 µs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70169" y="2476500"/>
            <a:ext cx="2688431" cy="914400"/>
          </a:xfrm>
          <a:prstGeom prst="roundRect">
            <a:avLst>
              <a:gd name="adj" fmla="val 9375"/>
            </a:avLst>
          </a:prstGeom>
          <a:solidFill>
            <a:srgbClr val="FEF2F2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970169" y="2609850"/>
            <a:ext cx="2688431" cy="4000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100" b="1">
                <a:solidFill>
                  <a:srgbClr val="DC2626"/>
                </a:solidFill>
                <a:latin typeface="맑은 고딕"/>
              </a:rPr>
              <a:t>9/9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46369" y="3028950"/>
            <a:ext cx="2536031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930" b="1">
                <a:solidFill>
                  <a:srgbClr val="334155"/>
                </a:solidFill>
                <a:latin typeface="맑은 고딕"/>
              </a:rPr>
              <a:t>방어를 모두 끈 기준선</a:t>
            </a:r>
            <a:br/>
            <a:r>
              <a:rPr sz="930" b="1">
                <a:solidFill>
                  <a:srgbClr val="334155"/>
                </a:solidFill>
                <a:latin typeface="맑은 고딕"/>
              </a:rPr>
              <a:t>전부 제어 상실</a:t>
            </a:r>
          </a:p>
        </p:txBody>
      </p:sp>
      <p:pic>
        <p:nvPicPr>
          <p:cNvPr id="33" name="Picture 32" descr="cmp_15.0.jpg"/>
          <p:cNvPicPr>
            <a:picLocks noChangeAspect="1"/>
          </p:cNvPicPr>
          <p:nvPr/>
        </p:nvPicPr>
        <p:blipFill>
          <a:blip r:embed="rId2"/>
          <a:srcRect t="20523" b="20523"/>
          <a:stretch>
            <a:fillRect/>
          </a:stretch>
        </p:blipFill>
        <p:spPr>
          <a:xfrm>
            <a:off x="533400" y="3505200"/>
            <a:ext cx="11125200" cy="264795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34" name="TextBox 33"/>
          <p:cNvSpPr txBox="1"/>
          <p:nvPr/>
        </p:nvSpPr>
        <p:spPr>
          <a:xfrm>
            <a:off x="533400" y="6191250"/>
            <a:ext cx="111252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19" b="1">
                <a:solidFill>
                  <a:srgbClr val="64748B"/>
                </a:solidFill>
                <a:latin typeface="맑은 고딕"/>
              </a:rPr>
              <a:t>같은 빙판 · 같은 속도 · 같은 주변 차량.</a:t>
            </a:r>
            <a:r>
              <a:rPr sz="919" b="0">
                <a:solidFill>
                  <a:srgbClr val="64748B"/>
                </a:solidFill>
                <a:latin typeface="맑은 고딕"/>
              </a:rPr>
              <a:t> 왼쪽은 방어 없음 — 제어를 잃고 25.4 km/h 로 차로를 가로질러 미끄러진다. 오른쪽은 STM32N6 RTOS 2차 방어 — 차선 안에서 정지했다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33400" y="419100"/>
            <a:ext cx="438150" cy="219075"/>
          </a:xfrm>
          <a:prstGeom prst="roundRect">
            <a:avLst>
              <a:gd name="adj" fmla="val 47826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33400" y="466725"/>
            <a:ext cx="4381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</a:rPr>
              <a:t>문제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375" y="381000"/>
            <a:ext cx="98298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F172A"/>
                </a:solidFill>
                <a:latin typeface="맑은 고딕"/>
              </a:rPr>
              <a:t>왜 블랙아이스는 비전만으로 풀리지 않는가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91850" y="457200"/>
            <a:ext cx="666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>
                <a:solidFill>
                  <a:srgbClr val="94A3B8"/>
                </a:solidFill>
                <a:latin typeface="맑은 고딕"/>
              </a:rPr>
              <a:t>3 /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400" y="800100"/>
            <a:ext cx="11125200" cy="1524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33400" y="5943600"/>
            <a:ext cx="1112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33400" y="6019800"/>
            <a:ext cx="111252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60" b="0">
                <a:solidFill>
                  <a:srgbClr val="64748B"/>
                </a:solidFill>
                <a:latin typeface="맑은 고딕"/>
              </a:rPr>
              <a:t>약점을 숨기지 않고, 이중 안전망 구조의 '존재 이유'를 데이터로 뒷받침한다 — 개발계획서에 적었던 방침을 그대로 지켰다.</a:t>
            </a:r>
          </a:p>
        </p:txBody>
      </p:sp>
      <p:pic>
        <p:nvPicPr>
          <p:cNvPr id="10" name="Picture 9" descr="real_failure_mis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8960" y="933450"/>
            <a:ext cx="7774081" cy="352425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533400" y="4495800"/>
            <a:ext cx="111252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19" b="1">
                <a:solidFill>
                  <a:srgbClr val="64748B"/>
                </a:solidFill>
                <a:latin typeface="맑은 고딕"/>
              </a:rPr>
              <a:t>우리 보드가 실제로 놓친 실사진</a:t>
            </a:r>
            <a:r>
              <a:rPr sz="919" b="0">
                <a:solidFill>
                  <a:srgbClr val="64748B"/>
                </a:solidFill>
                <a:latin typeface="맑은 고딕"/>
              </a:rPr>
              <a:t> — 전부 정답이 블랙아이스인데 '정상'으로 판정했다. 위험도 0.01~0.04 라 운영 문턱(0.603)은 물론 어떤 문턱으로도 잡히지 않는다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3400" y="4781550"/>
            <a:ext cx="3625850" cy="106680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33400" y="4781550"/>
            <a:ext cx="38100" cy="10668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76275" y="4876800"/>
            <a:ext cx="335915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172A"/>
                </a:solidFill>
                <a:latin typeface="맑은 고딕"/>
              </a:rPr>
              <a:t>라벨이 없다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275" y="5122545"/>
            <a:ext cx="3359150" cy="6496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500"/>
              </a:spcAft>
            </a:pPr>
            <a:r>
              <a:rPr sz="1050" b="0">
                <a:solidFill>
                  <a:srgbClr val="334155"/>
                </a:solidFill>
                <a:latin typeface="맑은 고딕"/>
              </a:rPr>
              <a:t>공개 데이터셋에 </a:t>
            </a:r>
            <a:r>
              <a:rPr sz="1050" b="1">
                <a:solidFill>
                  <a:srgbClr val="334155"/>
                </a:solidFill>
                <a:latin typeface="맑은 고딕"/>
              </a:rPr>
              <a:t>'블랙아이스' 라벨이 없다.</a:t>
            </a:r>
            <a:r>
              <a:rPr sz="1050" b="0">
                <a:solidFill>
                  <a:srgbClr val="334155"/>
                </a:solidFill>
                <a:latin typeface="맑은 고딕"/>
              </a:rPr>
              <a:t> RSCD 의 ice 57,262장도 다져진 눈·서리에 가까운 '얼음 노면'일 뿐, 투명한 블랙아이스를 따로 구분하지 않는다.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83075" y="4781550"/>
            <a:ext cx="3625850" cy="106680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4283075" y="4781550"/>
            <a:ext cx="38100" cy="10668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425950" y="4876800"/>
            <a:ext cx="335915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172A"/>
                </a:solidFill>
                <a:latin typeface="맑은 고딕"/>
              </a:rPr>
              <a:t>원래 어려운 문제다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25950" y="5122545"/>
            <a:ext cx="3359150" cy="6496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500"/>
              </a:spcAft>
            </a:pPr>
            <a:r>
              <a:rPr sz="1050" b="0">
                <a:solidFill>
                  <a:srgbClr val="334155"/>
                </a:solidFill>
                <a:latin typeface="맑은 고딕"/>
              </a:rPr>
              <a:t>투명·검은 얼음이 아스팔트와 시각적으로 구분되지 않는다는 것은 업계 통설이다. 우리 모델도 마찬가지로, 실사진 얼음 6,340장 중 </a:t>
            </a:r>
            <a:r>
              <a:rPr sz="1050" b="1">
                <a:solidFill>
                  <a:srgbClr val="334155"/>
                </a:solidFill>
                <a:latin typeface="맑은 고딕"/>
              </a:rPr>
              <a:t>215장(3.4 %)</a:t>
            </a:r>
            <a:r>
              <a:rPr sz="1050" b="0">
                <a:solidFill>
                  <a:srgbClr val="334155"/>
                </a:solidFill>
                <a:latin typeface="맑은 고딕"/>
              </a:rPr>
              <a:t>이 문턱 아래에 남는다.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32750" y="4781550"/>
            <a:ext cx="3625850" cy="1066800"/>
          </a:xfrm>
          <a:prstGeom prst="roundRect">
            <a:avLst>
              <a:gd name="adj" fmla="val 6250"/>
            </a:avLst>
          </a:prstGeom>
          <a:solidFill>
            <a:srgbClr val="FEF2F2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8032750" y="4781550"/>
            <a:ext cx="38100" cy="10668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175625" y="4876800"/>
            <a:ext cx="335915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172A"/>
                </a:solidFill>
                <a:latin typeface="맑은 고딕"/>
              </a:rPr>
              <a:t>그래서 내린 결론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75625" y="5122545"/>
            <a:ext cx="3359150" cy="6496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500"/>
              </a:spcAft>
            </a:pPr>
            <a:r>
              <a:rPr sz="1050" b="0">
                <a:solidFill>
                  <a:srgbClr val="334155"/>
                </a:solidFill>
                <a:latin typeface="맑은 고딕"/>
              </a:rPr>
              <a:t>1차는 블랙아이스를 </a:t>
            </a:r>
            <a:r>
              <a:rPr sz="1050" b="1">
                <a:solidFill>
                  <a:srgbClr val="334155"/>
                </a:solidFill>
                <a:latin typeface="맑은 고딕"/>
              </a:rPr>
              <a:t>직접 맞히려 하지 않는다.</a:t>
            </a:r>
            <a:r>
              <a:rPr sz="1050" b="0">
                <a:solidFill>
                  <a:srgbClr val="334155"/>
                </a:solidFill>
                <a:latin typeface="맑은 고딕"/>
              </a:rPr>
              <a:t> '결빙 위험 노면 확률 + 반사도 이상 + 기상 맥락'으로 위험도를 올린다. 그리고 </a:t>
            </a:r>
            <a:r>
              <a:rPr sz="1050" b="1">
                <a:solidFill>
                  <a:srgbClr val="334155"/>
                </a:solidFill>
                <a:latin typeface="맑은 고딕"/>
              </a:rPr>
              <a:t>그 전략이 실패할 때를 위해 2차가 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33400" y="419100"/>
            <a:ext cx="438150" cy="219075"/>
          </a:xfrm>
          <a:prstGeom prst="roundRect">
            <a:avLst>
              <a:gd name="adj" fmla="val 47826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33400" y="466725"/>
            <a:ext cx="4381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</a:rPr>
              <a:t>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375" y="381000"/>
            <a:ext cx="98298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F172A"/>
                </a:solidFill>
                <a:latin typeface="맑은 고딕"/>
              </a:rPr>
              <a:t>이중 안전망 — 예측(AI)과 반응(RTOS)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91850" y="457200"/>
            <a:ext cx="666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>
                <a:solidFill>
                  <a:srgbClr val="94A3B8"/>
                </a:solidFill>
                <a:latin typeface="맑은 고딕"/>
              </a:rPr>
              <a:t>4 /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400" y="800100"/>
            <a:ext cx="11125200" cy="1524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33400" y="5943600"/>
            <a:ext cx="1112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33400" y="6019800"/>
            <a:ext cx="111252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60" b="0">
                <a:solidFill>
                  <a:srgbClr val="64748B"/>
                </a:solidFill>
                <a:latin typeface="맑은 고딕"/>
              </a:rPr>
              <a:t>ThreadX 우선순위는 IMU 융합 스레드가 3, NPU 프레임 스레드가 4다. 25 ms짜리 추론이 돌고 있어도 IMU 판정이 선점한다 — 혼합 임계도(mixed-criticality) AI ECU 구조.</a:t>
            </a:r>
          </a:p>
        </p:txBody>
      </p:sp>
      <p:pic>
        <p:nvPicPr>
          <p:cNvPr id="10" name="Picture 9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0949" y="933450"/>
            <a:ext cx="6710101" cy="3048000"/>
          </a:xfrm>
          <a:prstGeom prst="rect">
            <a:avLst/>
          </a:prstGeom>
        </p:spPr>
      </p:pic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33400" y="4076700"/>
          <a:ext cx="11125200" cy="15621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83360"/>
                <a:gridCol w="4598416"/>
                <a:gridCol w="5043424"/>
              </a:tblGrid>
              <a:tr h="228600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</a:p>
                  </a:txBody>
                  <a:tcPr marL="85725" marR="66675" marT="28575" marB="28575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1차 방어 · 예측</a:t>
                      </a:r>
                    </a:p>
                  </a:txBody>
                  <a:tcPr marL="85725" marR="66675" marT="28575" marB="28575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2차 방어 · 반응</a:t>
                      </a:r>
                    </a:p>
                  </a:txBody>
                  <a:tcPr marL="85725" marR="66675" marT="28575" marB="28575" anchor="ctr">
                    <a:solidFill>
                      <a:srgbClr val="1E293B"/>
                    </a:solidFill>
                  </a:tcPr>
                </a:tc>
              </a:tr>
              <a:tr h="266700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50" b="0">
                          <a:solidFill>
                            <a:srgbClr val="0F172A"/>
                          </a:solidFill>
                          <a:latin typeface="맑은 고딕"/>
                        </a:rPr>
                        <a:t>센서</a:t>
                      </a:r>
                    </a:p>
                  </a:txBody>
                  <a:tcPr marL="85725" marR="6667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50" b="0">
                          <a:solidFill>
                            <a:srgbClr val="0F172A"/>
                          </a:solidFill>
                          <a:latin typeface="맑은 고딕"/>
                        </a:rPr>
                        <a:t>전방 카메라</a:t>
                      </a:r>
                    </a:p>
                  </a:txBody>
                  <a:tcPr marL="85725" marR="6667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50" b="0">
                          <a:solidFill>
                            <a:srgbClr val="0F172A"/>
                          </a:solidFill>
                          <a:latin typeface="맑은 고딕"/>
                        </a:rPr>
                        <a:t>IMU (횡가속 · yaw rate · 종가속)</a:t>
                      </a:r>
                    </a:p>
                  </a:txBody>
                  <a:tcPr marL="85725" marR="66675" marT="28575" marB="28575" anchor="ctr"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50" b="0">
                          <a:solidFill>
                            <a:srgbClr val="0F172A"/>
                          </a:solidFill>
                          <a:latin typeface="맑은 고딕"/>
                        </a:rPr>
                        <a:t>판단</a:t>
                      </a:r>
                    </a:p>
                  </a:txBody>
                  <a:tcPr marL="85725" marR="66675" marT="28575" marB="28575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50" b="0">
                          <a:solidFill>
                            <a:srgbClr val="0F172A"/>
                          </a:solidFill>
                          <a:latin typeface="맑은 고딕"/>
                        </a:rPr>
                        <a:t>노면 4분류 + 반사도 + 기상 맥락 → 위험도</a:t>
                      </a:r>
                    </a:p>
                  </a:txBody>
                  <a:tcPr marL="85725" marR="66675" marT="28575" marB="28575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50" b="0">
                          <a:solidFill>
                            <a:srgbClr val="0F172A"/>
                          </a:solidFill>
                          <a:latin typeface="맑은 고딕"/>
                        </a:rPr>
                        <a:t>칼만 필터 + 자전거 모델 잔차 → 미끄러짐 확정</a:t>
                      </a:r>
                    </a:p>
                  </a:txBody>
                  <a:tcPr marL="85725" marR="66675" marT="28575" marB="28575" anchor="ctr">
                    <a:solidFill>
                      <a:srgbClr val="F1F5F9"/>
                    </a:solidFill>
                  </a:tcPr>
                </a:tc>
              </a:tr>
              <a:tr h="266700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50" b="0">
                          <a:solidFill>
                            <a:srgbClr val="0F172A"/>
                          </a:solidFill>
                          <a:latin typeface="맑은 고딕"/>
                        </a:rPr>
                        <a:t>시점</a:t>
                      </a:r>
                    </a:p>
                  </a:txBody>
                  <a:tcPr marL="85725" marR="6667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50" b="0">
                          <a:solidFill>
                            <a:srgbClr val="0F172A"/>
                          </a:solidFill>
                          <a:latin typeface="맑은 고딕"/>
                        </a:rPr>
                        <a:t>빙판에 닿기 </a:t>
                      </a:r>
                      <a:r>
                        <a:rPr sz="1050" b="1">
                          <a:solidFill>
                            <a:srgbClr val="0F172A"/>
                          </a:solidFill>
                          <a:latin typeface="맑은 고딕"/>
                        </a:rPr>
                        <a:t>전</a:t>
                      </a:r>
                    </a:p>
                  </a:txBody>
                  <a:tcPr marL="85725" marR="6667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50" b="0">
                          <a:solidFill>
                            <a:srgbClr val="0F172A"/>
                          </a:solidFill>
                          <a:latin typeface="맑은 고딕"/>
                        </a:rPr>
                        <a:t>미끄러지기 </a:t>
                      </a:r>
                      <a:r>
                        <a:rPr sz="1050" b="1">
                          <a:solidFill>
                            <a:srgbClr val="0F172A"/>
                          </a:solidFill>
                          <a:latin typeface="맑은 고딕"/>
                        </a:rPr>
                        <a:t>시작한 뒤</a:t>
                      </a:r>
                    </a:p>
                  </a:txBody>
                  <a:tcPr marL="85725" marR="66675" marT="28575" marB="28575" anchor="ctr"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50" b="0">
                          <a:solidFill>
                            <a:srgbClr val="0F172A"/>
                          </a:solidFill>
                          <a:latin typeface="맑은 고딕"/>
                        </a:rPr>
                        <a:t>성격</a:t>
                      </a:r>
                    </a:p>
                  </a:txBody>
                  <a:tcPr marL="85725" marR="66675" marT="28575" marB="28575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50" b="0">
                          <a:solidFill>
                            <a:srgbClr val="0F172A"/>
                          </a:solidFill>
                          <a:latin typeface="맑은 고딕"/>
                        </a:rPr>
                        <a:t>똑똑하지만 틀릴 수 있다</a:t>
                      </a:r>
                    </a:p>
                  </a:txBody>
                  <a:tcPr marL="85725" marR="66675" marT="28575" marB="28575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50" b="0">
                          <a:solidFill>
                            <a:srgbClr val="0F172A"/>
                          </a:solidFill>
                          <a:latin typeface="맑은 고딕"/>
                        </a:rPr>
                        <a:t>단순하지만 제때 반드시 실행된다</a:t>
                      </a:r>
                    </a:p>
                  </a:txBody>
                  <a:tcPr marL="85725" marR="66675" marT="28575" marB="28575" anchor="ctr">
                    <a:solidFill>
                      <a:srgbClr val="F1F5F9"/>
                    </a:solidFill>
                  </a:tcPr>
                </a:tc>
              </a:tr>
              <a:tr h="266700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50" b="0">
                          <a:solidFill>
                            <a:srgbClr val="0F172A"/>
                          </a:solidFill>
                          <a:latin typeface="맑은 고딕"/>
                        </a:rPr>
                        <a:t>실행</a:t>
                      </a:r>
                    </a:p>
                  </a:txBody>
                  <a:tcPr marL="85725" marR="6667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50" b="0">
                          <a:solidFill>
                            <a:srgbClr val="0F172A"/>
                          </a:solidFill>
                          <a:latin typeface="맑은 고딕"/>
                        </a:rPr>
                        <a:t>STM32N6 NPU · 25 ms</a:t>
                      </a:r>
                    </a:p>
                  </a:txBody>
                  <a:tcPr marL="85725" marR="6667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50" b="0">
                          <a:solidFill>
                            <a:srgbClr val="0F172A"/>
                          </a:solidFill>
                          <a:latin typeface="맑은 고딕"/>
                        </a:rPr>
                        <a:t>STM32N6 + ThreadX · 최악 22.6 µs</a:t>
                      </a:r>
                    </a:p>
                  </a:txBody>
                  <a:tcPr marL="85725" marR="66675" marT="28575" marB="285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33400" y="419100"/>
            <a:ext cx="438150" cy="219075"/>
          </a:xfrm>
          <a:prstGeom prst="roundRect">
            <a:avLst>
              <a:gd name="adj" fmla="val 47826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33400" y="466725"/>
            <a:ext cx="4381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</a:rPr>
              <a:t>구현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375" y="381000"/>
            <a:ext cx="98298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F172A"/>
                </a:solidFill>
                <a:latin typeface="맑은 고딕"/>
              </a:rPr>
              <a:t>하드웨어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91850" y="457200"/>
            <a:ext cx="666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>
                <a:solidFill>
                  <a:srgbClr val="94A3B8"/>
                </a:solidFill>
                <a:latin typeface="맑은 고딕"/>
              </a:rPr>
              <a:t>5 /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400" y="800100"/>
            <a:ext cx="11125200" cy="1524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hw_n6.jpg"/>
          <p:cNvPicPr>
            <a:picLocks noChangeAspect="1"/>
          </p:cNvPicPr>
          <p:nvPr/>
        </p:nvPicPr>
        <p:blipFill>
          <a:blip r:embed="rId2"/>
          <a:srcRect t="1366" b="1366"/>
          <a:stretch>
            <a:fillRect/>
          </a:stretch>
        </p:blipFill>
        <p:spPr>
          <a:xfrm>
            <a:off x="533400" y="933450"/>
            <a:ext cx="2702719" cy="262890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33400" y="3600450"/>
            <a:ext cx="2702719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19" b="1">
                <a:solidFill>
                  <a:srgbClr val="64748B"/>
                </a:solidFill>
                <a:latin typeface="맑은 고딕"/>
              </a:rPr>
              <a:t>STM32N6570-DK</a:t>
            </a:r>
            <a:r>
              <a:rPr sz="919" b="0">
                <a:solidFill>
                  <a:srgbClr val="64748B"/>
                </a:solidFill>
                <a:latin typeface="맑은 고딕"/>
              </a:rPr>
              <a:t> + AI 카메라 MB1854B</a:t>
            </a:r>
            <a:br/>
            <a:r>
              <a:rPr sz="919" b="0">
                <a:solidFill>
                  <a:srgbClr val="64748B"/>
                </a:solidFill>
                <a:latin typeface="맑은 고딕"/>
              </a:rPr>
              <a:t>왼쪽은 보조배터리, 위는 NVMe SSD</a:t>
            </a:r>
          </a:p>
        </p:txBody>
      </p:sp>
      <p:pic>
        <p:nvPicPr>
          <p:cNvPr id="10" name="Picture 9" descr="hw_pi_stack.jpg"/>
          <p:cNvPicPr>
            <a:picLocks noChangeAspect="1"/>
          </p:cNvPicPr>
          <p:nvPr/>
        </p:nvPicPr>
        <p:blipFill>
          <a:blip r:embed="rId3"/>
          <a:srcRect t="13333" b="13333"/>
          <a:stretch>
            <a:fillRect/>
          </a:stretch>
        </p:blipFill>
        <p:spPr>
          <a:xfrm>
            <a:off x="3340894" y="933450"/>
            <a:ext cx="2702719" cy="262890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3340894" y="3600450"/>
            <a:ext cx="2702719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19" b="1">
                <a:solidFill>
                  <a:srgbClr val="64748B"/>
                </a:solidFill>
                <a:latin typeface="맑은 고딕"/>
              </a:rPr>
              <a:t>Raspberry Pi 5 16 GB + AI HAT+ 2</a:t>
            </a:r>
            <a:br/>
            <a:r>
              <a:rPr sz="919" b="0">
                <a:solidFill>
                  <a:srgbClr val="64748B"/>
                </a:solidFill>
                <a:latin typeface="맑은 고딕"/>
              </a:rPr>
              <a:t>KKSB 케이스 · 액티브 쿨러</a:t>
            </a:r>
          </a:p>
        </p:txBody>
      </p:sp>
      <p:pic>
        <p:nvPicPr>
          <p:cNvPr id="12" name="Picture 11" descr="hw_d435i_nvme.jpg"/>
          <p:cNvPicPr>
            <a:picLocks noChangeAspect="1"/>
          </p:cNvPicPr>
          <p:nvPr/>
        </p:nvPicPr>
        <p:blipFill>
          <a:blip r:embed="rId4"/>
          <a:srcRect t="13079" b="13079"/>
          <a:stretch>
            <a:fillRect/>
          </a:stretch>
        </p:blipFill>
        <p:spPr>
          <a:xfrm>
            <a:off x="6148388" y="933450"/>
            <a:ext cx="2702719" cy="262890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6148388" y="3600450"/>
            <a:ext cx="2702719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19" b="1">
                <a:solidFill>
                  <a:srgbClr val="64748B"/>
                </a:solidFill>
                <a:latin typeface="맑은 고딕"/>
              </a:rPr>
              <a:t>RealSense D435i</a:t>
            </a:r>
            <a:r>
              <a:rPr sz="919" b="0">
                <a:solidFill>
                  <a:srgbClr val="64748B"/>
                </a:solidFill>
                <a:latin typeface="맑은 고딕"/>
              </a:rPr>
              <a:t> (RGB·뎁스·IMU)</a:t>
            </a:r>
            <a:br/>
            <a:r>
              <a:rPr sz="919" b="0">
                <a:solidFill>
                  <a:srgbClr val="64748B"/>
                </a:solidFill>
                <a:latin typeface="맑은 고딕"/>
              </a:rPr>
              <a:t>NVMe 1 TB SSD 외장</a:t>
            </a:r>
          </a:p>
        </p:txBody>
      </p:sp>
      <p:pic>
        <p:nvPicPr>
          <p:cNvPr id="14" name="Picture 13" descr="hw_moza.jpg"/>
          <p:cNvPicPr>
            <a:picLocks noChangeAspect="1"/>
          </p:cNvPicPr>
          <p:nvPr/>
        </p:nvPicPr>
        <p:blipFill>
          <a:blip r:embed="rId5"/>
          <a:srcRect t="1366" b="1366"/>
          <a:stretch>
            <a:fillRect/>
          </a:stretch>
        </p:blipFill>
        <p:spPr>
          <a:xfrm>
            <a:off x="8955881" y="933450"/>
            <a:ext cx="2702719" cy="262890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8955881" y="3600450"/>
            <a:ext cx="2702719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19" b="1">
                <a:solidFill>
                  <a:srgbClr val="64748B"/>
                </a:solidFill>
                <a:latin typeface="맑은 고딕"/>
              </a:rPr>
              <a:t>Moza 휠 · 페달</a:t>
            </a:r>
            <a:r>
              <a:rPr sz="919" b="0">
                <a:solidFill>
                  <a:srgbClr val="64748B"/>
                </a:solidFill>
                <a:latin typeface="맑은 고딕"/>
              </a:rPr>
              <a:t> — 사람이 직접 CARLA 를 운전하는 경로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33400" y="4191000"/>
          <a:ext cx="11125200" cy="1752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50883"/>
                <a:gridCol w="3836276"/>
                <a:gridCol w="6138041"/>
              </a:tblGrid>
              <a:tr h="228600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69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marL="85725" marR="66675" marT="28575" marB="28575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69" b="1">
                          <a:solidFill>
                            <a:srgbClr val="FFFFFF"/>
                          </a:solidFill>
                          <a:latin typeface="맑은 고딕"/>
                        </a:rPr>
                        <a:t>정식 명칭</a:t>
                      </a:r>
                    </a:p>
                  </a:txBody>
                  <a:tcPr marL="85725" marR="66675" marT="28575" marB="28575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69" b="1">
                          <a:solidFill>
                            <a:srgbClr val="FFFFFF"/>
                          </a:solidFill>
                          <a:latin typeface="맑은 고딕"/>
                        </a:rPr>
                        <a:t>역할</a:t>
                      </a:r>
                    </a:p>
                  </a:txBody>
                  <a:tcPr marL="85725" marR="66675" marT="28575" marB="28575" anchor="ctr">
                    <a:solidFill>
                      <a:srgbClr val="1E293B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19" b="0">
                          <a:solidFill>
                            <a:srgbClr val="0F172A"/>
                          </a:solidFill>
                          <a:latin typeface="맑은 고딕"/>
                        </a:rPr>
                        <a:t>메인 보드</a:t>
                      </a:r>
                    </a:p>
                  </a:txBody>
                  <a:tcPr marL="85725" marR="6667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19" b="1">
                          <a:solidFill>
                            <a:srgbClr val="0F172A"/>
                          </a:solidFill>
                          <a:latin typeface="맑은 고딕"/>
                        </a:rPr>
                        <a:t>STM32N6570-DK</a:t>
                      </a:r>
                      <a:r>
                        <a:rPr sz="1019" b="0">
                          <a:solidFill>
                            <a:srgbClr val="0F172A"/>
                          </a:solidFill>
                          <a:latin typeface="맑은 고딕"/>
                        </a:rPr>
                        <a:t> (MB1939-N6570-C02 + MB1860B)</a:t>
                      </a:r>
                    </a:p>
                  </a:txBody>
                  <a:tcPr marL="85725" marR="6667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19" b="0">
                          <a:solidFill>
                            <a:srgbClr val="0F172A"/>
                          </a:solidFill>
                          <a:latin typeface="맑은 고딕"/>
                        </a:rPr>
                        <a:t>1차 NPU 추론(Neural-ART @ 1 GHz) + 2차 ThreadX 실시간 판정·제어. </a:t>
                      </a:r>
                      <a:r>
                        <a:rPr sz="1019" b="1">
                          <a:solidFill>
                            <a:srgbClr val="0F172A"/>
                          </a:solidFill>
                          <a:latin typeface="맑은 고딕"/>
                        </a:rPr>
                        <a:t>두 임계도가 한 보드에 공존한다</a:t>
                      </a:r>
                    </a:p>
                  </a:txBody>
                  <a:tcPr marL="85725" marR="66675" marT="28575" marB="28575"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19" b="0">
                          <a:solidFill>
                            <a:srgbClr val="0F172A"/>
                          </a:solidFill>
                          <a:latin typeface="맑은 고딕"/>
                        </a:rPr>
                        <a:t>카메라</a:t>
                      </a:r>
                    </a:p>
                  </a:txBody>
                  <a:tcPr marL="85725" marR="66675" marT="28575" marB="28575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19" b="1">
                          <a:solidFill>
                            <a:srgbClr val="0F172A"/>
                          </a:solidFill>
                          <a:latin typeface="맑은 고딕"/>
                        </a:rPr>
                        <a:t>ST AI Camera module MB1854B</a:t>
                      </a:r>
                    </a:p>
                  </a:txBody>
                  <a:tcPr marL="85725" marR="66675" marT="28575" marB="28575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19" b="0">
                          <a:solidFill>
                            <a:srgbClr val="0F172A"/>
                          </a:solidFill>
                          <a:latin typeface="맑은 고딕"/>
                        </a:rPr>
                        <a:t>1차 방어 입력. 보드에 직결되어 NPU 로 바로 들어간다</a:t>
                      </a:r>
                    </a:p>
                  </a:txBody>
                  <a:tcPr marL="85725" marR="66675" marT="28575" marB="28575" anchor="ctr">
                    <a:solidFill>
                      <a:srgbClr val="F1F5F9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19" b="0">
                          <a:solidFill>
                            <a:srgbClr val="0F172A"/>
                          </a:solidFill>
                          <a:latin typeface="맑은 고딕"/>
                        </a:rPr>
                        <a:t>호스트</a:t>
                      </a:r>
                    </a:p>
                  </a:txBody>
                  <a:tcPr marL="85725" marR="6667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19" b="1">
                          <a:solidFill>
                            <a:srgbClr val="0F172A"/>
                          </a:solidFill>
                          <a:latin typeface="맑은 고딕"/>
                        </a:rPr>
                        <a:t>Raspberry Pi 5 16 GB + AI HAT+ 2 (Hailo-10H)</a:t>
                      </a:r>
                    </a:p>
                  </a:txBody>
                  <a:tcPr marL="85725" marR="6667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19" b="0">
                          <a:solidFill>
                            <a:srgbClr val="0F172A"/>
                          </a:solidFill>
                          <a:latin typeface="맑은 고딕"/>
                        </a:rPr>
                        <a:t>기상 맥락 생성, ZMQ 브리지, 교차 검증용 NPU (대회 필수 보드)</a:t>
                      </a:r>
                    </a:p>
                  </a:txBody>
                  <a:tcPr marL="85725" marR="66675" marT="28575" marB="28575"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19" b="0">
                          <a:solidFill>
                            <a:srgbClr val="0F172A"/>
                          </a:solidFill>
                          <a:latin typeface="맑은 고딕"/>
                        </a:rPr>
                        <a:t>저장·전원</a:t>
                      </a:r>
                    </a:p>
                  </a:txBody>
                  <a:tcPr marL="85725" marR="66675" marT="28575" marB="28575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19" b="1">
                          <a:solidFill>
                            <a:srgbClr val="0F172A"/>
                          </a:solidFill>
                          <a:latin typeface="맑은 고딕"/>
                        </a:rPr>
                        <a:t>NVMe 1 TB SSD 외장 · 보조배터리</a:t>
                      </a:r>
                    </a:p>
                  </a:txBody>
                  <a:tcPr marL="85725" marR="66675" marT="28575" marB="28575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19" b="0">
                          <a:solidFill>
                            <a:srgbClr val="0F172A"/>
                          </a:solidFill>
                          <a:latin typeface="맑은 고딕"/>
                        </a:rPr>
                        <a:t>데이터셋·주행 로그 적재 / 콘센트 없이 같은 구성을 돌리기 위한 것</a:t>
                      </a:r>
                    </a:p>
                  </a:txBody>
                  <a:tcPr marL="85725" marR="66675" marT="28575" marB="28575" anchor="ctr">
                    <a:solidFill>
                      <a:srgbClr val="F1F5F9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19" b="0">
                          <a:solidFill>
                            <a:srgbClr val="0F172A"/>
                          </a:solidFill>
                          <a:latin typeface="맑은 고딕"/>
                        </a:rPr>
                        <a:t>센서·렌더</a:t>
                      </a:r>
                    </a:p>
                  </a:txBody>
                  <a:tcPr marL="85725" marR="6667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19" b="1">
                          <a:solidFill>
                            <a:srgbClr val="0F172A"/>
                          </a:solidFill>
                          <a:latin typeface="맑은 고딕"/>
                        </a:rPr>
                        <a:t>Intel RealSense D435i · RTX 5090</a:t>
                      </a:r>
                    </a:p>
                  </a:txBody>
                  <a:tcPr marL="85725" marR="6667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19" b="0">
                          <a:solidFill>
                            <a:srgbClr val="0F172A"/>
                          </a:solidFill>
                          <a:latin typeface="맑은 고딕"/>
                        </a:rPr>
                        <a:t>실측 IMU 노이즈 확보 / CARLA 0.9.16 물리·센서 제공</a:t>
                      </a:r>
                    </a:p>
                  </a:txBody>
                  <a:tcPr marL="85725" marR="66675" marT="28575" marB="285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33400" y="419100"/>
            <a:ext cx="438150" cy="219075"/>
          </a:xfrm>
          <a:prstGeom prst="roundRect">
            <a:avLst>
              <a:gd name="adj" fmla="val 47826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33400" y="466725"/>
            <a:ext cx="4381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</a:rPr>
              <a:t>구현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375" y="381000"/>
            <a:ext cx="98298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F172A"/>
                </a:solidFill>
                <a:latin typeface="맑은 고딕"/>
              </a:rPr>
              <a:t>개발계획서 대비 변경점과 그 이유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91850" y="457200"/>
            <a:ext cx="666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>
                <a:solidFill>
                  <a:srgbClr val="94A3B8"/>
                </a:solidFill>
                <a:latin typeface="맑은 고딕"/>
              </a:rPr>
              <a:t>6 /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400" y="800100"/>
            <a:ext cx="11125200" cy="1524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33400" y="933450"/>
          <a:ext cx="11125200" cy="21145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96372"/>
                <a:gridCol w="1951789"/>
                <a:gridCol w="2212028"/>
                <a:gridCol w="5465011"/>
              </a:tblGrid>
              <a:tr h="209550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30" b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 marL="85725" marR="66675" marT="28575" marB="28575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30" b="1">
                          <a:solidFill>
                            <a:srgbClr val="FFFFFF"/>
                          </a:solidFill>
                          <a:latin typeface="맑은 고딕"/>
                        </a:rPr>
                        <a:t>개발계획서(6월)</a:t>
                      </a:r>
                    </a:p>
                  </a:txBody>
                  <a:tcPr marL="85725" marR="66675" marT="28575" marB="28575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30" b="1">
                          <a:solidFill>
                            <a:srgbClr val="FFFFFF"/>
                          </a:solidFill>
                          <a:latin typeface="맑은 고딕"/>
                        </a:rPr>
                        <a:t>실제 구현</a:t>
                      </a:r>
                    </a:p>
                  </a:txBody>
                  <a:tcPr marL="85725" marR="66675" marT="28575" marB="28575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30" b="1">
                          <a:solidFill>
                            <a:srgbClr val="FFFFFF"/>
                          </a:solidFill>
                          <a:latin typeface="맑은 고딕"/>
                        </a:rPr>
                        <a:t>바꾼 이유</a:t>
                      </a:r>
                    </a:p>
                  </a:txBody>
                  <a:tcPr marL="85725" marR="66675" marT="28575" marB="28575" anchor="ctr">
                    <a:solidFill>
                      <a:srgbClr val="1E293B"/>
                    </a:solidFill>
                  </a:tcPr>
                </a:tc>
              </a:tr>
              <a:tr h="476250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80" b="0">
                          <a:solidFill>
                            <a:srgbClr val="0F172A"/>
                          </a:solidFill>
                          <a:latin typeface="맑은 고딕"/>
                        </a:rPr>
                        <a:t>2차 방어 실행 환경</a:t>
                      </a:r>
                    </a:p>
                  </a:txBody>
                  <a:tcPr marL="85725" marR="6667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80" b="0">
                          <a:solidFill>
                            <a:srgbClr val="0F172A"/>
                          </a:solidFill>
                          <a:latin typeface="맑은 고딕"/>
                        </a:rPr>
                        <a:t>Pi 5 + 리눅스</a:t>
                      </a:r>
                    </a:p>
                  </a:txBody>
                  <a:tcPr marL="85725" marR="6667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80" b="1">
                          <a:solidFill>
                            <a:srgbClr val="0F172A"/>
                          </a:solidFill>
                          <a:latin typeface="맑은 고딕"/>
                        </a:rPr>
                        <a:t>STM32N6 + ThreadX RTOS</a:t>
                      </a:r>
                    </a:p>
                  </a:txBody>
                  <a:tcPr marL="85725" marR="6667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80" b="0">
                          <a:solidFill>
                            <a:srgbClr val="0F172A"/>
                          </a:solidFill>
                          <a:latin typeface="맑은 고딕"/>
                        </a:rPr>
                        <a:t>리눅스 최악 깨어남 지연이 </a:t>
                      </a:r>
                      <a:r>
                        <a:rPr sz="980" b="1">
                          <a:solidFill>
                            <a:srgbClr val="0F172A"/>
                          </a:solidFill>
                          <a:latin typeface="맑은 고딕"/>
                        </a:rPr>
                        <a:t>5,790 µs</a:t>
                      </a:r>
                      <a:r>
                        <a:rPr sz="980" b="0">
                          <a:solidFill>
                            <a:srgbClr val="0F172A"/>
                          </a:solidFill>
                          <a:latin typeface="맑은 고딕"/>
                        </a:rPr>
                        <a:t>로 측정됐다. 제어 주기 20 ms의 29 %를 한 번의 지터가 먹는다. 평균이 아니라 </a:t>
                      </a:r>
                      <a:r>
                        <a:rPr sz="980" b="1">
                          <a:solidFill>
                            <a:srgbClr val="0F172A"/>
                          </a:solidFill>
                          <a:latin typeface="맑은 고딕"/>
                        </a:rPr>
                        <a:t>꼬리</a:t>
                      </a:r>
                      <a:r>
                        <a:rPr sz="980" b="0">
                          <a:solidFill>
                            <a:srgbClr val="0F172A"/>
                          </a:solidFill>
                          <a:latin typeface="맑은 고딕"/>
                        </a:rPr>
                        <a:t>가 안전 기능의 기준이다</a:t>
                      </a:r>
                    </a:p>
                  </a:txBody>
                  <a:tcPr marL="85725" marR="66675" marT="28575" marB="28575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80" b="0">
                          <a:solidFill>
                            <a:srgbClr val="0F172A"/>
                          </a:solidFill>
                          <a:latin typeface="맑은 고딕"/>
                        </a:rPr>
                        <a:t>1차 NPU</a:t>
                      </a:r>
                    </a:p>
                  </a:txBody>
                  <a:tcPr marL="85725" marR="66675" marT="28575" marB="28575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80" b="0">
                          <a:solidFill>
                            <a:srgbClr val="0F172A"/>
                          </a:solidFill>
                          <a:latin typeface="맑은 고딕"/>
                        </a:rPr>
                        <a:t>Hailo-10H 단독</a:t>
                      </a:r>
                    </a:p>
                  </a:txBody>
                  <a:tcPr marL="85725" marR="66675" marT="28575" marB="28575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80" b="1">
                          <a:solidFill>
                            <a:srgbClr val="0F172A"/>
                          </a:solidFill>
                          <a:latin typeface="맑은 고딕"/>
                        </a:rPr>
                        <a:t>Neural-ART(N6) 주 · Hailo 교차검증</a:t>
                      </a:r>
                    </a:p>
                  </a:txBody>
                  <a:tcPr marL="85725" marR="66675" marT="28575" marB="28575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80" b="0">
                          <a:solidFill>
                            <a:srgbClr val="0F172A"/>
                          </a:solidFill>
                          <a:latin typeface="맑은 고딕"/>
                        </a:rPr>
                        <a:t>Hailo Dataflow Compiler 를 확보하지 못해 int8 변환 경로를 열지 못했다. 1·2차를 한 보드에 올리는 편이 선점 구조를 증명하기에도 맞다</a:t>
                      </a:r>
                    </a:p>
                  </a:txBody>
                  <a:tcPr marL="85725" marR="66675" marT="28575" marB="28575" anchor="ctr">
                    <a:solidFill>
                      <a:srgbClr val="F1F5F9"/>
                    </a:solidFill>
                  </a:tcPr>
                </a:tc>
              </a:tr>
              <a:tr h="476250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80" b="0">
                          <a:solidFill>
                            <a:srgbClr val="0F172A"/>
                          </a:solidFill>
                          <a:latin typeface="맑은 고딕"/>
                        </a:rPr>
                        <a:t>검증 방법</a:t>
                      </a:r>
                    </a:p>
                  </a:txBody>
                  <a:tcPr marL="85725" marR="6667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80" b="0">
                          <a:solidFill>
                            <a:srgbClr val="0F172A"/>
                          </a:solidFill>
                          <a:latin typeface="맑은 고딕"/>
                        </a:rPr>
                        <a:t>1/5 차량 저마찰 노면 실측</a:t>
                      </a:r>
                    </a:p>
                  </a:txBody>
                  <a:tcPr marL="85725" marR="6667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80" b="1">
                          <a:solidFill>
                            <a:srgbClr val="0F172A"/>
                          </a:solidFill>
                          <a:latin typeface="맑은 고딕"/>
                        </a:rPr>
                        <a:t>HIL (실물 보드 + CARLA) + 실사진 69,358장</a:t>
                      </a:r>
                    </a:p>
                  </a:txBody>
                  <a:tcPr marL="85725" marR="6667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80" b="0">
                          <a:solidFill>
                            <a:srgbClr val="0F172A"/>
                          </a:solidFill>
                          <a:latin typeface="맑은 고딕"/>
                        </a:rPr>
                        <a:t>실물 빙판을 재현 가능하게 만들기 어렵다. 대신 </a:t>
                      </a:r>
                      <a:r>
                        <a:rPr sz="980" b="1">
                          <a:solidFill>
                            <a:srgbClr val="0F172A"/>
                          </a:solidFill>
                          <a:latin typeface="맑은 고딕"/>
                        </a:rPr>
                        <a:t>펌웨어는 실물 보드에서 그대로 돌리고</a:t>
                      </a:r>
                      <a:r>
                        <a:rPr sz="980" b="0">
                          <a:solidFill>
                            <a:srgbClr val="0F172A"/>
                          </a:solidFill>
                          <a:latin typeface="맑은 고딕"/>
                        </a:rPr>
                        <a:t>, 비전 성능은 시뮬 화면이 아닌 실제 도로 사진으로 측정했다</a:t>
                      </a:r>
                    </a:p>
                  </a:txBody>
                  <a:tcPr marL="85725" marR="66675" marT="28575" marB="28575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80" b="0">
                          <a:solidFill>
                            <a:srgbClr val="0F172A"/>
                          </a:solidFill>
                          <a:latin typeface="맑은 고딕"/>
                        </a:rPr>
                        <a:t>노면 클래스</a:t>
                      </a:r>
                    </a:p>
                  </a:txBody>
                  <a:tcPr marL="85725" marR="66675" marT="28575" marB="28575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80" b="0">
                          <a:solidFill>
                            <a:srgbClr val="0F172A"/>
                          </a:solidFill>
                          <a:latin typeface="맑은 고딕"/>
                        </a:rPr>
                        <a:t>정상 / 젖음 / 결빙 위험 / 포트홀</a:t>
                      </a:r>
                    </a:p>
                  </a:txBody>
                  <a:tcPr marL="85725" marR="66675" marT="28575" marB="28575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80" b="0">
                          <a:solidFill>
                            <a:srgbClr val="0F172A"/>
                          </a:solidFill>
                          <a:latin typeface="맑은 고딕"/>
                        </a:rPr>
                        <a:t>동일 (유지)</a:t>
                      </a:r>
                    </a:p>
                  </a:txBody>
                  <a:tcPr marL="85725" marR="66675" marT="28575" marB="28575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80" b="0">
                          <a:solidFill>
                            <a:srgbClr val="0F172A"/>
                          </a:solidFill>
                          <a:latin typeface="맑은 고딕"/>
                        </a:rPr>
                        <a:t>RSCD 27클래스 → 4클래스 매핑을 계획대로 적용</a:t>
                      </a:r>
                    </a:p>
                  </a:txBody>
                  <a:tcPr marL="85725" marR="66675" marT="28575" marB="28575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pic>
        <p:nvPicPr>
          <p:cNvPr id="9" name="Picture 8" descr="rtos_latenc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539" y="3162300"/>
            <a:ext cx="3060123" cy="177165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33400" y="4972050"/>
            <a:ext cx="54864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19" b="1">
                <a:solidFill>
                  <a:srgbClr val="64748B"/>
                </a:solidFill>
                <a:latin typeface="맑은 고딕"/>
              </a:rPr>
              <a:t>1번 변경의 근거</a:t>
            </a:r>
            <a:r>
              <a:rPr sz="919" b="0">
                <a:solidFill>
                  <a:srgbClr val="64748B"/>
                </a:solidFill>
                <a:latin typeface="맑은 고딕"/>
              </a:rPr>
              <a:t> — 같은 연산의 지연 분포. 리눅스는 꼬리가 길다</a:t>
            </a:r>
          </a:p>
        </p:txBody>
      </p:sp>
      <p:pic>
        <p:nvPicPr>
          <p:cNvPr id="11" name="Picture 10" descr="schedule_inverte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6333" y="3162300"/>
            <a:ext cx="4738134" cy="177165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6172200" y="4972050"/>
            <a:ext cx="54864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19" b="1">
                <a:solidFill>
                  <a:srgbClr val="64748B"/>
                </a:solidFill>
                <a:latin typeface="맑은 고딕"/>
              </a:rPr>
              <a:t>2번 변경의 근거</a:t>
            </a:r>
            <a:r>
              <a:rPr sz="919" b="0">
                <a:solidFill>
                  <a:srgbClr val="64748B"/>
                </a:solidFill>
                <a:latin typeface="맑은 고딕"/>
              </a:rPr>
              <a:t> — 우선순위를 뒤집으면 NPU 추론(25 ms)이 IMU 주기(20 ms)를 막는다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3400" y="5219700"/>
            <a:ext cx="11125200" cy="1143000"/>
          </a:xfrm>
          <a:prstGeom prst="roundRect">
            <a:avLst>
              <a:gd name="adj" fmla="val 58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33400" y="5219700"/>
            <a:ext cx="38100" cy="11430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76275" y="5314950"/>
            <a:ext cx="10858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F172A"/>
                </a:solidFill>
                <a:latin typeface="맑은 고딕"/>
              </a:rPr>
              <a:t>바뀌지 않은 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275" y="5569744"/>
            <a:ext cx="10858500" cy="7167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500"/>
              </a:spcAft>
            </a:pPr>
            <a:r>
              <a:rPr sz="1050" b="0">
                <a:solidFill>
                  <a:srgbClr val="334155"/>
                </a:solidFill>
                <a:latin typeface="맑은 고딕"/>
              </a:rPr>
              <a:t>이중 안전망이라는 </a:t>
            </a:r>
            <a:r>
              <a:rPr sz="1050" b="1">
                <a:solidFill>
                  <a:srgbClr val="334155"/>
                </a:solidFill>
                <a:latin typeface="맑은 고딕"/>
              </a:rPr>
              <a:t>구조</a:t>
            </a:r>
            <a:r>
              <a:rPr sz="1050" b="0">
                <a:solidFill>
                  <a:srgbClr val="334155"/>
                </a:solidFill>
                <a:latin typeface="맑은 고딕"/>
              </a:rPr>
              <a:t>와, '블랙아이스를 직접 맞히지 않고 위험도를 올린다'는 </a:t>
            </a:r>
            <a:r>
              <a:rPr sz="1050" b="1">
                <a:solidFill>
                  <a:srgbClr val="334155"/>
                </a:solidFill>
                <a:latin typeface="맑은 고딕"/>
              </a:rPr>
              <a:t>1차 전략</a:t>
            </a:r>
            <a:r>
              <a:rPr sz="1050" b="0">
                <a:solidFill>
                  <a:srgbClr val="334155"/>
                </a:solidFill>
                <a:latin typeface="맑은 고딕"/>
              </a:rPr>
              <a:t>, '노면 라벨과 무관하게 차량 거동으로 확정한다'는 </a:t>
            </a:r>
            <a:r>
              <a:rPr sz="1050" b="1">
                <a:solidFill>
                  <a:srgbClr val="334155"/>
                </a:solidFill>
                <a:latin typeface="맑은 고딕"/>
              </a:rPr>
              <a:t>2차 전략</a:t>
            </a:r>
            <a:r>
              <a:rPr sz="1050" b="0">
                <a:solidFill>
                  <a:srgbClr val="334155"/>
                </a:solidFill>
                <a:latin typeface="맑은 고딕"/>
              </a:rPr>
              <a:t>은 계획서 그대로다. 바뀐 것은 전부 </a:t>
            </a:r>
            <a:r>
              <a:rPr sz="1050" b="1">
                <a:solidFill>
                  <a:srgbClr val="334155"/>
                </a:solidFill>
                <a:latin typeface="맑은 고딕"/>
              </a:rPr>
              <a:t>그 구조를 더 확실히 증명하기 위한 수단</a:t>
            </a:r>
            <a:r>
              <a:rPr sz="1050" b="0">
                <a:solidFill>
                  <a:srgbClr val="334155"/>
                </a:solidFill>
                <a:latin typeface="맑은 고딕"/>
              </a:rPr>
              <a:t>이다.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33400" y="419100"/>
            <a:ext cx="561975" cy="219075"/>
          </a:xfrm>
          <a:prstGeom prst="roundRect">
            <a:avLst>
              <a:gd name="adj" fmla="val 47826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33400" y="466725"/>
            <a:ext cx="56197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</a:rPr>
              <a:t>데이터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9200" y="381000"/>
            <a:ext cx="9705975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F172A"/>
                </a:solidFill>
                <a:latin typeface="맑은 고딕"/>
              </a:rPr>
              <a:t>데이터 전략 — 모델 헤드별 정답을 먼저 정의했다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91850" y="457200"/>
            <a:ext cx="666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>
                <a:solidFill>
                  <a:srgbClr val="94A3B8"/>
                </a:solidFill>
                <a:latin typeface="맑은 고딕"/>
              </a:rPr>
              <a:t>7 /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400" y="800100"/>
            <a:ext cx="11125200" cy="1524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33400" y="933450"/>
            <a:ext cx="111252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334155"/>
                </a:solidFill>
                <a:latin typeface="맑은 고딕"/>
              </a:rPr>
              <a:t>데이터셋을 먼저 고르지 않았다. 각 헤드가 무엇을 정답으로 배워야 하는지를 정의한 뒤 거기에 맞는 공개 데이터셋을 매핑했다.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33400" y="5943600"/>
            <a:ext cx="1112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33400" y="6019800"/>
            <a:ext cx="111252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60" b="0">
                <a:solidFill>
                  <a:srgbClr val="64748B"/>
                </a:solidFill>
                <a:latin typeface="맑은 고딕"/>
              </a:rPr>
              <a:t>데이터셋 그림은 각 공개 데이터셋의 논문·공식 사이트에서 가져온 설명 목적의 인용이며, 라이선스는 저장소 NOTICE 에 명시했다.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33400" y="1200150"/>
          <a:ext cx="5486400" cy="20097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8640"/>
                <a:gridCol w="2286000"/>
                <a:gridCol w="1097280"/>
                <a:gridCol w="1554480"/>
              </a:tblGrid>
              <a:tr h="209550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30" b="1">
                          <a:solidFill>
                            <a:srgbClr val="FFFFFF"/>
                          </a:solidFill>
                          <a:latin typeface="맑은 고딕"/>
                        </a:rPr>
                        <a:t>방어</a:t>
                      </a:r>
                    </a:p>
                  </a:txBody>
                  <a:tcPr marL="85725" marR="66675" marT="28575" marB="28575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30" b="1">
                          <a:solidFill>
                            <a:srgbClr val="FFFFFF"/>
                          </a:solidFill>
                          <a:latin typeface="맑은 고딕"/>
                        </a:rPr>
                        <a:t>필요한 정답(label)</a:t>
                      </a:r>
                    </a:p>
                  </a:txBody>
                  <a:tcPr marL="85725" marR="66675" marT="28575" marB="28575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30" b="1">
                          <a:solidFill>
                            <a:srgbClr val="FFFFFF"/>
                          </a:solidFill>
                          <a:latin typeface="맑은 고딕"/>
                        </a:rPr>
                        <a:t>데이터셋</a:t>
                      </a:r>
                    </a:p>
                  </a:txBody>
                  <a:tcPr marL="85725" marR="66675" marT="28575" marB="28575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30" b="1">
                          <a:solidFill>
                            <a:srgbClr val="FFFFFF"/>
                          </a:solidFill>
                          <a:latin typeface="맑은 고딕"/>
                        </a:rPr>
                        <a:t>활용</a:t>
                      </a:r>
                    </a:p>
                  </a:txBody>
                  <a:tcPr marL="85725" marR="66675" marT="28575" marB="28575" anchor="ctr">
                    <a:solidFill>
                      <a:srgbClr val="1E293B"/>
                    </a:solidFill>
                  </a:tcPr>
                </a:tc>
              </a:tr>
              <a:tr h="257175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80" b="0">
                          <a:solidFill>
                            <a:srgbClr val="0F172A"/>
                          </a:solidFill>
                          <a:latin typeface="맑은 고딕"/>
                        </a:rPr>
                        <a:t>1차</a:t>
                      </a:r>
                    </a:p>
                  </a:txBody>
                  <a:tcPr marL="85725" marR="6667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80" b="0">
                          <a:solidFill>
                            <a:srgbClr val="0F172A"/>
                          </a:solidFill>
                          <a:latin typeface="맑은 고딕"/>
                        </a:rPr>
                        <a:t>건조 / 젖음 / 눈 / 결빙 클래스</a:t>
                      </a:r>
                    </a:p>
                  </a:txBody>
                  <a:tcPr marL="85725" marR="6667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80" b="1">
                          <a:solidFill>
                            <a:srgbClr val="0F172A"/>
                          </a:solidFill>
                          <a:latin typeface="맑은 고딕"/>
                        </a:rPr>
                        <a:t>RSCD</a:t>
                      </a:r>
                    </a:p>
                  </a:txBody>
                  <a:tcPr marL="85725" marR="6667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80" b="0">
                          <a:solidFill>
                            <a:srgbClr val="0F172A"/>
                          </a:solidFill>
                          <a:latin typeface="맑은 고딕"/>
                        </a:rPr>
                        <a:t>주 학습 (사전학습)</a:t>
                      </a:r>
                    </a:p>
                  </a:txBody>
                  <a:tcPr marL="85725" marR="66675" marT="28575" marB="28575" anchor="ctr">
                    <a:solidFill>
                      <a:srgbClr val="FFFFFF"/>
                    </a:solidFill>
                  </a:tcPr>
                </a:tc>
              </a:tr>
              <a:tr h="257175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80" b="0">
                          <a:solidFill>
                            <a:srgbClr val="0F172A"/>
                          </a:solidFill>
                          <a:latin typeface="맑은 고딕"/>
                        </a:rPr>
                        <a:t>1차</a:t>
                      </a:r>
                    </a:p>
                  </a:txBody>
                  <a:tcPr marL="85725" marR="66675" marT="28575" marB="28575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80" b="0">
                          <a:solidFill>
                            <a:srgbClr val="0F172A"/>
                          </a:solidFill>
                          <a:latin typeface="맑은 고딕"/>
                        </a:rPr>
                        <a:t>실측 수막 두께 (센서 GT)</a:t>
                      </a:r>
                    </a:p>
                  </a:txBody>
                  <a:tcPr marL="85725" marR="66675" marT="28575" marB="28575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80" b="1">
                          <a:solidFill>
                            <a:srgbClr val="0F172A"/>
                          </a:solidFill>
                          <a:latin typeface="맑은 고딕"/>
                        </a:rPr>
                        <a:t>RoadSaW</a:t>
                      </a:r>
                    </a:p>
                  </a:txBody>
                  <a:tcPr marL="85725" marR="66675" marT="28575" marB="28575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80" b="0">
                          <a:solidFill>
                            <a:srgbClr val="0F172A"/>
                          </a:solidFill>
                          <a:latin typeface="맑은 고딕"/>
                        </a:rPr>
                        <a:t>반사도 헤드 근거</a:t>
                      </a:r>
                    </a:p>
                  </a:txBody>
                  <a:tcPr marL="85725" marR="66675" marT="28575" marB="28575" anchor="ctr">
                    <a:solidFill>
                      <a:srgbClr val="F1F5F9"/>
                    </a:solidFill>
                  </a:tcPr>
                </a:tc>
              </a:tr>
              <a:tr h="257175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80" b="0">
                          <a:solidFill>
                            <a:srgbClr val="0F172A"/>
                          </a:solidFill>
                          <a:latin typeface="맑은 고딕"/>
                        </a:rPr>
                        <a:t>1차</a:t>
                      </a:r>
                    </a:p>
                  </a:txBody>
                  <a:tcPr marL="85725" marR="6667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80" b="0">
                          <a:solidFill>
                            <a:srgbClr val="0F172A"/>
                          </a:solidFill>
                          <a:latin typeface="맑은 고딕"/>
                        </a:rPr>
                        <a:t>눈 · 비 · 안개 + 조도</a:t>
                      </a:r>
                    </a:p>
                  </a:txBody>
                  <a:tcPr marL="85725" marR="6667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80" b="1">
                          <a:solidFill>
                            <a:srgbClr val="0F172A"/>
                          </a:solidFill>
                          <a:latin typeface="맑은 고딕"/>
                        </a:rPr>
                        <a:t>AI Hub</a:t>
                      </a:r>
                    </a:p>
                  </a:txBody>
                  <a:tcPr marL="85725" marR="6667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80" b="0">
                          <a:solidFill>
                            <a:srgbClr val="0F172A"/>
                          </a:solidFill>
                          <a:latin typeface="맑은 고딕"/>
                        </a:rPr>
                        <a:t>국내 도로 도메인 검증</a:t>
                      </a:r>
                    </a:p>
                  </a:txBody>
                  <a:tcPr marL="85725" marR="66675" marT="28575" marB="28575" anchor="ctr">
                    <a:solidFill>
                      <a:srgbClr val="FFFFFF"/>
                    </a:solidFill>
                  </a:tcPr>
                </a:tc>
              </a:tr>
              <a:tr h="257175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80" b="0">
                          <a:solidFill>
                            <a:srgbClr val="0F172A"/>
                          </a:solidFill>
                          <a:latin typeface="맑은 고딕"/>
                        </a:rPr>
                        <a:t>2차</a:t>
                      </a:r>
                    </a:p>
                  </a:txBody>
                  <a:tcPr marL="85725" marR="66675" marT="28575" marB="28575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80" b="0">
                          <a:solidFill>
                            <a:srgbClr val="0F172A"/>
                          </a:solidFill>
                          <a:latin typeface="맑은 고딕"/>
                        </a:rPr>
                        <a:t>실측 6축 IMU + 노면 라벨</a:t>
                      </a:r>
                    </a:p>
                  </a:txBody>
                  <a:tcPr marL="85725" marR="66675" marT="28575" marB="28575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80" b="1">
                          <a:solidFill>
                            <a:srgbClr val="0F172A"/>
                          </a:solidFill>
                          <a:latin typeface="맑은 고딕"/>
                        </a:rPr>
                        <a:t>PVS</a:t>
                      </a:r>
                    </a:p>
                  </a:txBody>
                  <a:tcPr marL="85725" marR="66675" marT="28575" marB="28575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80" b="0">
                          <a:solidFill>
                            <a:srgbClr val="0F172A"/>
                          </a:solidFill>
                          <a:latin typeface="맑은 고딕"/>
                        </a:rPr>
                        <a:t>칼만 공분산 설정</a:t>
                      </a:r>
                    </a:p>
                  </a:txBody>
                  <a:tcPr marL="85725" marR="66675" marT="28575" marB="28575" anchor="ctr">
                    <a:solidFill>
                      <a:srgbClr val="F1F5F9"/>
                    </a:solidFill>
                  </a:tcPr>
                </a:tc>
              </a:tr>
              <a:tr h="257175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80" b="0">
                          <a:solidFill>
                            <a:srgbClr val="0F172A"/>
                          </a:solidFill>
                          <a:latin typeface="맑은 고딕"/>
                        </a:rPr>
                        <a:t>2차</a:t>
                      </a:r>
                    </a:p>
                  </a:txBody>
                  <a:tcPr marL="85725" marR="6667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80" b="0">
                          <a:solidFill>
                            <a:srgbClr val="0F172A"/>
                          </a:solidFill>
                          <a:latin typeface="맑은 고딕"/>
                        </a:rPr>
                        <a:t>RGB-IMU 동기화 · 악조건</a:t>
                      </a:r>
                    </a:p>
                  </a:txBody>
                  <a:tcPr marL="85725" marR="6667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80" b="1">
                          <a:solidFill>
                            <a:srgbClr val="0F172A"/>
                          </a:solidFill>
                          <a:latin typeface="맑은 고딕"/>
                        </a:rPr>
                        <a:t>ROAD</a:t>
                      </a:r>
                    </a:p>
                  </a:txBody>
                  <a:tcPr marL="85725" marR="6667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80" b="0">
                          <a:solidFill>
                            <a:srgbClr val="0F172A"/>
                          </a:solidFill>
                          <a:latin typeface="맑은 고딕"/>
                        </a:rPr>
                        <a:t>비교 기준선</a:t>
                      </a:r>
                    </a:p>
                  </a:txBody>
                  <a:tcPr marL="85725" marR="66675" marT="28575" marB="28575" anchor="ctr">
                    <a:solidFill>
                      <a:srgbClr val="FFFFFF"/>
                    </a:solidFill>
                  </a:tcPr>
                </a:tc>
              </a:tr>
              <a:tr h="257175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80" b="0">
                          <a:solidFill>
                            <a:srgbClr val="0F172A"/>
                          </a:solidFill>
                          <a:latin typeface="맑은 고딕"/>
                        </a:rPr>
                        <a:t>보조</a:t>
                      </a:r>
                    </a:p>
                  </a:txBody>
                  <a:tcPr marL="85725" marR="66675" marT="28575" marB="28575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80" b="0">
                          <a:solidFill>
                            <a:srgbClr val="0F172A"/>
                          </a:solidFill>
                          <a:latin typeface="맑은 고딕"/>
                        </a:rPr>
                        <a:t>실제 폭설 주행 씬</a:t>
                      </a:r>
                    </a:p>
                  </a:txBody>
                  <a:tcPr marL="85725" marR="66675" marT="28575" marB="28575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80" b="1">
                          <a:solidFill>
                            <a:srgbClr val="0F172A"/>
                          </a:solidFill>
                          <a:latin typeface="맑은 고딕"/>
                        </a:rPr>
                        <a:t>CADC · WADS</a:t>
                      </a:r>
                    </a:p>
                  </a:txBody>
                  <a:tcPr marL="85725" marR="66675" marT="28575" marB="28575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80" b="0">
                          <a:solidFill>
                            <a:srgbClr val="0F172A"/>
                          </a:solidFill>
                          <a:latin typeface="맑은 고딕"/>
                        </a:rPr>
                        <a:t>야간 · 악천후 점검</a:t>
                      </a:r>
                    </a:p>
                  </a:txBody>
                  <a:tcPr marL="85725" marR="66675" marT="28575" marB="28575" anchor="ctr">
                    <a:solidFill>
                      <a:srgbClr val="F1F5F9"/>
                    </a:solidFill>
                  </a:tcPr>
                </a:tc>
              </a:tr>
              <a:tr h="257175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80" b="0">
                          <a:solidFill>
                            <a:srgbClr val="0F172A"/>
                          </a:solidFill>
                          <a:latin typeface="맑은 고딕"/>
                        </a:rPr>
                        <a:t>보조</a:t>
                      </a:r>
                    </a:p>
                  </a:txBody>
                  <a:tcPr marL="85725" marR="6667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80" b="0">
                          <a:solidFill>
                            <a:srgbClr val="0F172A"/>
                          </a:solidFill>
                          <a:latin typeface="맑은 고딕"/>
                        </a:rPr>
                        <a:t>자동 라벨 (차선 가시성)</a:t>
                      </a:r>
                    </a:p>
                  </a:txBody>
                  <a:tcPr marL="85725" marR="6667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80" b="1">
                          <a:solidFill>
                            <a:srgbClr val="0F172A"/>
                          </a:solidFill>
                          <a:latin typeface="맑은 고딕"/>
                        </a:rPr>
                        <a:t>CARLA</a:t>
                      </a:r>
                    </a:p>
                  </a:txBody>
                  <a:tcPr marL="85725" marR="6667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80" b="0">
                          <a:solidFill>
                            <a:srgbClr val="0F172A"/>
                          </a:solidFill>
                          <a:latin typeface="맑은 고딕"/>
                        </a:rPr>
                        <a:t>합성 데이터 생성</a:t>
                      </a:r>
                    </a:p>
                  </a:txBody>
                  <a:tcPr marL="85725" marR="66675" marT="28575" marB="285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172200" y="1200150"/>
            <a:ext cx="5486400" cy="2047875"/>
          </a:xfrm>
          <a:prstGeom prst="roundRect">
            <a:avLst>
              <a:gd name="adj" fmla="val 3255"/>
            </a:avLst>
          </a:prstGeom>
          <a:solidFill>
            <a:srgbClr val="EFF6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172200" y="1200150"/>
            <a:ext cx="38100" cy="20478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315075" y="1295400"/>
            <a:ext cx="52197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F172A"/>
                </a:solidFill>
                <a:latin typeface="맑은 고딕"/>
              </a:rPr>
              <a:t>RSCD 27클래스 → 우리 4클래스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15075" y="1550194"/>
            <a:ext cx="5219700" cy="1621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500"/>
              </a:spcAft>
            </a:pPr>
            <a:r>
              <a:rPr sz="1050" b="1">
                <a:solidFill>
                  <a:srgbClr val="16A34A"/>
                </a:solidFill>
                <a:latin typeface="맑은 고딕"/>
              </a:rPr>
              <a:t>정상</a:t>
            </a:r>
            <a:r>
              <a:rPr sz="1050" b="0">
                <a:solidFill>
                  <a:srgbClr val="334155"/>
                </a:solidFill>
                <a:latin typeface="맑은 고딕"/>
              </a:rPr>
              <a:t> ← 건조 (dry)　　</a:t>
            </a:r>
            <a:r>
              <a:rPr sz="1050" b="1">
                <a:solidFill>
                  <a:srgbClr val="334155"/>
                </a:solidFill>
                <a:latin typeface="맑은 고딕"/>
              </a:rPr>
              <a:t>젖음</a:t>
            </a:r>
            <a:r>
              <a:rPr sz="1050" b="0">
                <a:solidFill>
                  <a:srgbClr val="334155"/>
                </a:solidFill>
                <a:latin typeface="맑은 고딕"/>
              </a:rPr>
              <a:t> ← 젖음 · 물 고임 (wet · water)</a:t>
            </a:r>
          </a:p>
          <a:p>
            <a:pPr algn="l">
              <a:lnSpc>
                <a:spcPct val="150000"/>
              </a:lnSpc>
              <a:spcAft>
                <a:spcPts val="500"/>
              </a:spcAft>
            </a:pPr>
            <a:r>
              <a:rPr sz="1050" b="1">
                <a:solidFill>
                  <a:srgbClr val="DC2626"/>
                </a:solidFill>
                <a:latin typeface="맑은 고딕"/>
              </a:rPr>
              <a:t>결빙 위험</a:t>
            </a:r>
            <a:r>
              <a:rPr sz="1050" b="0">
                <a:solidFill>
                  <a:srgbClr val="334155"/>
                </a:solidFill>
                <a:latin typeface="맑은 고딕"/>
              </a:rPr>
              <a:t> ← 결빙 · 녹은 눈 (ice · melted snow)　　</a:t>
            </a:r>
            <a:r>
              <a:rPr sz="1050" b="1">
                <a:solidFill>
                  <a:srgbClr val="334155"/>
                </a:solidFill>
                <a:latin typeface="맑은 고딕"/>
              </a:rPr>
              <a:t>포트홀</a:t>
            </a:r>
            <a:r>
              <a:rPr sz="1050" b="0">
                <a:solidFill>
                  <a:srgbClr val="334155"/>
                </a:solidFill>
                <a:latin typeface="맑은 고딕"/>
              </a:rPr>
              <a:t> ← 요철 '심함' 라벨</a:t>
            </a:r>
          </a:p>
          <a:p>
            <a:pPr algn="l">
              <a:lnSpc>
                <a:spcPct val="150000"/>
              </a:lnSpc>
              <a:spcAft>
                <a:spcPts val="500"/>
              </a:spcAft>
            </a:pPr>
            <a:r>
              <a:rPr sz="1050" b="0">
                <a:solidFill>
                  <a:srgbClr val="334155"/>
                </a:solidFill>
                <a:latin typeface="맑은 고딕"/>
              </a:rPr>
              <a:t>약 100만 장(공개 서브셋 37만 장) · 27클래스 = 마찰 6 × 재질 4 × 요철 3 · 베이징 약 700 km 실도로 주행(2022) · </a:t>
            </a:r>
            <a:r>
              <a:rPr sz="1050" b="1">
                <a:solidFill>
                  <a:srgbClr val="334155"/>
                </a:solidFill>
                <a:latin typeface="맑은 고딕"/>
              </a:rPr>
              <a:t>240×360 패치</a:t>
            </a:r>
            <a:r>
              <a:rPr sz="1050" b="0">
                <a:solidFill>
                  <a:srgbClr val="334155"/>
                </a:solidFill>
                <a:latin typeface="맑은 고딕"/>
              </a:rPr>
              <a:t>라 NPU 입력 크기에 맞는다 · 눈·얼음은 결빙 57,262 · 녹은 눈 64,263 · 신설 76,730장</a:t>
            </a:r>
          </a:p>
        </p:txBody>
      </p:sp>
      <p:pic>
        <p:nvPicPr>
          <p:cNvPr id="16" name="Picture 15" descr="ds_rscd_classes.jpg"/>
          <p:cNvPicPr>
            <a:picLocks noChangeAspect="1"/>
          </p:cNvPicPr>
          <p:nvPr/>
        </p:nvPicPr>
        <p:blipFill>
          <a:blip r:embed="rId2"/>
          <a:srcRect l="25733" r="25733"/>
          <a:stretch>
            <a:fillRect/>
          </a:stretch>
        </p:blipFill>
        <p:spPr>
          <a:xfrm>
            <a:off x="533400" y="3371850"/>
            <a:ext cx="3632200" cy="228600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17" name="TextBox 16"/>
          <p:cNvSpPr txBox="1"/>
          <p:nvPr/>
        </p:nvSpPr>
        <p:spPr>
          <a:xfrm>
            <a:off x="533400" y="5695950"/>
            <a:ext cx="36322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19" b="0">
                <a:solidFill>
                  <a:srgbClr val="64748B"/>
                </a:solidFill>
                <a:latin typeface="맑은 고딕"/>
              </a:rPr>
              <a:t>RSCD 클래스별 샘플</a:t>
            </a:r>
          </a:p>
        </p:txBody>
      </p:sp>
      <p:pic>
        <p:nvPicPr>
          <p:cNvPr id="18" name="Picture 17" descr="ds_rscd_patch.jpg"/>
          <p:cNvPicPr>
            <a:picLocks noChangeAspect="1"/>
          </p:cNvPicPr>
          <p:nvPr/>
        </p:nvPicPr>
        <p:blipFill>
          <a:blip r:embed="rId3"/>
          <a:srcRect l="4870" r="4870"/>
          <a:stretch>
            <a:fillRect/>
          </a:stretch>
        </p:blipFill>
        <p:spPr>
          <a:xfrm>
            <a:off x="4279900" y="3371850"/>
            <a:ext cx="3632200" cy="228600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19" name="TextBox 18"/>
          <p:cNvSpPr txBox="1"/>
          <p:nvPr/>
        </p:nvSpPr>
        <p:spPr>
          <a:xfrm>
            <a:off x="4279900" y="5695950"/>
            <a:ext cx="36322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19" b="0">
                <a:solidFill>
                  <a:srgbClr val="64748B"/>
                </a:solidFill>
                <a:latin typeface="맑은 고딕"/>
              </a:rPr>
              <a:t>주행 영상에서 노면 영역만 잘라 패치로 쓴다</a:t>
            </a:r>
          </a:p>
        </p:txBody>
      </p:sp>
      <p:pic>
        <p:nvPicPr>
          <p:cNvPr id="20" name="Picture 19" descr="ds_rscd_camera.jpg"/>
          <p:cNvPicPr>
            <a:picLocks noChangeAspect="1"/>
          </p:cNvPicPr>
          <p:nvPr/>
        </p:nvPicPr>
        <p:blipFill>
          <a:blip r:embed="rId4"/>
          <a:srcRect l="29447" r="29447"/>
          <a:stretch>
            <a:fillRect/>
          </a:stretch>
        </p:blipFill>
        <p:spPr>
          <a:xfrm>
            <a:off x="8026400" y="3371850"/>
            <a:ext cx="3632200" cy="228600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21" name="TextBox 20"/>
          <p:cNvSpPr txBox="1"/>
          <p:nvPr/>
        </p:nvSpPr>
        <p:spPr>
          <a:xfrm>
            <a:off x="8026400" y="5695950"/>
            <a:ext cx="36322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19" b="0">
                <a:solidFill>
                  <a:srgbClr val="64748B"/>
                </a:solidFill>
                <a:latin typeface="맑은 고딕"/>
              </a:rPr>
              <a:t>차량 전방 카메라 — 20~80 km/h 주행 촬영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33400" y="419100"/>
            <a:ext cx="561975" cy="219075"/>
          </a:xfrm>
          <a:prstGeom prst="roundRect">
            <a:avLst>
              <a:gd name="adj" fmla="val 47826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33400" y="466725"/>
            <a:ext cx="56197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</a:rPr>
              <a:t>데이터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9200" y="381000"/>
            <a:ext cx="9705975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F172A"/>
                </a:solidFill>
                <a:latin typeface="맑은 고딕"/>
              </a:rPr>
              <a:t>반사도 · 국내 도로 · 실측 IMU · 폭설 — 보조 데이터셋 6종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91850" y="457200"/>
            <a:ext cx="666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>
                <a:solidFill>
                  <a:srgbClr val="94A3B8"/>
                </a:solidFill>
                <a:latin typeface="맑은 고딕"/>
              </a:rPr>
              <a:t>8 /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400" y="800100"/>
            <a:ext cx="11125200" cy="1524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33400" y="5943600"/>
            <a:ext cx="1112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33400" y="6019800"/>
            <a:ext cx="111252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60" b="0">
                <a:solidFill>
                  <a:srgbClr val="64748B"/>
                </a:solidFill>
                <a:latin typeface="맑은 고딕"/>
              </a:rPr>
              <a:t>⚠️ RoadSaW 에는 눈·얼음이 없고, ROAD 의 클래스는 노면 종류(아스팔트/블록/비포장)라 결빙이 없다. 한계를 알고 역할을 나눠 썼다.</a:t>
            </a:r>
          </a:p>
        </p:txBody>
      </p:sp>
      <p:pic>
        <p:nvPicPr>
          <p:cNvPr id="10" name="Picture 9" descr="ds_roadsaw.jpg"/>
          <p:cNvPicPr>
            <a:picLocks noChangeAspect="1"/>
          </p:cNvPicPr>
          <p:nvPr/>
        </p:nvPicPr>
        <p:blipFill>
          <a:blip r:embed="rId2"/>
          <a:srcRect l="13107" r="13107"/>
          <a:stretch>
            <a:fillRect/>
          </a:stretch>
        </p:blipFill>
        <p:spPr>
          <a:xfrm>
            <a:off x="533400" y="933450"/>
            <a:ext cx="3632200" cy="207645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533400" y="3048000"/>
            <a:ext cx="36322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80" b="1">
                <a:solidFill>
                  <a:srgbClr val="64748B"/>
                </a:solidFill>
                <a:latin typeface="맑은 고딕"/>
              </a:rPr>
              <a:t>RoadSaW</a:t>
            </a:r>
            <a:r>
              <a:rPr sz="880" b="0">
                <a:solidFill>
                  <a:srgbClr val="64748B"/>
                </a:solidFill>
                <a:latin typeface="맑은 고딕"/>
              </a:rPr>
              <a:t> 12클래스 = 노면 3종 × 젖음 4단계. MARWIS 로 수막 두께 실측 → 반사도 회귀의 근거. 패치 약 72만 장</a:t>
            </a:r>
          </a:p>
        </p:txBody>
      </p:sp>
      <p:pic>
        <p:nvPicPr>
          <p:cNvPr id="12" name="Picture 11" descr="ds_aihub.jpg"/>
          <p:cNvPicPr>
            <a:picLocks noChangeAspect="1"/>
          </p:cNvPicPr>
          <p:nvPr/>
        </p:nvPicPr>
        <p:blipFill>
          <a:blip r:embed="rId3"/>
          <a:srcRect t="19925" b="19925"/>
          <a:stretch>
            <a:fillRect/>
          </a:stretch>
        </p:blipFill>
        <p:spPr>
          <a:xfrm>
            <a:off x="4279900" y="933450"/>
            <a:ext cx="3632200" cy="207645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4279900" y="3048000"/>
            <a:ext cx="36322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80" b="1">
                <a:solidFill>
                  <a:srgbClr val="64748B"/>
                </a:solidFill>
                <a:latin typeface="맑은 고딕"/>
              </a:rPr>
              <a:t>AI Hub</a:t>
            </a:r>
            <a:r>
              <a:rPr sz="880" b="0">
                <a:solidFill>
                  <a:srgbClr val="64748B"/>
                </a:solidFill>
                <a:latin typeface="맑은 고딕"/>
              </a:rPr>
              <a:t> 승용 자율주행차 악천후(71626). 카메라·라이다·레이더 + 2D 분할 라벨 + 3D 박스 — 우리 라벨 형식의 본보기</a:t>
            </a:r>
          </a:p>
        </p:txBody>
      </p:sp>
      <p:pic>
        <p:nvPicPr>
          <p:cNvPr id="14" name="Picture 13" descr="ds_pvs.jpg"/>
          <p:cNvPicPr>
            <a:picLocks noChangeAspect="1"/>
          </p:cNvPicPr>
          <p:nvPr/>
        </p:nvPicPr>
        <p:blipFill>
          <a:blip r:embed="rId4"/>
          <a:srcRect t="14189" b="14189"/>
          <a:stretch>
            <a:fillRect/>
          </a:stretch>
        </p:blipFill>
        <p:spPr>
          <a:xfrm>
            <a:off x="8026400" y="933450"/>
            <a:ext cx="3632200" cy="207645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8026400" y="3048000"/>
            <a:ext cx="36322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80" b="1">
                <a:solidFill>
                  <a:srgbClr val="64748B"/>
                </a:solidFill>
                <a:latin typeface="맑은 고딕"/>
              </a:rPr>
              <a:t>PVS</a:t>
            </a:r>
            <a:r>
              <a:rPr sz="880" b="0">
                <a:solidFill>
                  <a:srgbClr val="64748B"/>
                </a:solidFill>
                <a:latin typeface="맑은 고딕"/>
              </a:rPr>
              <a:t> MPU-9250 IMU 100 Hz 를 대시보드·서스펜션 3곳에. 9세트 = 차량 3 × 운전자 3 × 경로 3</a:t>
            </a:r>
          </a:p>
        </p:txBody>
      </p:sp>
      <p:pic>
        <p:nvPicPr>
          <p:cNvPr id="16" name="Picture 15" descr="ds_road.jpg"/>
          <p:cNvPicPr>
            <a:picLocks noChangeAspect="1"/>
          </p:cNvPicPr>
          <p:nvPr/>
        </p:nvPicPr>
        <p:blipFill>
          <a:blip r:embed="rId5"/>
          <a:srcRect t="3625" b="3625"/>
          <a:stretch>
            <a:fillRect/>
          </a:stretch>
        </p:blipFill>
        <p:spPr>
          <a:xfrm>
            <a:off x="533400" y="3448050"/>
            <a:ext cx="3632200" cy="207645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17" name="TextBox 16"/>
          <p:cNvSpPr txBox="1"/>
          <p:nvPr/>
        </p:nvSpPr>
        <p:spPr>
          <a:xfrm>
            <a:off x="533400" y="5562600"/>
            <a:ext cx="36322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80" b="1">
                <a:solidFill>
                  <a:srgbClr val="64748B"/>
                </a:solidFill>
                <a:latin typeface="맑은 고딕"/>
              </a:rPr>
              <a:t>ROAD</a:t>
            </a:r>
            <a:r>
              <a:rPr sz="880" b="0">
                <a:solidFill>
                  <a:srgbClr val="64748B"/>
                </a:solidFill>
                <a:latin typeface="맑은 고딕"/>
              </a:rPr>
              <a:t> 카메라 30 fps + IMU 5개 400 Hz 동기, 약 115만 프레임. 야간·폭우·먼지 악조건</a:t>
            </a:r>
          </a:p>
        </p:txBody>
      </p:sp>
      <p:pic>
        <p:nvPicPr>
          <p:cNvPr id="18" name="Picture 17" descr="ds_cadc.jpg"/>
          <p:cNvPicPr>
            <a:picLocks noChangeAspect="1"/>
          </p:cNvPicPr>
          <p:nvPr/>
        </p:nvPicPr>
        <p:blipFill>
          <a:blip r:embed="rId6"/>
          <a:srcRect l="30599" r="30599"/>
          <a:stretch>
            <a:fillRect/>
          </a:stretch>
        </p:blipFill>
        <p:spPr>
          <a:xfrm>
            <a:off x="4279900" y="3448050"/>
            <a:ext cx="3632200" cy="207645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19" name="TextBox 18"/>
          <p:cNvSpPr txBox="1"/>
          <p:nvPr/>
        </p:nvSpPr>
        <p:spPr>
          <a:xfrm>
            <a:off x="4279900" y="5562600"/>
            <a:ext cx="36322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80" b="1">
                <a:solidFill>
                  <a:srgbClr val="64748B"/>
                </a:solidFill>
                <a:latin typeface="맑은 고딕"/>
              </a:rPr>
              <a:t>CADC</a:t>
            </a:r>
            <a:r>
              <a:rPr sz="880" b="0">
                <a:solidFill>
                  <a:srgbClr val="64748B"/>
                </a:solidFill>
                <a:latin typeface="맑은 고딕"/>
              </a:rPr>
              <a:t> 눈길 실주행 5.6만 장 · 라이다 7천 스윕 · 75개 장면 (캐나다 워털루)</a:t>
            </a:r>
          </a:p>
        </p:txBody>
      </p:sp>
      <p:pic>
        <p:nvPicPr>
          <p:cNvPr id="20" name="Picture 19" descr="ds_wads.jpg"/>
          <p:cNvPicPr>
            <a:picLocks noChangeAspect="1"/>
          </p:cNvPicPr>
          <p:nvPr/>
        </p:nvPicPr>
        <p:blipFill>
          <a:blip r:embed="rId7"/>
          <a:srcRect l="11835" r="11835"/>
          <a:stretch>
            <a:fillRect/>
          </a:stretch>
        </p:blipFill>
        <p:spPr>
          <a:xfrm>
            <a:off x="8026400" y="3448050"/>
            <a:ext cx="3632200" cy="207645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21" name="TextBox 20"/>
          <p:cNvSpPr txBox="1"/>
          <p:nvPr/>
        </p:nvSpPr>
        <p:spPr>
          <a:xfrm>
            <a:off x="8026400" y="5562600"/>
            <a:ext cx="36322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80" b="1">
                <a:solidFill>
                  <a:srgbClr val="64748B"/>
                </a:solidFill>
                <a:latin typeface="맑은 고딕"/>
              </a:rPr>
              <a:t>WADS</a:t>
            </a:r>
            <a:r>
              <a:rPr sz="880" b="0">
                <a:solidFill>
                  <a:srgbClr val="64748B"/>
                </a:solidFill>
                <a:latin typeface="맑은 고딕"/>
              </a:rPr>
              <a:t> 미시간 폭설 라이다. '내리는 눈 / 쌓인 눈'을 포인트별 라벨(36억 점)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33400" y="419100"/>
            <a:ext cx="809625" cy="219075"/>
          </a:xfrm>
          <a:prstGeom prst="roundRect">
            <a:avLst>
              <a:gd name="adj" fmla="val 47826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33400" y="466725"/>
            <a:ext cx="80962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</a:rPr>
              <a:t>1차 방어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6850" y="381000"/>
            <a:ext cx="9458325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F172A"/>
                </a:solidFill>
                <a:latin typeface="맑은 고딕"/>
              </a:rPr>
              <a:t>모델과 int8 배포 — RoadNet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91850" y="457200"/>
            <a:ext cx="666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>
                <a:solidFill>
                  <a:srgbClr val="94A3B8"/>
                </a:solidFill>
                <a:latin typeface="맑은 고딕"/>
              </a:rPr>
              <a:t>9 /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400" y="800100"/>
            <a:ext cx="11125200" cy="1524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33400" y="933450"/>
          <a:ext cx="5486400" cy="44386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67543"/>
                <a:gridCol w="3918857"/>
              </a:tblGrid>
              <a:tr h="247650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 marL="85725" marR="66675" marT="28575" marB="28575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값</a:t>
                      </a:r>
                    </a:p>
                  </a:txBody>
                  <a:tcPr marL="85725" marR="66675" marT="28575" marB="28575" anchor="ctr">
                    <a:solidFill>
                      <a:srgbClr val="1E293B"/>
                    </a:solidFill>
                  </a:tcPr>
                </a:tc>
              </a:tr>
              <a:tr h="419100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50" b="0">
                          <a:solidFill>
                            <a:srgbClr val="0F172A"/>
                          </a:solidFill>
                          <a:latin typeface="맑은 고딕"/>
                        </a:rPr>
                        <a:t>백본</a:t>
                      </a:r>
                    </a:p>
                  </a:txBody>
                  <a:tcPr marL="85725" marR="6667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50" b="0">
                          <a:solidFill>
                            <a:srgbClr val="0F172A"/>
                          </a:solidFill>
                          <a:latin typeface="맑은 고딕"/>
                        </a:rPr>
                        <a:t>MobileNetV3-Small (ImageNet 사전학습)</a:t>
                      </a:r>
                    </a:p>
                  </a:txBody>
                  <a:tcPr marL="85725" marR="66675" marT="28575" marB="28575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50" b="0">
                          <a:solidFill>
                            <a:srgbClr val="0F172A"/>
                          </a:solidFill>
                          <a:latin typeface="맑은 고딕"/>
                        </a:rPr>
                        <a:t>입력</a:t>
                      </a:r>
                    </a:p>
                  </a:txBody>
                  <a:tcPr marL="85725" marR="66675" marT="28575" marB="28575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50" b="0">
                          <a:solidFill>
                            <a:srgbClr val="0F172A"/>
                          </a:solidFill>
                          <a:latin typeface="맑은 고딕"/>
                        </a:rPr>
                        <a:t>1×3×224×224 NCHW, int8</a:t>
                      </a:r>
                    </a:p>
                  </a:txBody>
                  <a:tcPr marL="85725" marR="66675" marT="28575" marB="28575" anchor="ctr">
                    <a:solidFill>
                      <a:srgbClr val="F1F5F9"/>
                    </a:solidFill>
                  </a:tcPr>
                </a:tc>
              </a:tr>
              <a:tr h="419100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50" b="0">
                          <a:solidFill>
                            <a:srgbClr val="0F172A"/>
                          </a:solidFill>
                          <a:latin typeface="맑은 고딕"/>
                        </a:rPr>
                        <a:t>출력</a:t>
                      </a:r>
                    </a:p>
                  </a:txBody>
                  <a:tcPr marL="85725" marR="6667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50" b="0">
                          <a:solidFill>
                            <a:srgbClr val="0F172A"/>
                          </a:solidFill>
                          <a:latin typeface="맑은 고딕"/>
                        </a:rPr>
                        <a:t>4클래스 로짓 + </a:t>
                      </a:r>
                      <a:r>
                        <a:rPr sz="1050" b="1">
                          <a:solidFill>
                            <a:srgbClr val="0F172A"/>
                          </a:solidFill>
                          <a:latin typeface="맑은 고딕"/>
                        </a:rPr>
                        <a:t>반사도 헤드</a:t>
                      </a:r>
                      <a:r>
                        <a:rPr sz="1050" b="0">
                          <a:solidFill>
                            <a:srgbClr val="0F172A"/>
                          </a:solidFill>
                          <a:latin typeface="맑은 고딕"/>
                        </a:rPr>
                        <a:t> (576→64→1)</a:t>
                      </a:r>
                    </a:p>
                  </a:txBody>
                  <a:tcPr marL="85725" marR="66675" marT="28575" marB="28575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50" b="0">
                          <a:solidFill>
                            <a:srgbClr val="0F172A"/>
                          </a:solidFill>
                          <a:latin typeface="맑은 고딕"/>
                        </a:rPr>
                        <a:t>내보내기</a:t>
                      </a:r>
                    </a:p>
                  </a:txBody>
                  <a:tcPr marL="85725" marR="66675" marT="28575" marB="28575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50" b="0">
                          <a:solidFill>
                            <a:srgbClr val="0F172A"/>
                          </a:solidFill>
                          <a:latin typeface="맑은 고딕"/>
                        </a:rPr>
                        <a:t>ONNX opset 13, 고정 배치 1</a:t>
                      </a:r>
                    </a:p>
                  </a:txBody>
                  <a:tcPr marL="85725" marR="66675" marT="28575" marB="28575" anchor="ctr">
                    <a:solidFill>
                      <a:srgbClr val="F1F5F9"/>
                    </a:solidFill>
                  </a:tcPr>
                </a:tc>
              </a:tr>
              <a:tr h="419100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50" b="0">
                          <a:solidFill>
                            <a:srgbClr val="0F172A"/>
                          </a:solidFill>
                          <a:latin typeface="맑은 고딕"/>
                        </a:rPr>
                        <a:t>양자화</a:t>
                      </a:r>
                    </a:p>
                  </a:txBody>
                  <a:tcPr marL="85725" marR="6667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50" b="0">
                          <a:solidFill>
                            <a:srgbClr val="0F172A"/>
                          </a:solidFill>
                          <a:latin typeface="맑은 고딕"/>
                        </a:rPr>
                        <a:t>int8 PTQ (QDQ), 가중치 채널별 · 활성 대칭</a:t>
                      </a:r>
                    </a:p>
                  </a:txBody>
                  <a:tcPr marL="85725" marR="66675" marT="28575" marB="28575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50" b="0">
                          <a:solidFill>
                            <a:srgbClr val="0F172A"/>
                          </a:solidFill>
                          <a:latin typeface="맑은 고딕"/>
                        </a:rPr>
                        <a:t>입력 양자화</a:t>
                      </a:r>
                    </a:p>
                  </a:txBody>
                  <a:tcPr marL="85725" marR="66675" marT="28575" marB="28575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50" b="0">
                          <a:solidFill>
                            <a:srgbClr val="0F172A"/>
                          </a:solidFill>
                          <a:latin typeface="맑은 고딕"/>
                        </a:rPr>
                        <a:t>scale 0.018658448, zero-point −14</a:t>
                      </a:r>
                    </a:p>
                  </a:txBody>
                  <a:tcPr marL="85725" marR="66675" marT="28575" marB="28575" anchor="ctr">
                    <a:solidFill>
                      <a:srgbClr val="F1F5F9"/>
                    </a:solidFill>
                  </a:tcPr>
                </a:tc>
              </a:tr>
              <a:tr h="419100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50" b="0">
                          <a:solidFill>
                            <a:srgbClr val="0F172A"/>
                          </a:solidFill>
                          <a:latin typeface="맑은 고딕"/>
                        </a:rPr>
                        <a:t>출력 양자화</a:t>
                      </a:r>
                    </a:p>
                  </a:txBody>
                  <a:tcPr marL="85725" marR="6667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50" b="0">
                          <a:solidFill>
                            <a:srgbClr val="0F172A"/>
                          </a:solidFill>
                          <a:latin typeface="맑은 고딕"/>
                        </a:rPr>
                        <a:t>scale 0.029451849</a:t>
                      </a:r>
                    </a:p>
                  </a:txBody>
                  <a:tcPr marL="85725" marR="66675" marT="28575" marB="28575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50" b="0">
                          <a:solidFill>
                            <a:srgbClr val="0F172A"/>
                          </a:solidFill>
                          <a:latin typeface="맑은 고딕"/>
                        </a:rPr>
                        <a:t>프레임당 전송</a:t>
                      </a:r>
                    </a:p>
                  </a:txBody>
                  <a:tcPr marL="85725" marR="66675" marT="28575" marB="28575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50" b="0">
                          <a:solidFill>
                            <a:srgbClr val="0F172A"/>
                          </a:solidFill>
                          <a:latin typeface="맑은 고딕"/>
                        </a:rPr>
                        <a:t>150,528 B</a:t>
                      </a:r>
                    </a:p>
                  </a:txBody>
                  <a:tcPr marL="85725" marR="66675" marT="28575" marB="28575" anchor="ctr">
                    <a:solidFill>
                      <a:srgbClr val="F1F5F9"/>
                    </a:solidFill>
                  </a:tcPr>
                </a:tc>
              </a:tr>
              <a:tr h="419100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50" b="0">
                          <a:solidFill>
                            <a:srgbClr val="0F172A"/>
                          </a:solidFill>
                          <a:latin typeface="맑은 고딕"/>
                        </a:rPr>
                        <a:t>NPU</a:t>
                      </a:r>
                    </a:p>
                  </a:txBody>
                  <a:tcPr marL="85725" marR="6667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50" b="0">
                          <a:solidFill>
                            <a:srgbClr val="0F172A"/>
                          </a:solidFill>
                          <a:latin typeface="맑은 고딕"/>
                        </a:rPr>
                        <a:t>Neural-ART @ 1 GHz · </a:t>
                      </a:r>
                      <a:r>
                        <a:rPr sz="1050" b="1">
                          <a:solidFill>
                            <a:srgbClr val="0F172A"/>
                          </a:solidFill>
                          <a:latin typeface="맑은 고딕"/>
                        </a:rPr>
                        <a:t>추론 25 ms</a:t>
                      </a:r>
                    </a:p>
                  </a:txBody>
                  <a:tcPr marL="85725" marR="66675" marT="28575" marB="28575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50" b="0">
                          <a:solidFill>
                            <a:srgbClr val="0F172A"/>
                          </a:solidFill>
                          <a:latin typeface="맑은 고딕"/>
                        </a:rPr>
                        <a:t>카메라 ROI</a:t>
                      </a:r>
                    </a:p>
                  </a:txBody>
                  <a:tcPr marL="85725" marR="66675" marT="28575" marB="28575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50" b="0">
                          <a:solidFill>
                            <a:srgbClr val="0F172A"/>
                          </a:solidFill>
                          <a:latin typeface="맑은 고딕"/>
                        </a:rPr>
                        <a:t>차량 전방 </a:t>
                      </a:r>
                      <a:r>
                        <a:rPr sz="1050" b="1">
                          <a:solidFill>
                            <a:srgbClr val="0F172A"/>
                          </a:solidFill>
                          <a:latin typeface="맑은 고딕"/>
                        </a:rPr>
                        <a:t>7.9 ~ 42.2 m</a:t>
                      </a:r>
                      <a:r>
                        <a:rPr sz="1050" b="0">
                          <a:solidFill>
                            <a:srgbClr val="0F172A"/>
                          </a:solidFill>
                          <a:latin typeface="맑은 고딕"/>
                        </a:rPr>
                        <a:t> (FOV 60°, 피치 −12°)</a:t>
                      </a:r>
                    </a:p>
                  </a:txBody>
                  <a:tcPr marL="85725" marR="66675" marT="28575" marB="28575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172200" y="933450"/>
            <a:ext cx="5486400" cy="2362200"/>
          </a:xfrm>
          <a:prstGeom prst="roundRect">
            <a:avLst>
              <a:gd name="adj" fmla="val 2822"/>
            </a:avLst>
          </a:prstGeom>
          <a:solidFill>
            <a:srgbClr val="EFF6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6172200" y="933450"/>
            <a:ext cx="38100" cy="2362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315075" y="1028700"/>
            <a:ext cx="52197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F172A"/>
                </a:solidFill>
                <a:latin typeface="맑은 고딕"/>
              </a:rPr>
              <a:t>반사도 헤드를 따로 둔 이유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15075" y="1283494"/>
            <a:ext cx="5219700" cy="19359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500"/>
              </a:spcAft>
            </a:pPr>
            <a:r>
              <a:rPr sz="1150" b="0">
                <a:solidFill>
                  <a:srgbClr val="334155"/>
                </a:solidFill>
                <a:latin typeface="맑은 고딕"/>
              </a:rPr>
              <a:t>블랙아이스의 단서는 '무슨 노면인가'보다 </a:t>
            </a:r>
            <a:r>
              <a:rPr sz="1150" b="1">
                <a:solidFill>
                  <a:srgbClr val="334155"/>
                </a:solidFill>
                <a:latin typeface="맑은 고딕"/>
              </a:rPr>
              <a:t>'빛을 어떻게 되돌리는가'</a:t>
            </a:r>
            <a:r>
              <a:rPr sz="1150" b="0">
                <a:solidFill>
                  <a:srgbClr val="334155"/>
                </a:solidFill>
                <a:latin typeface="맑은 고딕"/>
              </a:rPr>
              <a:t>에 가깝다. 분류 로짓 하나로는 젖음과 결빙이 섞인다. RoadSaW 의 실측 수막 두께를 정답으로 반사도를 </a:t>
            </a:r>
            <a:r>
              <a:rPr sz="1150" b="1">
                <a:solidFill>
                  <a:srgbClr val="334155"/>
                </a:solidFill>
                <a:latin typeface="맑은 고딕"/>
              </a:rPr>
              <a:t>회귀</a:t>
            </a:r>
            <a:r>
              <a:rPr sz="1150" b="0">
                <a:solidFill>
                  <a:srgbClr val="334155"/>
                </a:solidFill>
                <a:latin typeface="맑은 고딕"/>
              </a:rPr>
              <a:t>로 따로 배우게 하고, 융합 단계에서 분류 확률과 더한다.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429000"/>
            <a:ext cx="5486400" cy="2362200"/>
          </a:xfrm>
          <a:prstGeom prst="roundRect">
            <a:avLst>
              <a:gd name="adj" fmla="val 282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172200" y="3429000"/>
            <a:ext cx="38100" cy="23622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315075" y="3524250"/>
            <a:ext cx="52197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F172A"/>
                </a:solidFill>
                <a:latin typeface="맑은 고딕"/>
              </a:rPr>
              <a:t>양자화에서 겪은 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15075" y="3779044"/>
            <a:ext cx="5219700" cy="19359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500"/>
              </a:spcAft>
            </a:pPr>
            <a:r>
              <a:rPr sz="1150" b="0">
                <a:solidFill>
                  <a:srgbClr val="334155"/>
                </a:solidFill>
                <a:latin typeface="맑은 고딕"/>
              </a:rPr>
              <a:t>표준 PTQ 로는 stem 층의 활성 분포가 넓어 int8 에서 정확도가 떨어졌다. </a:t>
            </a:r>
            <a:r>
              <a:rPr sz="1150" b="1">
                <a:solidFill>
                  <a:srgbClr val="334155"/>
                </a:solidFill>
                <a:latin typeface="맑은 고딕"/>
              </a:rPr>
              <a:t>stem 등화(equalization)와 클리핑</a:t>
            </a:r>
            <a:r>
              <a:rPr sz="1150" b="0">
                <a:solidFill>
                  <a:srgbClr val="334155"/>
                </a:solidFill>
                <a:latin typeface="맑은 고딕"/>
              </a:rPr>
              <a:t>을 적용해 회복했고, QDQ 그래프를 u8→i8 로 다시 쓰는 변환을 거쳐 Neural-ART 가 받는 형태로 맞췄다.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33400" y="419100"/>
            <a:ext cx="809625" cy="219075"/>
          </a:xfrm>
          <a:prstGeom prst="roundRect">
            <a:avLst>
              <a:gd name="adj" fmla="val 47826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33400" y="466725"/>
            <a:ext cx="80962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</a:rPr>
              <a:t>1차 방어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6850" y="381000"/>
            <a:ext cx="9458325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F172A"/>
                </a:solidFill>
                <a:latin typeface="맑은 고딕"/>
              </a:rPr>
              <a:t>성능 — 실제 도로 사진 69,358장을 보드에 직접 넣었다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91850" y="457200"/>
            <a:ext cx="666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>
                <a:solidFill>
                  <a:srgbClr val="94A3B8"/>
                </a:solidFill>
                <a:latin typeface="맑은 고딕"/>
              </a:rPr>
              <a:t>10 /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400" y="800100"/>
            <a:ext cx="11125200" cy="1524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33400" y="933450"/>
            <a:ext cx="111252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334155"/>
                </a:solidFill>
                <a:latin typeface="맑은 고딕"/>
              </a:rPr>
              <a:t>시뮬레이션 화면이 아니다. RSCD 실사진을 STM32N6 에 그대로 넣고 추론·융합을 전부 보드에서 돌려 받은 판정이다.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33400" y="5943600"/>
            <a:ext cx="1112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33400" y="6019800"/>
            <a:ext cx="111252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60" b="0">
                <a:solidFill>
                  <a:srgbClr val="64748B"/>
                </a:solidFill>
                <a:latin typeface="맑은 고딕"/>
              </a:rPr>
              <a:t>경보율은 보드의 alarm 플래그가 아니라 risk ≥ 문턱으로 계산했다. 보드 융합기의 히스테리시스(켜짐 0.441 / 꺼짐 0.341)는 연속 영상의 깜빡임을 막지만, 서로 무관한 낱장 사진을 이어 넣으면 앞 사진 상태가 넘어와 경보율이 부풀려지기 때문이다.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33400" y="1200150"/>
          <a:ext cx="4895088" cy="20193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53961"/>
                <a:gridCol w="937357"/>
                <a:gridCol w="937357"/>
                <a:gridCol w="1666413"/>
              </a:tblGrid>
              <a:tr h="266700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실제 노면</a:t>
                      </a:r>
                    </a:p>
                  </a:txBody>
                  <a:tcPr marL="85725" marR="66675" marT="28575" marB="28575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장수</a:t>
                      </a:r>
                    </a:p>
                  </a:txBody>
                  <a:tcPr marL="85725" marR="66675" marT="28575" marB="28575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정답률</a:t>
                      </a:r>
                    </a:p>
                  </a:txBody>
                  <a:tcPr marL="85725" marR="66675" marT="28575" marB="28575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경보율 (문턱 0.603)</a:t>
                      </a:r>
                    </a:p>
                  </a:txBody>
                  <a:tcPr marL="85725" marR="66675" marT="28575" marB="28575" anchor="ctr">
                    <a:solidFill>
                      <a:srgbClr val="1E293B"/>
                    </a:solidFill>
                  </a:tcPr>
                </a:tc>
              </a:tr>
              <a:tr h="438150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100" b="1">
                          <a:solidFill>
                            <a:srgbClr val="0F172A"/>
                          </a:solidFill>
                          <a:latin typeface="맑은 고딕"/>
                        </a:rPr>
                        <a:t>블랙아이스</a:t>
                      </a:r>
                    </a:p>
                  </a:txBody>
                  <a:tcPr marL="85725" marR="6667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100" b="0">
                          <a:solidFill>
                            <a:srgbClr val="0F172A"/>
                          </a:solidFill>
                          <a:latin typeface="맑은 고딕"/>
                        </a:rPr>
                        <a:t>6,340</a:t>
                      </a:r>
                    </a:p>
                  </a:txBody>
                  <a:tcPr marL="85725" marR="6667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100" b="1">
                          <a:solidFill>
                            <a:srgbClr val="DC2626"/>
                          </a:solidFill>
                          <a:latin typeface="맑은 고딕"/>
                        </a:rPr>
                        <a:t>96.1 %</a:t>
                      </a:r>
                    </a:p>
                  </a:txBody>
                  <a:tcPr marL="85725" marR="6667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100" b="1">
                          <a:solidFill>
                            <a:srgbClr val="DC2626"/>
                          </a:solidFill>
                          <a:latin typeface="맑은 고딕"/>
                        </a:rPr>
                        <a:t>96.6 %</a:t>
                      </a:r>
                    </a:p>
                  </a:txBody>
                  <a:tcPr marL="85725" marR="66675" marT="28575" marB="28575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100" b="0">
                          <a:solidFill>
                            <a:srgbClr val="0F172A"/>
                          </a:solidFill>
                          <a:latin typeface="맑은 고딕"/>
                        </a:rPr>
                        <a:t>마른 노면</a:t>
                      </a:r>
                    </a:p>
                  </a:txBody>
                  <a:tcPr marL="85725" marR="66675" marT="28575" marB="28575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100" b="0">
                          <a:solidFill>
                            <a:srgbClr val="0F172A"/>
                          </a:solidFill>
                          <a:latin typeface="맑은 고딕"/>
                        </a:rPr>
                        <a:t>19,018</a:t>
                      </a:r>
                    </a:p>
                  </a:txBody>
                  <a:tcPr marL="85725" marR="66675" marT="28575" marB="28575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100" b="0">
                          <a:solidFill>
                            <a:srgbClr val="0F172A"/>
                          </a:solidFill>
                          <a:latin typeface="맑은 고딕"/>
                        </a:rPr>
                        <a:t>80.7 %</a:t>
                      </a:r>
                    </a:p>
                  </a:txBody>
                  <a:tcPr marL="85725" marR="66675" marT="28575" marB="28575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100" b="1">
                          <a:solidFill>
                            <a:srgbClr val="16A34A"/>
                          </a:solidFill>
                          <a:latin typeface="맑은 고딕"/>
                        </a:rPr>
                        <a:t>0.3 %</a:t>
                      </a:r>
                    </a:p>
                  </a:txBody>
                  <a:tcPr marL="85725" marR="66675" marT="28575" marB="28575" anchor="ctr">
                    <a:solidFill>
                      <a:srgbClr val="F1F5F9"/>
                    </a:solidFill>
                  </a:tcPr>
                </a:tc>
              </a:tr>
              <a:tr h="438150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100" b="0">
                          <a:solidFill>
                            <a:srgbClr val="0F172A"/>
                          </a:solidFill>
                          <a:latin typeface="맑은 고딕"/>
                        </a:rPr>
                        <a:t>젖은 노면</a:t>
                      </a:r>
                    </a:p>
                  </a:txBody>
                  <a:tcPr marL="85725" marR="6667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100" b="0">
                          <a:solidFill>
                            <a:srgbClr val="0F172A"/>
                          </a:solidFill>
                          <a:latin typeface="맑은 고딕"/>
                        </a:rPr>
                        <a:t>34,440</a:t>
                      </a:r>
                    </a:p>
                  </a:txBody>
                  <a:tcPr marL="85725" marR="6667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100" b="0">
                          <a:solidFill>
                            <a:srgbClr val="0F172A"/>
                          </a:solidFill>
                          <a:latin typeface="맑은 고딕"/>
                        </a:rPr>
                        <a:t>84.6 %</a:t>
                      </a:r>
                    </a:p>
                  </a:txBody>
                  <a:tcPr marL="85725" marR="6667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100" b="1">
                          <a:solidFill>
                            <a:srgbClr val="16A34A"/>
                          </a:solidFill>
                          <a:latin typeface="맑은 고딕"/>
                        </a:rPr>
                        <a:t>0.8 %</a:t>
                      </a:r>
                    </a:p>
                  </a:txBody>
                  <a:tcPr marL="85725" marR="66675" marT="28575" marB="28575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100" b="0">
                          <a:solidFill>
                            <a:srgbClr val="0F172A"/>
                          </a:solidFill>
                          <a:latin typeface="맑은 고딕"/>
                        </a:rPr>
                        <a:t>포트홀</a:t>
                      </a:r>
                    </a:p>
                  </a:txBody>
                  <a:tcPr marL="85725" marR="66675" marT="28575" marB="28575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100" b="0">
                          <a:solidFill>
                            <a:srgbClr val="0F172A"/>
                          </a:solidFill>
                          <a:latin typeface="맑은 고딕"/>
                        </a:rPr>
                        <a:t>9,560</a:t>
                      </a:r>
                    </a:p>
                  </a:txBody>
                  <a:tcPr marL="85725" marR="66675" marT="28575" marB="28575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100" b="0">
                          <a:solidFill>
                            <a:srgbClr val="0F172A"/>
                          </a:solidFill>
                          <a:latin typeface="맑은 고딕"/>
                        </a:rPr>
                        <a:t>90.2 %</a:t>
                      </a:r>
                    </a:p>
                  </a:txBody>
                  <a:tcPr marL="85725" marR="66675" marT="28575" marB="28575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100" b="1">
                          <a:solidFill>
                            <a:srgbClr val="16A34A"/>
                          </a:solidFill>
                          <a:latin typeface="맑은 고딕"/>
                        </a:rPr>
                        <a:t>0.3 %</a:t>
                      </a:r>
                    </a:p>
                  </a:txBody>
                  <a:tcPr marL="85725" marR="66675" marT="28575" marB="28575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533400" y="3333750"/>
            <a:ext cx="4895088" cy="2514600"/>
          </a:xfrm>
          <a:prstGeom prst="roundRect">
            <a:avLst>
              <a:gd name="adj" fmla="val 2651"/>
            </a:avLst>
          </a:prstGeom>
          <a:solidFill>
            <a:srgbClr val="EFF6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33400" y="3333750"/>
            <a:ext cx="38100" cy="25146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76275" y="3429000"/>
            <a:ext cx="4628388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F172A"/>
                </a:solidFill>
                <a:latin typeface="맑은 고딕"/>
              </a:rPr>
              <a:t>이 숫자가 왜 믿을 만한가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275" y="3683794"/>
            <a:ext cx="4628388" cy="20883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500"/>
              </a:spcAft>
            </a:pPr>
            <a:r>
              <a:rPr sz="1030" b="0">
                <a:solidFill>
                  <a:srgbClr val="334155"/>
                </a:solidFill>
                <a:latin typeface="맑은 고딕"/>
              </a:rPr>
              <a:t>표본이 보드 바깥에서 만들어진 것이 아니다. 실사진을 </a:t>
            </a:r>
            <a:r>
              <a:rPr sz="1030" b="1">
                <a:solidFill>
                  <a:srgbClr val="334155"/>
                </a:solidFill>
                <a:latin typeface="맑은 고딕"/>
              </a:rPr>
              <a:t>STM32N6 에 그대로 넣어</a:t>
            </a:r>
            <a:r>
              <a:rPr sz="1030" b="0">
                <a:solidFill>
                  <a:srgbClr val="334155"/>
                </a:solidFill>
                <a:latin typeface="맑은 고딕"/>
              </a:rPr>
              <a:t> 추론·융합을 보드에서 돌리고, 돌아온 판정을 그대로 셌다.</a:t>
            </a:r>
          </a:p>
          <a:p>
            <a:pPr algn="l">
              <a:lnSpc>
                <a:spcPct val="150000"/>
              </a:lnSpc>
              <a:spcAft>
                <a:spcPts val="500"/>
              </a:spcAft>
            </a:pPr>
            <a:r>
              <a:rPr sz="1030" b="0">
                <a:solidFill>
                  <a:srgbClr val="334155"/>
                </a:solidFill>
                <a:latin typeface="맑은 고딕"/>
              </a:rPr>
              <a:t>장당 판정을 </a:t>
            </a:r>
            <a:r>
              <a:rPr sz="1030" b="1">
                <a:solidFill>
                  <a:srgbClr val="334155"/>
                </a:solidFill>
                <a:latin typeface="맑은 고딕"/>
              </a:rPr>
              <a:t>logs/rscd_board_samples.jsonl</a:t>
            </a:r>
            <a:r>
              <a:rPr sz="1030" b="0">
                <a:solidFill>
                  <a:srgbClr val="334155"/>
                </a:solidFill>
                <a:latin typeface="맑은 고딕"/>
              </a:rPr>
              <a:t> 에 남겨 두어, 문턱을 바꿔 다시 계산할 때 보드를 다시 돌릴 필요가 없다.</a:t>
            </a:r>
          </a:p>
        </p:txBody>
      </p:sp>
      <p:pic>
        <p:nvPicPr>
          <p:cNvPr id="16" name="Picture 15" descr="real_threshol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556" y="1200150"/>
            <a:ext cx="3340376" cy="207645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17" name="TextBox 16"/>
          <p:cNvSpPr txBox="1"/>
          <p:nvPr/>
        </p:nvSpPr>
        <p:spPr>
          <a:xfrm>
            <a:off x="5580888" y="3314700"/>
            <a:ext cx="6077712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19" b="0">
                <a:solidFill>
                  <a:srgbClr val="64748B"/>
                </a:solidFill>
                <a:latin typeface="맑은 고딕"/>
              </a:rPr>
              <a:t>운영 문턱 결정 — 69,358장 전량 스윕</a:t>
            </a:r>
          </a:p>
        </p:txBody>
      </p:sp>
      <p:pic>
        <p:nvPicPr>
          <p:cNvPr id="18" name="Picture 17" descr="real_confusi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1860" y="3581400"/>
            <a:ext cx="2475767" cy="207645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19" name="TextBox 18"/>
          <p:cNvSpPr txBox="1"/>
          <p:nvPr/>
        </p:nvSpPr>
        <p:spPr>
          <a:xfrm>
            <a:off x="5580888" y="5695950"/>
            <a:ext cx="6077712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19" b="0">
                <a:solidFill>
                  <a:srgbClr val="64748B"/>
                </a:solidFill>
                <a:latin typeface="맑은 고딕"/>
              </a:rPr>
              <a:t>혼동 행렬 (행 = 실제, 열 = 보드 판정)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33400" y="419100"/>
            <a:ext cx="809625" cy="219075"/>
          </a:xfrm>
          <a:prstGeom prst="roundRect">
            <a:avLst>
              <a:gd name="adj" fmla="val 47826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33400" y="466725"/>
            <a:ext cx="80962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</a:rPr>
              <a:t>1차 방어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6850" y="381000"/>
            <a:ext cx="9458325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F172A"/>
                </a:solidFill>
                <a:latin typeface="맑은 고딕"/>
              </a:rPr>
              <a:t>동작 — 카메라가 보고 빙판 앞에서 선다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91850" y="457200"/>
            <a:ext cx="666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>
                <a:solidFill>
                  <a:srgbClr val="94A3B8"/>
                </a:solidFill>
                <a:latin typeface="맑은 고딕"/>
              </a:rPr>
              <a:t>11 /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400" y="800100"/>
            <a:ext cx="11125200" cy="1524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33400" y="933450"/>
            <a:ext cx="111252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334155"/>
                </a:solidFill>
                <a:latin typeface="맑은 고딕"/>
              </a:rPr>
              <a:t>CARLA Town04 · 맑은 낮 · 40 km/h · 마찰 0.02 · 1차 방어 ON (보드 NPU 추론 + 융합)</a:t>
            </a:r>
          </a:p>
        </p:txBody>
      </p:sp>
      <p:sp>
        <p:nvSpPr>
          <p:cNvPr id="9" name="Rectangle 8"/>
          <p:cNvSpPr/>
          <p:nvPr/>
        </p:nvSpPr>
        <p:spPr>
          <a:xfrm>
            <a:off x="533400" y="5943600"/>
            <a:ext cx="1112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33400" y="6019800"/>
            <a:ext cx="111252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60" b="0">
                <a:solidFill>
                  <a:srgbClr val="64748B"/>
                </a:solidFill>
                <a:latin typeface="맑은 고딕"/>
              </a:rPr>
              <a:t>같은 주행선에서 날씨 11종(맑음·흐림·젖은 노면·보슬비·폭우·해질녘·밤·비 오는 밤·눈 등)을 모두 돌렸다. 인식·정지 14회 · 경고 늦음 7회 · 미인식 10회 · 오경보 1회.</a:t>
            </a:r>
          </a:p>
        </p:txBody>
      </p:sp>
      <p:pic>
        <p:nvPicPr>
          <p:cNvPr id="11" name="Picture 10" descr="p1_approach_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200150"/>
            <a:ext cx="3619500" cy="2714625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pic>
        <p:nvPicPr>
          <p:cNvPr id="12" name="Picture 11" descr="p1_approach_b.jpg"/>
          <p:cNvPicPr>
            <a:picLocks noChangeAspect="1"/>
          </p:cNvPicPr>
          <p:nvPr/>
        </p:nvPicPr>
        <p:blipFill>
          <a:blip r:embed="rId3"/>
          <a:srcRect t="26410" b="26410"/>
          <a:stretch>
            <a:fillRect/>
          </a:stretch>
        </p:blipFill>
        <p:spPr>
          <a:xfrm>
            <a:off x="533400" y="3971925"/>
            <a:ext cx="3619500" cy="81915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533400" y="4886325"/>
            <a:ext cx="3619500" cy="9620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1">
                <a:solidFill>
                  <a:srgbClr val="334155"/>
                </a:solidFill>
                <a:latin typeface="맑은 고딕"/>
              </a:rPr>
              <a:t>① 접근</a:t>
            </a:r>
            <a:br/>
            <a:r>
              <a:rPr sz="1000" b="0">
                <a:solidFill>
                  <a:srgbClr val="334155"/>
                </a:solidFill>
                <a:latin typeface="맑은 고딕"/>
              </a:rPr>
              <a:t>40 km/h 주행. 위는 전방 카메라(모델 입력), 아래는 조감.</a:t>
            </a:r>
            <a:br/>
            <a:r>
              <a:rPr sz="1000" b="0">
                <a:solidFill>
                  <a:srgbClr val="334155"/>
                </a:solidFill>
                <a:latin typeface="맑은 고딕"/>
              </a:rPr>
              <a:t>위험도 0.00 · DRIVE</a:t>
            </a:r>
          </a:p>
        </p:txBody>
      </p:sp>
      <p:pic>
        <p:nvPicPr>
          <p:cNvPr id="14" name="Picture 13" descr="p1_warn_c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0" y="1200150"/>
            <a:ext cx="3619500" cy="2714625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pic>
        <p:nvPicPr>
          <p:cNvPr id="15" name="Picture 14" descr="p1_warn_b.jpg"/>
          <p:cNvPicPr>
            <a:picLocks noChangeAspect="1"/>
          </p:cNvPicPr>
          <p:nvPr/>
        </p:nvPicPr>
        <p:blipFill>
          <a:blip r:embed="rId5"/>
          <a:srcRect t="26410" b="26410"/>
          <a:stretch>
            <a:fillRect/>
          </a:stretch>
        </p:blipFill>
        <p:spPr>
          <a:xfrm>
            <a:off x="4286250" y="3971925"/>
            <a:ext cx="3619500" cy="81915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4286250" y="4886325"/>
            <a:ext cx="3619500" cy="9620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1">
                <a:solidFill>
                  <a:srgbClr val="334155"/>
                </a:solidFill>
                <a:latin typeface="맑은 고딕"/>
              </a:rPr>
              <a:t>② 1차 경보 </a:t>
            </a:r>
            <a:r>
              <a:rPr sz="1000" b="1">
                <a:solidFill>
                  <a:srgbClr val="DC2626"/>
                </a:solidFill>
                <a:latin typeface="맑은 고딕"/>
              </a:rPr>
              <a:t>6.10 s</a:t>
            </a:r>
            <a:br/>
            <a:r>
              <a:rPr sz="1000" b="0">
                <a:solidFill>
                  <a:srgbClr val="334155"/>
                </a:solidFill>
                <a:latin typeface="맑은 고딕"/>
              </a:rPr>
              <a:t>위험도 </a:t>
            </a:r>
            <a:r>
              <a:rPr sz="1000" b="1">
                <a:solidFill>
                  <a:srgbClr val="334155"/>
                </a:solidFill>
                <a:latin typeface="맑은 고딕"/>
              </a:rPr>
              <a:t>0.443</a:t>
            </a:r>
            <a:r>
              <a:rPr sz="1000" b="0">
                <a:solidFill>
                  <a:srgbClr val="334155"/>
                </a:solidFill>
                <a:latin typeface="맑은 고딕"/>
              </a:rPr>
              <a:t> → 문턱 돌파. 빙판 가장자리까지 11.4 m.</a:t>
            </a:r>
            <a:br/>
            <a:r>
              <a:rPr sz="1000" b="0">
                <a:solidFill>
                  <a:srgbClr val="334155"/>
                </a:solidFill>
                <a:latin typeface="맑은 고딕"/>
              </a:rPr>
              <a:t>PRIMARY WARNING · BRAKE</a:t>
            </a:r>
          </a:p>
        </p:txBody>
      </p:sp>
      <p:pic>
        <p:nvPicPr>
          <p:cNvPr id="17" name="Picture 16" descr="p1_stop_c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39100" y="1200150"/>
            <a:ext cx="3619500" cy="2714625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pic>
        <p:nvPicPr>
          <p:cNvPr id="18" name="Picture 17" descr="p1_stop_b.jpg"/>
          <p:cNvPicPr>
            <a:picLocks noChangeAspect="1"/>
          </p:cNvPicPr>
          <p:nvPr/>
        </p:nvPicPr>
        <p:blipFill>
          <a:blip r:embed="rId7"/>
          <a:srcRect t="26410" b="26410"/>
          <a:stretch>
            <a:fillRect/>
          </a:stretch>
        </p:blipFill>
        <p:spPr>
          <a:xfrm>
            <a:off x="8039100" y="3971925"/>
            <a:ext cx="3619500" cy="81915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19" name="TextBox 18"/>
          <p:cNvSpPr txBox="1"/>
          <p:nvPr/>
        </p:nvSpPr>
        <p:spPr>
          <a:xfrm>
            <a:off x="8039100" y="4886325"/>
            <a:ext cx="3619500" cy="9620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1">
                <a:solidFill>
                  <a:srgbClr val="334155"/>
                </a:solidFill>
                <a:latin typeface="맑은 고딕"/>
              </a:rPr>
              <a:t>③ 정지 </a:t>
            </a:r>
            <a:r>
              <a:rPr sz="1000" b="1">
                <a:solidFill>
                  <a:srgbClr val="DC2626"/>
                </a:solidFill>
                <a:latin typeface="맑은 고딕"/>
              </a:rPr>
              <a:t>7.14 s</a:t>
            </a:r>
            <a:br/>
            <a:r>
              <a:rPr sz="1000" b="0">
                <a:solidFill>
                  <a:srgbClr val="334155"/>
                </a:solidFill>
                <a:latin typeface="맑은 고딕"/>
              </a:rPr>
              <a:t>빙판 </a:t>
            </a:r>
            <a:r>
              <a:rPr sz="1000" b="1">
                <a:solidFill>
                  <a:srgbClr val="334155"/>
                </a:solidFill>
                <a:latin typeface="맑은 고딕"/>
              </a:rPr>
              <a:t>23.6 m 앞</a:t>
            </a:r>
            <a:r>
              <a:rPr sz="1000" b="0">
                <a:solidFill>
                  <a:srgbClr val="334155"/>
                </a:solidFill>
                <a:latin typeface="맑은 고딕"/>
              </a:rPr>
              <a:t>에서 멈췄다.</a:t>
            </a:r>
            <a:br/>
            <a:r>
              <a:rPr sz="1000" b="0">
                <a:solidFill>
                  <a:srgbClr val="334155"/>
                </a:solidFill>
                <a:latin typeface="맑은 고딕"/>
              </a:rPr>
              <a:t>빙판에 닿지 않았다 — 예방에 성공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33400" y="419100"/>
            <a:ext cx="809625" cy="219075"/>
          </a:xfrm>
          <a:prstGeom prst="roundRect">
            <a:avLst>
              <a:gd name="adj" fmla="val 47826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33400" y="466725"/>
            <a:ext cx="80962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</a:rPr>
              <a:t>1차 방어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6850" y="381000"/>
            <a:ext cx="9458325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F172A"/>
                </a:solidFill>
                <a:latin typeface="맑은 고딕"/>
              </a:rPr>
              <a:t>위험도 융합 — 기상·위치 맥락으로 가중치를 바꾼다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91850" y="457200"/>
            <a:ext cx="666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>
                <a:solidFill>
                  <a:srgbClr val="94A3B8"/>
                </a:solidFill>
                <a:latin typeface="맑은 고딕"/>
              </a:rPr>
              <a:t>12 /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400" y="800100"/>
            <a:ext cx="11125200" cy="1524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33400" y="5943600"/>
            <a:ext cx="1112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33400" y="6019800"/>
            <a:ext cx="111252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60" b="0">
                <a:solidFill>
                  <a:srgbClr val="64748B"/>
                </a:solidFill>
                <a:latin typeface="맑은 고딕"/>
              </a:rPr>
              <a:t>운영 문턱 0.603 — 손으로 고른 값이 아니라 실사진 전량 스윕에서 결정했고, logs/rscd_board_samples.jsonl 로 문턱을 바꿔 재계산할 수 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3400" y="933450"/>
            <a:ext cx="11125200" cy="590550"/>
          </a:xfrm>
          <a:prstGeom prst="roundRect">
            <a:avLst>
              <a:gd name="adj" fmla="val 12903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33400" y="1114425"/>
            <a:ext cx="111252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맑은 고딕"/>
              </a:rPr>
              <a:t>risk  =  α · p_ice   +   β · 반사도   +   γ · (1 − 차선 가시성)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33400" y="1676400"/>
          <a:ext cx="5486399" cy="1752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47257"/>
                <a:gridCol w="979714"/>
                <a:gridCol w="979714"/>
                <a:gridCol w="979714"/>
              </a:tblGrid>
              <a:tr h="266700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기상 · 위치 맥락</a:t>
                      </a:r>
                    </a:p>
                  </a:txBody>
                  <a:tcPr marL="85725" marR="66675" marT="28575" marB="28575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α (분류)</a:t>
                      </a:r>
                    </a:p>
                  </a:txBody>
                  <a:tcPr marL="85725" marR="66675" marT="28575" marB="28575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β (반사도)</a:t>
                      </a:r>
                    </a:p>
                  </a:txBody>
                  <a:tcPr marL="85725" marR="66675" marT="28575" marB="28575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γ (차선)</a:t>
                      </a:r>
                    </a:p>
                  </a:txBody>
                  <a:tcPr marL="85725" marR="66675" marT="28575" marB="28575" anchor="ctr">
                    <a:solidFill>
                      <a:srgbClr val="1E293B"/>
                    </a:solidFill>
                  </a:tcPr>
                </a:tc>
              </a:tr>
              <a:tr h="495300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100" b="0">
                          <a:solidFill>
                            <a:srgbClr val="0F172A"/>
                          </a:solidFill>
                          <a:latin typeface="맑은 고딕"/>
                        </a:rPr>
                        <a:t>교량 · 새벽 등 결빙 위험 높음</a:t>
                      </a:r>
                    </a:p>
                  </a:txBody>
                  <a:tcPr marL="85725" marR="6667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100" b="0">
                          <a:solidFill>
                            <a:srgbClr val="0F172A"/>
                          </a:solidFill>
                          <a:latin typeface="맑은 고딕"/>
                        </a:rPr>
                        <a:t>0.35</a:t>
                      </a:r>
                    </a:p>
                  </a:txBody>
                  <a:tcPr marL="85725" marR="6667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100" b="1">
                          <a:solidFill>
                            <a:srgbClr val="0F172A"/>
                          </a:solidFill>
                          <a:latin typeface="맑은 고딕"/>
                        </a:rPr>
                        <a:t>0.45</a:t>
                      </a:r>
                    </a:p>
                  </a:txBody>
                  <a:tcPr marL="85725" marR="6667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100" b="0">
                          <a:solidFill>
                            <a:srgbClr val="0F172A"/>
                          </a:solidFill>
                          <a:latin typeface="맑은 고딕"/>
                        </a:rPr>
                        <a:t>0.20</a:t>
                      </a:r>
                    </a:p>
                  </a:txBody>
                  <a:tcPr marL="85725" marR="66675" marT="28575" marB="28575" anchor="ctr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100" b="0">
                          <a:solidFill>
                            <a:srgbClr val="0F172A"/>
                          </a:solidFill>
                          <a:latin typeface="맑은 고딕"/>
                        </a:rPr>
                        <a:t>일반</a:t>
                      </a:r>
                    </a:p>
                  </a:txBody>
                  <a:tcPr marL="85725" marR="66675" marT="28575" marB="28575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100" b="1">
                          <a:solidFill>
                            <a:srgbClr val="0F172A"/>
                          </a:solidFill>
                          <a:latin typeface="맑은 고딕"/>
                        </a:rPr>
                        <a:t>0.50</a:t>
                      </a:r>
                    </a:p>
                  </a:txBody>
                  <a:tcPr marL="85725" marR="66675" marT="28575" marB="28575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100" b="0">
                          <a:solidFill>
                            <a:srgbClr val="0F172A"/>
                          </a:solidFill>
                          <a:latin typeface="맑은 고딕"/>
                        </a:rPr>
                        <a:t>0.30</a:t>
                      </a:r>
                    </a:p>
                  </a:txBody>
                  <a:tcPr marL="85725" marR="66675" marT="28575" marB="28575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100" b="0">
                          <a:solidFill>
                            <a:srgbClr val="0F172A"/>
                          </a:solidFill>
                          <a:latin typeface="맑은 고딕"/>
                        </a:rPr>
                        <a:t>0.20</a:t>
                      </a:r>
                    </a:p>
                  </a:txBody>
                  <a:tcPr marL="85725" marR="66675" marT="28575" marB="28575" anchor="ctr">
                    <a:solidFill>
                      <a:srgbClr val="F1F5F9"/>
                    </a:solidFill>
                  </a:tcPr>
                </a:tc>
              </a:tr>
              <a:tr h="495300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100" b="0">
                          <a:solidFill>
                            <a:srgbClr val="0F172A"/>
                          </a:solidFill>
                          <a:latin typeface="맑은 고딕"/>
                        </a:rPr>
                        <a:t>저위험</a:t>
                      </a:r>
                    </a:p>
                  </a:txBody>
                  <a:tcPr marL="85725" marR="6667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100" b="1">
                          <a:solidFill>
                            <a:srgbClr val="0F172A"/>
                          </a:solidFill>
                          <a:latin typeface="맑은 고딕"/>
                        </a:rPr>
                        <a:t>0.55</a:t>
                      </a:r>
                    </a:p>
                  </a:txBody>
                  <a:tcPr marL="85725" marR="6667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100" b="0">
                          <a:solidFill>
                            <a:srgbClr val="0F172A"/>
                          </a:solidFill>
                          <a:latin typeface="맑은 고딕"/>
                        </a:rPr>
                        <a:t>0.15</a:t>
                      </a:r>
                    </a:p>
                  </a:txBody>
                  <a:tcPr marL="85725" marR="6667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100" b="1">
                          <a:solidFill>
                            <a:srgbClr val="0F172A"/>
                          </a:solidFill>
                          <a:latin typeface="맑은 고딕"/>
                        </a:rPr>
                        <a:t>0.30</a:t>
                      </a:r>
                    </a:p>
                  </a:txBody>
                  <a:tcPr marL="85725" marR="66675" marT="28575" marB="285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172200" y="1676400"/>
            <a:ext cx="5486400" cy="4171950"/>
          </a:xfrm>
          <a:prstGeom prst="roundRect">
            <a:avLst>
              <a:gd name="adj" fmla="val 1598"/>
            </a:avLst>
          </a:prstGeom>
          <a:solidFill>
            <a:srgbClr val="FEF2F2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172200" y="1676400"/>
            <a:ext cx="38100" cy="417195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315075" y="1771650"/>
            <a:ext cx="52197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F172A"/>
                </a:solidFill>
                <a:latin typeface="맑은 고딕"/>
              </a:rPr>
              <a:t>설계에서 고친 두 가지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15075" y="2026444"/>
            <a:ext cx="5219700" cy="37457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500"/>
              </a:spcAft>
            </a:pPr>
            <a:r>
              <a:rPr sz="1050" b="1">
                <a:solidFill>
                  <a:srgbClr val="334155"/>
                </a:solidFill>
                <a:latin typeface="맑은 고딕"/>
              </a:rPr>
              <a:t>① 재정규화.</a:t>
            </a:r>
            <a:r>
              <a:rPr sz="1050" b="0">
                <a:solidFill>
                  <a:srgbClr val="334155"/>
                </a:solidFill>
                <a:latin typeface="맑은 고딕"/>
              </a:rPr>
              <a:t> 쓸 수 없는 신호에 0을 넣으면 안 된다. 0은 중립값이 아니라 </a:t>
            </a:r>
            <a:r>
              <a:rPr sz="1050" b="1">
                <a:solidFill>
                  <a:srgbClr val="334155"/>
                </a:solidFill>
                <a:latin typeface="맑은 고딕"/>
              </a:rPr>
              <a:t>최솟값</a:t>
            </a:r>
            <a:r>
              <a:rPr sz="1050" b="0">
                <a:solidFill>
                  <a:srgbClr val="334155"/>
                </a:solidFill>
                <a:latin typeface="맑은 고딕"/>
              </a:rPr>
              <a:t>이라 위험도 상한이 잘린다. 그래서 쓸 수 없는 신호는 </a:t>
            </a:r>
            <a:r>
              <a:rPr sz="1050" b="1">
                <a:solidFill>
                  <a:srgbClr val="334155"/>
                </a:solidFill>
                <a:latin typeface="맑은 고딕"/>
              </a:rPr>
              <a:t>분모에서 빼고</a:t>
            </a:r>
            <a:r>
              <a:rPr sz="1050" b="0">
                <a:solidFill>
                  <a:srgbClr val="334155"/>
                </a:solidFill>
                <a:latin typeface="맑은 고딕"/>
              </a:rPr>
              <a:t> 남은 신호로 다시 정규화한다.</a:t>
            </a:r>
          </a:p>
          <a:p>
            <a:pPr algn="l">
              <a:lnSpc>
                <a:spcPct val="150000"/>
              </a:lnSpc>
              <a:spcAft>
                <a:spcPts val="500"/>
              </a:spcAft>
            </a:pPr>
            <a:r>
              <a:rPr sz="1050" b="1">
                <a:solidFill>
                  <a:srgbClr val="334155"/>
                </a:solidFill>
                <a:latin typeface="맑은 고딕"/>
              </a:rPr>
              <a:t>② 문턱 재교정.</a:t>
            </a:r>
            <a:r>
              <a:rPr sz="1050" b="0">
                <a:solidFill>
                  <a:srgbClr val="334155"/>
                </a:solidFill>
                <a:latin typeface="맑은 고딕"/>
              </a:rPr>
              <a:t> 초기 0.441 에서는 젖은 노면 오경보가 40 %였다. 실사진 69,358장 스윕으로 절벽 구간을 찾아 </a:t>
            </a:r>
            <a:r>
              <a:rPr sz="1050" b="1">
                <a:solidFill>
                  <a:srgbClr val="334155"/>
                </a:solidFill>
                <a:latin typeface="맑은 고딕"/>
              </a:rPr>
              <a:t>0.603</a:t>
            </a:r>
            <a:r>
              <a:rPr sz="1050" b="0">
                <a:solidFill>
                  <a:srgbClr val="334155"/>
                </a:solidFill>
                <a:latin typeface="맑은 고딕"/>
              </a:rPr>
              <a:t> 으로 올렸고 오경보가 0.8 %로 내려갔다. 폭우는 강수 게이트로 따로 분리했다.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33400" y="419100"/>
            <a:ext cx="809625" cy="219075"/>
          </a:xfrm>
          <a:prstGeom prst="roundRect">
            <a:avLst>
              <a:gd name="adj" fmla="val 47826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33400" y="466725"/>
            <a:ext cx="80962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</a:rPr>
              <a:t>2차 방어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6850" y="381000"/>
            <a:ext cx="9458325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F172A"/>
                </a:solidFill>
                <a:latin typeface="맑은 고딕"/>
              </a:rPr>
              <a:t>원리 — 칼만 필터 + 자전거 모델 잔차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91850" y="457200"/>
            <a:ext cx="666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>
                <a:solidFill>
                  <a:srgbClr val="94A3B8"/>
                </a:solidFill>
                <a:latin typeface="맑은 고딕"/>
              </a:rPr>
              <a:t>13 /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400" y="800100"/>
            <a:ext cx="11125200" cy="1524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33400" y="5943600"/>
            <a:ext cx="1112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33400" y="6019800"/>
            <a:ext cx="111252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60" b="0">
                <a:solidFill>
                  <a:srgbClr val="64748B"/>
                </a:solidFill>
                <a:latin typeface="맑은 고딕"/>
              </a:rPr>
              <a:t>C 코어(sw/fw/npu_lib/slip_core.h)는 HAL·OS 비의존이라 호스트에서도 컴파일된다. 파이썬 참조 구현과 같은 판정을 내리는지 매 커밋 검증한다.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3400" y="933450"/>
            <a:ext cx="6452616" cy="1866900"/>
          </a:xfrm>
          <a:prstGeom prst="roundRect">
            <a:avLst>
              <a:gd name="adj" fmla="val 3571"/>
            </a:avLst>
          </a:prstGeom>
          <a:solidFill>
            <a:srgbClr val="FEF2F2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33400" y="933450"/>
            <a:ext cx="38100" cy="18669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76275" y="1028700"/>
            <a:ext cx="6185916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F172A"/>
                </a:solidFill>
                <a:latin typeface="맑은 고딕"/>
              </a:rPr>
              <a:t>판단 절차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275" y="1283494"/>
            <a:ext cx="6185916" cy="1440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500"/>
              </a:spcAft>
            </a:pPr>
            <a:r>
              <a:rPr sz="1030" b="0">
                <a:solidFill>
                  <a:srgbClr val="334155"/>
                </a:solidFill>
                <a:latin typeface="맑은 고딕"/>
              </a:rPr>
              <a:t>1. IMU 50 Hz 에서 횡가속 a_y · yaw rate · 종가속을 받는다</a:t>
            </a:r>
          </a:p>
          <a:p>
            <a:pPr algn="l">
              <a:lnSpc>
                <a:spcPct val="150000"/>
              </a:lnSpc>
              <a:spcAft>
                <a:spcPts val="500"/>
              </a:spcAft>
            </a:pPr>
            <a:r>
              <a:rPr sz="1030" b="0">
                <a:solidFill>
                  <a:srgbClr val="334155"/>
                </a:solidFill>
                <a:latin typeface="맑은 고딕"/>
              </a:rPr>
              <a:t>2. </a:t>
            </a:r>
            <a:r>
              <a:rPr sz="1030" b="1">
                <a:solidFill>
                  <a:srgbClr val="334155"/>
                </a:solidFill>
                <a:latin typeface="맑은 고딕"/>
              </a:rPr>
              <a:t>2상태 칼만 필터</a:t>
            </a:r>
            <a:r>
              <a:rPr sz="1030" b="0">
                <a:solidFill>
                  <a:srgbClr val="334155"/>
                </a:solidFill>
                <a:latin typeface="맑은 고딕"/>
              </a:rPr>
              <a:t>(값 · 변화율)로 잡음을 거른다 — Q = 2000/3000, R = 0.16/0.0005</a:t>
            </a:r>
          </a:p>
          <a:p>
            <a:pPr algn="l">
              <a:lnSpc>
                <a:spcPct val="150000"/>
              </a:lnSpc>
              <a:spcAft>
                <a:spcPts val="500"/>
              </a:spcAft>
            </a:pPr>
            <a:r>
              <a:rPr sz="1030" b="0">
                <a:solidFill>
                  <a:srgbClr val="334155"/>
                </a:solidFill>
                <a:latin typeface="맑은 고딕"/>
              </a:rPr>
              <a:t>3. </a:t>
            </a:r>
            <a:r>
              <a:rPr sz="1030" b="1">
                <a:solidFill>
                  <a:srgbClr val="334155"/>
                </a:solidFill>
                <a:latin typeface="맑은 고딕"/>
              </a:rPr>
              <a:t>자전거 모델</a:t>
            </a:r>
            <a:r>
              <a:rPr sz="1030" b="0">
                <a:solidFill>
                  <a:srgbClr val="334155"/>
                </a:solidFill>
                <a:latin typeface="맑은 고딕"/>
              </a:rPr>
              <a:t>로 '이 속도·이 조향이면 나와야 할 yaw rate'를 계산한다 (고속 언더스티어 보정 1/(1+(v/v_ch)²), v_ch = 17 m/s)</a:t>
            </a:r>
          </a:p>
          <a:p>
            <a:pPr algn="l">
              <a:lnSpc>
                <a:spcPct val="150000"/>
              </a:lnSpc>
              <a:spcAft>
                <a:spcPts val="500"/>
              </a:spcAft>
            </a:pPr>
            <a:r>
              <a:rPr sz="1030" b="0">
                <a:solidFill>
                  <a:srgbClr val="334155"/>
                </a:solidFill>
                <a:latin typeface="맑은 고딕"/>
              </a:rPr>
              <a:t>4. 실측과 모델의 </a:t>
            </a:r>
            <a:r>
              <a:rPr sz="1030" b="1">
                <a:solidFill>
                  <a:srgbClr val="334155"/>
                </a:solidFill>
                <a:latin typeface="맑은 고딕"/>
              </a:rPr>
              <a:t>잔차</a:t>
            </a:r>
            <a:r>
              <a:rPr sz="1030" b="0">
                <a:solidFill>
                  <a:srgbClr val="334155"/>
                </a:solidFill>
                <a:latin typeface="맑은 고딕"/>
              </a:rPr>
              <a:t>가 타원 밖이면 미끄러짐 — 3샘플(60 ms) 연속이면 확정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33400" y="2914650"/>
          <a:ext cx="6452616" cy="1981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586"/>
                <a:gridCol w="2327173"/>
                <a:gridCol w="2961857"/>
              </a:tblGrid>
              <a:tr h="209550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30" b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 marL="85725" marR="66675" marT="28575" marB="28575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30" b="1">
                          <a:solidFill>
                            <a:srgbClr val="FFFFFF"/>
                          </a:solidFill>
                          <a:latin typeface="맑은 고딕"/>
                        </a:rPr>
                        <a:t>값</a:t>
                      </a:r>
                    </a:p>
                  </a:txBody>
                  <a:tcPr marL="85725" marR="66675" marT="28575" marB="28575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30" b="1">
                          <a:solidFill>
                            <a:srgbClr val="FFFFFF"/>
                          </a:solidFill>
                          <a:latin typeface="맑은 고딕"/>
                        </a:rPr>
                        <a:t>왜 이 값인가</a:t>
                      </a:r>
                    </a:p>
                  </a:txBody>
                  <a:tcPr marL="85725" marR="66675" marT="28575" marB="28575" anchor="ctr">
                    <a:solidFill>
                      <a:srgbClr val="1E293B"/>
                    </a:solidFill>
                  </a:tcPr>
                </a:tc>
              </a:tr>
              <a:tr h="295275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80" b="0">
                          <a:solidFill>
                            <a:srgbClr val="0F172A"/>
                          </a:solidFill>
                          <a:latin typeface="맑은 고딕"/>
                        </a:rPr>
                        <a:t>축거 L</a:t>
                      </a:r>
                    </a:p>
                  </a:txBody>
                  <a:tcPr marL="85725" marR="6667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80" b="0">
                          <a:solidFill>
                            <a:srgbClr val="0F172A"/>
                          </a:solidFill>
                          <a:latin typeface="맑은 고딕"/>
                        </a:rPr>
                        <a:t>2.7 m</a:t>
                      </a:r>
                    </a:p>
                  </a:txBody>
                  <a:tcPr marL="85725" marR="6667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80" b="0">
                          <a:solidFill>
                            <a:srgbClr val="0F172A"/>
                          </a:solidFill>
                          <a:latin typeface="맑은 고딕"/>
                        </a:rPr>
                        <a:t>자전거 모델</a:t>
                      </a:r>
                    </a:p>
                  </a:txBody>
                  <a:tcPr marL="85725" marR="66675" marT="28575" marB="28575" anchor="ctr"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80" b="0">
                          <a:solidFill>
                            <a:srgbClr val="0F172A"/>
                          </a:solidFill>
                          <a:latin typeface="맑은 고딕"/>
                        </a:rPr>
                        <a:t>조향 지연 τ</a:t>
                      </a:r>
                    </a:p>
                  </a:txBody>
                  <a:tcPr marL="85725" marR="66675" marT="28575" marB="28575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80" b="0">
                          <a:solidFill>
                            <a:srgbClr val="0F172A"/>
                          </a:solidFill>
                          <a:latin typeface="맑은 고딕"/>
                        </a:rPr>
                        <a:t>0.06 s</a:t>
                      </a:r>
                    </a:p>
                  </a:txBody>
                  <a:tcPr marL="85725" marR="66675" marT="28575" marB="28575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80" b="0">
                          <a:solidFill>
                            <a:srgbClr val="0F172A"/>
                          </a:solidFill>
                          <a:latin typeface="맑은 고딕"/>
                        </a:rPr>
                        <a:t>급조향 시 '모델이 즉답한다'는 가정이 </a:t>
                      </a:r>
                      <a:r>
                        <a:rPr sz="980" b="1">
                          <a:solidFill>
                            <a:srgbClr val="0F172A"/>
                          </a:solidFill>
                          <a:latin typeface="맑은 고딕"/>
                        </a:rPr>
                        <a:t>오탐</a:t>
                      </a:r>
                      <a:r>
                        <a:rPr sz="980" b="0">
                          <a:solidFill>
                            <a:srgbClr val="0F172A"/>
                          </a:solidFill>
                          <a:latin typeface="맑은 고딕"/>
                        </a:rPr>
                        <a:t>을 만들었다</a:t>
                      </a:r>
                    </a:p>
                  </a:txBody>
                  <a:tcPr marL="85725" marR="66675" marT="28575" marB="28575" anchor="ctr">
                    <a:solidFill>
                      <a:srgbClr val="F1F5F9"/>
                    </a:solidFill>
                  </a:tcPr>
                </a:tc>
              </a:tr>
              <a:tr h="295275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80" b="0">
                          <a:solidFill>
                            <a:srgbClr val="0F172A"/>
                          </a:solidFill>
                          <a:latin typeface="맑은 고딕"/>
                        </a:rPr>
                        <a:t>횡가속 임계</a:t>
                      </a:r>
                    </a:p>
                  </a:txBody>
                  <a:tcPr marL="85725" marR="6667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80" b="0">
                          <a:solidFill>
                            <a:srgbClr val="0F172A"/>
                          </a:solidFill>
                          <a:latin typeface="맑은 고딕"/>
                        </a:rPr>
                        <a:t>0.30 g</a:t>
                      </a:r>
                    </a:p>
                  </a:txBody>
                  <a:tcPr marL="85725" marR="6667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</a:p>
                  </a:txBody>
                  <a:tcPr marL="85725" marR="66675" marT="28575" marB="28575" anchor="ctr"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80" b="0">
                          <a:solidFill>
                            <a:srgbClr val="0F172A"/>
                          </a:solidFill>
                          <a:latin typeface="맑은 고딕"/>
                        </a:rPr>
                        <a:t>yaw 오차 임계</a:t>
                      </a:r>
                    </a:p>
                  </a:txBody>
                  <a:tcPr marL="85725" marR="66675" marT="28575" marB="28575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80" b="0">
                          <a:solidFill>
                            <a:srgbClr val="0F172A"/>
                          </a:solidFill>
                          <a:latin typeface="맑은 고딕"/>
                        </a:rPr>
                        <a:t>0.35 rad/s</a:t>
                      </a:r>
                    </a:p>
                  </a:txBody>
                  <a:tcPr marL="85725" marR="66675" marT="28575" marB="28575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</a:p>
                  </a:txBody>
                  <a:tcPr marL="85725" marR="66675" marT="28575" marB="28575" anchor="ctr">
                    <a:solidFill>
                      <a:srgbClr val="F1F5F9"/>
                    </a:solidFill>
                  </a:tcPr>
                </a:tc>
              </a:tr>
              <a:tr h="295275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80" b="0">
                          <a:solidFill>
                            <a:srgbClr val="0F172A"/>
                          </a:solidFill>
                          <a:latin typeface="맑은 고딕"/>
                        </a:rPr>
                        <a:t>판정 규칙</a:t>
                      </a:r>
                    </a:p>
                  </a:txBody>
                  <a:tcPr marL="85725" marR="6667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80" b="1">
                          <a:solidFill>
                            <a:srgbClr val="0F172A"/>
                          </a:solidFill>
                          <a:latin typeface="맑은 고딕"/>
                        </a:rPr>
                        <a:t>타원</a:t>
                      </a:r>
                    </a:p>
                  </a:txBody>
                  <a:tcPr marL="85725" marR="6667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80" b="0">
                          <a:solidFill>
                            <a:srgbClr val="0F172A"/>
                          </a:solidFill>
                          <a:latin typeface="맑은 고딕"/>
                        </a:rPr>
                        <a:t>직사각형은 모서리에서 저속 지연이 생겼다</a:t>
                      </a:r>
                    </a:p>
                  </a:txBody>
                  <a:tcPr marL="85725" marR="66675" marT="28575" marB="28575" anchor="ctr"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80" b="0">
                          <a:solidFill>
                            <a:srgbClr val="0F172A"/>
                          </a:solidFill>
                          <a:latin typeface="맑은 고딕"/>
                        </a:rPr>
                        <a:t>저마찰 트리거</a:t>
                      </a:r>
                    </a:p>
                  </a:txBody>
                  <a:tcPr marL="85725" marR="66675" marT="28575" marB="28575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80" b="0">
                          <a:solidFill>
                            <a:srgbClr val="0F172A"/>
                          </a:solidFill>
                          <a:latin typeface="맑은 고딕"/>
                        </a:rPr>
                        <a:t>제동 ≥ 0.3 이 0.3 s 지속 + 감속 &lt; 1.2 m/s²</a:t>
                      </a:r>
                    </a:p>
                  </a:txBody>
                  <a:tcPr marL="85725" marR="66675" marT="28575" marB="28575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80" b="0">
                          <a:solidFill>
                            <a:srgbClr val="0F172A"/>
                          </a:solidFill>
                          <a:latin typeface="맑은 고딕"/>
                        </a:rPr>
                        <a:t>필터 지연 구간의 오탐 방지</a:t>
                      </a:r>
                    </a:p>
                  </a:txBody>
                  <a:tcPr marL="85725" marR="66675" marT="28575" marB="28575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pic>
        <p:nvPicPr>
          <p:cNvPr id="15" name="Picture 14" descr="rule_bounda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8416" y="1327280"/>
            <a:ext cx="4520184" cy="378434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7138416" y="5543550"/>
            <a:ext cx="4520184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19" b="0">
                <a:solidFill>
                  <a:srgbClr val="64748B"/>
                </a:solidFill>
                <a:latin typeface="맑은 고딕"/>
              </a:rPr>
              <a:t>판정 경계 — 직사각형(점선) 대 타원(실선). 모서리에 걸리던 저속 구간이 타원에서 사라진다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33400" y="419100"/>
            <a:ext cx="809625" cy="219075"/>
          </a:xfrm>
          <a:prstGeom prst="roundRect">
            <a:avLst>
              <a:gd name="adj" fmla="val 47826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33400" y="466725"/>
            <a:ext cx="80962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</a:rPr>
              <a:t>2차 방어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6850" y="381000"/>
            <a:ext cx="9458325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F172A"/>
                </a:solidFill>
                <a:latin typeface="맑은 고딕"/>
              </a:rPr>
              <a:t>동작 — 카메라가 놓쳐도 보드가 받는다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91850" y="457200"/>
            <a:ext cx="666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>
                <a:solidFill>
                  <a:srgbClr val="94A3B8"/>
                </a:solidFill>
                <a:latin typeface="맑은 고딕"/>
              </a:rPr>
              <a:t>14 /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400" y="800100"/>
            <a:ext cx="11125200" cy="1524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33400" y="933450"/>
            <a:ext cx="111252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334155"/>
                </a:solidFill>
                <a:latin typeface="맑은 고딕"/>
              </a:rPr>
              <a:t>CARLA Town04 · 맑은 낮 · 40 km/h · 마찰 0.08 · 1차 방어 OFF · 2차 판정 주체 = STM32N6 보드</a:t>
            </a:r>
          </a:p>
        </p:txBody>
      </p:sp>
      <p:sp>
        <p:nvSpPr>
          <p:cNvPr id="9" name="Rectangle 8"/>
          <p:cNvSpPr/>
          <p:nvPr/>
        </p:nvSpPr>
        <p:spPr>
          <a:xfrm>
            <a:off x="533400" y="5943600"/>
            <a:ext cx="1112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33400" y="6019800"/>
            <a:ext cx="111252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60" b="0">
                <a:solidFill>
                  <a:srgbClr val="64748B"/>
                </a:solidFill>
                <a:latin typeface="맑은 고딕"/>
              </a:rPr>
              <a:t>2차 방어 발동 62회(보드 판정 53 · 호스트 9). 진입→확정 평균 2.41 s, 확정→정지 평균 3.78 s. 비상 제어 모드 분포 — 차선유지 29 · 정지 37 · 최대제동 20 · 우회피 11 · 좌회피 11.</a:t>
            </a:r>
          </a:p>
        </p:txBody>
      </p:sp>
      <p:pic>
        <p:nvPicPr>
          <p:cNvPr id="11" name="Picture 10" descr="p2_enter_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200150"/>
            <a:ext cx="3619500" cy="2714625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pic>
        <p:nvPicPr>
          <p:cNvPr id="12" name="Picture 11" descr="p2_enter_b.jpg"/>
          <p:cNvPicPr>
            <a:picLocks noChangeAspect="1"/>
          </p:cNvPicPr>
          <p:nvPr/>
        </p:nvPicPr>
        <p:blipFill>
          <a:blip r:embed="rId3"/>
          <a:srcRect t="26410" b="26410"/>
          <a:stretch>
            <a:fillRect/>
          </a:stretch>
        </p:blipFill>
        <p:spPr>
          <a:xfrm>
            <a:off x="533400" y="3971925"/>
            <a:ext cx="3619500" cy="81915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533400" y="4886325"/>
            <a:ext cx="3619500" cy="9620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1">
                <a:solidFill>
                  <a:srgbClr val="334155"/>
                </a:solidFill>
                <a:latin typeface="맑은 고딕"/>
              </a:rPr>
              <a:t>① 빙판 진입 </a:t>
            </a:r>
            <a:r>
              <a:rPr sz="1000" b="1">
                <a:solidFill>
                  <a:srgbClr val="DC2626"/>
                </a:solidFill>
                <a:latin typeface="맑은 고딕"/>
              </a:rPr>
              <a:t>5.84 s</a:t>
            </a:r>
            <a:br/>
            <a:r>
              <a:rPr sz="1000" b="0">
                <a:solidFill>
                  <a:srgbClr val="334155"/>
                </a:solidFill>
                <a:latin typeface="맑은 고딕"/>
              </a:rPr>
              <a:t>1차를 끈 상태(미인식 가정). 38.7 km/h 로 그대로 들어간다.</a:t>
            </a:r>
            <a:br/>
            <a:r>
              <a:rPr sz="1000" b="0">
                <a:solidFill>
                  <a:srgbClr val="334155"/>
                </a:solidFill>
                <a:latin typeface="맑은 고딕"/>
              </a:rPr>
              <a:t>위는 조감(차선 위치), 아래는 전방 카메라. 주변 차량 8대</a:t>
            </a:r>
          </a:p>
        </p:txBody>
      </p:sp>
      <p:pic>
        <p:nvPicPr>
          <p:cNvPr id="14" name="Picture 13" descr="p2_slip_c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0" y="1200150"/>
            <a:ext cx="3619500" cy="2714625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pic>
        <p:nvPicPr>
          <p:cNvPr id="15" name="Picture 14" descr="p2_slip_b.jpg"/>
          <p:cNvPicPr>
            <a:picLocks noChangeAspect="1"/>
          </p:cNvPicPr>
          <p:nvPr/>
        </p:nvPicPr>
        <p:blipFill>
          <a:blip r:embed="rId5"/>
          <a:srcRect t="26410" b="26410"/>
          <a:stretch>
            <a:fillRect/>
          </a:stretch>
        </p:blipFill>
        <p:spPr>
          <a:xfrm>
            <a:off x="4286250" y="3971925"/>
            <a:ext cx="3619500" cy="81915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4286250" y="4886325"/>
            <a:ext cx="3619500" cy="9620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1">
                <a:solidFill>
                  <a:srgbClr val="334155"/>
                </a:solidFill>
                <a:latin typeface="맑은 고딕"/>
              </a:rPr>
              <a:t>② 미끄러짐 확정 </a:t>
            </a:r>
            <a:r>
              <a:rPr sz="1000" b="1">
                <a:solidFill>
                  <a:srgbClr val="DC2626"/>
                </a:solidFill>
                <a:latin typeface="맑은 고딕"/>
              </a:rPr>
              <a:t>7.62 s</a:t>
            </a:r>
            <a:br/>
            <a:r>
              <a:rPr sz="1000" b="1">
                <a:solidFill>
                  <a:srgbClr val="334155"/>
                </a:solidFill>
                <a:latin typeface="맑은 고딕"/>
              </a:rPr>
              <a:t>STM32N6 RTOS</a:t>
            </a:r>
            <a:r>
              <a:rPr sz="1000" b="0">
                <a:solidFill>
                  <a:srgbClr val="334155"/>
                </a:solidFill>
                <a:latin typeface="맑은 고딕"/>
              </a:rPr>
              <a:t> 가 판정. a_y = −0.364 g, yaw 오차 −0.282</a:t>
            </a:r>
            <a:br/>
            <a:r>
              <a:rPr sz="1000" b="0">
                <a:solidFill>
                  <a:srgbClr val="334155"/>
                </a:solidFill>
                <a:latin typeface="맑은 고딕"/>
              </a:rPr>
              <a:t>진입 1.78 s 만에 확정 → hard_stop</a:t>
            </a:r>
          </a:p>
        </p:txBody>
      </p:sp>
      <p:pic>
        <p:nvPicPr>
          <p:cNvPr id="17" name="Picture 16" descr="p2_stop_c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39100" y="1200150"/>
            <a:ext cx="3619500" cy="2714625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pic>
        <p:nvPicPr>
          <p:cNvPr id="18" name="Picture 17" descr="p2_stop_b.jpg"/>
          <p:cNvPicPr>
            <a:picLocks noChangeAspect="1"/>
          </p:cNvPicPr>
          <p:nvPr/>
        </p:nvPicPr>
        <p:blipFill>
          <a:blip r:embed="rId7"/>
          <a:srcRect t="26410" b="26410"/>
          <a:stretch>
            <a:fillRect/>
          </a:stretch>
        </p:blipFill>
        <p:spPr>
          <a:xfrm>
            <a:off x="8039100" y="3971925"/>
            <a:ext cx="3619500" cy="81915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19" name="TextBox 18"/>
          <p:cNvSpPr txBox="1"/>
          <p:nvPr/>
        </p:nvSpPr>
        <p:spPr>
          <a:xfrm>
            <a:off x="8039100" y="4886325"/>
            <a:ext cx="3619500" cy="9620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1">
                <a:solidFill>
                  <a:srgbClr val="334155"/>
                </a:solidFill>
                <a:latin typeface="맑은 고딕"/>
              </a:rPr>
              <a:t>③ 차선 유지하며 정지 </a:t>
            </a:r>
            <a:r>
              <a:rPr sz="1000" b="1">
                <a:solidFill>
                  <a:srgbClr val="DC2626"/>
                </a:solidFill>
                <a:latin typeface="맑은 고딕"/>
              </a:rPr>
              <a:t>11.68 s</a:t>
            </a:r>
            <a:br/>
            <a:r>
              <a:rPr sz="1000" b="0">
                <a:solidFill>
                  <a:srgbClr val="334155"/>
                </a:solidFill>
                <a:latin typeface="맑은 고딕"/>
              </a:rPr>
              <a:t>왼쪽 차로가 비어(gap 999 m) evade_left 로 전환 후 정지.</a:t>
            </a:r>
            <a:br/>
            <a:r>
              <a:rPr sz="1000" b="0">
                <a:solidFill>
                  <a:srgbClr val="334155"/>
                </a:solidFill>
                <a:latin typeface="맑은 고딕"/>
              </a:rPr>
              <a:t>차선 안에서 멈췄다 — 가로 미끄러짐도 충돌도 없다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33400" y="419100"/>
            <a:ext cx="809625" cy="219075"/>
          </a:xfrm>
          <a:prstGeom prst="roundRect">
            <a:avLst>
              <a:gd name="adj" fmla="val 47826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33400" y="466725"/>
            <a:ext cx="80962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</a:rPr>
              <a:t>2차 방어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6850" y="381000"/>
            <a:ext cx="9458325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F172A"/>
                </a:solidFill>
                <a:latin typeface="맑은 고딕"/>
              </a:rPr>
              <a:t>왜 리눅스가 아니라 RTOS 인가 — 평균이 아니라 꼬리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91850" y="457200"/>
            <a:ext cx="666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>
                <a:solidFill>
                  <a:srgbClr val="94A3B8"/>
                </a:solidFill>
                <a:latin typeface="맑은 고딕"/>
              </a:rPr>
              <a:t>15 /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400" y="800100"/>
            <a:ext cx="11125200" cy="1524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33400" y="933450"/>
            <a:ext cx="111252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334155"/>
                </a:solidFill>
                <a:latin typeface="맑은 고딕"/>
              </a:rPr>
              <a:t>같은 연산을 Pi 5 리눅스가 평균 146배 빠르게 한다. 그런데도 RTOS 보드를 쓴다. 안전 기능의 기준은 평균이 아니라 최악이기 때문이다.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33400" y="5943600"/>
            <a:ext cx="1112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33400" y="6019800"/>
            <a:ext cx="111252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60" b="0">
                <a:solidFill>
                  <a:srgbClr val="64748B"/>
                </a:solidFill>
                <a:latin typeface="맑은 고딕"/>
              </a:rPr>
              <a:t>우선순위를 뒤집으면(NPU가 IMU보다 높으면) 25 ms 추론이 20 ms 주기를 막아 스케줄 자체가 불가능해진다 — 근거: docs/evidence/10_스케줄가능성_분석.md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33400" y="1200150"/>
          <a:ext cx="5486400" cy="1143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59421"/>
                <a:gridCol w="945931"/>
                <a:gridCol w="945931"/>
                <a:gridCol w="1135117"/>
              </a:tblGrid>
              <a:tr h="228600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플랫폼</a:t>
                      </a:r>
                    </a:p>
                  </a:txBody>
                  <a:tcPr marL="85725" marR="66675" marT="28575" marB="28575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표본</a:t>
                      </a:r>
                    </a:p>
                  </a:txBody>
                  <a:tcPr marL="85725" marR="66675" marT="28575" marB="28575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중앙값</a:t>
                      </a:r>
                    </a:p>
                  </a:txBody>
                  <a:tcPr marL="85725" marR="66675" marT="28575" marB="28575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최악</a:t>
                      </a:r>
                    </a:p>
                  </a:txBody>
                  <a:tcPr marL="85725" marR="66675" marT="28575" marB="28575" anchor="ctr">
                    <a:solidFill>
                      <a:srgbClr val="1E293B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50" b="0">
                          <a:solidFill>
                            <a:srgbClr val="0F172A"/>
                          </a:solidFill>
                          <a:latin typeface="맑은 고딕"/>
                        </a:rPr>
                        <a:t>Pi 5 + Linux · 유휴</a:t>
                      </a:r>
                    </a:p>
                  </a:txBody>
                  <a:tcPr marL="85725" marR="6667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50" b="0">
                          <a:solidFill>
                            <a:srgbClr val="0F172A"/>
                          </a:solidFill>
                          <a:latin typeface="맑은 고딕"/>
                        </a:rPr>
                        <a:t>20,000</a:t>
                      </a:r>
                    </a:p>
                  </a:txBody>
                  <a:tcPr marL="85725" marR="6667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50" b="0">
                          <a:solidFill>
                            <a:srgbClr val="0F172A"/>
                          </a:solidFill>
                          <a:latin typeface="맑은 고딕"/>
                        </a:rPr>
                        <a:t>69 µs</a:t>
                      </a:r>
                    </a:p>
                  </a:txBody>
                  <a:tcPr marL="85725" marR="6667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50" b="1">
                          <a:solidFill>
                            <a:srgbClr val="DC2626"/>
                          </a:solidFill>
                          <a:latin typeface="맑은 고딕"/>
                        </a:rPr>
                        <a:t>5,790 µs</a:t>
                      </a:r>
                    </a:p>
                  </a:txBody>
                  <a:tcPr marL="85725" marR="66675" marT="28575" marB="28575"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50" b="0">
                          <a:solidFill>
                            <a:srgbClr val="0F172A"/>
                          </a:solidFill>
                          <a:latin typeface="맑은 고딕"/>
                        </a:rPr>
                        <a:t>Pi 5 + Linux · 부하</a:t>
                      </a:r>
                    </a:p>
                  </a:txBody>
                  <a:tcPr marL="85725" marR="66675" marT="28575" marB="28575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50" b="0">
                          <a:solidFill>
                            <a:srgbClr val="0F172A"/>
                          </a:solidFill>
                          <a:latin typeface="맑은 고딕"/>
                        </a:rPr>
                        <a:t>20,000</a:t>
                      </a:r>
                    </a:p>
                  </a:txBody>
                  <a:tcPr marL="85725" marR="66675" marT="28575" marB="28575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50" b="0">
                          <a:solidFill>
                            <a:srgbClr val="0F172A"/>
                          </a:solidFill>
                          <a:latin typeface="맑은 고딕"/>
                        </a:rPr>
                        <a:t>68 µs</a:t>
                      </a:r>
                    </a:p>
                  </a:txBody>
                  <a:tcPr marL="85725" marR="66675" marT="28575" marB="28575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50" b="1">
                          <a:solidFill>
                            <a:srgbClr val="DC2626"/>
                          </a:solidFill>
                          <a:latin typeface="맑은 고딕"/>
                        </a:rPr>
                        <a:t>5,429 µs</a:t>
                      </a:r>
                    </a:p>
                  </a:txBody>
                  <a:tcPr marL="85725" marR="66675" marT="28575" marB="28575" anchor="ctr">
                    <a:solidFill>
                      <a:srgbClr val="F1F5F9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50" b="0">
                          <a:solidFill>
                            <a:srgbClr val="0F172A"/>
                          </a:solidFill>
                          <a:latin typeface="맑은 고딕"/>
                        </a:rPr>
                        <a:t>STM32N6 + ThreadX (응답 전체)</a:t>
                      </a:r>
                    </a:p>
                  </a:txBody>
                  <a:tcPr marL="85725" marR="6667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50" b="0">
                          <a:solidFill>
                            <a:srgbClr val="0F172A"/>
                          </a:solidFill>
                          <a:latin typeface="맑은 고딕"/>
                        </a:rPr>
                        <a:t>49,405</a:t>
                      </a:r>
                    </a:p>
                  </a:txBody>
                  <a:tcPr marL="85725" marR="6667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50" b="0">
                          <a:solidFill>
                            <a:srgbClr val="0F172A"/>
                          </a:solidFill>
                          <a:latin typeface="맑은 고딕"/>
                        </a:rPr>
                        <a:t>12.4 µs</a:t>
                      </a:r>
                    </a:p>
                  </a:txBody>
                  <a:tcPr marL="85725" marR="6667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50" b="1">
                          <a:solidFill>
                            <a:srgbClr val="16A34A"/>
                          </a:solidFill>
                          <a:latin typeface="맑은 고딕"/>
                        </a:rPr>
                        <a:t>22.6 µs</a:t>
                      </a:r>
                    </a:p>
                  </a:txBody>
                  <a:tcPr marL="85725" marR="66675" marT="28575" marB="285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533400" y="2476500"/>
            <a:ext cx="5486400" cy="3371850"/>
          </a:xfrm>
          <a:prstGeom prst="roundRect">
            <a:avLst>
              <a:gd name="adj" fmla="val 1977"/>
            </a:avLst>
          </a:prstGeom>
          <a:solidFill>
            <a:srgbClr val="FEF2F2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33400" y="2476500"/>
            <a:ext cx="38100" cy="337185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76275" y="2571750"/>
            <a:ext cx="52197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F172A"/>
                </a:solidFill>
                <a:latin typeface="맑은 고딕"/>
              </a:rPr>
              <a:t>이것이 왜 치명적인가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275" y="2826544"/>
            <a:ext cx="5219700" cy="29456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500"/>
              </a:spcAft>
            </a:pPr>
            <a:r>
              <a:rPr sz="1150" b="0">
                <a:solidFill>
                  <a:srgbClr val="334155"/>
                </a:solidFill>
                <a:latin typeface="맑은 고딕"/>
              </a:rPr>
              <a:t>제어 주기는 20 ms 다. 리눅스의 최악 지터 5,790 µs 는 </a:t>
            </a:r>
            <a:r>
              <a:rPr sz="1150" b="1">
                <a:solidFill>
                  <a:srgbClr val="334155"/>
                </a:solidFill>
                <a:latin typeface="맑은 고딕"/>
              </a:rPr>
              <a:t>한 주기의 29 %</a:t>
            </a:r>
            <a:r>
              <a:rPr sz="1150" b="0">
                <a:solidFill>
                  <a:srgbClr val="334155"/>
                </a:solidFill>
                <a:latin typeface="맑은 고딕"/>
              </a:rPr>
              <a:t>를 한 번에 먹는다. 40 km/h 에서 5.8 ms 는 6.4 cm 지만, 미끄러짐이 시작된 뒤의 제어 루프에서는 그 한 번이 </a:t>
            </a:r>
            <a:r>
              <a:rPr sz="1150" b="1">
                <a:solidFill>
                  <a:srgbClr val="334155"/>
                </a:solidFill>
                <a:latin typeface="맑은 고딕"/>
              </a:rPr>
              <a:t>차선 유지와 제어 상실을 가른다.</a:t>
            </a:r>
          </a:p>
        </p:txBody>
      </p:sp>
      <p:pic>
        <p:nvPicPr>
          <p:cNvPr id="16" name="Picture 15" descr="latency_cd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8728" y="1200150"/>
            <a:ext cx="3893344" cy="207645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17" name="TextBox 16"/>
          <p:cNvSpPr txBox="1"/>
          <p:nvPr/>
        </p:nvSpPr>
        <p:spPr>
          <a:xfrm>
            <a:off x="6172200" y="3314700"/>
            <a:ext cx="54864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19" b="0">
                <a:solidFill>
                  <a:srgbClr val="64748B"/>
                </a:solidFill>
                <a:latin typeface="맑은 고딕"/>
              </a:rPr>
              <a:t>지연 분포 CDF — 리눅스는 꼬리가 길다</a:t>
            </a:r>
          </a:p>
        </p:txBody>
      </p:sp>
      <p:pic>
        <p:nvPicPr>
          <p:cNvPr id="18" name="Picture 17" descr="schedule_rto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3593907"/>
            <a:ext cx="5486400" cy="2051437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19" name="TextBox 18"/>
          <p:cNvSpPr txBox="1"/>
          <p:nvPr/>
        </p:nvSpPr>
        <p:spPr>
          <a:xfrm>
            <a:off x="6172200" y="5695950"/>
            <a:ext cx="54864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19" b="0">
                <a:solidFill>
                  <a:srgbClr val="64748B"/>
                </a:solidFill>
                <a:latin typeface="맑은 고딕"/>
              </a:rPr>
              <a:t>RM 스케줄 — IMU(우선순위 3)가 NPU(4)를 선점한다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33400" y="419100"/>
            <a:ext cx="438150" cy="219075"/>
          </a:xfrm>
          <a:prstGeom prst="roundRect">
            <a:avLst>
              <a:gd name="adj" fmla="val 47826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33400" y="466725"/>
            <a:ext cx="4381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</a:rPr>
              <a:t>검증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375" y="381000"/>
            <a:ext cx="98298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F172A"/>
                </a:solidFill>
                <a:latin typeface="맑은 고딕"/>
              </a:rPr>
              <a:t>방어가 없으면 — 기준선 9건 전부 제어를 잃었다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91850" y="457200"/>
            <a:ext cx="666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>
                <a:solidFill>
                  <a:srgbClr val="94A3B8"/>
                </a:solidFill>
                <a:latin typeface="맑은 고딕"/>
              </a:rPr>
              <a:t>16 /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400" y="800100"/>
            <a:ext cx="11125200" cy="1524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33400" y="933450"/>
            <a:ext cx="111252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334155"/>
                </a:solidFill>
                <a:latin typeface="맑은 고딕"/>
              </a:rPr>
              <a:t>1차·2차를 모두 끈 채 같은 빙판·같은 속도·같은 주행선으로 들어갔다.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33400" y="5943600"/>
            <a:ext cx="1112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33400" y="6019800"/>
            <a:ext cx="111252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60" b="0">
                <a:solidFill>
                  <a:srgbClr val="64748B"/>
                </a:solidFill>
                <a:latin typeface="맑은 고딕"/>
              </a:rPr>
              <a:t>'스핀'은 차선 대비 방향 오차가 86°를 넘은 순간으로 정의했다. 실측값은 −88.4°에서 −99.2° 사이로, 차체가 역방향을 본 것이 아니라 차로를 가로질러 돌아간 상태다. 주행별 이벤트는 docs/data/events/events_*_nodefense*.json 에 그대로 있다.</a:t>
            </a:r>
          </a:p>
        </p:txBody>
      </p:sp>
      <p:pic>
        <p:nvPicPr>
          <p:cNvPr id="11" name="Picture 10" descr="base_spin_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8208" y="1200150"/>
            <a:ext cx="3683000" cy="276225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533400" y="4000500"/>
            <a:ext cx="6452616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19" b="1">
                <a:solidFill>
                  <a:srgbClr val="64748B"/>
                </a:solidFill>
                <a:latin typeface="맑은 고딕"/>
              </a:rPr>
              <a:t>차선 이탈 → 가로 미끄러짐</a:t>
            </a:r>
            <a:r>
              <a:rPr sz="919" b="0">
                <a:solidFill>
                  <a:srgbClr val="64748B"/>
                </a:solidFill>
                <a:latin typeface="맑은 고딕"/>
              </a:rPr>
              <a:t>　12.02 s 이탈(횡오프셋 −1.45 m, 방향 오차 −41°) → 14.82 s 에 −99°. 차체가 차로를 가로질러 90° 가까이 돌아 있다</a:t>
            </a:r>
          </a:p>
        </p:txBody>
      </p:sp>
      <p:pic>
        <p:nvPicPr>
          <p:cNvPr id="13" name="Picture 12" descr="base_wall_front.jpg"/>
          <p:cNvPicPr>
            <a:picLocks noChangeAspect="1"/>
          </p:cNvPicPr>
          <p:nvPr/>
        </p:nvPicPr>
        <p:blipFill>
          <a:blip r:embed="rId3"/>
          <a:srcRect l="0" r="0" t="39175" b="39175"/>
          <a:stretch>
            <a:fillRect/>
          </a:stretch>
        </p:blipFill>
        <p:spPr>
          <a:xfrm>
            <a:off x="533400" y="4495800"/>
            <a:ext cx="6452616" cy="104775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533400" y="5581650"/>
            <a:ext cx="6452616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19" b="1">
                <a:solidFill>
                  <a:srgbClr val="64748B"/>
                </a:solidFill>
                <a:latin typeface="맑은 고딕"/>
              </a:rPr>
              <a:t>방호벽 충돌 순간의 전방 카메라</a:t>
            </a:r>
            <a:r>
              <a:rPr sz="919" b="0">
                <a:solidFill>
                  <a:srgbClr val="64748B"/>
                </a:solidFill>
                <a:latin typeface="맑은 고딕"/>
              </a:rPr>
              <a:t>　11.42 s 이탈 → 12.22 s 에 −98° → 12.32 s 에 12.0 km/h 로 벽에 충돌. 화면이 방호벽으로 가득 찼다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8416" y="1200150"/>
            <a:ext cx="4520184" cy="1543050"/>
          </a:xfrm>
          <a:prstGeom prst="roundRect">
            <a:avLst>
              <a:gd name="adj" fmla="val 432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7138416" y="1200150"/>
            <a:ext cx="38100" cy="154305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281291" y="1295400"/>
            <a:ext cx="4253484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F172A"/>
                </a:solidFill>
                <a:latin typeface="맑은 고딕"/>
              </a:rPr>
              <a:t>결과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81291" y="1550194"/>
            <a:ext cx="4253484" cy="11168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500"/>
              </a:spcAft>
            </a:pPr>
            <a:r>
              <a:rPr sz="1150" b="1">
                <a:solidFill>
                  <a:srgbClr val="334155"/>
                </a:solidFill>
                <a:latin typeface="맑은 고딕"/>
              </a:rPr>
              <a:t>9건 전부</a:t>
            </a:r>
            <a:r>
              <a:rPr sz="1150" b="0">
                <a:solidFill>
                  <a:srgbClr val="334155"/>
                </a:solidFill>
                <a:latin typeface="맑은 고딕"/>
              </a:rPr>
              <a:t> 차선을 벗어났고, 차체가 진행 방향과 </a:t>
            </a:r>
            <a:r>
              <a:rPr sz="1150" b="1">
                <a:solidFill>
                  <a:srgbClr val="334155"/>
                </a:solidFill>
                <a:latin typeface="맑은 고딕"/>
              </a:rPr>
              <a:t>88~99° 어긋난 채</a:t>
            </a:r>
            <a:r>
              <a:rPr sz="1150" b="0">
                <a:solidFill>
                  <a:srgbClr val="334155"/>
                </a:solidFill>
                <a:latin typeface="맑은 고딕"/>
              </a:rPr>
              <a:t> 가로로 미끄러졌다.</a:t>
            </a:r>
            <a:br/>
            <a:r>
              <a:rPr sz="1150" b="0">
                <a:solidFill>
                  <a:srgbClr val="334155"/>
                </a:solidFill>
                <a:latin typeface="맑은 고딕"/>
              </a:rPr>
              <a:t>그중 </a:t>
            </a:r>
            <a:r>
              <a:rPr sz="1150" b="1">
                <a:solidFill>
                  <a:srgbClr val="334155"/>
                </a:solidFill>
                <a:latin typeface="맑은 고딕"/>
              </a:rPr>
              <a:t>5건</a:t>
            </a:r>
            <a:r>
              <a:rPr sz="1150" b="0">
                <a:solidFill>
                  <a:srgbClr val="334155"/>
                </a:solidFill>
                <a:latin typeface="맑은 고딕"/>
              </a:rPr>
              <a:t>은 12~17 km/h 로 방호벽에 부딪혔다.</a:t>
            </a:r>
            <a:br/>
            <a:r>
              <a:rPr sz="1150" b="0">
                <a:solidFill>
                  <a:srgbClr val="334155"/>
                </a:solidFill>
                <a:latin typeface="맑은 고딕"/>
              </a:rPr>
              <a:t>주변 차량이 있던 </a:t>
            </a:r>
            <a:r>
              <a:rPr sz="1150" b="1">
                <a:solidFill>
                  <a:srgbClr val="334155"/>
                </a:solidFill>
                <a:latin typeface="맑은 고딕"/>
              </a:rPr>
              <a:t>4건</a:t>
            </a:r>
            <a:r>
              <a:rPr sz="1150" b="0">
                <a:solidFill>
                  <a:srgbClr val="334155"/>
                </a:solidFill>
                <a:latin typeface="맑은 고딕"/>
              </a:rPr>
              <a:t>은 충돌 전에 미끄러짐으로 끝났다.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8416" y="2857500"/>
            <a:ext cx="4520184" cy="2990850"/>
          </a:xfrm>
          <a:prstGeom prst="roundRect">
            <a:avLst>
              <a:gd name="adj" fmla="val 222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7138416" y="2857500"/>
            <a:ext cx="38100" cy="299085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281291" y="2952750"/>
            <a:ext cx="4253484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F172A"/>
                </a:solidFill>
                <a:latin typeface="맑은 고딕"/>
              </a:rPr>
              <a:t>기준선의 가정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81291" y="3207544"/>
            <a:ext cx="4253484" cy="25646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500"/>
              </a:spcAft>
            </a:pPr>
            <a:r>
              <a:rPr sz="1030" b="0">
                <a:solidFill>
                  <a:srgbClr val="334155"/>
                </a:solidFill>
                <a:latin typeface="맑은 고딕"/>
              </a:rPr>
              <a:t>제어를 잃은 뒤에는 </a:t>
            </a:r>
            <a:r>
              <a:rPr sz="1030" b="1">
                <a:solidFill>
                  <a:srgbClr val="334155"/>
                </a:solidFill>
                <a:latin typeface="맑은 고딕"/>
              </a:rPr>
              <a:t>운전자 입력을 모형화하지 않는다.</a:t>
            </a:r>
            <a:r>
              <a:rPr sz="1030" b="0">
                <a:solidFill>
                  <a:srgbClr val="334155"/>
                </a:solidFill>
                <a:latin typeface="맑은 고딕"/>
              </a:rPr>
              <a:t> 비교 대상은 '우리 시스템이 개입하느냐'이지 '운전자가 얼마나 잘 대처하느냐'가 아니기 때문이다.</a:t>
            </a:r>
          </a:p>
          <a:p>
            <a:pPr algn="l">
              <a:lnSpc>
                <a:spcPct val="150000"/>
              </a:lnSpc>
              <a:spcAft>
                <a:spcPts val="500"/>
              </a:spcAft>
            </a:pPr>
            <a:r>
              <a:rPr sz="1030" b="0">
                <a:solidFill>
                  <a:srgbClr val="334155"/>
                </a:solidFill>
                <a:latin typeface="맑은 고딕"/>
              </a:rPr>
              <a:t>그래서 차선 이탈이 확정되면 자율주행을 떼고 관성에 맡기며, 정지하거나 충돌하거나 4초가 지나면 주행을 끝낸다.</a:t>
            </a:r>
          </a:p>
          <a:p>
            <a:pPr algn="l">
              <a:lnSpc>
                <a:spcPct val="150000"/>
              </a:lnSpc>
              <a:spcAft>
                <a:spcPts val="500"/>
              </a:spcAft>
            </a:pPr>
            <a:r>
              <a:rPr sz="1030" b="0">
                <a:solidFill>
                  <a:srgbClr val="334155"/>
                </a:solidFill>
                <a:latin typeface="맑은 고딕"/>
              </a:rPr>
              <a:t>실제 운전자는 제동을 시도하므로, 기준선의 결과는 </a:t>
            </a:r>
            <a:r>
              <a:rPr sz="1030" b="1">
                <a:solidFill>
                  <a:srgbClr val="334155"/>
                </a:solidFill>
                <a:latin typeface="맑은 고딕"/>
              </a:rPr>
              <a:t>'아무 보조도 없을 때의 물리적 귀결'</a:t>
            </a:r>
            <a:r>
              <a:rPr sz="1030" b="0">
                <a:solidFill>
                  <a:srgbClr val="334155"/>
                </a:solidFill>
                <a:latin typeface="맑은 고딕"/>
              </a:rPr>
              <a:t>로 읽어야 한다.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33400" y="419100"/>
            <a:ext cx="438150" cy="219075"/>
          </a:xfrm>
          <a:prstGeom prst="roundRect">
            <a:avLst>
              <a:gd name="adj" fmla="val 47826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33400" y="466725"/>
            <a:ext cx="4381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</a:rPr>
              <a:t>검증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375" y="381000"/>
            <a:ext cx="98298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F172A"/>
                </a:solidFill>
                <a:latin typeface="맑은 고딕"/>
              </a:rPr>
              <a:t>같은 조건 직접 비교 — 방어 없음 vs STM32N6 RTOS 2차 방어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91850" y="457200"/>
            <a:ext cx="666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>
                <a:solidFill>
                  <a:srgbClr val="94A3B8"/>
                </a:solidFill>
                <a:latin typeface="맑은 고딕"/>
              </a:rPr>
              <a:t>17 /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400" y="800100"/>
            <a:ext cx="11125200" cy="1524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33400" y="933450"/>
            <a:ext cx="111252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334155"/>
                </a:solidFill>
                <a:latin typeface="맑은 고딕"/>
              </a:rPr>
              <a:t>같은 날씨 · 같은 주행선 · 같은 빙판 · 같은 주변 차량 8대. 차이는 2차 방어 하나뿐이다.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33400" y="5943600"/>
            <a:ext cx="1112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33400" y="6019800"/>
            <a:ext cx="111252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60" b="0">
                <a:solidFill>
                  <a:srgbClr val="64748B"/>
                </a:solidFill>
                <a:latin typeface="맑은 고딕"/>
              </a:rPr>
              <a:t>날씨 4종(맑은 낮 · 밤 · 젖은 노면 · 눈)에서 같은 비교를 만들었다. 전체 영상은 저장소 media/ 와 logs/carla_demo/정리/G_비교_방어없음_vs_RTOS/ 에 있다.</a:t>
            </a:r>
          </a:p>
        </p:txBody>
      </p:sp>
      <p:pic>
        <p:nvPicPr>
          <p:cNvPr id="11" name="Picture 10" descr="cmp_15.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130" y="1200150"/>
            <a:ext cx="8587740" cy="34671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33400" y="4762500"/>
            <a:ext cx="5486400" cy="1085850"/>
          </a:xfrm>
          <a:prstGeom prst="roundRect">
            <a:avLst>
              <a:gd name="adj" fmla="val 614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33400" y="4762500"/>
            <a:ext cx="38100" cy="108585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76275" y="4857750"/>
            <a:ext cx="52197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F172A"/>
                </a:solidFill>
                <a:latin typeface="맑은 고딕"/>
              </a:rPr>
              <a:t>왼쪽 · 방어 없음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275" y="5112544"/>
            <a:ext cx="5219700" cy="6596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500"/>
              </a:spcAft>
            </a:pPr>
            <a:r>
              <a:rPr sz="1030" b="0">
                <a:solidFill>
                  <a:srgbClr val="334155"/>
                </a:solidFill>
                <a:latin typeface="맑은 고딕"/>
              </a:rPr>
              <a:t>15.0 s · </a:t>
            </a:r>
            <a:r>
              <a:rPr sz="1030" b="1">
                <a:solidFill>
                  <a:srgbClr val="334155"/>
                </a:solidFill>
                <a:latin typeface="맑은 고딕"/>
              </a:rPr>
              <a:t>25.4 km/h</a:t>
            </a:r>
            <a:r>
              <a:rPr sz="1030" b="0">
                <a:solidFill>
                  <a:srgbClr val="334155"/>
                </a:solidFill>
                <a:latin typeface="맑은 고딕"/>
              </a:rPr>
              <a:t> · 12.0 s 에 차선을 이탈해 제어를 잃었고, 차체가 진행 방향과 어긋난 채 차로를 가로질러 미끄러지는 중이다. 뒤따르던 차량이 그대로 접근하고 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4762500"/>
            <a:ext cx="5486400" cy="1085850"/>
          </a:xfrm>
          <a:prstGeom prst="roundRect">
            <a:avLst>
              <a:gd name="adj" fmla="val 6140"/>
            </a:avLst>
          </a:prstGeom>
          <a:solidFill>
            <a:srgbClr val="FEF2F2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172200" y="4762500"/>
            <a:ext cx="38100" cy="108585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315075" y="4857750"/>
            <a:ext cx="52197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F172A"/>
                </a:solidFill>
                <a:latin typeface="맑은 고딕"/>
              </a:rPr>
              <a:t>오른쪽 · STM32N6 RTOS 2차 방어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15075" y="5112544"/>
            <a:ext cx="5219700" cy="6596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500"/>
              </a:spcAft>
            </a:pPr>
            <a:r>
              <a:rPr sz="1030" b="0">
                <a:solidFill>
                  <a:srgbClr val="334155"/>
                </a:solidFill>
                <a:latin typeface="맑은 고딕"/>
              </a:rPr>
              <a:t>13.2 s · </a:t>
            </a:r>
            <a:r>
              <a:rPr sz="1030" b="1">
                <a:solidFill>
                  <a:srgbClr val="334155"/>
                </a:solidFill>
                <a:latin typeface="맑은 고딕"/>
              </a:rPr>
              <a:t>0.0 km/h</a:t>
            </a:r>
            <a:r>
              <a:rPr sz="1030" b="0">
                <a:solidFill>
                  <a:srgbClr val="334155"/>
                </a:solidFill>
                <a:latin typeface="맑은 고딕"/>
              </a:rPr>
              <a:t> · </a:t>
            </a:r>
            <a:r>
              <a:rPr sz="1030" b="0">
                <a:solidFill>
                  <a:srgbClr val="334155"/>
                </a:solidFill>
                <a:latin typeface="Consolas"/>
              </a:rPr>
              <a:t>IMU SLIP (lat_acc) a_y −0.36 g, yaw −0.28 → STOPPED</a:t>
            </a:r>
            <a:br/>
            <a:r>
              <a:rPr sz="1030" b="0">
                <a:solidFill>
                  <a:srgbClr val="334155"/>
                </a:solidFill>
                <a:latin typeface="맑은 고딕"/>
              </a:rPr>
              <a:t>차선 안에서, 빙판을 벗어난 지점에 정지했다.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33400" y="419100"/>
            <a:ext cx="438150" cy="219075"/>
          </a:xfrm>
          <a:prstGeom prst="roundRect">
            <a:avLst>
              <a:gd name="adj" fmla="val 47826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33400" y="466725"/>
            <a:ext cx="4381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</a:rPr>
              <a:t>검증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375" y="381000"/>
            <a:ext cx="98298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F172A"/>
                </a:solidFill>
                <a:latin typeface="맑은 고딕"/>
              </a:rPr>
              <a:t>센서 시각화와 자동 라벨 — 무엇을 보고 판단했는지 남긴다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91850" y="457200"/>
            <a:ext cx="666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>
                <a:solidFill>
                  <a:srgbClr val="94A3B8"/>
                </a:solidFill>
                <a:latin typeface="맑은 고딕"/>
              </a:rPr>
              <a:t>18 /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400" y="800100"/>
            <a:ext cx="11125200" cy="1524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33400" y="5943600"/>
            <a:ext cx="1112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33400" y="6019800"/>
            <a:ext cx="111252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60" b="0">
                <a:solidFill>
                  <a:srgbClr val="64748B"/>
                </a:solidFill>
                <a:latin typeface="맑은 고딕"/>
              </a:rPr>
              <a:t>주행 108회 전체의 이벤트 JSON 을 저장소에 함께 올렸다. CARLA 도 보드도 없이 sw/scripts/analysis/summarize_runs.py 만으로 집계표를 재생성할 수 있다 — 손으로 적은 숫자가 아니라는 증명이다.</a:t>
            </a:r>
          </a:p>
        </p:txBody>
      </p:sp>
      <p:pic>
        <p:nvPicPr>
          <p:cNvPr id="10" name="Picture 9" descr="weather_1차_카메라경고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805940"/>
            <a:ext cx="5486400" cy="284607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533400" y="5562600"/>
            <a:ext cx="54864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19" b="1">
                <a:solidFill>
                  <a:srgbClr val="64748B"/>
                </a:solidFill>
                <a:latin typeface="맑은 고딕"/>
              </a:rPr>
              <a:t>날씨 11종에서 1차 경보가 난 같은 순간</a:t>
            </a:r>
            <a:r>
              <a:rPr sz="919" b="0">
                <a:solidFill>
                  <a:srgbClr val="64748B"/>
                </a:solidFill>
                <a:latin typeface="맑은 고딕"/>
              </a:rPr>
              <a:t> — 맑음 · 흐림 · 젖은 노면 · 보슬비 · 폭우 · 해질녘 · 밤 · 비 오는 밤 · 눈. 같은 주행선, 같은 빙판에서 날씨만 바꿔 돌렸다</a:t>
            </a:r>
          </a:p>
        </p:txBody>
      </p:sp>
      <p:pic>
        <p:nvPicPr>
          <p:cNvPr id="12" name="Picture 11" descr="lidar_se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2200" y="933450"/>
            <a:ext cx="2946400" cy="220980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6172200" y="3181350"/>
            <a:ext cx="54864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19" b="1">
                <a:solidFill>
                  <a:srgbClr val="64748B"/>
                </a:solidFill>
                <a:latin typeface="맑은 고딕"/>
              </a:rPr>
              <a:t>시맨틱 라이다 64채널</a:t>
            </a:r>
            <a:r>
              <a:rPr sz="919" b="0">
                <a:solidFill>
                  <a:srgbClr val="64748B"/>
                </a:solidFill>
                <a:latin typeface="맑은 고딕"/>
              </a:rPr>
              <a:t> — 청록이 빙판 구간, 초록 상자가 차량 3D 박스</a:t>
            </a:r>
          </a:p>
        </p:txBody>
      </p:sp>
      <p:pic>
        <p:nvPicPr>
          <p:cNvPr id="14" name="Picture 13" descr="triplet_rscdtex_visual_0032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3818572"/>
            <a:ext cx="5486400" cy="1468755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6172200" y="5695950"/>
            <a:ext cx="54864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19" b="1">
                <a:solidFill>
                  <a:srgbClr val="64748B"/>
                </a:solidFill>
                <a:latin typeface="맑은 고딕"/>
              </a:rPr>
              <a:t>카메라 · 2D 분할 라벨 · 라이다</a:t>
            </a:r>
            <a:r>
              <a:rPr sz="919" b="0">
                <a:solidFill>
                  <a:srgbClr val="64748B"/>
                </a:solidFill>
                <a:latin typeface="맑은 고딕"/>
              </a:rPr>
              <a:t> — 도로/차선/빙판/차량 라벨을 자동 생성한다 (AI Hub 형식 참고)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33400" y="419100"/>
            <a:ext cx="438150" cy="219075"/>
          </a:xfrm>
          <a:prstGeom prst="roundRect">
            <a:avLst>
              <a:gd name="adj" fmla="val 47826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33400" y="466725"/>
            <a:ext cx="4381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</a:rPr>
              <a:t>한계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375" y="381000"/>
            <a:ext cx="98298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F172A"/>
                </a:solidFill>
                <a:latin typeface="맑은 고딕"/>
              </a:rPr>
              <a:t>한계와 실패 사례 — 숨기지 않고 남긴 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91850" y="457200"/>
            <a:ext cx="666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>
                <a:solidFill>
                  <a:srgbClr val="94A3B8"/>
                </a:solidFill>
                <a:latin typeface="맑은 고딕"/>
              </a:rPr>
              <a:t>19 /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400" y="800100"/>
            <a:ext cx="11125200" cy="1524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33400" y="933450"/>
            <a:ext cx="2695575" cy="4210050"/>
          </a:xfrm>
          <a:prstGeom prst="roundRect">
            <a:avLst>
              <a:gd name="adj" fmla="val 28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p1_approach_c.jpg"/>
          <p:cNvPicPr>
            <a:picLocks noChangeAspect="1"/>
          </p:cNvPicPr>
          <p:nvPr/>
        </p:nvPicPr>
        <p:blipFill>
          <a:blip r:embed="rId2"/>
          <a:srcRect t="2000" b="2000"/>
          <a:stretch>
            <a:fillRect/>
          </a:stretch>
        </p:blipFill>
        <p:spPr>
          <a:xfrm>
            <a:off x="628650" y="1028700"/>
            <a:ext cx="2505075" cy="1803654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28650" y="2927604"/>
            <a:ext cx="2505075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>
                <a:solidFill>
                  <a:srgbClr val="0F172A"/>
                </a:solidFill>
                <a:latin typeface="맑은 고딕"/>
              </a:rPr>
              <a:t>① 경보 거리는 기하 문제다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" y="3156204"/>
            <a:ext cx="2505075" cy="1930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980" b="0">
                <a:solidFill>
                  <a:srgbClr val="334155"/>
                </a:solidFill>
                <a:latin typeface="맑은 고딕"/>
              </a:rPr>
              <a:t>모델이 요구하는 최소 80 px 과 ROI 해상도 91 px 이 경보 거리를 정한다. 알고리즘이 아니라 </a:t>
            </a:r>
            <a:r>
              <a:rPr sz="980" b="1">
                <a:solidFill>
                  <a:srgbClr val="334155"/>
                </a:solidFill>
                <a:latin typeface="맑은 고딕"/>
              </a:rPr>
              <a:t>해상도</a:t>
            </a:r>
            <a:r>
              <a:rPr sz="980" b="0">
                <a:solidFill>
                  <a:srgbClr val="334155"/>
                </a:solidFill>
                <a:latin typeface="맑은 고딕"/>
              </a:rPr>
              <a:t>를 올리는 것이 먼저다.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43275" y="933450"/>
            <a:ext cx="2695575" cy="4210050"/>
          </a:xfrm>
          <a:prstGeom prst="roundRect">
            <a:avLst>
              <a:gd name="adj" fmla="val 28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lim60_c.jpg"/>
          <p:cNvPicPr>
            <a:picLocks noChangeAspect="1"/>
          </p:cNvPicPr>
          <p:nvPr/>
        </p:nvPicPr>
        <p:blipFill>
          <a:blip r:embed="rId3"/>
          <a:srcRect t="2000" b="2000"/>
          <a:stretch>
            <a:fillRect/>
          </a:stretch>
        </p:blipFill>
        <p:spPr>
          <a:xfrm>
            <a:off x="3438525" y="1028700"/>
            <a:ext cx="2505075" cy="1803654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3438525" y="2927604"/>
            <a:ext cx="2505075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>
                <a:solidFill>
                  <a:srgbClr val="0F172A"/>
                </a:solidFill>
                <a:latin typeface="맑은 고딕"/>
              </a:rPr>
              <a:t>② 2차는 예방이 아니다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38525" y="3156204"/>
            <a:ext cx="2505075" cy="1930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980" b="0">
                <a:solidFill>
                  <a:srgbClr val="334155"/>
                </a:solidFill>
                <a:latin typeface="맑은 고딕"/>
              </a:rPr>
              <a:t>60 km/h. 1차가 경고했지만 제동이 늦어 진입했고, 2차가 0.26 s 만에 개입했는데도 </a:t>
            </a:r>
            <a:r>
              <a:rPr sz="980" b="1">
                <a:solidFill>
                  <a:srgbClr val="334155"/>
                </a:solidFill>
                <a:latin typeface="맑은 고딕"/>
              </a:rPr>
              <a:t>39.2 km/h 로 앞차와 충돌</a:t>
            </a:r>
            <a:r>
              <a:rPr sz="980" b="0">
                <a:solidFill>
                  <a:srgbClr val="334155"/>
                </a:solidFill>
                <a:latin typeface="맑은 고딕"/>
              </a:rPr>
              <a:t>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53150" y="933450"/>
            <a:ext cx="2695575" cy="4210050"/>
          </a:xfrm>
          <a:prstGeom prst="roundRect">
            <a:avLst>
              <a:gd name="adj" fmla="val 28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falsealarm_c.jpg"/>
          <p:cNvPicPr>
            <a:picLocks noChangeAspect="1"/>
          </p:cNvPicPr>
          <p:nvPr/>
        </p:nvPicPr>
        <p:blipFill>
          <a:blip r:embed="rId4"/>
          <a:srcRect t="2000" b="2000"/>
          <a:stretch>
            <a:fillRect/>
          </a:stretch>
        </p:blipFill>
        <p:spPr>
          <a:xfrm>
            <a:off x="6248400" y="1028700"/>
            <a:ext cx="2505075" cy="1803654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18" name="TextBox 17"/>
          <p:cNvSpPr txBox="1"/>
          <p:nvPr/>
        </p:nvSpPr>
        <p:spPr>
          <a:xfrm>
            <a:off x="6248400" y="2927604"/>
            <a:ext cx="2505075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>
                <a:solidFill>
                  <a:srgbClr val="0F172A"/>
                </a:solidFill>
                <a:latin typeface="맑은 고딕"/>
              </a:rPr>
              <a:t>③ 오경보도 난다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48400" y="3156204"/>
            <a:ext cx="2505075" cy="1930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980" b="0">
                <a:solidFill>
                  <a:srgbClr val="334155"/>
                </a:solidFill>
                <a:latin typeface="맑은 고딕"/>
              </a:rPr>
              <a:t>밤. 빙판이 </a:t>
            </a:r>
            <a:r>
              <a:rPr sz="980" b="1">
                <a:solidFill>
                  <a:srgbClr val="334155"/>
                </a:solidFill>
                <a:latin typeface="맑은 고딕"/>
              </a:rPr>
              <a:t>41 m 밖</a:t>
            </a:r>
            <a:r>
              <a:rPr sz="980" b="0">
                <a:solidFill>
                  <a:srgbClr val="334155"/>
                </a:solidFill>
                <a:latin typeface="맑은 고딕"/>
              </a:rPr>
              <a:t>(ROI 7.9~42.2 m 바깥)에 있는데 어두운 노면을 얼음으로 보아 위험도 0.52 로 경보가 났다.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3025" y="933450"/>
            <a:ext cx="2695575" cy="4210050"/>
          </a:xfrm>
          <a:prstGeom prst="roundRect">
            <a:avLst>
              <a:gd name="adj" fmla="val 28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1" name="Picture 20" descr="domaingap_c.jpg"/>
          <p:cNvPicPr>
            <a:picLocks noChangeAspect="1"/>
          </p:cNvPicPr>
          <p:nvPr/>
        </p:nvPicPr>
        <p:blipFill>
          <a:blip r:embed="rId5"/>
          <a:srcRect t="2000" b="2000"/>
          <a:stretch>
            <a:fillRect/>
          </a:stretch>
        </p:blipFill>
        <p:spPr>
          <a:xfrm>
            <a:off x="9058275" y="1028700"/>
            <a:ext cx="2505075" cy="1803654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22" name="TextBox 21"/>
          <p:cNvSpPr txBox="1"/>
          <p:nvPr/>
        </p:nvSpPr>
        <p:spPr>
          <a:xfrm>
            <a:off x="9058275" y="2927604"/>
            <a:ext cx="2505075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>
                <a:solidFill>
                  <a:srgbClr val="0F172A"/>
                </a:solidFill>
                <a:latin typeface="맑은 고딕"/>
              </a:rPr>
              <a:t>④ 질감 도메인 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8275" y="3156204"/>
            <a:ext cx="2505075" cy="1930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980" b="0">
                <a:solidFill>
                  <a:srgbClr val="334155"/>
                </a:solidFill>
                <a:latin typeface="맑은 고딕"/>
              </a:rPr>
              <a:t>RSCD 실사진 질감을 CARLA 노면에 입히면, 같은 모델이 </a:t>
            </a:r>
            <a:r>
              <a:rPr sz="980" b="1">
                <a:solidFill>
                  <a:srgbClr val="334155"/>
                </a:solidFill>
                <a:latin typeface="맑은 고딕"/>
              </a:rPr>
              <a:t>그 얼음에 반응하지 않는다.</a:t>
            </a:r>
            <a:r>
              <a:rPr sz="980" b="0">
                <a:solidFill>
                  <a:srgbClr val="334155"/>
                </a:solidFill>
                <a:latin typeface="맑은 고딕"/>
              </a:rPr>
              <a:t> 재수집·재학습이 다음 과제다.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3400" y="5257800"/>
            <a:ext cx="11125200" cy="1104900"/>
          </a:xfrm>
          <a:prstGeom prst="roundRect">
            <a:avLst>
              <a:gd name="adj" fmla="val 603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533400" y="5257800"/>
            <a:ext cx="38100" cy="11049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76275" y="5353050"/>
            <a:ext cx="10858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F172A"/>
                </a:solidFill>
                <a:latin typeface="맑은 고딕"/>
              </a:rPr>
              <a:t>그 밖에 남은 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275" y="5607844"/>
            <a:ext cx="10858500" cy="67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500"/>
              </a:spcAft>
            </a:pPr>
            <a:r>
              <a:rPr sz="1000" b="0">
                <a:solidFill>
                  <a:srgbClr val="334155"/>
                </a:solidFill>
                <a:latin typeface="맑은 고딕"/>
              </a:rPr>
              <a:t>· </a:t>
            </a:r>
            <a:r>
              <a:rPr sz="1000" b="1">
                <a:solidFill>
                  <a:srgbClr val="334155"/>
                </a:solidFill>
                <a:latin typeface="맑은 고딕"/>
              </a:rPr>
              <a:t>Hailo-10H 교차 검증</a:t>
            </a:r>
            <a:r>
              <a:rPr sz="1000" b="0">
                <a:solidFill>
                  <a:srgbClr val="334155"/>
                </a:solidFill>
                <a:latin typeface="맑은 고딕"/>
              </a:rPr>
              <a:t>은 Dataflow Compiler 미확보로 열지 못했다. 1차는 STM32N6 Neural-ART 단독 결과다.</a:t>
            </a:r>
          </a:p>
          <a:p>
            <a:pPr algn="l">
              <a:lnSpc>
                <a:spcPct val="150000"/>
              </a:lnSpc>
              <a:spcAft>
                <a:spcPts val="500"/>
              </a:spcAft>
            </a:pPr>
            <a:r>
              <a:rPr sz="1000" b="0">
                <a:solidFill>
                  <a:srgbClr val="334155"/>
                </a:solidFill>
                <a:latin typeface="맑은 고딕"/>
              </a:rPr>
              <a:t>· </a:t>
            </a:r>
            <a:r>
              <a:rPr sz="1000" b="1">
                <a:solidFill>
                  <a:srgbClr val="334155"/>
                </a:solidFill>
                <a:latin typeface="맑은 고딕"/>
              </a:rPr>
              <a:t>D435i 실측 IMU 노이즈</a:t>
            </a:r>
            <a:r>
              <a:rPr sz="1000" b="0">
                <a:solidFill>
                  <a:srgbClr val="334155"/>
                </a:solidFill>
                <a:latin typeface="맑은 고딕"/>
              </a:rPr>
              <a:t>는 PVS 공개 데이터로 대체했다. 실물 연결 측정은 남은 과제다.</a:t>
            </a:r>
          </a:p>
          <a:p>
            <a:pPr algn="l">
              <a:lnSpc>
                <a:spcPct val="150000"/>
              </a:lnSpc>
              <a:spcAft>
                <a:spcPts val="500"/>
              </a:spcAft>
            </a:pPr>
            <a:r>
              <a:rPr sz="1000" b="0">
                <a:solidFill>
                  <a:srgbClr val="334155"/>
                </a:solidFill>
                <a:latin typeface="맑은 고딕"/>
              </a:rPr>
              <a:t>· </a:t>
            </a:r>
            <a:r>
              <a:rPr sz="1000" b="1">
                <a:solidFill>
                  <a:srgbClr val="334155"/>
                </a:solidFill>
                <a:latin typeface="맑은 고딕"/>
              </a:rPr>
              <a:t>기준선은 제어 상실 후 운전자 입력을 모형화하지 않는다.</a:t>
            </a:r>
            <a:r>
              <a:rPr sz="1000" b="0">
                <a:solidFill>
                  <a:srgbClr val="334155"/>
                </a:solidFill>
                <a:latin typeface="맑은 고딕"/>
              </a:rPr>
              <a:t> '아무 보조도 없을 때의 물리적 귀결'로 읽어야 한다.</a:t>
            </a:r>
          </a:p>
          <a:p>
            <a:pPr algn="l">
              <a:lnSpc>
                <a:spcPct val="150000"/>
              </a:lnSpc>
              <a:spcAft>
                <a:spcPts val="500"/>
              </a:spcAft>
            </a:pPr>
            <a:r>
              <a:rPr sz="1000" b="0">
                <a:solidFill>
                  <a:srgbClr val="334155"/>
                </a:solidFill>
                <a:latin typeface="맑은 고딕"/>
              </a:rPr>
              <a:t>· 젖은 노면 경보율 0.8 %는 더 낮출 여지가 있다. β(반사도 가중치)와 문턱의 재조정이 필요하다.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33400" y="419100"/>
            <a:ext cx="438150" cy="219075"/>
          </a:xfrm>
          <a:prstGeom prst="roundRect">
            <a:avLst>
              <a:gd name="adj" fmla="val 47826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33400" y="466725"/>
            <a:ext cx="4381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</a:rPr>
              <a:t>결론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375" y="381000"/>
            <a:ext cx="98298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F172A"/>
                </a:solidFill>
                <a:latin typeface="맑은 고딕"/>
              </a:rPr>
              <a:t>결론 · 재현성 · 향후 계획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91850" y="457200"/>
            <a:ext cx="666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>
                <a:solidFill>
                  <a:srgbClr val="94A3B8"/>
                </a:solidFill>
                <a:latin typeface="맑은 고딕"/>
              </a:rPr>
              <a:t>20 /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400" y="800100"/>
            <a:ext cx="11125200" cy="1524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33400" y="5943600"/>
            <a:ext cx="1112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33400" y="6019800"/>
            <a:ext cx="111252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60" b="0">
                <a:solidFill>
                  <a:srgbClr val="64748B"/>
                </a:solidFill>
                <a:latin typeface="맑은 고딕"/>
              </a:rPr>
              <a:t>팀 ARTS · 이지성 · 남윤상 · 김진찬 — 제24회 임베디드SW경진대회 자동차/모빌리티(현대자동차) 부문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3400" y="933450"/>
            <a:ext cx="5486400" cy="1295400"/>
          </a:xfrm>
          <a:prstGeom prst="roundRect">
            <a:avLst>
              <a:gd name="adj" fmla="val 5147"/>
            </a:avLst>
          </a:prstGeom>
          <a:solidFill>
            <a:srgbClr val="EFF6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33400" y="933450"/>
            <a:ext cx="38100" cy="1295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76275" y="1028700"/>
            <a:ext cx="52197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F172A"/>
                </a:solidFill>
                <a:latin typeface="맑은 고딕"/>
              </a:rPr>
              <a:t>무엇을 만들었나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275" y="1283494"/>
            <a:ext cx="5219700" cy="8691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500"/>
              </a:spcAft>
            </a:pPr>
            <a:r>
              <a:rPr sz="1030" b="0">
                <a:solidFill>
                  <a:srgbClr val="334155"/>
                </a:solidFill>
                <a:latin typeface="맑은 고딕"/>
              </a:rPr>
              <a:t>블랙아이스 라벨이 없다는 </a:t>
            </a:r>
            <a:r>
              <a:rPr sz="1030" b="1">
                <a:solidFill>
                  <a:srgbClr val="334155"/>
                </a:solidFill>
                <a:latin typeface="맑은 고딕"/>
              </a:rPr>
              <a:t>데이터의 한계</a:t>
            </a:r>
            <a:r>
              <a:rPr sz="1030" b="0">
                <a:solidFill>
                  <a:srgbClr val="334155"/>
                </a:solidFill>
                <a:latin typeface="맑은 고딕"/>
              </a:rPr>
              <a:t>에서 출발해, 카메라 한 겹에 기대지 않는 </a:t>
            </a:r>
            <a:r>
              <a:rPr sz="1030" b="1">
                <a:solidFill>
                  <a:srgbClr val="334155"/>
                </a:solidFill>
                <a:latin typeface="맑은 고딕"/>
              </a:rPr>
              <a:t>이중 안전망</a:t>
            </a:r>
            <a:r>
              <a:rPr sz="1030" b="0">
                <a:solidFill>
                  <a:srgbClr val="334155"/>
                </a:solidFill>
                <a:latin typeface="맑은 고딕"/>
              </a:rPr>
              <a:t>을 STM32N6 한 보드 위에 올렸다. 1차는 빙판에 닿기 전에 세우고, 1차가 틀려도 2차가 최악 22.6 µs 안에 반드시 받는다.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3400" y="2362200"/>
            <a:ext cx="5486400" cy="1847850"/>
          </a:xfrm>
          <a:prstGeom prst="roundRect">
            <a:avLst>
              <a:gd name="adj" fmla="val 360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533400" y="2362200"/>
            <a:ext cx="38100" cy="184785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76275" y="2457450"/>
            <a:ext cx="52197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F172A"/>
                </a:solidFill>
                <a:latin typeface="맑은 고딕"/>
              </a:rPr>
              <a:t>재현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275" y="2712244"/>
            <a:ext cx="5219700" cy="14216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500"/>
              </a:spcAft>
            </a:pPr>
            <a:r>
              <a:rPr sz="1030" b="0">
                <a:solidFill>
                  <a:srgbClr val="334155"/>
                </a:solidFill>
                <a:latin typeface="맑은 고딕"/>
              </a:rPr>
              <a:t>모든 숫자는 실측에서 </a:t>
            </a:r>
            <a:r>
              <a:rPr sz="1030" b="1">
                <a:solidFill>
                  <a:srgbClr val="334155"/>
                </a:solidFill>
                <a:latin typeface="맑은 고딕"/>
              </a:rPr>
              <a:t>자동 생성</a:t>
            </a:r>
            <a:r>
              <a:rPr sz="1030" b="0">
                <a:solidFill>
                  <a:srgbClr val="334155"/>
                </a:solidFill>
                <a:latin typeface="맑은 고딕"/>
              </a:rPr>
              <a:t>된다.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6275" y="2971800"/>
            <a:ext cx="5200650" cy="1066800"/>
          </a:xfrm>
          <a:prstGeom prst="roundRect">
            <a:avLst>
              <a:gd name="adj" fmla="val 5357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81050" y="3086100"/>
            <a:ext cx="4991100" cy="876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860" b="0">
                <a:solidFill>
                  <a:srgbClr val="FFFFFF"/>
                </a:solidFill>
                <a:latin typeface="Consolas"/>
              </a:rPr>
              <a:t>python3 sw/scripts/analysis/summarize_runs.py</a:t>
            </a:r>
            <a:r>
              <a:rPr sz="860" b="0">
                <a:solidFill>
                  <a:srgbClr val="FFFFFF"/>
                </a:solidFill>
                <a:latin typeface="맑은 고딕"/>
              </a:rPr>
              <a:t>　# 집계표 재생성</a:t>
            </a:r>
          </a:p>
          <a:p>
            <a:pPr algn="l">
              <a:lnSpc>
                <a:spcPct val="150000"/>
              </a:lnSpc>
            </a:pPr>
            <a:r>
              <a:rPr sz="860" b="0">
                <a:solidFill>
                  <a:srgbClr val="FFFFFF"/>
                </a:solidFill>
                <a:latin typeface="Consolas"/>
              </a:rPr>
              <a:t>python3 -m pytest -q</a:t>
            </a:r>
            <a:r>
              <a:rPr sz="860" b="0">
                <a:solidFill>
                  <a:srgbClr val="FFFFFF"/>
                </a:solidFill>
                <a:latin typeface="맑은 고딕"/>
              </a:rPr>
              <a:t>　# 단위 테스트 19개</a:t>
            </a:r>
          </a:p>
          <a:p>
            <a:pPr algn="l">
              <a:lnSpc>
                <a:spcPct val="150000"/>
              </a:lnSpc>
            </a:pPr>
            <a:r>
              <a:rPr sz="860" b="0">
                <a:solidFill>
                  <a:srgbClr val="FFFFFF"/>
                </a:solidFill>
                <a:latin typeface="Consolas"/>
              </a:rPr>
              <a:t>python3 sw/fw/npu_lib/test_slip_core.py</a:t>
            </a:r>
            <a:r>
              <a:rPr sz="860" b="0">
                <a:solidFill>
                  <a:srgbClr val="FFFFFF"/>
                </a:solidFill>
                <a:latin typeface="맑은 고딕"/>
              </a:rPr>
              <a:t>　# C 코어 ↔ 파이썬 동치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3400" y="4324350"/>
            <a:ext cx="54864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334155"/>
                </a:solidFill>
                <a:latin typeface="맑은 고딕"/>
              </a:rPr>
              <a:t>근거 문서 19건 · 결과 그림 29장 · 주행 이벤트 108건을 저장소에 함께 올렸다.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933450"/>
            <a:ext cx="5486400" cy="1714500"/>
          </a:xfrm>
          <a:prstGeom prst="roundRect">
            <a:avLst>
              <a:gd name="adj" fmla="val 3888"/>
            </a:avLst>
          </a:prstGeom>
          <a:solidFill>
            <a:srgbClr val="FEF2F2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6172200" y="933450"/>
            <a:ext cx="38100" cy="17145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315075" y="1028700"/>
            <a:ext cx="52197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F172A"/>
                </a:solidFill>
                <a:latin typeface="맑은 고딕"/>
              </a:rPr>
              <a:t>향후 계획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15075" y="1283494"/>
            <a:ext cx="5219700" cy="128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500"/>
              </a:spcAft>
            </a:pPr>
            <a:r>
              <a:rPr sz="1030" b="0">
                <a:solidFill>
                  <a:srgbClr val="334155"/>
                </a:solidFill>
                <a:latin typeface="맑은 고딕"/>
              </a:rPr>
              <a:t>1. </a:t>
            </a:r>
            <a:r>
              <a:rPr sz="1030" b="1">
                <a:solidFill>
                  <a:srgbClr val="334155"/>
                </a:solidFill>
                <a:latin typeface="맑은 고딕"/>
              </a:rPr>
              <a:t>경보 거리 확대</a:t>
            </a:r>
            <a:r>
              <a:rPr sz="1030" b="0">
                <a:solidFill>
                  <a:srgbClr val="334155"/>
                </a:solidFill>
                <a:latin typeface="맑은 고딕"/>
              </a:rPr>
              <a:t> — ROI 해상도를 올려 1차가 보는 거리를 늘린다. 2차 의존도를 낮추는 가장 직접적인 길이다</a:t>
            </a:r>
          </a:p>
          <a:p>
            <a:pPr algn="l">
              <a:lnSpc>
                <a:spcPct val="150000"/>
              </a:lnSpc>
              <a:spcAft>
                <a:spcPts val="500"/>
              </a:spcAft>
            </a:pPr>
            <a:r>
              <a:rPr sz="1030" b="0">
                <a:solidFill>
                  <a:srgbClr val="334155"/>
                </a:solidFill>
                <a:latin typeface="맑은 고딕"/>
              </a:rPr>
              <a:t>2. </a:t>
            </a:r>
            <a:r>
              <a:rPr sz="1030" b="1">
                <a:solidFill>
                  <a:srgbClr val="334155"/>
                </a:solidFill>
                <a:latin typeface="맑은 고딕"/>
              </a:rPr>
              <a:t>실사진 질감 재학습</a:t>
            </a:r>
            <a:r>
              <a:rPr sz="1030" b="0">
                <a:solidFill>
                  <a:srgbClr val="334155"/>
                </a:solidFill>
                <a:latin typeface="맑은 고딕"/>
              </a:rPr>
              <a:t> — RSCD 질감을 CARLA 노면에 입혀 재수집하고 도메인 갭을 닫는다</a:t>
            </a:r>
          </a:p>
          <a:p>
            <a:pPr algn="l">
              <a:lnSpc>
                <a:spcPct val="150000"/>
              </a:lnSpc>
              <a:spcAft>
                <a:spcPts val="500"/>
              </a:spcAft>
            </a:pPr>
            <a:r>
              <a:rPr sz="1030" b="0">
                <a:solidFill>
                  <a:srgbClr val="334155"/>
                </a:solidFill>
                <a:latin typeface="맑은 고딕"/>
              </a:rPr>
              <a:t>3. </a:t>
            </a:r>
            <a:r>
              <a:rPr sz="1030" b="1">
                <a:solidFill>
                  <a:srgbClr val="334155"/>
                </a:solidFill>
                <a:latin typeface="맑은 고딕"/>
              </a:rPr>
              <a:t>Hailo-10H 교차 검증</a:t>
            </a:r>
            <a:r>
              <a:rPr sz="1030" b="0">
                <a:solidFill>
                  <a:srgbClr val="334155"/>
                </a:solidFill>
                <a:latin typeface="맑은 고딕"/>
              </a:rPr>
              <a:t> — Dataflow Compiler 확보 후 동일 모델을 두 NPU 에서 비교</a:t>
            </a:r>
          </a:p>
          <a:p>
            <a:pPr algn="l">
              <a:lnSpc>
                <a:spcPct val="150000"/>
              </a:lnSpc>
              <a:spcAft>
                <a:spcPts val="500"/>
              </a:spcAft>
            </a:pPr>
            <a:r>
              <a:rPr sz="1030" b="0">
                <a:solidFill>
                  <a:srgbClr val="334155"/>
                </a:solidFill>
                <a:latin typeface="맑은 고딕"/>
              </a:rPr>
              <a:t>4. </a:t>
            </a:r>
            <a:r>
              <a:rPr sz="1030" b="1">
                <a:solidFill>
                  <a:srgbClr val="334155"/>
                </a:solidFill>
                <a:latin typeface="맑은 고딕"/>
              </a:rPr>
              <a:t>D435i 실측 IMU</a:t>
            </a:r>
            <a:r>
              <a:rPr sz="1030" b="0">
                <a:solidFill>
                  <a:srgbClr val="334155"/>
                </a:solidFill>
                <a:latin typeface="맑은 고딕"/>
              </a:rPr>
              <a:t> — 실물 노이즈로 칼만 공분산을 재조정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2762250"/>
            <a:ext cx="5486400" cy="1181100"/>
          </a:xfrm>
          <a:prstGeom prst="roundRect">
            <a:avLst>
              <a:gd name="adj" fmla="val 6451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324600" y="2876550"/>
            <a:ext cx="51816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94A3B8"/>
                </a:solidFill>
                <a:latin typeface="맑은 고딕"/>
              </a:rPr>
              <a:t>소스 코드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4600" y="3067050"/>
            <a:ext cx="51816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github.com/gkgk0119gmail-arch/</a:t>
            </a:r>
            <a:br/>
            <a:r>
              <a:rPr sz="1300" b="1">
                <a:solidFill>
                  <a:srgbClr val="FFFFFF"/>
                </a:solidFill>
                <a:latin typeface="맑은 고딕"/>
              </a:rPr>
              <a:t>2026ESWContest_mobility_ARTS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4600" y="3638550"/>
            <a:ext cx="51816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80" b="0">
                <a:solidFill>
                  <a:srgbClr val="94A3B8"/>
                </a:solidFill>
                <a:latin typeface="맑은 고딕"/>
              </a:rPr>
              <a:t>MIT 라이선스 · 영상·그림·이벤트 데이터 포함 · README 에서 바로 재생된다</a:t>
            </a:r>
          </a:p>
        </p:txBody>
      </p:sp>
      <p:pic>
        <p:nvPicPr>
          <p:cNvPr id="29" name="Picture 28" descr="cmp_15.0.jpg"/>
          <p:cNvPicPr>
            <a:picLocks noChangeAspect="1"/>
          </p:cNvPicPr>
          <p:nvPr/>
        </p:nvPicPr>
        <p:blipFill>
          <a:blip r:embed="rId2"/>
          <a:srcRect t="37488" b="37488"/>
          <a:stretch>
            <a:fillRect/>
          </a:stretch>
        </p:blipFill>
        <p:spPr>
          <a:xfrm>
            <a:off x="533400" y="4724400"/>
            <a:ext cx="11125200" cy="11239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